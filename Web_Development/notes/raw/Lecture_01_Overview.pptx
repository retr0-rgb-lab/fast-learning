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Built-in: diagrams and bullets here mirror the very first exposure students get to the web stack.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large website is a tunable system, not a fixed program.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600" name="Footer Left"/>
          <p:cNvSpPr/>
          <p:nvPr/>
        </p:nvSpPr>
        <p:spPr>
          <a:xfrm>
            <a:off x="548640" y="6473952"/>
            <a:ext cx="8686800" cy="274320"/>
          </a:xfrm>
          <a:prstGeom prst="rect">
            <a:avLst/>
          </a:prstGeom>
        </p:spPr>
        <p:txBody>
          <a:bodyPr wrap="none"/>
          <a:lstStyle/>
          <a:p>
            <a:r>
              <a:rPr lang="en-US" sz="950">
                <a:solidFill>
                  <a:srgbClr val="8B97A8"/>
                </a:solidFill>
              </a:rPr>
              <a:t>COMP3421 Web Application Design and Development · The Hong Kong Polytechnic University · Department of Computing</a:t>
            </a:r>
          </a:p>
        </p:txBody>
      </p:sp>
      <p:sp>
        <p:nvSpPr>
          <p:cNvPr id="601" name="Footer Page"/>
          <p:cNvSpPr/>
          <p:nvPr/>
        </p:nvSpPr>
        <p:spPr>
          <a:xfrm>
            <a:off x="9265615" y="6473952"/>
            <a:ext cx="2377440" cy="274320"/>
          </a:xfrm>
          <a:prstGeom prst="rect">
            <a:avLst/>
          </a:prstGeom>
        </p:spPr>
        <p:txBody>
          <a:bodyPr wrap="none"/>
          <a:lstStyle/>
          <a:p>
            <a:pPr algn="r"/>
            <a:fld id="{EA62C1B3-E3C6-4F80-8D1B-1C87724296B8}" type="slidenum">
              <a:rPr lang="en-US" sz="1050" b="1">
                <a:solidFill>
                  <a:srgbClr val="1E4FA8"/>
                </a:solidFill>
              </a:rPr>
              <a:t>1</a:t>
            </a:fld>
            <a:r>
              <a:rPr lang="en-US" sz="950">
                <a:solidFill>
                  <a:srgbClr val="8B97A8"/>
                </a:solidFill>
              </a:rPr>
              <a:t> / 29</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html/hello"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css-selectors/hell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js/d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node/hello-htt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agsysx.github.io/comp3421/editor.html?example=node/express-hello"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2801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777240"/>
            <a:ext cx="10972800" cy="731520"/>
          </a:xfrm>
          <a:prstGeom prst="rect">
            <a:avLst/>
          </a:prstGeom>
          <a:noFill/>
        </p:spPr>
        <p:txBody>
          <a:bodyPr wrap="square" anchor="t" lIns="0" rIns="0" tIns="0" bIns="0">
            <a:spAutoFit/>
          </a:bodyPr>
          <a:lstStyle/>
          <a:p>
            <a:pPr algn="l">
              <a:lnSpc>
                <a:spcPct val="110000"/>
              </a:lnSpc>
              <a:spcAft>
                <a:spcPts val="200"/>
              </a:spcAft>
            </a:pPr>
            <a:r>
              <a:rPr sz="1300" b="1" i="0">
                <a:solidFill>
                  <a:srgbClr val="B9CDEE"/>
                </a:solidFill>
                <a:latin typeface="Calibri"/>
                <a:ea typeface="Calibri"/>
              </a:rPr>
              <a:t>THE HONG KONG POLYTECHNIC UNIVERSITY · DEPARTMENT OF COMPUTING</a:t>
            </a:r>
            <a:r>
              <a:rPr sz="1700" b="1" i="0">
                <a:solidFill>
                  <a:srgbClr val="FFFFFF"/>
                </a:solidFill>
                <a:latin typeface="Calibri"/>
                <a:ea typeface="Calibri"/>
              </a:rPr>
              <a:t>
COMP3421 Web Application Design and Development</a:t>
            </a:r>
          </a:p>
        </p:txBody>
      </p:sp>
      <p:sp>
        <p:nvSpPr>
          <p:cNvPr id="5" name="Rounded Rectangle 4"/>
          <p:cNvSpPr/>
          <p:nvPr/>
        </p:nvSpPr>
        <p:spPr>
          <a:xfrm>
            <a:off x="548640" y="1783080"/>
            <a:ext cx="1691640" cy="457200"/>
          </a:xfrm>
          <a:prstGeom prst="roundRect">
            <a:avLst>
              <a:gd name="adj" fmla="val 5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47088"/>
            <a:ext cx="1691640" cy="329184"/>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COMP3421</a:t>
            </a:r>
          </a:p>
        </p:txBody>
      </p:sp>
      <p:sp>
        <p:nvSpPr>
          <p:cNvPr id="7" name="TextBox 6"/>
          <p:cNvSpPr txBox="1"/>
          <p:nvPr/>
        </p:nvSpPr>
        <p:spPr>
          <a:xfrm>
            <a:off x="548640" y="2514600"/>
            <a:ext cx="11064240" cy="1463040"/>
          </a:xfrm>
          <a:prstGeom prst="rect">
            <a:avLst/>
          </a:prstGeom>
          <a:noFill/>
        </p:spPr>
        <p:txBody>
          <a:bodyPr wrap="square" anchor="t" lIns="0" rIns="0" tIns="0" bIns="0">
            <a:spAutoFit/>
          </a:bodyPr>
          <a:lstStyle/>
          <a:p>
            <a:pPr algn="l">
              <a:lnSpc>
                <a:spcPct val="105000"/>
              </a:lnSpc>
              <a:spcAft>
                <a:spcPts val="400"/>
              </a:spcAft>
            </a:pPr>
            <a:r>
              <a:rPr sz="4400" b="1" i="0">
                <a:solidFill>
                  <a:srgbClr val="FFFFFF"/>
                </a:solidFill>
                <a:latin typeface="Calibri"/>
                <a:ea typeface="Calibri"/>
              </a:rPr>
              <a:t>A Tour of the Web</a:t>
            </a:r>
          </a:p>
        </p:txBody>
      </p:sp>
      <p:sp>
        <p:nvSpPr>
          <p:cNvPr id="8" name="TextBox 7"/>
          <p:cNvSpPr txBox="1"/>
          <p:nvPr/>
        </p:nvSpPr>
        <p:spPr>
          <a:xfrm>
            <a:off x="548640" y="3794760"/>
            <a:ext cx="11064240" cy="822960"/>
          </a:xfrm>
          <a:prstGeom prst="rect">
            <a:avLst/>
          </a:prstGeom>
          <a:noFill/>
        </p:spPr>
        <p:txBody>
          <a:bodyPr wrap="square" anchor="t" lIns="0" rIns="0" tIns="0" bIns="0">
            <a:spAutoFit/>
          </a:bodyPr>
          <a:lstStyle/>
          <a:p>
            <a:pPr algn="l">
              <a:lnSpc>
                <a:spcPct val="125000"/>
              </a:lnSpc>
              <a:spcAft>
                <a:spcPts val="400"/>
              </a:spcAft>
            </a:pPr>
            <a:r>
              <a:rPr sz="1900" b="0" i="0">
                <a:solidFill>
                  <a:srgbClr val="B9CDEE"/>
                </a:solidFill>
                <a:latin typeface="Calibri"/>
                <a:ea typeface="Calibri"/>
              </a:rPr>
              <a:t>Everything you will learn this semester — front-end, back-end, and the stack between them.</a:t>
            </a:r>
          </a:p>
        </p:txBody>
      </p:sp>
      <p:sp>
        <p:nvSpPr>
          <p:cNvPr id="9" name="TextBox 8"/>
          <p:cNvSpPr txBox="1"/>
          <p:nvPr/>
        </p:nvSpPr>
        <p:spPr>
          <a:xfrm>
            <a:off x="548640" y="4846320"/>
            <a:ext cx="11064240" cy="365760"/>
          </a:xfrm>
          <a:prstGeom prst="rect">
            <a:avLst/>
          </a:prstGeom>
          <a:noFill/>
        </p:spPr>
        <p:txBody>
          <a:bodyPr wrap="square" anchor="t" lIns="0" rIns="0" tIns="0" bIns="0">
            <a:spAutoFit/>
          </a:bodyPr>
          <a:lstStyle/>
          <a:p>
            <a:pPr algn="l">
              <a:lnSpc>
                <a:spcPct val="110000"/>
              </a:lnSpc>
              <a:spcAft>
                <a:spcPts val="400"/>
              </a:spcAft>
            </a:pPr>
            <a:r>
              <a:rPr sz="1400" b="1" i="0">
                <a:solidFill>
                  <a:srgbClr val="FFFFFF"/>
                </a:solidFill>
                <a:latin typeface="Calibri"/>
                <a:ea typeface="Calibri"/>
              </a:rPr>
              <a:t>COMP3421 · LECTURE 01 · WEEK 1</a:t>
            </a:r>
          </a:p>
        </p:txBody>
      </p:sp>
      <p:sp>
        <p:nvSpPr>
          <p:cNvPr id="10" name="TextBox 9"/>
          <p:cNvSpPr txBox="1"/>
          <p:nvPr/>
        </p:nvSpPr>
        <p:spPr>
          <a:xfrm>
            <a:off x="548640" y="5257800"/>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Lecture 1 · Week 1 · Wed 12:30–14:20 · HHBUG06</a:t>
            </a:r>
          </a:p>
        </p:txBody>
      </p:sp>
      <p:sp>
        <p:nvSpPr>
          <p:cNvPr id="11" name="TextBox 10"/>
          <p:cNvSpPr txBox="1"/>
          <p:nvPr/>
        </p:nvSpPr>
        <p:spPr>
          <a:xfrm>
            <a:off x="548640" y="5605272"/>
            <a:ext cx="11064240" cy="292608"/>
          </a:xfrm>
          <a:prstGeom prst="rect">
            <a:avLst/>
          </a:prstGeom>
          <a:noFill/>
        </p:spPr>
        <p:txBody>
          <a:bodyPr wrap="square" anchor="t" lIns="0" rIns="0" tIns="0" bIns="0">
            <a:spAutoFit/>
          </a:bodyPr>
          <a:lstStyle/>
          <a:p>
            <a:pPr algn="l">
              <a:lnSpc>
                <a:spcPct val="110000"/>
              </a:lnSpc>
              <a:spcAft>
                <a:spcPts val="400"/>
              </a:spcAft>
            </a:pPr>
            <a:r>
              <a:rPr sz="1300" b="0" i="0">
                <a:solidFill>
                  <a:srgbClr val="B9CDEE"/>
                </a:solidFill>
                <a:latin typeface="Calibri"/>
                <a:ea typeface="Calibri"/>
              </a:rPr>
              <a:t>Examples &amp; code:  </a:t>
            </a:r>
            <a:r>
              <a:rPr sz="1300" b="1" i="0">
                <a:solidFill>
                  <a:srgbClr val="FFFFFF"/>
                </a:solidFill>
                <a:latin typeface="Calibri"/>
                <a:ea typeface="Calibri"/>
                <a:hlinkClick r:id="rId2"/>
                <a:extLst>
                  <a:ext uri="{A12FA001-AC4F-418D-AE19-62706E023703}">
                    <ahyp:hlinkClr xmlns:ahyp="http://schemas.microsoft.com/office/drawing/2018/hyperlinkcolor" val="tx"/>
                  </a:ext>
                </a:extLst>
              </a:rPr>
              <a:t>tagsysx.github.io/comp3421/</a:t>
            </a:r>
          </a:p>
        </p:txBody>
      </p:sp>
      <p:sp>
        <p:nvSpPr>
          <p:cNvPr id="12" name="TextBox 11"/>
          <p:cNvSpPr txBox="1"/>
          <p:nvPr/>
        </p:nvSpPr>
        <p:spPr>
          <a:xfrm>
            <a:off x="548640" y="5952744"/>
            <a:ext cx="11064240" cy="292608"/>
          </a:xfrm>
          <a:prstGeom prst="rect">
            <a:avLst/>
          </a:prstGeom>
          <a:noFill/>
        </p:spPr>
        <p:txBody>
          <a:bodyPr wrap="square" anchor="t" lIns="0" rIns="0" tIns="0" bIns="0">
            <a:spAutoFit/>
          </a:bodyPr>
          <a:lstStyle/>
          <a:p>
            <a:pPr algn="l">
              <a:lnSpc>
                <a:spcPct val="110000"/>
              </a:lnSpc>
              <a:spcAft>
                <a:spcPts val="400"/>
              </a:spcAft>
            </a:pPr>
            <a:r>
              <a:rPr sz="1300" b="1" i="0">
                <a:solidFill>
                  <a:srgbClr val="FFFFFF"/>
                </a:solidFill>
                <a:latin typeface="Calibri"/>
                <a:ea typeface="Calibri"/>
              </a:rPr>
              <a:t>Prof. Lei Yang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a:t>
            </a:r>
          </a:p>
        </p:txBody>
      </p:sp>
      <p:sp>
        <p:nvSpPr>
          <p:cNvPr id="3" name="TextBox 2"/>
          <p:cNvSpPr txBox="1"/>
          <p:nvPr/>
        </p:nvSpPr>
        <p:spPr>
          <a:xfrm>
            <a:off x="548640" y="1234440"/>
            <a:ext cx="11094415" cy="822960"/>
          </a:xfrm>
          <a:prstGeom prst="rect">
            <a:avLst/>
          </a:prstGeom>
          <a:noFill/>
        </p:spPr>
        <p:txBody>
          <a:bodyPr wrap="square" anchor="t" lIns="0" rIns="0" tIns="0" bIns="0">
            <a:spAutoFit/>
          </a:bodyPr>
          <a:lstStyle/>
          <a:p>
            <a:pPr algn="l">
              <a:lnSpc>
                <a:spcPct val="110000"/>
              </a:lnSpc>
              <a:spcAft>
                <a:spcPts val="400"/>
              </a:spcAft>
            </a:pPr>
            <a:r>
              <a:rPr sz="3000" b="1" i="0">
                <a:solidFill>
                  <a:srgbClr val="1A2230"/>
                </a:solidFill>
                <a:latin typeface="Calibri"/>
                <a:ea typeface="Calibri"/>
              </a:rPr>
              <a:t>Classroom Recording &amp; Sharing Policy</a:t>
            </a:r>
          </a:p>
        </p:txBody>
      </p:sp>
      <p:sp>
        <p:nvSpPr>
          <p:cNvPr id="4" name="Rectangle 3"/>
          <p:cNvSpPr/>
          <p:nvPr/>
        </p:nvSpPr>
        <p:spPr>
          <a:xfrm>
            <a:off x="548640" y="2331720"/>
            <a:ext cx="1463040" cy="4572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880360"/>
            <a:ext cx="9448495" cy="1463040"/>
          </a:xfrm>
          <a:prstGeom prst="rect">
            <a:avLst/>
          </a:prstGeom>
          <a:noFill/>
        </p:spPr>
        <p:txBody>
          <a:bodyPr wrap="square" anchor="t" lIns="0" rIns="0" tIns="0" bIns="0">
            <a:spAutoFit/>
          </a:bodyPr>
          <a:lstStyle/>
          <a:p>
            <a:pPr algn="ctr">
              <a:lnSpc>
                <a:spcPct val="145000"/>
              </a:lnSpc>
              <a:spcAft>
                <a:spcPts val="400"/>
              </a:spcAft>
            </a:pPr>
            <a:r>
              <a:rPr sz="1700" b="0" i="0">
                <a:solidFill>
                  <a:srgbClr val="4A5568"/>
                </a:solidFill>
                <a:latin typeface="Calibri"/>
                <a:ea typeface="Calibri"/>
              </a:rPr>
              <a:t>Please do not photograph, audio/video record, or upload any lecture content to the Internet or social media without prior permission from the instructor. Course materials are provided for personal learning only and should not be redistributed without authorization.</a:t>
            </a:r>
          </a:p>
        </p:txBody>
      </p:sp>
      <p:sp>
        <p:nvSpPr>
          <p:cNvPr id="6" name="Rounded Rectangle 5"/>
          <p:cNvSpPr/>
          <p:nvPr/>
        </p:nvSpPr>
        <p:spPr>
          <a:xfrm>
            <a:off x="548640" y="4892040"/>
            <a:ext cx="11094415" cy="777240"/>
          </a:xfrm>
          <a:prstGeom prst="roundRect">
            <a:avLst>
              <a:gd name="adj" fmla="val 8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892040"/>
            <a:ext cx="10362895" cy="777240"/>
          </a:xfrm>
          <a:prstGeom prst="rect">
            <a:avLst/>
          </a:prstGeom>
          <a:noFill/>
        </p:spPr>
        <p:txBody>
          <a:bodyPr wrap="square" anchor="ctr" lIns="0" rIns="0" tIns="0" bIns="0">
            <a:spAutoFit/>
          </a:bodyPr>
          <a:lstStyle/>
          <a:p>
            <a:pPr algn="ctr">
              <a:lnSpc>
                <a:spcPct val="110000"/>
              </a:lnSpc>
              <a:spcAft>
                <a:spcPts val="400"/>
              </a:spcAft>
            </a:pPr>
            <a:r>
              <a:rPr sz="1700" b="1" i="0">
                <a:solidFill>
                  <a:srgbClr val="FFFFFF"/>
                </a:solidFill>
                <a:latin typeface="Calibri"/>
                <a:ea typeface="Calibri"/>
              </a:rPr>
              <a:t>Do not photograph, record, reproduce, or upload classroom content without permission.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685800"/>
            <a:ext cx="5486400" cy="320040"/>
          </a:xfrm>
          <a:prstGeom prst="rect">
            <a:avLst/>
          </a:prstGeom>
          <a:noFill/>
        </p:spPr>
        <p:txBody>
          <a:bodyPr wrap="square" anchor="t" lIns="0" rIns="0" tIns="0" bIns="0">
            <a:spAutoFit/>
          </a:bodyPr>
          <a:lstStyle/>
          <a:p>
            <a:pPr algn="l">
              <a:lnSpc>
                <a:spcPct val="110000"/>
              </a:lnSpc>
              <a:spcAft>
                <a:spcPts val="400"/>
              </a:spcAft>
            </a:pPr>
            <a:r>
              <a:rPr sz="1200" b="1" i="0">
                <a:solidFill>
                  <a:srgbClr val="1E4FA8"/>
                </a:solidFill>
                <a:latin typeface="Calibri"/>
                <a:ea typeface="Calibri"/>
              </a:rPr>
              <a:t>COMP3421 · LECTURE 01</a:t>
            </a:r>
          </a:p>
        </p:txBody>
      </p:sp>
      <p:sp>
        <p:nvSpPr>
          <p:cNvPr id="3" name="TextBox 2"/>
          <p:cNvSpPr txBox="1"/>
          <p:nvPr/>
        </p:nvSpPr>
        <p:spPr>
          <a:xfrm>
            <a:off x="548640" y="1024128"/>
            <a:ext cx="10972800" cy="731520"/>
          </a:xfrm>
          <a:prstGeom prst="rect">
            <a:avLst/>
          </a:prstGeom>
          <a:noFill/>
        </p:spPr>
        <p:txBody>
          <a:bodyPr wrap="square" anchor="t" lIns="0" rIns="0" tIns="0" bIns="0">
            <a:spAutoFit/>
          </a:bodyPr>
          <a:lstStyle/>
          <a:p>
            <a:pPr algn="l">
              <a:lnSpc>
                <a:spcPct val="110000"/>
              </a:lnSpc>
              <a:spcAft>
                <a:spcPts val="400"/>
              </a:spcAft>
            </a:pPr>
            <a:r>
              <a:rPr sz="4000" b="1" i="0">
                <a:solidFill>
                  <a:srgbClr val="1A2230"/>
                </a:solidFill>
                <a:latin typeface="Calibri"/>
                <a:ea typeface="Calibri"/>
              </a:rPr>
              <a:t>Agenda — Today Is a Tour</a:t>
            </a:r>
          </a:p>
        </p:txBody>
      </p:sp>
      <p:sp>
        <p:nvSpPr>
          <p:cNvPr id="4" name="TextBox 3"/>
          <p:cNvSpPr txBox="1"/>
          <p:nvPr/>
        </p:nvSpPr>
        <p:spPr>
          <a:xfrm>
            <a:off x="594360" y="1874519"/>
            <a:ext cx="10820095" cy="4343400"/>
          </a:xfrm>
          <a:prstGeom prst="rect">
            <a:avLst/>
          </a:prstGeom>
          <a:noFill/>
        </p:spPr>
        <p:txBody>
          <a:bodyPr wrap="square" lIns="0" rIns="0" tIns="0" bIns="0">
            <a:normAutofit/>
          </a:bodyPr>
          <a:lstStyle/>
          <a:p>
            <a:pPr>
              <a:lnSpc>
                <a:spcPct val="110000"/>
              </a:lnSpc>
              <a:spcAft>
                <a:spcPts val="800"/>
              </a:spcAft>
            </a:pPr>
            <a:r>
              <a:rPr sz="1800" b="1" i="0">
                <a:solidFill>
                  <a:srgbClr val="1A2230"/>
                </a:solidFill>
                <a:latin typeface="Calibri"/>
                <a:ea typeface="Calibri"/>
              </a:rPr>
              <a:t>01. The Big Picture</a:t>
            </a:r>
            <a:br/>
            <a:r>
              <a:rPr sz="1250" b="0" i="0">
                <a:solidFill>
                  <a:srgbClr val="4A5568"/>
                </a:solidFill>
                <a:latin typeface="Calibri"/>
                <a:ea typeface="Calibri"/>
              </a:rPr>
              <a:t>What a web application is, and the journey of one request.</a:t>
            </a:r>
          </a:p>
          <a:p>
            <a:pPr>
              <a:lnSpc>
                <a:spcPct val="110000"/>
              </a:lnSpc>
              <a:spcAft>
                <a:spcPts val="800"/>
              </a:spcAft>
            </a:pPr>
            <a:r>
              <a:rPr sz="1800" b="1" i="0">
                <a:solidFill>
                  <a:srgbClr val="1A2230"/>
                </a:solidFill>
                <a:latin typeface="Calibri"/>
                <a:ea typeface="Calibri"/>
              </a:rPr>
              <a:t>02. Front-End</a:t>
            </a:r>
            <a:br/>
            <a:r>
              <a:rPr sz="1250" b="0" i="0">
                <a:solidFill>
                  <a:srgbClr val="4A5568"/>
                </a:solidFill>
                <a:latin typeface="Calibri"/>
                <a:ea typeface="Calibri"/>
              </a:rPr>
              <a:t>HTML, CSS, JavaScript — the three pillars of the browser.</a:t>
            </a:r>
          </a:p>
          <a:p>
            <a:pPr>
              <a:lnSpc>
                <a:spcPct val="110000"/>
              </a:lnSpc>
              <a:spcAft>
                <a:spcPts val="800"/>
              </a:spcAft>
            </a:pPr>
            <a:r>
              <a:rPr sz="1800" b="1" i="0">
                <a:solidFill>
                  <a:srgbClr val="1A2230"/>
                </a:solidFill>
                <a:latin typeface="Calibri"/>
                <a:ea typeface="Calibri"/>
              </a:rPr>
              <a:t>03. Backend</a:t>
            </a:r>
            <a:br/>
            <a:r>
              <a:rPr sz="1250" b="0" i="0">
                <a:solidFill>
                  <a:srgbClr val="4A5568"/>
                </a:solidFill>
                <a:latin typeface="Calibri"/>
                <a:ea typeface="Calibri"/>
              </a:rPr>
              <a:t>HTTP, Node.js, Express, databases, real-time — and making it fast.</a:t>
            </a:r>
          </a:p>
          <a:p>
            <a:pPr>
              <a:lnSpc>
                <a:spcPct val="110000"/>
              </a:lnSpc>
              <a:spcAft>
                <a:spcPts val="800"/>
              </a:spcAft>
            </a:pPr>
            <a:r>
              <a:rPr sz="1800" b="1" i="0">
                <a:solidFill>
                  <a:srgbClr val="1A2230"/>
                </a:solidFill>
                <a:latin typeface="Calibri"/>
                <a:ea typeface="Calibri"/>
              </a:rPr>
              <a:t>04. The Journey</a:t>
            </a:r>
            <a:br/>
            <a:r>
              <a:rPr sz="1250" b="0" i="0">
                <a:solidFill>
                  <a:srgbClr val="4A5568"/>
                </a:solidFill>
                <a:latin typeface="Calibri"/>
                <a:ea typeface="Calibri"/>
              </a:rPr>
              <a:t>From your personal site to the architecture behind a large one.</a:t>
            </a:r>
          </a:p>
          <a:p>
            <a:pPr>
              <a:lnSpc>
                <a:spcPct val="110000"/>
              </a:lnSpc>
              <a:spcAft>
                <a:spcPts val="800"/>
              </a:spcAft>
            </a:pPr>
            <a:r>
              <a:rPr sz="1800" b="1" i="0">
                <a:solidFill>
                  <a:srgbClr val="1A2230"/>
                </a:solidFill>
                <a:latin typeface="Calibri"/>
                <a:ea typeface="Calibri"/>
              </a:rPr>
              <a:t>05. Wrap-Up &amp; Takeaways</a:t>
            </a:r>
            <a:br/>
            <a:r>
              <a:rPr sz="1250" b="0" i="0">
                <a:solidFill>
                  <a:srgbClr val="4A5568"/>
                </a:solidFill>
                <a:latin typeface="Calibri"/>
                <a:ea typeface="Calibri"/>
              </a:rPr>
              <a:t>Your weekly roadmap, your final toolbox, and the five things to remember.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01</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The Big Picture</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What a web application actually is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One request, end to end</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Clients, servers, and the layers between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Client–Server Model</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Big Picture</a:t>
            </a:r>
          </a:p>
        </p:txBody>
      </p:sp>
      <p:sp>
        <p:nvSpPr>
          <p:cNvPr id="5" name="Rounded Rectangle 4"/>
          <p:cNvSpPr/>
          <p:nvPr/>
        </p:nvSpPr>
        <p:spPr>
          <a:xfrm>
            <a:off x="548640" y="932688"/>
            <a:ext cx="5364327" cy="493776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33856"/>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Client — the browser</a:t>
            </a:r>
          </a:p>
        </p:txBody>
      </p:sp>
      <p:sp>
        <p:nvSpPr>
          <p:cNvPr id="7" name="Rectangle 6"/>
          <p:cNvSpPr/>
          <p:nvPr/>
        </p:nvSpPr>
        <p:spPr>
          <a:xfrm>
            <a:off x="859536" y="1682495"/>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37943"/>
            <a:ext cx="4779111" cy="292608"/>
          </a:xfrm>
          <a:prstGeom prst="rect">
            <a:avLst/>
          </a:prstGeom>
          <a:noFill/>
        </p:spPr>
        <p:txBody>
          <a:bodyPr wrap="square" anchor="t" lIns="0" rIns="0" tIns="0" bIns="0">
            <a:spAutoFit/>
          </a:bodyPr>
          <a:lstStyle/>
          <a:p>
            <a:pPr algn="l">
              <a:lnSpc>
                <a:spcPct val="110000"/>
              </a:lnSpc>
              <a:spcAft>
                <a:spcPts val="400"/>
              </a:spcAft>
            </a:pPr>
            <a:r>
              <a:rPr sz="1200" b="0" i="1">
                <a:solidFill>
                  <a:srgbClr val="4A5568"/>
                </a:solidFill>
                <a:latin typeface="Calibri"/>
                <a:ea typeface="Calibri"/>
              </a:rPr>
              <a:t>↓ The five most popular browsers in the wild</a:t>
            </a:r>
          </a:p>
        </p:txBody>
      </p:sp>
      <p:pic>
        <p:nvPicPr>
          <p:cNvPr id="9" name="Picture 8" descr="img_browsers.png"/>
          <p:cNvPicPr>
            <a:picLocks noChangeAspect="1"/>
          </p:cNvPicPr>
          <p:nvPr/>
        </p:nvPicPr>
        <p:blipFill>
          <a:blip r:embed="rId2"/>
          <a:stretch>
            <a:fillRect/>
          </a:stretch>
        </p:blipFill>
        <p:spPr>
          <a:xfrm>
            <a:off x="914399" y="2231136"/>
            <a:ext cx="4632807" cy="1589605"/>
          </a:xfrm>
          <a:prstGeom prst="rect">
            <a:avLst/>
          </a:prstGeom>
        </p:spPr>
      </p:pic>
      <p:sp>
        <p:nvSpPr>
          <p:cNvPr id="10" name="TextBox 9"/>
          <p:cNvSpPr txBox="1"/>
          <p:nvPr/>
        </p:nvSpPr>
        <p:spPr>
          <a:xfrm>
            <a:off x="841247" y="3957901"/>
            <a:ext cx="4779111" cy="1821106"/>
          </a:xfrm>
          <a:prstGeom prst="rect">
            <a:avLst/>
          </a:prstGeom>
          <a:noFill/>
        </p:spPr>
        <p:txBody>
          <a:bodyPr wrap="square" lIns="0" rIns="0" tIns="0" bIns="0">
            <a:normAutofit/>
          </a:bodyPr>
          <a:lstStyle/>
          <a:p>
            <a:pPr marL="274320" indent="-237744">
              <a:lnSpc>
                <a:spcPct val="112000"/>
              </a:lnSpc>
              <a:spcAft>
                <a:spcPts val="400"/>
              </a:spcAft>
              <a:buClr>
                <a:srgbClr val="1E4FA8"/>
              </a:buClr>
              <a:buSzPct val="90000"/>
              <a:buFont typeface="Arial"/>
              <a:buChar char="▪"/>
            </a:pPr>
            <a:r>
              <a:rPr sz="1350" b="1" i="0">
                <a:solidFill>
                  <a:srgbClr val="1A2230"/>
                </a:solidFill>
                <a:latin typeface="Calibri"/>
                <a:ea typeface="Calibri"/>
              </a:rPr>
              <a:t>Renders pages and runs JavaScript</a:t>
            </a:r>
            <a:br/>
            <a:r>
              <a:rPr sz="1150" b="0" i="0">
                <a:solidFill>
                  <a:srgbClr val="4A5568"/>
                </a:solidFill>
                <a:latin typeface="Calibri"/>
                <a:ea typeface="Calibri"/>
              </a:rPr>
              <a:t>HTML for structure, CSS for style, JS for behaviour.</a:t>
            </a:r>
          </a:p>
          <a:p>
            <a:pPr marL="274320" indent="-237744">
              <a:lnSpc>
                <a:spcPct val="112000"/>
              </a:lnSpc>
              <a:spcAft>
                <a:spcPts val="400"/>
              </a:spcAft>
              <a:buClr>
                <a:srgbClr val="1E4FA8"/>
              </a:buClr>
              <a:buSzPct val="90000"/>
              <a:buFont typeface="Arial"/>
              <a:buChar char="▪"/>
            </a:pPr>
            <a:r>
              <a:rPr sz="1350" b="1" i="0">
                <a:solidFill>
                  <a:srgbClr val="1A2230"/>
                </a:solidFill>
                <a:latin typeface="Calibri"/>
                <a:ea typeface="Calibri"/>
              </a:rPr>
              <a:t>One-to-many</a:t>
            </a:r>
            <a:br/>
            <a:r>
              <a:rPr sz="1150" b="0" i="0">
                <a:solidFill>
                  <a:srgbClr val="4A5568"/>
                </a:solidFill>
                <a:latin typeface="Calibri"/>
                <a:ea typeface="Calibri"/>
              </a:rPr>
              <a:t>Thousands of clients can talk to the same server.</a:t>
            </a:r>
          </a:p>
        </p:txBody>
      </p:sp>
      <p:sp>
        <p:nvSpPr>
          <p:cNvPr id="11" name="Rounded Rectangle 10"/>
          <p:cNvSpPr/>
          <p:nvPr/>
        </p:nvSpPr>
        <p:spPr>
          <a:xfrm>
            <a:off x="6278727" y="932688"/>
            <a:ext cx="5364327" cy="493776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5" y="1133856"/>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Server — the web server</a:t>
            </a:r>
          </a:p>
        </p:txBody>
      </p:sp>
      <p:sp>
        <p:nvSpPr>
          <p:cNvPr id="13" name="Rectangle 12"/>
          <p:cNvSpPr/>
          <p:nvPr/>
        </p:nvSpPr>
        <p:spPr>
          <a:xfrm>
            <a:off x="6589623" y="1682495"/>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71335" y="1837943"/>
            <a:ext cx="4779111" cy="292608"/>
          </a:xfrm>
          <a:prstGeom prst="rect">
            <a:avLst/>
          </a:prstGeom>
          <a:noFill/>
        </p:spPr>
        <p:txBody>
          <a:bodyPr wrap="square" anchor="t" lIns="0" rIns="0" tIns="0" bIns="0">
            <a:spAutoFit/>
          </a:bodyPr>
          <a:lstStyle/>
          <a:p>
            <a:pPr algn="l">
              <a:lnSpc>
                <a:spcPct val="110000"/>
              </a:lnSpc>
              <a:spcAft>
                <a:spcPts val="400"/>
              </a:spcAft>
            </a:pPr>
            <a:r>
              <a:rPr sz="1200" b="0" i="1">
                <a:solidFill>
                  <a:srgbClr val="4A5568"/>
                </a:solidFill>
                <a:latin typeface="Calibri"/>
                <a:ea typeface="Calibri"/>
              </a:rPr>
              <a:t>↓ A small sample of the web servers in use today</a:t>
            </a:r>
          </a:p>
        </p:txBody>
      </p:sp>
      <p:pic>
        <p:nvPicPr>
          <p:cNvPr id="15" name="Picture 14" descr="img_servers.png"/>
          <p:cNvPicPr>
            <a:picLocks noChangeAspect="1"/>
          </p:cNvPicPr>
          <p:nvPr/>
        </p:nvPicPr>
        <p:blipFill>
          <a:blip r:embed="rId3"/>
          <a:stretch>
            <a:fillRect/>
          </a:stretch>
        </p:blipFill>
        <p:spPr>
          <a:xfrm>
            <a:off x="6644487" y="2231136"/>
            <a:ext cx="4632807" cy="1632950"/>
          </a:xfrm>
          <a:prstGeom prst="rect">
            <a:avLst/>
          </a:prstGeom>
        </p:spPr>
      </p:pic>
      <p:sp>
        <p:nvSpPr>
          <p:cNvPr id="16" name="TextBox 15"/>
          <p:cNvSpPr txBox="1"/>
          <p:nvPr/>
        </p:nvSpPr>
        <p:spPr>
          <a:xfrm>
            <a:off x="6571335" y="4001246"/>
            <a:ext cx="4779111" cy="1777761"/>
          </a:xfrm>
          <a:prstGeom prst="rect">
            <a:avLst/>
          </a:prstGeom>
          <a:noFill/>
        </p:spPr>
        <p:txBody>
          <a:bodyPr wrap="square" lIns="0" rIns="0" tIns="0" bIns="0">
            <a:normAutofit/>
          </a:bodyPr>
          <a:lstStyle/>
          <a:p>
            <a:pPr marL="274320" indent="-237744">
              <a:lnSpc>
                <a:spcPct val="112000"/>
              </a:lnSpc>
              <a:spcAft>
                <a:spcPts val="400"/>
              </a:spcAft>
              <a:buClr>
                <a:srgbClr val="1E4FA8"/>
              </a:buClr>
              <a:buSzPct val="90000"/>
              <a:buFont typeface="Arial"/>
              <a:buChar char="▪"/>
            </a:pPr>
            <a:r>
              <a:rPr sz="1350" b="1" i="0">
                <a:solidFill>
                  <a:srgbClr val="1A2230"/>
                </a:solidFill>
                <a:latin typeface="Calibri"/>
                <a:ea typeface="Calibri"/>
              </a:rPr>
              <a:t>Stores resources</a:t>
            </a:r>
            <a:br/>
            <a:r>
              <a:rPr sz="1150" b="0" i="0">
                <a:solidFill>
                  <a:srgbClr val="4A5568"/>
                </a:solidFill>
                <a:latin typeface="Calibri"/>
                <a:ea typeface="Calibri"/>
              </a:rPr>
              <a:t>Serves files and runs the application logic.</a:t>
            </a:r>
          </a:p>
          <a:p>
            <a:pPr marL="274320" indent="-237744">
              <a:lnSpc>
                <a:spcPct val="112000"/>
              </a:lnSpc>
              <a:spcAft>
                <a:spcPts val="400"/>
              </a:spcAft>
              <a:buClr>
                <a:srgbClr val="1E4FA8"/>
              </a:buClr>
              <a:buSzPct val="90000"/>
              <a:buFont typeface="Arial"/>
              <a:buChar char="▪"/>
            </a:pPr>
            <a:r>
              <a:rPr sz="1350" b="1" i="0">
                <a:solidFill>
                  <a:srgbClr val="1A2230"/>
                </a:solidFill>
                <a:latin typeface="Calibri"/>
                <a:ea typeface="Calibri"/>
              </a:rPr>
              <a:t>Answers every request</a:t>
            </a:r>
            <a:br/>
            <a:r>
              <a:rPr sz="1150" b="0" i="0">
                <a:solidFill>
                  <a:srgbClr val="4A5568"/>
                </a:solidFill>
                <a:latin typeface="Calibri"/>
                <a:ea typeface="Calibri"/>
              </a:rPr>
              <a:t>Client and server speak one language: HTTP.</a:t>
            </a:r>
          </a:p>
        </p:txBody>
      </p:sp>
      <p:sp>
        <p:nvSpPr>
          <p:cNvPr id="17" name="Rounded Rectangle 16"/>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Client and server speak one language: HTTP — you master it in Week 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One Request, End to End</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Big Picture</a:t>
            </a:r>
          </a:p>
        </p:txBody>
      </p:sp>
      <p:sp>
        <p:nvSpPr>
          <p:cNvPr id="5" name="TextBox 4"/>
          <p:cNvSpPr txBox="1"/>
          <p:nvPr/>
        </p:nvSpPr>
        <p:spPr>
          <a:xfrm>
            <a:off x="548640" y="886968"/>
            <a:ext cx="11094415" cy="457200"/>
          </a:xfrm>
          <a:prstGeom prst="rect">
            <a:avLst/>
          </a:prstGeom>
          <a:noFill/>
        </p:spPr>
        <p:txBody>
          <a:bodyPr wrap="square" anchor="t" lIns="0" rIns="0" tIns="0" bIns="0">
            <a:spAutoFit/>
          </a:bodyPr>
          <a:lstStyle/>
          <a:p>
            <a:pPr algn="l">
              <a:lnSpc>
                <a:spcPct val="110000"/>
              </a:lnSpc>
              <a:spcAft>
                <a:spcPts val="400"/>
              </a:spcAft>
            </a:pPr>
            <a:r>
              <a:rPr sz="1550" b="0" i="0">
                <a:solidFill>
                  <a:srgbClr val="4A5568"/>
                </a:solidFill>
                <a:latin typeface="Calibri"/>
                <a:ea typeface="Calibri"/>
              </a:rPr>
              <a:t>Six steps happen every time you type a URL — </a:t>
            </a:r>
            <a:r>
              <a:rPr sz="1550" b="1" i="0">
                <a:solidFill>
                  <a:srgbClr val="1A2230"/>
                </a:solidFill>
                <a:latin typeface="Calibri"/>
                <a:ea typeface="Calibri"/>
              </a:rPr>
              <a:t>the web is this loop running millions of times per second, worldwide.</a:t>
            </a:r>
          </a:p>
        </p:txBody>
      </p:sp>
      <p:pic>
        <p:nvPicPr>
          <p:cNvPr id="6" name="Picture 5" descr="img_request_journey.png"/>
          <p:cNvPicPr>
            <a:picLocks noChangeAspect="1"/>
          </p:cNvPicPr>
          <p:nvPr/>
        </p:nvPicPr>
        <p:blipFill>
          <a:blip r:embed="rId2"/>
          <a:stretch>
            <a:fillRect/>
          </a:stretch>
        </p:blipFill>
        <p:spPr>
          <a:xfrm>
            <a:off x="1249527" y="1252728"/>
            <a:ext cx="9692640" cy="4155434"/>
          </a:xfrm>
          <a:prstGeom prst="rect">
            <a:avLst/>
          </a:prstGeom>
        </p:spPr>
      </p:pic>
      <p:sp>
        <p:nvSpPr>
          <p:cNvPr id="7" name="Rounded Rectangle 6"/>
          <p:cNvSpPr/>
          <p:nvPr/>
        </p:nvSpPr>
        <p:spPr>
          <a:xfrm>
            <a:off x="548640" y="5650992"/>
            <a:ext cx="11094415" cy="502920"/>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650992"/>
            <a:ext cx="10362895" cy="502920"/>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One loop, every time — request in, response out. HTTP is dissected in Week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The Stack, Layer by Layer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Big Picture</a:t>
            </a:r>
          </a:p>
        </p:txBody>
      </p:sp>
      <p:sp>
        <p:nvSpPr>
          <p:cNvPr id="5" name="TextBox 4"/>
          <p:cNvSpPr txBox="1"/>
          <p:nvPr/>
        </p:nvSpPr>
        <p:spPr>
          <a:xfrm>
            <a:off x="548640" y="886968"/>
            <a:ext cx="11094415" cy="457200"/>
          </a:xfrm>
          <a:prstGeom prst="rect">
            <a:avLst/>
          </a:prstGeom>
          <a:noFill/>
        </p:spPr>
        <p:txBody>
          <a:bodyPr wrap="square" anchor="t" lIns="0" rIns="0" tIns="0" bIns="0">
            <a:spAutoFit/>
          </a:bodyPr>
          <a:lstStyle/>
          <a:p>
            <a:pPr algn="l">
              <a:lnSpc>
                <a:spcPct val="110000"/>
              </a:lnSpc>
              <a:spcAft>
                <a:spcPts val="400"/>
              </a:spcAft>
            </a:pPr>
            <a:r>
              <a:rPr sz="1550" b="0" i="0">
                <a:solidFill>
                  <a:srgbClr val="4A5568"/>
                </a:solidFill>
                <a:latin typeface="Calibri"/>
                <a:ea typeface="Calibri"/>
              </a:rPr>
              <a:t>Every web application is </a:t>
            </a:r>
            <a:r>
              <a:rPr sz="1550" b="1" i="0">
                <a:solidFill>
                  <a:srgbClr val="1A2230"/>
                </a:solidFill>
                <a:latin typeface="Calibri"/>
                <a:ea typeface="Calibri"/>
              </a:rPr>
              <a:t>three layers talking to each other</a:t>
            </a:r>
            <a:r>
              <a:rPr sz="1550" b="0" i="0">
                <a:solidFill>
                  <a:srgbClr val="4A5568"/>
                </a:solidFill>
                <a:latin typeface="Calibri"/>
                <a:ea typeface="Calibri"/>
              </a:rPr>
              <a:t>.</a:t>
            </a:r>
          </a:p>
        </p:txBody>
      </p:sp>
      <p:sp>
        <p:nvSpPr>
          <p:cNvPr id="6" name="Rounded Rectangle 5"/>
          <p:cNvSpPr/>
          <p:nvPr/>
        </p:nvSpPr>
        <p:spPr>
          <a:xfrm>
            <a:off x="548640" y="1709928"/>
            <a:ext cx="2265578" cy="169164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709928"/>
            <a:ext cx="2265578" cy="457200"/>
          </a:xfrm>
          <a:prstGeom prst="roundRect">
            <a:avLst>
              <a:gd name="adj" fmla="val 8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773936"/>
            <a:ext cx="2265578" cy="329184"/>
          </a:xfrm>
          <a:prstGeom prst="rect">
            <a:avLst/>
          </a:prstGeom>
          <a:noFill/>
        </p:spPr>
        <p:txBody>
          <a:bodyPr wrap="square" anchor="t" lIns="0" rIns="0" tIns="0" bIns="0">
            <a:spAutoFit/>
          </a:bodyPr>
          <a:lstStyle/>
          <a:p>
            <a:pPr algn="ctr">
              <a:lnSpc>
                <a:spcPct val="110000"/>
              </a:lnSpc>
              <a:spcAft>
                <a:spcPts val="400"/>
              </a:spcAft>
            </a:pPr>
            <a:r>
              <a:rPr sz="1500" b="1" i="0">
                <a:solidFill>
                  <a:srgbClr val="FFFFFF"/>
                </a:solidFill>
                <a:latin typeface="Calibri"/>
                <a:ea typeface="Calibri"/>
              </a:rPr>
              <a:t>CLIENT</a:t>
            </a:r>
          </a:p>
        </p:txBody>
      </p:sp>
      <p:sp>
        <p:nvSpPr>
          <p:cNvPr id="9" name="TextBox 8"/>
          <p:cNvSpPr txBox="1"/>
          <p:nvPr/>
        </p:nvSpPr>
        <p:spPr>
          <a:xfrm>
            <a:off x="548640" y="2258568"/>
            <a:ext cx="2265578" cy="365760"/>
          </a:xfrm>
          <a:prstGeom prst="rect">
            <a:avLst/>
          </a:prstGeom>
          <a:noFill/>
        </p:spPr>
        <p:txBody>
          <a:bodyPr wrap="square" anchor="t" lIns="0" rIns="0" tIns="0" bIns="0">
            <a:spAutoFit/>
          </a:bodyPr>
          <a:lstStyle/>
          <a:p>
            <a:pPr algn="ctr">
              <a:lnSpc>
                <a:spcPct val="110000"/>
              </a:lnSpc>
              <a:spcAft>
                <a:spcPts val="400"/>
              </a:spcAft>
            </a:pPr>
            <a:r>
              <a:rPr sz="1450" b="1" i="0">
                <a:solidFill>
                  <a:srgbClr val="1A2230"/>
                </a:solidFill>
                <a:latin typeface="Calibri"/>
                <a:ea typeface="Calibri"/>
              </a:rPr>
              <a:t>Browser</a:t>
            </a:r>
          </a:p>
        </p:txBody>
      </p:sp>
      <p:sp>
        <p:nvSpPr>
          <p:cNvPr id="10" name="TextBox 9"/>
          <p:cNvSpPr txBox="1"/>
          <p:nvPr/>
        </p:nvSpPr>
        <p:spPr>
          <a:xfrm>
            <a:off x="640080" y="2642616"/>
            <a:ext cx="2082698" cy="329184"/>
          </a:xfrm>
          <a:prstGeom prst="rect">
            <a:avLst/>
          </a:prstGeom>
          <a:noFill/>
        </p:spPr>
        <p:txBody>
          <a:bodyPr wrap="square" anchor="t" lIns="0" rIns="0" tIns="0" bIns="0">
            <a:spAutoFit/>
          </a:bodyPr>
          <a:lstStyle/>
          <a:p>
            <a:pPr algn="ctr">
              <a:lnSpc>
                <a:spcPct val="110000"/>
              </a:lnSpc>
              <a:spcAft>
                <a:spcPts val="400"/>
              </a:spcAft>
            </a:pPr>
            <a:r>
              <a:rPr sz="1150" b="0" i="0">
                <a:solidFill>
                  <a:srgbClr val="4A5568"/>
                </a:solidFill>
                <a:latin typeface="Calibri"/>
                <a:ea typeface="Calibri"/>
              </a:rPr>
              <a:t>HTML · CSS · JavaScript</a:t>
            </a:r>
          </a:p>
        </p:txBody>
      </p:sp>
      <p:sp>
        <p:nvSpPr>
          <p:cNvPr id="11" name="TextBox 10"/>
          <p:cNvSpPr txBox="1"/>
          <p:nvPr/>
        </p:nvSpPr>
        <p:spPr>
          <a:xfrm>
            <a:off x="640080" y="2990088"/>
            <a:ext cx="2082698" cy="310896"/>
          </a:xfrm>
          <a:prstGeom prst="rect">
            <a:avLst/>
          </a:prstGeom>
          <a:noFill/>
        </p:spPr>
        <p:txBody>
          <a:bodyPr wrap="square" anchor="t" lIns="0" rIns="0" tIns="0" bIns="0">
            <a:spAutoFit/>
          </a:bodyPr>
          <a:lstStyle/>
          <a:p>
            <a:pPr algn="ctr">
              <a:lnSpc>
                <a:spcPct val="110000"/>
              </a:lnSpc>
              <a:spcAft>
                <a:spcPts val="400"/>
              </a:spcAft>
            </a:pPr>
            <a:r>
              <a:rPr sz="1050" b="0" i="0">
                <a:solidFill>
                  <a:srgbClr val="3D7BD9"/>
                </a:solidFill>
                <a:latin typeface="Calibri"/>
                <a:ea typeface="Calibri"/>
              </a:rPr>
              <a:t>renders pages · captures input</a:t>
            </a:r>
          </a:p>
        </p:txBody>
      </p:sp>
      <p:sp>
        <p:nvSpPr>
          <p:cNvPr id="12" name="Rounded Rectangle 11"/>
          <p:cNvSpPr/>
          <p:nvPr/>
        </p:nvSpPr>
        <p:spPr>
          <a:xfrm>
            <a:off x="4963058" y="1709928"/>
            <a:ext cx="2265578" cy="169164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963058" y="1709928"/>
            <a:ext cx="2265578" cy="457200"/>
          </a:xfrm>
          <a:prstGeom prst="roundRect">
            <a:avLst>
              <a:gd name="adj" fmla="val 8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963058" y="1773936"/>
            <a:ext cx="2265578" cy="329184"/>
          </a:xfrm>
          <a:prstGeom prst="rect">
            <a:avLst/>
          </a:prstGeom>
          <a:noFill/>
        </p:spPr>
        <p:txBody>
          <a:bodyPr wrap="square" anchor="t" lIns="0" rIns="0" tIns="0" bIns="0">
            <a:spAutoFit/>
          </a:bodyPr>
          <a:lstStyle/>
          <a:p>
            <a:pPr algn="ctr">
              <a:lnSpc>
                <a:spcPct val="110000"/>
              </a:lnSpc>
              <a:spcAft>
                <a:spcPts val="400"/>
              </a:spcAft>
            </a:pPr>
            <a:r>
              <a:rPr sz="1500" b="1" i="0">
                <a:solidFill>
                  <a:srgbClr val="FFFFFF"/>
                </a:solidFill>
                <a:latin typeface="Calibri"/>
                <a:ea typeface="Calibri"/>
              </a:rPr>
              <a:t>SERVER</a:t>
            </a:r>
          </a:p>
        </p:txBody>
      </p:sp>
      <p:sp>
        <p:nvSpPr>
          <p:cNvPr id="15" name="TextBox 14"/>
          <p:cNvSpPr txBox="1"/>
          <p:nvPr/>
        </p:nvSpPr>
        <p:spPr>
          <a:xfrm>
            <a:off x="4963058" y="2258568"/>
            <a:ext cx="2265578" cy="365760"/>
          </a:xfrm>
          <a:prstGeom prst="rect">
            <a:avLst/>
          </a:prstGeom>
          <a:noFill/>
        </p:spPr>
        <p:txBody>
          <a:bodyPr wrap="square" anchor="t" lIns="0" rIns="0" tIns="0" bIns="0">
            <a:spAutoFit/>
          </a:bodyPr>
          <a:lstStyle/>
          <a:p>
            <a:pPr algn="ctr">
              <a:lnSpc>
                <a:spcPct val="110000"/>
              </a:lnSpc>
              <a:spcAft>
                <a:spcPts val="400"/>
              </a:spcAft>
            </a:pPr>
            <a:r>
              <a:rPr sz="1450" b="1" i="0">
                <a:solidFill>
                  <a:srgbClr val="1A2230"/>
                </a:solidFill>
                <a:latin typeface="Calibri"/>
                <a:ea typeface="Calibri"/>
              </a:rPr>
              <a:t>Node.js / Express</a:t>
            </a:r>
          </a:p>
        </p:txBody>
      </p:sp>
      <p:sp>
        <p:nvSpPr>
          <p:cNvPr id="16" name="TextBox 15"/>
          <p:cNvSpPr txBox="1"/>
          <p:nvPr/>
        </p:nvSpPr>
        <p:spPr>
          <a:xfrm>
            <a:off x="5054498" y="2642616"/>
            <a:ext cx="2082698" cy="329184"/>
          </a:xfrm>
          <a:prstGeom prst="rect">
            <a:avLst/>
          </a:prstGeom>
          <a:noFill/>
        </p:spPr>
        <p:txBody>
          <a:bodyPr wrap="square" anchor="t" lIns="0" rIns="0" tIns="0" bIns="0">
            <a:spAutoFit/>
          </a:bodyPr>
          <a:lstStyle/>
          <a:p>
            <a:pPr algn="ctr">
              <a:lnSpc>
                <a:spcPct val="110000"/>
              </a:lnSpc>
              <a:spcAft>
                <a:spcPts val="400"/>
              </a:spcAft>
            </a:pPr>
            <a:r>
              <a:rPr sz="1150" b="0" i="0">
                <a:solidFill>
                  <a:srgbClr val="4A5568"/>
                </a:solidFill>
                <a:latin typeface="Calibri"/>
                <a:ea typeface="Calibri"/>
              </a:rPr>
              <a:t>logic · routes · APIs</a:t>
            </a:r>
          </a:p>
        </p:txBody>
      </p:sp>
      <p:sp>
        <p:nvSpPr>
          <p:cNvPr id="17" name="TextBox 16"/>
          <p:cNvSpPr txBox="1"/>
          <p:nvPr/>
        </p:nvSpPr>
        <p:spPr>
          <a:xfrm>
            <a:off x="5054498" y="2990088"/>
            <a:ext cx="2082698" cy="310896"/>
          </a:xfrm>
          <a:prstGeom prst="rect">
            <a:avLst/>
          </a:prstGeom>
          <a:noFill/>
        </p:spPr>
        <p:txBody>
          <a:bodyPr wrap="square" anchor="t" lIns="0" rIns="0" tIns="0" bIns="0">
            <a:spAutoFit/>
          </a:bodyPr>
          <a:lstStyle/>
          <a:p>
            <a:pPr algn="ctr">
              <a:lnSpc>
                <a:spcPct val="110000"/>
              </a:lnSpc>
              <a:spcAft>
                <a:spcPts val="400"/>
              </a:spcAft>
            </a:pPr>
            <a:r>
              <a:rPr sz="1050" b="0" i="0">
                <a:solidFill>
                  <a:srgbClr val="3D7BD9"/>
                </a:solidFill>
                <a:latin typeface="Calibri"/>
                <a:ea typeface="Calibri"/>
              </a:rPr>
              <a:t>answers requests · runs code</a:t>
            </a:r>
          </a:p>
        </p:txBody>
      </p:sp>
      <p:sp>
        <p:nvSpPr>
          <p:cNvPr id="18" name="Rounded Rectangle 17"/>
          <p:cNvSpPr/>
          <p:nvPr/>
        </p:nvSpPr>
        <p:spPr>
          <a:xfrm>
            <a:off x="9377476" y="1709928"/>
            <a:ext cx="2265578" cy="169164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377476" y="1709928"/>
            <a:ext cx="2265578" cy="457200"/>
          </a:xfrm>
          <a:prstGeom prst="roundRect">
            <a:avLst>
              <a:gd name="adj" fmla="val 8000"/>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77476" y="1773936"/>
            <a:ext cx="2265578" cy="329184"/>
          </a:xfrm>
          <a:prstGeom prst="rect">
            <a:avLst/>
          </a:prstGeom>
          <a:noFill/>
        </p:spPr>
        <p:txBody>
          <a:bodyPr wrap="square" anchor="t" lIns="0" rIns="0" tIns="0" bIns="0">
            <a:spAutoFit/>
          </a:bodyPr>
          <a:lstStyle/>
          <a:p>
            <a:pPr algn="ctr">
              <a:lnSpc>
                <a:spcPct val="110000"/>
              </a:lnSpc>
              <a:spcAft>
                <a:spcPts val="400"/>
              </a:spcAft>
            </a:pPr>
            <a:r>
              <a:rPr sz="1500" b="1" i="0">
                <a:solidFill>
                  <a:srgbClr val="FFFFFF"/>
                </a:solidFill>
                <a:latin typeface="Calibri"/>
                <a:ea typeface="Calibri"/>
              </a:rPr>
              <a:t>DATABASE</a:t>
            </a:r>
          </a:p>
        </p:txBody>
      </p:sp>
      <p:sp>
        <p:nvSpPr>
          <p:cNvPr id="21" name="TextBox 20"/>
          <p:cNvSpPr txBox="1"/>
          <p:nvPr/>
        </p:nvSpPr>
        <p:spPr>
          <a:xfrm>
            <a:off x="9377476" y="2258568"/>
            <a:ext cx="2265578" cy="365760"/>
          </a:xfrm>
          <a:prstGeom prst="rect">
            <a:avLst/>
          </a:prstGeom>
          <a:noFill/>
        </p:spPr>
        <p:txBody>
          <a:bodyPr wrap="square" anchor="t" lIns="0" rIns="0" tIns="0" bIns="0">
            <a:spAutoFit/>
          </a:bodyPr>
          <a:lstStyle/>
          <a:p>
            <a:pPr algn="ctr">
              <a:lnSpc>
                <a:spcPct val="110000"/>
              </a:lnSpc>
              <a:spcAft>
                <a:spcPts val="400"/>
              </a:spcAft>
            </a:pPr>
            <a:r>
              <a:rPr sz="1450" b="1" i="0">
                <a:solidFill>
                  <a:srgbClr val="1A2230"/>
                </a:solidFill>
                <a:latin typeface="Calibri"/>
                <a:ea typeface="Calibri"/>
              </a:rPr>
              <a:t>SQL / NoSQL</a:t>
            </a:r>
          </a:p>
        </p:txBody>
      </p:sp>
      <p:sp>
        <p:nvSpPr>
          <p:cNvPr id="22" name="TextBox 21"/>
          <p:cNvSpPr txBox="1"/>
          <p:nvPr/>
        </p:nvSpPr>
        <p:spPr>
          <a:xfrm>
            <a:off x="9468916" y="2642616"/>
            <a:ext cx="2082698" cy="329184"/>
          </a:xfrm>
          <a:prstGeom prst="rect">
            <a:avLst/>
          </a:prstGeom>
          <a:noFill/>
        </p:spPr>
        <p:txBody>
          <a:bodyPr wrap="square" anchor="t" lIns="0" rIns="0" tIns="0" bIns="0">
            <a:spAutoFit/>
          </a:bodyPr>
          <a:lstStyle/>
          <a:p>
            <a:pPr algn="ctr">
              <a:lnSpc>
                <a:spcPct val="110000"/>
              </a:lnSpc>
              <a:spcAft>
                <a:spcPts val="400"/>
              </a:spcAft>
            </a:pPr>
            <a:r>
              <a:rPr sz="1150" b="0" i="0">
                <a:solidFill>
                  <a:srgbClr val="4A5568"/>
                </a:solidFill>
                <a:latin typeface="Calibri"/>
                <a:ea typeface="Calibri"/>
              </a:rPr>
              <a:t>your application's data</a:t>
            </a:r>
          </a:p>
        </p:txBody>
      </p:sp>
      <p:sp>
        <p:nvSpPr>
          <p:cNvPr id="23" name="TextBox 22"/>
          <p:cNvSpPr txBox="1"/>
          <p:nvPr/>
        </p:nvSpPr>
        <p:spPr>
          <a:xfrm>
            <a:off x="9468916" y="2990088"/>
            <a:ext cx="2082698" cy="310896"/>
          </a:xfrm>
          <a:prstGeom prst="rect">
            <a:avLst/>
          </a:prstGeom>
          <a:noFill/>
        </p:spPr>
        <p:txBody>
          <a:bodyPr wrap="square" anchor="t" lIns="0" rIns="0" tIns="0" bIns="0">
            <a:spAutoFit/>
          </a:bodyPr>
          <a:lstStyle/>
          <a:p>
            <a:pPr algn="ctr">
              <a:lnSpc>
                <a:spcPct val="110000"/>
              </a:lnSpc>
              <a:spcAft>
                <a:spcPts val="400"/>
              </a:spcAft>
            </a:pPr>
            <a:r>
              <a:rPr sz="1050" b="0" i="0">
                <a:solidFill>
                  <a:srgbClr val="3D7BD9"/>
                </a:solidFill>
                <a:latin typeface="Calibri"/>
                <a:ea typeface="Calibri"/>
              </a:rPr>
              <a:t>stores, queries, returns rows</a:t>
            </a:r>
          </a:p>
        </p:txBody>
      </p:sp>
      <p:sp>
        <p:nvSpPr>
          <p:cNvPr id="24" name="TextBox 23"/>
          <p:cNvSpPr txBox="1"/>
          <p:nvPr/>
        </p:nvSpPr>
        <p:spPr>
          <a:xfrm>
            <a:off x="3111398" y="2167128"/>
            <a:ext cx="1554480" cy="365760"/>
          </a:xfrm>
          <a:prstGeom prst="rect">
            <a:avLst/>
          </a:prstGeom>
          <a:noFill/>
        </p:spPr>
        <p:txBody>
          <a:bodyPr wrap="square" anchor="t" lIns="0" rIns="0" tIns="0" bIns="0">
            <a:spAutoFit/>
          </a:bodyPr>
          <a:lstStyle/>
          <a:p>
            <a:pPr algn="ctr">
              <a:lnSpc>
                <a:spcPct val="110000"/>
              </a:lnSpc>
              <a:spcAft>
                <a:spcPts val="400"/>
              </a:spcAft>
            </a:pPr>
            <a:r>
              <a:rPr sz="1250" b="1" i="0">
                <a:solidFill>
                  <a:srgbClr val="1E4FA8"/>
                </a:solidFill>
                <a:latin typeface="Calibri"/>
                <a:ea typeface="Calibri"/>
              </a:rPr>
              <a:t>→ HTTP request</a:t>
            </a:r>
          </a:p>
        </p:txBody>
      </p:sp>
      <p:sp>
        <p:nvSpPr>
          <p:cNvPr id="25" name="TextBox 24"/>
          <p:cNvSpPr txBox="1"/>
          <p:nvPr/>
        </p:nvSpPr>
        <p:spPr>
          <a:xfrm>
            <a:off x="3111398" y="2624328"/>
            <a:ext cx="1554480" cy="365760"/>
          </a:xfrm>
          <a:prstGeom prst="rect">
            <a:avLst/>
          </a:prstGeom>
          <a:noFill/>
        </p:spPr>
        <p:txBody>
          <a:bodyPr wrap="square" anchor="t" lIns="0" rIns="0" tIns="0" bIns="0">
            <a:spAutoFit/>
          </a:bodyPr>
          <a:lstStyle/>
          <a:p>
            <a:pPr algn="ctr">
              <a:lnSpc>
                <a:spcPct val="110000"/>
              </a:lnSpc>
              <a:spcAft>
                <a:spcPts val="400"/>
              </a:spcAft>
            </a:pPr>
            <a:r>
              <a:rPr sz="1250" b="1" i="0">
                <a:solidFill>
                  <a:srgbClr val="3D7BD9"/>
                </a:solidFill>
                <a:latin typeface="Calibri"/>
                <a:ea typeface="Calibri"/>
              </a:rPr>
              <a:t>← HTTP response</a:t>
            </a:r>
          </a:p>
        </p:txBody>
      </p:sp>
      <p:sp>
        <p:nvSpPr>
          <p:cNvPr id="26" name="TextBox 25"/>
          <p:cNvSpPr txBox="1"/>
          <p:nvPr/>
        </p:nvSpPr>
        <p:spPr>
          <a:xfrm>
            <a:off x="7525816" y="2167128"/>
            <a:ext cx="1554480" cy="365760"/>
          </a:xfrm>
          <a:prstGeom prst="rect">
            <a:avLst/>
          </a:prstGeom>
          <a:noFill/>
        </p:spPr>
        <p:txBody>
          <a:bodyPr wrap="square" anchor="t" lIns="0" rIns="0" tIns="0" bIns="0">
            <a:spAutoFit/>
          </a:bodyPr>
          <a:lstStyle/>
          <a:p>
            <a:pPr algn="ctr">
              <a:lnSpc>
                <a:spcPct val="110000"/>
              </a:lnSpc>
              <a:spcAft>
                <a:spcPts val="400"/>
              </a:spcAft>
            </a:pPr>
            <a:r>
              <a:rPr sz="1250" b="1" i="0">
                <a:solidFill>
                  <a:srgbClr val="1E4FA8"/>
                </a:solidFill>
                <a:latin typeface="Calibri"/>
                <a:ea typeface="Calibri"/>
              </a:rPr>
              <a:t>→ SQL query</a:t>
            </a:r>
          </a:p>
        </p:txBody>
      </p:sp>
      <p:sp>
        <p:nvSpPr>
          <p:cNvPr id="27" name="TextBox 26"/>
          <p:cNvSpPr txBox="1"/>
          <p:nvPr/>
        </p:nvSpPr>
        <p:spPr>
          <a:xfrm>
            <a:off x="7525816" y="2624328"/>
            <a:ext cx="1554480" cy="365760"/>
          </a:xfrm>
          <a:prstGeom prst="rect">
            <a:avLst/>
          </a:prstGeom>
          <a:noFill/>
        </p:spPr>
        <p:txBody>
          <a:bodyPr wrap="square" anchor="t" lIns="0" rIns="0" tIns="0" bIns="0">
            <a:spAutoFit/>
          </a:bodyPr>
          <a:lstStyle/>
          <a:p>
            <a:pPr algn="ctr">
              <a:lnSpc>
                <a:spcPct val="110000"/>
              </a:lnSpc>
              <a:spcAft>
                <a:spcPts val="400"/>
              </a:spcAft>
            </a:pPr>
            <a:r>
              <a:rPr sz="1250" b="1" i="0">
                <a:solidFill>
                  <a:srgbClr val="3D7BD9"/>
                </a:solidFill>
                <a:latin typeface="Calibri"/>
                <a:ea typeface="Calibri"/>
              </a:rPr>
              <a:t>← data rows</a:t>
            </a:r>
          </a:p>
        </p:txBody>
      </p:sp>
      <p:sp>
        <p:nvSpPr>
          <p:cNvPr id="28" name="Rounded Rectangle 27"/>
          <p:cNvSpPr/>
          <p:nvPr/>
        </p:nvSpPr>
        <p:spPr>
          <a:xfrm>
            <a:off x="548640" y="3675887"/>
            <a:ext cx="11094415" cy="658368"/>
          </a:xfrm>
          <a:prstGeom prst="roundRect">
            <a:avLst>
              <a:gd name="adj" fmla="val 14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831335"/>
            <a:ext cx="10362895" cy="365760"/>
          </a:xfrm>
          <a:prstGeom prst="rect">
            <a:avLst/>
          </a:prstGeom>
          <a:noFill/>
        </p:spPr>
        <p:txBody>
          <a:bodyPr wrap="square" anchor="t" lIns="0" rIns="0" tIns="0" bIns="0">
            <a:spAutoFit/>
          </a:bodyPr>
          <a:lstStyle/>
          <a:p>
            <a:pPr algn="l">
              <a:lnSpc>
                <a:spcPct val="110000"/>
              </a:lnSpc>
              <a:spcAft>
                <a:spcPts val="400"/>
              </a:spcAft>
            </a:pPr>
            <a:r>
              <a:rPr sz="1400" b="0" i="0">
                <a:solidFill>
                  <a:srgbClr val="1A2230"/>
                </a:solidFill>
                <a:latin typeface="Calibri"/>
                <a:ea typeface="Calibri"/>
              </a:rPr>
              <a:t>The web is distributed: client and server may be continents apart — </a:t>
            </a:r>
            <a:r>
              <a:rPr sz="1400" b="1" i="0">
                <a:solidFill>
                  <a:srgbClr val="0E3F8C"/>
                </a:solidFill>
                <a:latin typeface="Calibri"/>
                <a:ea typeface="Calibri"/>
              </a:rPr>
              <a:t>they only need a network.</a:t>
            </a:r>
          </a:p>
        </p:txBody>
      </p:sp>
      <p:sp>
        <p:nvSpPr>
          <p:cNvPr id="30" name="Rounded Rectangle 29"/>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You build all three layers this semester — that is the whole course in one picture.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463040" cy="914400"/>
          </a:xfrm>
          <a:prstGeom prst="rect">
            <a:avLst/>
          </a:prstGeom>
          <a:noFill/>
        </p:spPr>
        <p:txBody>
          <a:bodyPr wrap="square" anchor="t" lIns="0" rIns="0" tIns="0" bIns="0">
            <a:spAutoFit/>
          </a:bodyPr>
          <a:lstStyle/>
          <a:p>
            <a:pPr algn="l">
              <a:lnSpc>
                <a:spcPct val="110000"/>
              </a:lnSpc>
              <a:spcAft>
                <a:spcPts val="400"/>
              </a:spcAft>
            </a:pPr>
            <a:r>
              <a:rPr sz="6000" b="1" i="0">
                <a:solidFill>
                  <a:srgbClr val="9DC0EE"/>
                </a:solidFill>
                <a:latin typeface="Calibri"/>
                <a:ea typeface="Calibri"/>
              </a:rPr>
              <a:t>02</a:t>
            </a:r>
          </a:p>
        </p:txBody>
      </p:sp>
      <p:sp>
        <p:nvSpPr>
          <p:cNvPr id="5" name="TextBox 4"/>
          <p:cNvSpPr txBox="1"/>
          <p:nvPr/>
        </p:nvSpPr>
        <p:spPr>
          <a:xfrm>
            <a:off x="2240280" y="502920"/>
            <a:ext cx="7315200" cy="640080"/>
          </a:xfrm>
          <a:prstGeom prst="rect">
            <a:avLst/>
          </a:prstGeom>
          <a:noFill/>
        </p:spPr>
        <p:txBody>
          <a:bodyPr wrap="square" anchor="t" lIns="0" rIns="0" tIns="0" bIns="0">
            <a:spAutoFit/>
          </a:bodyPr>
          <a:lstStyle/>
          <a:p>
            <a:pPr algn="l">
              <a:lnSpc>
                <a:spcPct val="110000"/>
              </a:lnSpc>
              <a:spcAft>
                <a:spcPts val="400"/>
              </a:spcAft>
            </a:pPr>
            <a:r>
              <a:rPr sz="3000" b="1" i="0">
                <a:solidFill>
                  <a:srgbClr val="FFFFFF"/>
                </a:solidFill>
                <a:latin typeface="Calibri"/>
                <a:ea typeface="Calibri"/>
              </a:rPr>
              <a:t>Front-End</a:t>
            </a:r>
          </a:p>
        </p:txBody>
      </p:sp>
      <p:sp>
        <p:nvSpPr>
          <p:cNvPr id="6" name="Rectangle 5"/>
          <p:cNvSpPr/>
          <p:nvPr/>
        </p:nvSpPr>
        <p:spPr>
          <a:xfrm>
            <a:off x="2240280" y="1188720"/>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40280" y="1280160"/>
            <a:ext cx="7315200" cy="365760"/>
          </a:xfrm>
          <a:prstGeom prst="rect">
            <a:avLst/>
          </a:prstGeom>
          <a:noFill/>
        </p:spPr>
        <p:txBody>
          <a:bodyPr wrap="square" anchor="t" lIns="0" rIns="0" tIns="0" bIns="0">
            <a:spAutoFit/>
          </a:bodyPr>
          <a:lstStyle/>
          <a:p>
            <a:pPr algn="l">
              <a:lnSpc>
                <a:spcPct val="110000"/>
              </a:lnSpc>
              <a:spcAft>
                <a:spcPts val="400"/>
              </a:spcAft>
            </a:pPr>
            <a:r>
              <a:rPr sz="1400" b="0" i="0">
                <a:solidFill>
                  <a:srgbClr val="B9CDEE"/>
                </a:solidFill>
                <a:latin typeface="Calibri"/>
                <a:ea typeface="Calibri"/>
              </a:rPr>
              <a:t>HTML · CSS · JavaScript — three languages, one page</a:t>
            </a:r>
          </a:p>
        </p:txBody>
      </p:sp>
      <p:pic>
        <p:nvPicPr>
          <p:cNvPr id="8" name="Picture 7" descr="img_html_css_js.png"/>
          <p:cNvPicPr>
            <a:picLocks noChangeAspect="1"/>
          </p:cNvPicPr>
          <p:nvPr/>
        </p:nvPicPr>
        <p:blipFill>
          <a:blip r:embed="rId2"/>
          <a:stretch>
            <a:fillRect/>
          </a:stretch>
        </p:blipFill>
        <p:spPr>
          <a:xfrm>
            <a:off x="2438247" y="1828800"/>
            <a:ext cx="7315200" cy="4114800"/>
          </a:xfrm>
          <a:prstGeom prst="rect">
            <a:avLst/>
          </a:prstGeom>
        </p:spPr>
      </p:pic>
      <p:sp>
        <p:nvSpPr>
          <p:cNvPr id="9" name="TextBox 8"/>
          <p:cNvSpPr txBox="1"/>
          <p:nvPr/>
        </p:nvSpPr>
        <p:spPr>
          <a:xfrm>
            <a:off x="548640" y="6053328"/>
            <a:ext cx="11094415" cy="365760"/>
          </a:xfrm>
          <a:prstGeom prst="rect">
            <a:avLst/>
          </a:prstGeom>
          <a:noFill/>
        </p:spPr>
        <p:txBody>
          <a:bodyPr wrap="square" anchor="t" lIns="0" rIns="0" tIns="0" bIns="0">
            <a:spAutoFit/>
          </a:bodyPr>
          <a:lstStyle/>
          <a:p>
            <a:pPr algn="ctr">
              <a:lnSpc>
                <a:spcPct val="110000"/>
              </a:lnSpc>
              <a:spcAft>
                <a:spcPts val="400"/>
              </a:spcAft>
            </a:pPr>
            <a:r>
              <a:rPr sz="1500" b="1" i="0">
                <a:solidFill>
                  <a:srgbClr val="FFFFFF"/>
                </a:solidFill>
                <a:latin typeface="Calibri"/>
                <a:ea typeface="Calibri"/>
              </a:rPr>
              <a:t>Each language answers a different question — about the web page.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HTML — Structure &amp; Elements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Front-End · HTML</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What is HTML?</a:t>
            </a:r>
            <a:br/>
            <a:r>
              <a:rPr sz="1600" b="0" i="0">
                <a:solidFill>
                  <a:srgbClr val="4A5568"/>
                </a:solidFill>
                <a:latin typeface="Calibri"/>
                <a:ea typeface="Calibri"/>
              </a:rPr>
              <a:t>The language that gives a page its structure and meaning.</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What problem does it solve?</a:t>
            </a:r>
            <a:br/>
            <a:r>
              <a:rPr sz="1600" b="0" i="0">
                <a:solidFill>
                  <a:srgbClr val="4A5568"/>
                </a:solidFill>
                <a:latin typeface="Calibri"/>
                <a:ea typeface="Calibri"/>
              </a:rPr>
              <a:t>Raw text has no shape — HTML turns it into a tree of elements the browser can render and search engines can read.</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How do you write it?</a:t>
            </a:r>
            <a:br/>
            <a:r>
              <a:rPr sz="1600" b="0" i="0">
                <a:solidFill>
                  <a:srgbClr val="4A5568"/>
                </a:solidFill>
                <a:latin typeface="Calibri"/>
                <a:ea typeface="Calibri"/>
              </a:rPr>
              <a:t>Tags wrap content: </a:t>
            </a:r>
            <a:r>
              <a:rPr sz="1600" b="0" i="0">
                <a:solidFill>
                  <a:srgbClr val="1E4FA8"/>
                </a:solidFill>
                <a:latin typeface="Consolas"/>
                <a:ea typeface="Consolas"/>
              </a:rPr>
              <a:t>&lt;h1&gt;</a:t>
            </a:r>
            <a:r>
              <a:rPr sz="1600" b="0" i="0">
                <a:solidFill>
                  <a:srgbClr val="4A5568"/>
                </a:solidFill>
                <a:latin typeface="Calibri"/>
                <a:ea typeface="Calibri"/>
              </a:rPr>
              <a:t>, </a:t>
            </a:r>
            <a:r>
              <a:rPr sz="1600" b="0" i="0">
                <a:solidFill>
                  <a:srgbClr val="1E4FA8"/>
                </a:solidFill>
                <a:latin typeface="Consolas"/>
                <a:ea typeface="Consolas"/>
              </a:rPr>
              <a:t>&lt;p&gt;</a:t>
            </a:r>
            <a:r>
              <a:rPr sz="1600" b="0" i="0">
                <a:solidFill>
                  <a:srgbClr val="4A5568"/>
                </a:solidFill>
                <a:latin typeface="Calibri"/>
                <a:ea typeface="Calibri"/>
              </a:rPr>
              <a:t>, </a:t>
            </a:r>
            <a:r>
              <a:rPr sz="1600" b="0" i="0">
                <a:solidFill>
                  <a:srgbClr val="1E4FA8"/>
                </a:solidFill>
                <a:latin typeface="Consolas"/>
                <a:ea typeface="Consolas"/>
              </a:rPr>
              <a:t>&lt;a&gt;</a:t>
            </a:r>
            <a:r>
              <a:rPr sz="1600" b="0" i="0">
                <a:solidFill>
                  <a:srgbClr val="4A5568"/>
                </a:solidFill>
                <a:latin typeface="Calibri"/>
                <a:ea typeface="Calibri"/>
              </a:rPr>
              <a:t>, </a:t>
            </a:r>
            <a:r>
              <a:rPr sz="1600" b="0" i="0">
                <a:solidFill>
                  <a:srgbClr val="1E4FA8"/>
                </a:solidFill>
                <a:latin typeface="Consolas"/>
                <a:ea typeface="Consolas"/>
              </a:rPr>
              <a:t>&lt;img&gt;</a:t>
            </a:r>
            <a:r>
              <a:rPr sz="1600" b="0" i="0">
                <a:solidFill>
                  <a:srgbClr val="4A5568"/>
                </a:solidFill>
                <a:latin typeface="Calibri"/>
                <a:ea typeface="Calibri"/>
              </a:rPr>
              <a:t>… close in reverse order of opening to nest properly.</a:t>
            </a:r>
          </a:p>
          <a:p>
            <a:pPr marL="274320" indent="-237744">
              <a:lnSpc>
                <a:spcPct val="112000"/>
              </a:lnSpc>
              <a:spcAft>
                <a:spcPts val="1000"/>
              </a:spcAft>
              <a:buClr>
                <a:srgbClr val="1E4FA8"/>
              </a:buClr>
              <a:buSzPct val="90000"/>
              <a:buFont typeface="Arial"/>
              <a:buChar char="▪"/>
            </a:pPr>
            <a:r>
              <a:rPr sz="1800" b="1" i="0">
                <a:solidFill>
                  <a:srgbClr val="1A2230"/>
                </a:solidFill>
                <a:latin typeface="Calibri"/>
                <a:ea typeface="Calibri"/>
              </a:rPr>
              <a:t>What can it do?</a:t>
            </a:r>
            <a:br/>
            <a:r>
              <a:rPr sz="1600" b="0" i="0">
                <a:solidFill>
                  <a:srgbClr val="4A5568"/>
                </a:solidFill>
                <a:latin typeface="Calibri"/>
                <a:ea typeface="Calibri"/>
              </a:rPr>
              <a:t>Forms, links, images, accessibility — even vector graphics with </a:t>
            </a:r>
            <a:r>
              <a:rPr sz="1600" b="0" i="0">
                <a:solidFill>
                  <a:srgbClr val="1E4FA8"/>
                </a:solidFill>
                <a:latin typeface="Consolas"/>
                <a:ea typeface="Consolas"/>
              </a:rPr>
              <a:t>&lt;svg&gt;</a:t>
            </a:r>
            <a:r>
              <a:rPr sz="1600" b="0" i="0">
                <a:solidFill>
                  <a:srgbClr val="4A5568"/>
                </a:solidFill>
                <a:latin typeface="Calibri"/>
                <a:ea typeface="Calibri"/>
              </a:rPr>
              <a:t>.</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A TASTE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&lt;!DOCTYPE html&gt;</a:t>
            </a:r>
          </a:p>
          <a:p>
            <a:pPr>
              <a:spcAft>
                <a:spcPts val="350"/>
              </a:spcAft>
            </a:pPr>
            <a:r>
              <a:rPr sz="1300" b="0" i="0">
                <a:solidFill>
                  <a:srgbClr val="7F8C98"/>
                </a:solidFill>
                <a:latin typeface="Consolas"/>
                <a:ea typeface="Consolas"/>
              </a:rPr>
              <a:t>&lt;html&gt;</a:t>
            </a:r>
          </a:p>
          <a:p>
            <a:pPr>
              <a:spcAft>
                <a:spcPts val="350"/>
              </a:spcAft>
            </a:pPr>
            <a:r>
              <a:rPr sz="1300" b="0" i="0">
                <a:solidFill>
                  <a:srgbClr val="7F8C98"/>
                </a:solidFill>
                <a:latin typeface="Consolas"/>
                <a:ea typeface="Consolas"/>
              </a:rPr>
              <a:t>  &lt;head&gt;&lt;title&gt;My Page&lt;/title&gt;&lt;/head&gt;</a:t>
            </a:r>
          </a:p>
          <a:p>
            <a:pPr>
              <a:spcAft>
                <a:spcPts val="350"/>
              </a:spcAft>
            </a:pPr>
            <a:r>
              <a:rPr sz="1300" b="0" i="0">
                <a:solidFill>
                  <a:srgbClr val="7F8C98"/>
                </a:solidFill>
                <a:latin typeface="Consolas"/>
                <a:ea typeface="Consolas"/>
              </a:rPr>
              <a:t>  &lt;body&gt;</a:t>
            </a:r>
          </a:p>
          <a:p>
            <a:pPr>
              <a:spcAft>
                <a:spcPts val="350"/>
              </a:spcAft>
            </a:pPr>
            <a:r>
              <a:rPr sz="1300" b="0" i="0">
                <a:solidFill>
                  <a:srgbClr val="E5C07B"/>
                </a:solidFill>
                <a:latin typeface="Consolas"/>
                <a:ea typeface="Consolas"/>
              </a:rPr>
              <a:t>    &lt;h1 </a:t>
            </a:r>
            <a:r>
              <a:rPr sz="1300" b="0" i="0">
                <a:solidFill>
                  <a:srgbClr val="61AFEF"/>
                </a:solidFill>
                <a:latin typeface="Consolas"/>
                <a:ea typeface="Consolas"/>
              </a:rPr>
              <a:t>class="title"</a:t>
            </a:r>
            <a:r>
              <a:rPr sz="1300" b="0" i="0">
                <a:solidFill>
                  <a:srgbClr val="E5C07B"/>
                </a:solidFill>
                <a:latin typeface="Consolas"/>
                <a:ea typeface="Consolas"/>
              </a:rPr>
              <a:t>&gt;Hello, Web!&lt;/h1&gt;</a:t>
            </a:r>
          </a:p>
          <a:p>
            <a:pPr>
              <a:spcAft>
                <a:spcPts val="350"/>
              </a:spcAft>
            </a:pPr>
            <a:r>
              <a:rPr sz="1300" b="0" i="0">
                <a:solidFill>
                  <a:srgbClr val="E5C07B"/>
                </a:solidFill>
                <a:latin typeface="Consolas"/>
                <a:ea typeface="Consolas"/>
              </a:rPr>
              <a:t>    &lt;p&gt;This is &lt;strong&gt;HTML&lt;/strong&gt;.&lt;/p&gt;</a:t>
            </a:r>
          </a:p>
          <a:p>
            <a:pPr>
              <a:spcAft>
                <a:spcPts val="350"/>
              </a:spcAft>
            </a:pPr>
            <a:r>
              <a:rPr sz="1300" b="0" i="0">
                <a:solidFill>
                  <a:srgbClr val="61AFEF"/>
                </a:solidFill>
                <a:latin typeface="Consolas"/>
                <a:ea typeface="Consolas"/>
              </a:rPr>
              <a:t>    &lt;a href="https://polyu.edu.hk"&gt;PolyU&lt;/a&gt;</a:t>
            </a:r>
          </a:p>
          <a:p>
            <a:pPr>
              <a:spcAft>
                <a:spcPts val="350"/>
              </a:spcAft>
            </a:pPr>
            <a:r>
              <a:rPr sz="1300" b="0" i="0">
                <a:solidFill>
                  <a:srgbClr val="7F8C98"/>
                </a:solidFill>
                <a:latin typeface="Consolas"/>
                <a:ea typeface="Consolas"/>
              </a:rPr>
              <a:t>  &lt;/body&gt;</a:t>
            </a:r>
          </a:p>
          <a:p>
            <a:pPr>
              <a:spcAft>
                <a:spcPts val="350"/>
              </a:spcAft>
            </a:pPr>
            <a:r>
              <a:rPr sz="1300" b="0" i="0">
                <a:solidFill>
                  <a:srgbClr val="7F8C98"/>
                </a:solidFill>
                <a:latin typeface="Consolas"/>
                <a:ea typeface="Consolas"/>
              </a:rPr>
              <a:t>&lt;/html&gt;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editor.html?example=html/hello</a:t>
            </a:r>
          </a:p>
        </p:txBody>
      </p:sp>
      <p:sp>
        <p:nvSpPr>
          <p:cNvPr id="11" name="Rounded Rectangle 10"/>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2: elements, the DOM, forms and SVG — with examples you edit live.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CSS — Presentation &amp; Layout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Front-End · CSS</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700" b="1" i="0">
                <a:solidFill>
                  <a:srgbClr val="1A2230"/>
                </a:solidFill>
                <a:latin typeface="Calibri"/>
                <a:ea typeface="Calibri"/>
              </a:rPr>
              <a:t>What is CSS?</a:t>
            </a:r>
            <a:br/>
            <a:r>
              <a:rPr sz="1500" b="0" i="0">
                <a:solidFill>
                  <a:srgbClr val="4A5568"/>
                </a:solidFill>
                <a:latin typeface="Calibri"/>
                <a:ea typeface="Calibri"/>
              </a:rPr>
              <a:t>The language that </a:t>
            </a:r>
            <a:r>
              <a:rPr sz="1500" b="0" i="0">
                <a:solidFill>
                  <a:srgbClr val="B8860B"/>
                </a:solidFill>
                <a:latin typeface="Consolas"/>
                <a:ea typeface="Consolas"/>
              </a:rPr>
              <a:t>controls</a:t>
            </a:r>
            <a:r>
              <a:rPr sz="1500" b="0" i="0">
                <a:solidFill>
                  <a:srgbClr val="4A5568"/>
                </a:solidFill>
                <a:latin typeface="Calibri"/>
                <a:ea typeface="Calibri"/>
              </a:rPr>
              <a:t> how a page looks.</a:t>
            </a:r>
          </a:p>
          <a:p>
            <a:pPr marL="274320" indent="-237744">
              <a:lnSpc>
                <a:spcPct val="112000"/>
              </a:lnSpc>
              <a:spcAft>
                <a:spcPts val="1000"/>
              </a:spcAft>
              <a:buClr>
                <a:srgbClr val="1E4FA8"/>
              </a:buClr>
              <a:buSzPct val="90000"/>
              <a:buFont typeface="Arial"/>
              <a:buChar char="▪"/>
            </a:pPr>
            <a:r>
              <a:rPr sz="1700" b="1" i="0">
                <a:solidFill>
                  <a:srgbClr val="1A2230"/>
                </a:solidFill>
                <a:latin typeface="Calibri"/>
                <a:ea typeface="Calibri"/>
              </a:rPr>
              <a:t>What problem does it solve?</a:t>
            </a:r>
            <a:br/>
            <a:r>
              <a:rPr sz="1500" b="0" i="0">
                <a:solidFill>
                  <a:srgbClr val="4A5568"/>
                </a:solidFill>
                <a:latin typeface="Calibri"/>
                <a:ea typeface="Calibri"/>
              </a:rPr>
              <a:t>Plain HTML looks the same everywhere — CSS separates presentation, so the same page can look any way you (or your designer) want.</a:t>
            </a:r>
          </a:p>
          <a:p>
            <a:pPr marL="274320" indent="-237744">
              <a:lnSpc>
                <a:spcPct val="112000"/>
              </a:lnSpc>
              <a:spcAft>
                <a:spcPts val="1000"/>
              </a:spcAft>
              <a:buClr>
                <a:srgbClr val="1E4FA8"/>
              </a:buClr>
              <a:buSzPct val="90000"/>
              <a:buFont typeface="Arial"/>
              <a:buChar char="▪"/>
            </a:pPr>
            <a:r>
              <a:rPr sz="1700" b="1" i="0">
                <a:solidFill>
                  <a:srgbClr val="1A2230"/>
                </a:solidFill>
                <a:latin typeface="Calibri"/>
                <a:ea typeface="Calibri"/>
              </a:rPr>
              <a:t>How do you write it?</a:t>
            </a:r>
            <a:br/>
            <a:r>
              <a:rPr sz="1500" b="0" i="0">
                <a:solidFill>
                  <a:srgbClr val="4A5568"/>
                </a:solidFill>
                <a:latin typeface="Calibri"/>
                <a:ea typeface="Calibri"/>
              </a:rPr>
              <a:t>Rules of the form selector { property: </a:t>
            </a:r>
            <a:r>
              <a:rPr sz="1500" b="0" i="0">
                <a:solidFill>
                  <a:srgbClr val="B8860B"/>
                </a:solidFill>
                <a:latin typeface="Consolas"/>
                <a:ea typeface="Consolas"/>
              </a:rPr>
              <a:t>value</a:t>
            </a:r>
            <a:r>
              <a:rPr sz="1500" b="0" i="0">
                <a:solidFill>
                  <a:srgbClr val="4A5568"/>
                </a:solidFill>
                <a:latin typeface="Calibri"/>
                <a:ea typeface="Calibri"/>
              </a:rPr>
              <a:t>; } — one rule per style, stacked in cascade order.</a:t>
            </a:r>
          </a:p>
          <a:p>
            <a:pPr marL="274320" indent="-237744">
              <a:lnSpc>
                <a:spcPct val="112000"/>
              </a:lnSpc>
              <a:spcAft>
                <a:spcPts val="1000"/>
              </a:spcAft>
              <a:buClr>
                <a:srgbClr val="1E4FA8"/>
              </a:buClr>
              <a:buSzPct val="90000"/>
              <a:buFont typeface="Arial"/>
              <a:buChar char="▪"/>
            </a:pPr>
            <a:r>
              <a:rPr sz="1700" b="1" i="0">
                <a:solidFill>
                  <a:srgbClr val="1A2230"/>
                </a:solidFill>
                <a:latin typeface="Calibri"/>
                <a:ea typeface="Calibri"/>
              </a:rPr>
              <a:t>What can it do?</a:t>
            </a:r>
            <a:br/>
            <a:r>
              <a:rPr sz="1500" b="0" i="0">
                <a:solidFill>
                  <a:srgbClr val="4A5568"/>
                </a:solidFill>
                <a:latin typeface="Calibri"/>
                <a:ea typeface="Calibri"/>
              </a:rPr>
              <a:t>Layout, colour, typography, motion, responsive design — Flexbox, Grid, media queries, custom properties.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A TASTE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h1 {</a:t>
            </a:r>
          </a:p>
          <a:p>
            <a:pPr>
              <a:spcAft>
                <a:spcPts val="350"/>
              </a:spcAft>
            </a:pPr>
            <a:r>
              <a:rPr sz="1300" b="0" i="0">
                <a:solidFill>
                  <a:srgbClr val="98C379"/>
                </a:solidFill>
                <a:latin typeface="Consolas"/>
                <a:ea typeface="Consolas"/>
              </a:rPr>
              <a:t>  color: #1E4FA8;    </a:t>
            </a:r>
            <a:r>
              <a:rPr sz="1300" b="0" i="0">
                <a:solidFill>
                  <a:srgbClr val="7F8C98"/>
                </a:solidFill>
                <a:latin typeface="Consolas"/>
                <a:ea typeface="Consolas"/>
              </a:rPr>
              <a:t>/* property: value */</a:t>
            </a:r>
          </a:p>
          <a:p>
            <a:pPr>
              <a:spcAft>
                <a:spcPts val="350"/>
              </a:spcAft>
            </a:pPr>
            <a:r>
              <a:rPr sz="1300" b="0" i="0">
                <a:solidFill>
                  <a:srgbClr val="98C379"/>
                </a:solidFill>
                <a:latin typeface="Consolas"/>
                <a:ea typeface="Consolas"/>
              </a:rPr>
              <a:t>  font-size: 2rem;</a:t>
            </a:r>
          </a:p>
          <a:p>
            <a:pPr>
              <a:spcAft>
                <a:spcPts val="350"/>
              </a:spcAft>
            </a:pPr>
            <a:r>
              <a:rPr sz="1300" b="0" i="0">
                <a:solidFill>
                  <a:srgbClr val="7F8C98"/>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.card {</a:t>
            </a:r>
          </a:p>
          <a:p>
            <a:pPr>
              <a:spcAft>
                <a:spcPts val="350"/>
              </a:spcAft>
            </a:pPr>
            <a:r>
              <a:rPr sz="1300" b="0" i="0">
                <a:solidFill>
                  <a:srgbClr val="98C379"/>
                </a:solidFill>
                <a:latin typeface="Consolas"/>
                <a:ea typeface="Consolas"/>
              </a:rPr>
              <a:t>  display: flex;</a:t>
            </a:r>
          </a:p>
          <a:p>
            <a:pPr>
              <a:spcAft>
                <a:spcPts val="350"/>
              </a:spcAft>
            </a:pPr>
            <a:r>
              <a:rPr sz="1300" b="0" i="0">
                <a:solidFill>
                  <a:srgbClr val="98C379"/>
                </a:solidFill>
                <a:latin typeface="Consolas"/>
                <a:ea typeface="Consolas"/>
              </a:rPr>
              <a:t>  gap: 1rem;</a:t>
            </a:r>
          </a:p>
          <a:p>
            <a:pPr>
              <a:spcAft>
                <a:spcPts val="350"/>
              </a:spcAft>
            </a:pPr>
            <a:r>
              <a:rPr sz="1300" b="0" i="0">
                <a:solidFill>
                  <a:srgbClr val="7F8C98"/>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E5C07B"/>
                </a:solidFill>
                <a:latin typeface="Consolas"/>
                <a:ea typeface="Consolas"/>
              </a:rPr>
              <a:t>@media (max-width: 600px) { … }</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editor.html?example=css-selectors/hello</a:t>
            </a:r>
          </a:p>
        </p:txBody>
      </p:sp>
      <p:sp>
        <p:nvSpPr>
          <p:cNvPr id="11" name="Rounded Rectangle 10"/>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Weeks 3–5: selectors &amp; cascade, the box model, then Flexbox, Grid and animation.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JavaScript — Behaviour</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Front-End · JavaScript</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700" b="1" i="0">
                <a:solidFill>
                  <a:srgbClr val="1A2230"/>
                </a:solidFill>
                <a:latin typeface="Calibri"/>
                <a:ea typeface="Calibri"/>
              </a:rPr>
              <a:t>What is JavaScript?</a:t>
            </a:r>
            <a:br/>
            <a:r>
              <a:rPr sz="1500" b="0" i="0">
                <a:solidFill>
                  <a:srgbClr val="4A5568"/>
                </a:solidFill>
                <a:latin typeface="Calibri"/>
                <a:ea typeface="Calibri"/>
              </a:rPr>
              <a:t>The language that makes a page interactive.</a:t>
            </a:r>
          </a:p>
          <a:p>
            <a:pPr marL="274320" indent="-237744">
              <a:lnSpc>
                <a:spcPct val="112000"/>
              </a:lnSpc>
              <a:spcAft>
                <a:spcPts val="1000"/>
              </a:spcAft>
              <a:buClr>
                <a:srgbClr val="1E4FA8"/>
              </a:buClr>
              <a:buSzPct val="90000"/>
              <a:buFont typeface="Arial"/>
              <a:buChar char="▪"/>
            </a:pPr>
            <a:r>
              <a:rPr sz="1700" b="1" i="0">
                <a:solidFill>
                  <a:srgbClr val="1A2230"/>
                </a:solidFill>
                <a:latin typeface="Calibri"/>
                <a:ea typeface="Calibri"/>
              </a:rPr>
              <a:t>What problem does it solve?</a:t>
            </a:r>
            <a:br/>
            <a:r>
              <a:rPr sz="1500" b="0" i="0">
                <a:solidFill>
                  <a:srgbClr val="4A5568"/>
                </a:solidFill>
                <a:latin typeface="Calibri"/>
                <a:ea typeface="Calibri"/>
              </a:rPr>
              <a:t>Static pages can't react to users — JS listens, computes, and updates the page in place, without a full reload.</a:t>
            </a:r>
          </a:p>
          <a:p>
            <a:pPr marL="274320" indent="-237744">
              <a:lnSpc>
                <a:spcPct val="112000"/>
              </a:lnSpc>
              <a:spcAft>
                <a:spcPts val="1000"/>
              </a:spcAft>
              <a:buClr>
                <a:srgbClr val="1E4FA8"/>
              </a:buClr>
              <a:buSzPct val="90000"/>
              <a:buFont typeface="Arial"/>
              <a:buChar char="▪"/>
            </a:pPr>
            <a:r>
              <a:rPr sz="1700" b="1" i="0">
                <a:solidFill>
                  <a:srgbClr val="1A2230"/>
                </a:solidFill>
                <a:latin typeface="Calibri"/>
                <a:ea typeface="Calibri"/>
              </a:rPr>
              <a:t>How do you write it?</a:t>
            </a:r>
            <a:br/>
            <a:r>
              <a:rPr sz="1500" b="0" i="0">
                <a:solidFill>
                  <a:srgbClr val="4A5568"/>
                </a:solidFill>
                <a:latin typeface="Calibri"/>
                <a:ea typeface="Calibri"/>
              </a:rPr>
              <a:t>Modern ES6+: const, arrow functions, template strings, modules, async/await — the language of the browser.</a:t>
            </a:r>
          </a:p>
          <a:p>
            <a:pPr marL="274320" indent="-237744">
              <a:lnSpc>
                <a:spcPct val="112000"/>
              </a:lnSpc>
              <a:spcAft>
                <a:spcPts val="1000"/>
              </a:spcAft>
              <a:buClr>
                <a:srgbClr val="1E4FA8"/>
              </a:buClr>
              <a:buSzPct val="90000"/>
              <a:buFont typeface="Arial"/>
              <a:buChar char="▪"/>
            </a:pPr>
            <a:r>
              <a:rPr sz="1700" b="1" i="0">
                <a:solidFill>
                  <a:srgbClr val="1A2230"/>
                </a:solidFill>
                <a:latin typeface="Calibri"/>
                <a:ea typeface="Calibri"/>
              </a:rPr>
              <a:t>What can it do?</a:t>
            </a:r>
            <a:br/>
            <a:r>
              <a:rPr sz="1500" b="0" i="0">
                <a:solidFill>
                  <a:srgbClr val="4A5568"/>
                </a:solidFill>
                <a:latin typeface="Calibri"/>
                <a:ea typeface="Calibri"/>
              </a:rPr>
              <a:t>Click handlers, fetch data from servers, animate, build full single-page apps — anything a user can do.</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A TASTE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const btn = document.querySelector('#btn');</a:t>
            </a:r>
          </a:p>
          <a:p>
            <a:pPr>
              <a:spcAft>
                <a:spcPts val="350"/>
              </a:spcAft>
            </a:pPr>
            <a:r>
              <a:rPr sz="1300" b="0" i="0">
                <a:solidFill>
                  <a:srgbClr val="61AFEF"/>
                </a:solidFill>
                <a:latin typeface="Consolas"/>
                <a:ea typeface="Consolas"/>
              </a:rPr>
              <a:t>btn.addEventListener('click', () =&gt; {</a:t>
            </a:r>
          </a:p>
          <a:p>
            <a:pPr>
              <a:spcAft>
                <a:spcPts val="350"/>
              </a:spcAft>
            </a:pPr>
            <a:r>
              <a:rPr sz="1300" b="0" i="0">
                <a:solidFill>
                  <a:srgbClr val="61AFEF"/>
                </a:solidFill>
                <a:latin typeface="Consolas"/>
                <a:ea typeface="Consolas"/>
              </a:rPr>
              <a:t>  const msg = document.querySelector('#msg');</a:t>
            </a:r>
          </a:p>
          <a:p>
            <a:pPr>
              <a:spcAft>
                <a:spcPts val="350"/>
              </a:spcAft>
            </a:pPr>
            <a:r>
              <a:rPr sz="1300" b="0" i="0">
                <a:solidFill>
                  <a:srgbClr val="98C379"/>
                </a:solidFill>
                <a:latin typeface="Consolas"/>
                <a:ea typeface="Consolas"/>
              </a:rPr>
              <a:t>  msg.textContent = 'Hello, JavaScript!';</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E5C07B"/>
                </a:solidFill>
                <a:latin typeface="Consolas"/>
                <a:ea typeface="Consolas"/>
              </a:rPr>
              <a:t>const greet = (name) =&gt; `Hi ${name}!`;</a:t>
            </a:r>
          </a:p>
          <a:p>
            <a:pPr>
              <a:spcAft>
                <a:spcPts val="350"/>
              </a:spcAft>
            </a:pPr>
            <a:r>
              <a:rPr sz="1300" b="0" i="0">
                <a:solidFill>
                  <a:srgbClr val="E5C07B"/>
                </a:solidFill>
                <a:latin typeface="Consolas"/>
                <a:ea typeface="Consolas"/>
              </a:rPr>
              <a:t>console.log(greet('COMP3421'));</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editor.html?example=js/dom</a:t>
            </a:r>
          </a:p>
        </p:txBody>
      </p:sp>
      <p:sp>
        <p:nvSpPr>
          <p:cNvPr id="11" name="Rounded Rectangle 10"/>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Weeks 6–8: ES6+, the DOM, events, then async &amp; fetch.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DevTools — Your Microscope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Front-End</a:t>
            </a:r>
          </a:p>
        </p:txBody>
      </p:sp>
      <p:sp>
        <p:nvSpPr>
          <p:cNvPr id="5" name="Rounded Rectangle 4"/>
          <p:cNvSpPr/>
          <p:nvPr/>
        </p:nvSpPr>
        <p:spPr>
          <a:xfrm>
            <a:off x="548640"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Elements / Inspector</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Inspect any element</a:t>
            </a:r>
            <a:br/>
            <a:r>
              <a:rPr sz="1400" b="0" i="0">
                <a:solidFill>
                  <a:srgbClr val="4A5568"/>
                </a:solidFill>
                <a:latin typeface="Calibri"/>
                <a:ea typeface="Calibri"/>
              </a:rPr>
              <a:t>See the HTML and the applied CSS together.</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Edit live</a:t>
            </a:r>
            <a:br/>
            <a:r>
              <a:rPr sz="1400" b="0" i="0">
                <a:solidFill>
                  <a:srgbClr val="4A5568"/>
                </a:solidFill>
                <a:latin typeface="Calibri"/>
                <a:ea typeface="Calibri"/>
              </a:rPr>
              <a:t>Change styles in the panel — see it instantly.</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Understand layout</a:t>
            </a:r>
            <a:br/>
            <a:r>
              <a:rPr sz="1400" b="0" i="0">
                <a:solidFill>
                  <a:srgbClr val="4A5568"/>
                </a:solidFill>
                <a:latin typeface="Calibri"/>
                <a:ea typeface="Calibri"/>
              </a:rPr>
              <a:t>The box model, Flexbox and Grid overlays.</a:t>
            </a:r>
          </a:p>
        </p:txBody>
      </p:sp>
      <p:sp>
        <p:nvSpPr>
          <p:cNvPr id="9" name="Rounded Rectangle 8"/>
          <p:cNvSpPr/>
          <p:nvPr/>
        </p:nvSpPr>
        <p:spPr>
          <a:xfrm>
            <a:off x="6278727"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1335"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Console &amp; Network</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5"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Console</a:t>
            </a:r>
            <a:br/>
            <a:r>
              <a:rPr sz="1400" b="0" i="0">
                <a:solidFill>
                  <a:srgbClr val="4A5568"/>
                </a:solidFill>
                <a:latin typeface="Calibri"/>
                <a:ea typeface="Calibri"/>
              </a:rPr>
              <a:t>Run JS, see errors, log values while debugging.</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Network tab</a:t>
            </a:r>
            <a:br/>
            <a:r>
              <a:rPr sz="1400" b="0" i="0">
                <a:solidFill>
                  <a:srgbClr val="4A5568"/>
                </a:solidFill>
                <a:latin typeface="Calibri"/>
                <a:ea typeface="Calibri"/>
              </a:rPr>
              <a:t>Watch every request and response your page makes.</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The whole stack visible</a:t>
            </a:r>
            <a:br/>
            <a:r>
              <a:rPr sz="1400" b="0" i="0">
                <a:solidFill>
                  <a:srgbClr val="4A5568"/>
                </a:solidFill>
                <a:latin typeface="Calibri"/>
                <a:ea typeface="Calibri"/>
              </a:rPr>
              <a:t>Headers, status codes, timings — from Week 2 on.</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If you learn one habit this semester, make it this: inspect everything.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20040"/>
            <a:ext cx="1463040" cy="914400"/>
          </a:xfrm>
          <a:prstGeom prst="rect">
            <a:avLst/>
          </a:prstGeom>
          <a:noFill/>
        </p:spPr>
        <p:txBody>
          <a:bodyPr wrap="square" anchor="t" lIns="0" rIns="0" tIns="0" bIns="0">
            <a:spAutoFit/>
          </a:bodyPr>
          <a:lstStyle/>
          <a:p>
            <a:pPr algn="l">
              <a:lnSpc>
                <a:spcPct val="110000"/>
              </a:lnSpc>
              <a:spcAft>
                <a:spcPts val="400"/>
              </a:spcAft>
            </a:pPr>
            <a:r>
              <a:rPr sz="6000" b="1" i="0">
                <a:solidFill>
                  <a:srgbClr val="9DC0EE"/>
                </a:solidFill>
                <a:latin typeface="Calibri"/>
                <a:ea typeface="Calibri"/>
              </a:rPr>
              <a:t>03</a:t>
            </a:r>
          </a:p>
        </p:txBody>
      </p:sp>
      <p:sp>
        <p:nvSpPr>
          <p:cNvPr id="5" name="TextBox 4"/>
          <p:cNvSpPr txBox="1"/>
          <p:nvPr/>
        </p:nvSpPr>
        <p:spPr>
          <a:xfrm>
            <a:off x="2240280" y="502920"/>
            <a:ext cx="7315200" cy="640080"/>
          </a:xfrm>
          <a:prstGeom prst="rect">
            <a:avLst/>
          </a:prstGeom>
          <a:noFill/>
        </p:spPr>
        <p:txBody>
          <a:bodyPr wrap="square" anchor="t" lIns="0" rIns="0" tIns="0" bIns="0">
            <a:spAutoFit/>
          </a:bodyPr>
          <a:lstStyle/>
          <a:p>
            <a:pPr algn="l">
              <a:lnSpc>
                <a:spcPct val="110000"/>
              </a:lnSpc>
              <a:spcAft>
                <a:spcPts val="400"/>
              </a:spcAft>
            </a:pPr>
            <a:r>
              <a:rPr sz="3000" b="1" i="0">
                <a:solidFill>
                  <a:srgbClr val="FFFFFF"/>
                </a:solidFill>
                <a:latin typeface="Calibri"/>
                <a:ea typeface="Calibri"/>
              </a:rPr>
              <a:t>Backend</a:t>
            </a:r>
          </a:p>
        </p:txBody>
      </p:sp>
      <p:sp>
        <p:nvSpPr>
          <p:cNvPr id="6" name="Rectangle 5"/>
          <p:cNvSpPr/>
          <p:nvPr/>
        </p:nvSpPr>
        <p:spPr>
          <a:xfrm>
            <a:off x="2240280" y="1188720"/>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240280" y="1280160"/>
            <a:ext cx="9601200" cy="365760"/>
          </a:xfrm>
          <a:prstGeom prst="rect">
            <a:avLst/>
          </a:prstGeom>
          <a:noFill/>
        </p:spPr>
        <p:txBody>
          <a:bodyPr wrap="square" anchor="t" lIns="0" rIns="0" tIns="0" bIns="0">
            <a:spAutoFit/>
          </a:bodyPr>
          <a:lstStyle/>
          <a:p>
            <a:pPr algn="l">
              <a:lnSpc>
                <a:spcPct val="110000"/>
              </a:lnSpc>
              <a:spcAft>
                <a:spcPts val="400"/>
              </a:spcAft>
            </a:pPr>
            <a:r>
              <a:rPr sz="1400" b="0" i="0">
                <a:solidFill>
                  <a:srgbClr val="B9CDEE"/>
                </a:solidFill>
                <a:latin typeface="Calibri"/>
                <a:ea typeface="Calibri"/>
              </a:rPr>
              <a:t>What is HTTP? Then the stack — Node · Express · Data · Real-Time · Cloud</a:t>
            </a:r>
          </a:p>
        </p:txBody>
      </p:sp>
      <p:pic>
        <p:nvPicPr>
          <p:cNvPr id="8" name="Picture 7" descr="img_backend_tech.png"/>
          <p:cNvPicPr>
            <a:picLocks noChangeAspect="1"/>
          </p:cNvPicPr>
          <p:nvPr/>
        </p:nvPicPr>
        <p:blipFill>
          <a:blip r:embed="rId2"/>
          <a:stretch>
            <a:fillRect/>
          </a:stretch>
        </p:blipFill>
        <p:spPr>
          <a:xfrm>
            <a:off x="2255367" y="1874519"/>
            <a:ext cx="7680960" cy="4322431"/>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HTTP — The Language of the Web</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Backend</a:t>
            </a:r>
          </a:p>
        </p:txBody>
      </p:sp>
      <p:sp>
        <p:nvSpPr>
          <p:cNvPr id="5" name="Rounded Rectangle 4"/>
          <p:cNvSpPr/>
          <p:nvPr/>
        </p:nvSpPr>
        <p:spPr>
          <a:xfrm>
            <a:off x="548640"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A Request</a:t>
            </a:r>
          </a:p>
        </p:txBody>
      </p:sp>
      <p:sp>
        <p:nvSpPr>
          <p:cNvPr id="7" name="Rectangle 6"/>
          <p:cNvSpPr/>
          <p:nvPr/>
        </p:nvSpPr>
        <p:spPr>
          <a:xfrm>
            <a:off x="859536"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Start line</a:t>
            </a:r>
            <a:br/>
            <a:r>
              <a:rPr sz="1400" b="0" i="0">
                <a:solidFill>
                  <a:srgbClr val="4A5568"/>
                </a:solidFill>
                <a:latin typeface="Calibri"/>
                <a:ea typeface="Calibri"/>
              </a:rPr>
              <a:t>GET /index.html HTTP/1.1</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Headers</a:t>
            </a:r>
            <a:br/>
            <a:r>
              <a:rPr sz="1400" b="0" i="0">
                <a:solidFill>
                  <a:srgbClr val="4A5568"/>
                </a:solidFill>
                <a:latin typeface="Calibri"/>
                <a:ea typeface="Calibri"/>
              </a:rPr>
              <a:t>Host, User-Agent, Accept, Cookie…</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Body (sometimes)</a:t>
            </a:r>
            <a:br/>
            <a:r>
              <a:rPr sz="1400" b="0" i="0">
                <a:solidFill>
                  <a:srgbClr val="4A5568"/>
                </a:solidFill>
                <a:latin typeface="Calibri"/>
                <a:ea typeface="Calibri"/>
              </a:rPr>
              <a:t>Form data, JSON — when you POST.</a:t>
            </a:r>
          </a:p>
        </p:txBody>
      </p:sp>
      <p:sp>
        <p:nvSpPr>
          <p:cNvPr id="9" name="Rounded Rectangle 8"/>
          <p:cNvSpPr/>
          <p:nvPr/>
        </p:nvSpPr>
        <p:spPr>
          <a:xfrm>
            <a:off x="6278727" y="932688"/>
            <a:ext cx="5364327" cy="4846320"/>
          </a:xfrm>
          <a:prstGeom prst="roundRect">
            <a:avLst>
              <a:gd name="adj" fmla="val 5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71335" y="1152144"/>
            <a:ext cx="4779111" cy="457200"/>
          </a:xfrm>
          <a:prstGeom prst="rect">
            <a:avLst/>
          </a:prstGeom>
          <a:noFill/>
        </p:spPr>
        <p:txBody>
          <a:bodyPr wrap="square" anchor="t" lIns="0" rIns="0" tIns="0" bIns="0">
            <a:spAutoFit/>
          </a:bodyPr>
          <a:lstStyle/>
          <a:p>
            <a:pPr algn="l">
              <a:lnSpc>
                <a:spcPct val="110000"/>
              </a:lnSpc>
              <a:spcAft>
                <a:spcPts val="400"/>
              </a:spcAft>
            </a:pPr>
            <a:r>
              <a:rPr sz="2000" b="1" i="0">
                <a:solidFill>
                  <a:srgbClr val="0E3F8C"/>
                </a:solidFill>
                <a:latin typeface="Calibri"/>
                <a:ea typeface="Calibri"/>
              </a:rPr>
              <a:t>A Response</a:t>
            </a:r>
          </a:p>
        </p:txBody>
      </p:sp>
      <p:sp>
        <p:nvSpPr>
          <p:cNvPr id="11" name="Rectangle 10"/>
          <p:cNvSpPr/>
          <p:nvPr/>
        </p:nvSpPr>
        <p:spPr>
          <a:xfrm>
            <a:off x="6589623" y="1709928"/>
            <a:ext cx="548640" cy="4114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71335" y="1892808"/>
            <a:ext cx="4779111" cy="3703320"/>
          </a:xfrm>
          <a:prstGeom prst="rect">
            <a:avLst/>
          </a:prstGeom>
          <a:noFill/>
        </p:spPr>
        <p:txBody>
          <a:bodyPr wrap="square" lIns="0" rIns="0" tIns="0" bIns="0">
            <a:normAutofit/>
          </a:bodyPr>
          <a:lstStyle/>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Status line</a:t>
            </a:r>
            <a:br/>
            <a:r>
              <a:rPr sz="1400" b="0" i="0">
                <a:solidFill>
                  <a:srgbClr val="4A5568"/>
                </a:solidFill>
                <a:latin typeface="Calibri"/>
                <a:ea typeface="Calibri"/>
              </a:rPr>
              <a:t>HTTP/1.1 200 OK — or 404, 500…</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Headers</a:t>
            </a:r>
            <a:br/>
            <a:r>
              <a:rPr sz="1400" b="0" i="0">
                <a:solidFill>
                  <a:srgbClr val="4A5568"/>
                </a:solidFill>
                <a:latin typeface="Calibri"/>
                <a:ea typeface="Calibri"/>
              </a:rPr>
              <a:t>Content-Type, Set-Cookie, Cache-Control…</a:t>
            </a:r>
          </a:p>
          <a:p>
            <a:pPr marL="274320" indent="-237744">
              <a:lnSpc>
                <a:spcPct val="112000"/>
              </a:lnSpc>
              <a:spcAft>
                <a:spcPts val="800"/>
              </a:spcAft>
              <a:buClr>
                <a:srgbClr val="1E4FA8"/>
              </a:buClr>
              <a:buSzPct val="90000"/>
              <a:buFont typeface="Arial"/>
              <a:buChar char="▪"/>
            </a:pPr>
            <a:r>
              <a:rPr sz="1600" b="1" i="0">
                <a:solidFill>
                  <a:srgbClr val="1A2230"/>
                </a:solidFill>
                <a:latin typeface="Calibri"/>
                <a:ea typeface="Calibri"/>
              </a:rPr>
              <a:t>Body</a:t>
            </a:r>
            <a:br/>
            <a:r>
              <a:rPr sz="1400" b="0" i="0">
                <a:solidFill>
                  <a:srgbClr val="4A5568"/>
                </a:solidFill>
                <a:latin typeface="Calibri"/>
                <a:ea typeface="Calibri"/>
              </a:rPr>
              <a:t>The HTML, JSON, image, or file you asked for.</a:t>
            </a:r>
          </a:p>
        </p:txBody>
      </p:sp>
      <p:sp>
        <p:nvSpPr>
          <p:cNvPr id="13" name="Rounded Rectangle 12"/>
          <p:cNvSpPr/>
          <p:nvPr/>
        </p:nvSpPr>
        <p:spPr>
          <a:xfrm>
            <a:off x="548640" y="5943600"/>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943600"/>
            <a:ext cx="10591495" cy="475488"/>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One protocol, every exchange, all semester — Week 9 goes deep.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URLs — The Address of Everything</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Backend</a:t>
            </a:r>
          </a:p>
        </p:txBody>
      </p:sp>
      <p:sp>
        <p:nvSpPr>
          <p:cNvPr id="5" name="Rounded Rectangle 4"/>
          <p:cNvSpPr/>
          <p:nvPr/>
        </p:nvSpPr>
        <p:spPr>
          <a:xfrm>
            <a:off x="548640" y="1389888"/>
            <a:ext cx="1009497" cy="658368"/>
          </a:xfrm>
          <a:prstGeom prst="roundRect">
            <a:avLst>
              <a:gd name="adj" fmla="val 10000"/>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81328"/>
            <a:ext cx="1009497" cy="457200"/>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https://</a:t>
            </a:r>
          </a:p>
        </p:txBody>
      </p:sp>
      <p:sp>
        <p:nvSpPr>
          <p:cNvPr id="7" name="TextBox 6"/>
          <p:cNvSpPr txBox="1"/>
          <p:nvPr/>
        </p:nvSpPr>
        <p:spPr>
          <a:xfrm>
            <a:off x="548640" y="2212848"/>
            <a:ext cx="1009497" cy="320040"/>
          </a:xfrm>
          <a:prstGeom prst="rect">
            <a:avLst/>
          </a:prstGeom>
          <a:noFill/>
        </p:spPr>
        <p:txBody>
          <a:bodyPr wrap="square" anchor="t" lIns="0" rIns="0" tIns="0" bIns="0">
            <a:spAutoFit/>
          </a:bodyPr>
          <a:lstStyle/>
          <a:p>
            <a:pPr algn="ctr">
              <a:lnSpc>
                <a:spcPct val="110000"/>
              </a:lnSpc>
              <a:spcAft>
                <a:spcPts val="400"/>
              </a:spcAft>
            </a:pPr>
            <a:r>
              <a:rPr sz="1050" b="0" i="0">
                <a:solidFill>
                  <a:srgbClr val="4A5568"/>
                </a:solidFill>
                <a:latin typeface="Calibri"/>
                <a:ea typeface="Calibri"/>
              </a:rPr>
              <a:t>scheme</a:t>
            </a:r>
          </a:p>
        </p:txBody>
      </p:sp>
      <p:sp>
        <p:nvSpPr>
          <p:cNvPr id="8" name="Rounded Rectangle 7"/>
          <p:cNvSpPr/>
          <p:nvPr/>
        </p:nvSpPr>
        <p:spPr>
          <a:xfrm>
            <a:off x="1667865" y="1389888"/>
            <a:ext cx="1799539" cy="658368"/>
          </a:xfrm>
          <a:prstGeom prst="roundRect">
            <a:avLst>
              <a:gd name="adj" fmla="val 1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67865" y="1481328"/>
            <a:ext cx="1799539" cy="457200"/>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www.polyu.edu.hk</a:t>
            </a:r>
          </a:p>
        </p:txBody>
      </p:sp>
      <p:sp>
        <p:nvSpPr>
          <p:cNvPr id="10" name="TextBox 9"/>
          <p:cNvSpPr txBox="1"/>
          <p:nvPr/>
        </p:nvSpPr>
        <p:spPr>
          <a:xfrm>
            <a:off x="1667865" y="2212848"/>
            <a:ext cx="1799539" cy="320040"/>
          </a:xfrm>
          <a:prstGeom prst="rect">
            <a:avLst/>
          </a:prstGeom>
          <a:noFill/>
        </p:spPr>
        <p:txBody>
          <a:bodyPr wrap="square" anchor="t" lIns="0" rIns="0" tIns="0" bIns="0">
            <a:spAutoFit/>
          </a:bodyPr>
          <a:lstStyle/>
          <a:p>
            <a:pPr algn="ctr">
              <a:lnSpc>
                <a:spcPct val="110000"/>
              </a:lnSpc>
              <a:spcAft>
                <a:spcPts val="400"/>
              </a:spcAft>
            </a:pPr>
            <a:r>
              <a:rPr sz="1050" b="0" i="0">
                <a:solidFill>
                  <a:srgbClr val="4A5568"/>
                </a:solidFill>
                <a:latin typeface="Calibri"/>
                <a:ea typeface="Calibri"/>
              </a:rPr>
              <a:t>host (domain)</a:t>
            </a:r>
          </a:p>
        </p:txBody>
      </p:sp>
      <p:sp>
        <p:nvSpPr>
          <p:cNvPr id="11" name="Rounded Rectangle 10"/>
          <p:cNvSpPr/>
          <p:nvPr/>
        </p:nvSpPr>
        <p:spPr>
          <a:xfrm>
            <a:off x="3577132" y="1389888"/>
            <a:ext cx="614476" cy="658368"/>
          </a:xfrm>
          <a:prstGeom prst="roundRect">
            <a:avLst>
              <a:gd name="adj" fmla="val 10000"/>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77132" y="1481328"/>
            <a:ext cx="614476" cy="457200"/>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:443</a:t>
            </a:r>
          </a:p>
        </p:txBody>
      </p:sp>
      <p:sp>
        <p:nvSpPr>
          <p:cNvPr id="13" name="TextBox 12"/>
          <p:cNvSpPr txBox="1"/>
          <p:nvPr/>
        </p:nvSpPr>
        <p:spPr>
          <a:xfrm>
            <a:off x="3577132" y="2212848"/>
            <a:ext cx="614476" cy="320040"/>
          </a:xfrm>
          <a:prstGeom prst="rect">
            <a:avLst/>
          </a:prstGeom>
          <a:noFill/>
        </p:spPr>
        <p:txBody>
          <a:bodyPr wrap="square" anchor="t" lIns="0" rIns="0" tIns="0" bIns="0">
            <a:spAutoFit/>
          </a:bodyPr>
          <a:lstStyle/>
          <a:p>
            <a:pPr algn="ctr">
              <a:lnSpc>
                <a:spcPct val="110000"/>
              </a:lnSpc>
              <a:spcAft>
                <a:spcPts val="400"/>
              </a:spcAft>
            </a:pPr>
            <a:r>
              <a:rPr sz="1050" b="0" i="0">
                <a:solidFill>
                  <a:srgbClr val="4A5568"/>
                </a:solidFill>
                <a:latin typeface="Calibri"/>
                <a:ea typeface="Calibri"/>
              </a:rPr>
              <a:t>port</a:t>
            </a:r>
          </a:p>
        </p:txBody>
      </p:sp>
      <p:sp>
        <p:nvSpPr>
          <p:cNvPr id="14" name="Rounded Rectangle 13"/>
          <p:cNvSpPr/>
          <p:nvPr/>
        </p:nvSpPr>
        <p:spPr>
          <a:xfrm>
            <a:off x="4301337" y="1389888"/>
            <a:ext cx="1700784" cy="65836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01337" y="1481328"/>
            <a:ext cx="1700784" cy="457200"/>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/comp3421/week1</a:t>
            </a:r>
          </a:p>
        </p:txBody>
      </p:sp>
      <p:sp>
        <p:nvSpPr>
          <p:cNvPr id="16" name="TextBox 15"/>
          <p:cNvSpPr txBox="1"/>
          <p:nvPr/>
        </p:nvSpPr>
        <p:spPr>
          <a:xfrm>
            <a:off x="4301337" y="2212848"/>
            <a:ext cx="1700784" cy="320040"/>
          </a:xfrm>
          <a:prstGeom prst="rect">
            <a:avLst/>
          </a:prstGeom>
          <a:noFill/>
        </p:spPr>
        <p:txBody>
          <a:bodyPr wrap="square" anchor="t" lIns="0" rIns="0" tIns="0" bIns="0">
            <a:spAutoFit/>
          </a:bodyPr>
          <a:lstStyle/>
          <a:p>
            <a:pPr algn="ctr">
              <a:lnSpc>
                <a:spcPct val="110000"/>
              </a:lnSpc>
              <a:spcAft>
                <a:spcPts val="400"/>
              </a:spcAft>
            </a:pPr>
            <a:r>
              <a:rPr sz="1050" b="0" i="0">
                <a:solidFill>
                  <a:srgbClr val="4A5568"/>
                </a:solidFill>
                <a:latin typeface="Calibri"/>
                <a:ea typeface="Calibri"/>
              </a:rPr>
              <a:t>path</a:t>
            </a:r>
          </a:p>
        </p:txBody>
      </p:sp>
      <p:sp>
        <p:nvSpPr>
          <p:cNvPr id="17" name="Rounded Rectangle 16"/>
          <p:cNvSpPr/>
          <p:nvPr/>
        </p:nvSpPr>
        <p:spPr>
          <a:xfrm>
            <a:off x="6111849" y="1389888"/>
            <a:ext cx="811987" cy="658368"/>
          </a:xfrm>
          <a:prstGeom prst="roundRect">
            <a:avLst>
              <a:gd name="adj" fmla="val 10000"/>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11849" y="1481328"/>
            <a:ext cx="811987" cy="457200"/>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?q=web</a:t>
            </a:r>
          </a:p>
        </p:txBody>
      </p:sp>
      <p:sp>
        <p:nvSpPr>
          <p:cNvPr id="19" name="TextBox 18"/>
          <p:cNvSpPr txBox="1"/>
          <p:nvPr/>
        </p:nvSpPr>
        <p:spPr>
          <a:xfrm>
            <a:off x="6111849" y="2212848"/>
            <a:ext cx="811987" cy="320040"/>
          </a:xfrm>
          <a:prstGeom prst="rect">
            <a:avLst/>
          </a:prstGeom>
          <a:noFill/>
        </p:spPr>
        <p:txBody>
          <a:bodyPr wrap="square" anchor="t" lIns="0" rIns="0" tIns="0" bIns="0">
            <a:spAutoFit/>
          </a:bodyPr>
          <a:lstStyle/>
          <a:p>
            <a:pPr algn="ctr">
              <a:lnSpc>
                <a:spcPct val="110000"/>
              </a:lnSpc>
              <a:spcAft>
                <a:spcPts val="400"/>
              </a:spcAft>
            </a:pPr>
            <a:r>
              <a:rPr sz="1050" b="0" i="0">
                <a:solidFill>
                  <a:srgbClr val="4A5568"/>
                </a:solidFill>
                <a:latin typeface="Calibri"/>
                <a:ea typeface="Calibri"/>
              </a:rPr>
              <a:t>query</a:t>
            </a:r>
          </a:p>
        </p:txBody>
      </p:sp>
      <p:sp>
        <p:nvSpPr>
          <p:cNvPr id="20" name="Rounded Rectangle 19"/>
          <p:cNvSpPr/>
          <p:nvPr/>
        </p:nvSpPr>
        <p:spPr>
          <a:xfrm>
            <a:off x="7033564" y="1389888"/>
            <a:ext cx="614476" cy="658368"/>
          </a:xfrm>
          <a:prstGeom prst="roundRect">
            <a:avLst>
              <a:gd name="adj" fmla="val 10000"/>
            </a:avLst>
          </a:prstGeom>
          <a:solidFill>
            <a:srgbClr val="3D7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33564" y="1481328"/>
            <a:ext cx="614476" cy="457200"/>
          </a:xfrm>
          <a:prstGeom prst="rect">
            <a:avLst/>
          </a:prstGeom>
          <a:noFill/>
        </p:spPr>
        <p:txBody>
          <a:bodyPr wrap="square" anchor="t" lIns="0" rIns="0" tIns="0" bIns="0">
            <a:spAutoFit/>
          </a:bodyPr>
          <a:lstStyle/>
          <a:p>
            <a:pPr algn="ctr">
              <a:lnSpc>
                <a:spcPct val="110000"/>
              </a:lnSpc>
              <a:spcAft>
                <a:spcPts val="400"/>
              </a:spcAft>
            </a:pPr>
            <a:r>
              <a:rPr sz="1600" b="1" i="0">
                <a:solidFill>
                  <a:srgbClr val="FFFFFF"/>
                </a:solidFill>
                <a:latin typeface="Calibri"/>
                <a:ea typeface="Calibri"/>
              </a:rPr>
              <a:t>#top</a:t>
            </a:r>
          </a:p>
        </p:txBody>
      </p:sp>
      <p:sp>
        <p:nvSpPr>
          <p:cNvPr id="22" name="TextBox 21"/>
          <p:cNvSpPr txBox="1"/>
          <p:nvPr/>
        </p:nvSpPr>
        <p:spPr>
          <a:xfrm>
            <a:off x="7033564" y="2212848"/>
            <a:ext cx="614476" cy="320040"/>
          </a:xfrm>
          <a:prstGeom prst="rect">
            <a:avLst/>
          </a:prstGeom>
          <a:noFill/>
        </p:spPr>
        <p:txBody>
          <a:bodyPr wrap="square" anchor="t" lIns="0" rIns="0" tIns="0" bIns="0">
            <a:spAutoFit/>
          </a:bodyPr>
          <a:lstStyle/>
          <a:p>
            <a:pPr algn="ctr">
              <a:lnSpc>
                <a:spcPct val="110000"/>
              </a:lnSpc>
              <a:spcAft>
                <a:spcPts val="400"/>
              </a:spcAft>
            </a:pPr>
            <a:r>
              <a:rPr sz="1050" b="0" i="0">
                <a:solidFill>
                  <a:srgbClr val="4A5568"/>
                </a:solidFill>
                <a:latin typeface="Calibri"/>
                <a:ea typeface="Calibri"/>
              </a:rPr>
              <a:t>fragment</a:t>
            </a:r>
          </a:p>
        </p:txBody>
      </p:sp>
      <p:sp>
        <p:nvSpPr>
          <p:cNvPr id="23" name="TextBox 22"/>
          <p:cNvSpPr txBox="1"/>
          <p:nvPr/>
        </p:nvSpPr>
        <p:spPr>
          <a:xfrm>
            <a:off x="548640" y="2807208"/>
            <a:ext cx="11094415" cy="365760"/>
          </a:xfrm>
          <a:prstGeom prst="rect">
            <a:avLst/>
          </a:prstGeom>
          <a:noFill/>
        </p:spPr>
        <p:txBody>
          <a:bodyPr wrap="square" anchor="t" lIns="0" rIns="0" tIns="0" bIns="0">
            <a:spAutoFit/>
          </a:bodyPr>
          <a:lstStyle/>
          <a:p>
            <a:pPr algn="l">
              <a:lnSpc>
                <a:spcPct val="110000"/>
              </a:lnSpc>
              <a:spcAft>
                <a:spcPts val="400"/>
              </a:spcAft>
            </a:pPr>
            <a:r>
              <a:rPr sz="1350" b="0" i="0">
                <a:solidFill>
                  <a:srgbClr val="4A5568"/>
                </a:solidFill>
                <a:latin typeface="Calibri"/>
                <a:ea typeface="Calibri"/>
              </a:rPr>
              <a:t>Every piece has a job — and the browser hides it all in the address bar.</a:t>
            </a:r>
          </a:p>
        </p:txBody>
      </p:sp>
      <p:sp>
        <p:nvSpPr>
          <p:cNvPr id="24" name="Rounded Rectangle 23"/>
          <p:cNvSpPr/>
          <p:nvPr/>
        </p:nvSpPr>
        <p:spPr>
          <a:xfrm>
            <a:off x="548640" y="3264408"/>
            <a:ext cx="2567863" cy="155448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3538728"/>
            <a:ext cx="109728" cy="40233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 y="3511296"/>
            <a:ext cx="1744903" cy="365760"/>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alibri"/>
                <a:ea typeface="Calibri"/>
              </a:rPr>
              <a:t>Scheme</a:t>
            </a:r>
          </a:p>
        </p:txBody>
      </p:sp>
      <p:sp>
        <p:nvSpPr>
          <p:cNvPr id="27" name="TextBox 26"/>
          <p:cNvSpPr txBox="1"/>
          <p:nvPr/>
        </p:nvSpPr>
        <p:spPr>
          <a:xfrm>
            <a:off x="1051560" y="3950208"/>
            <a:ext cx="1744903" cy="731520"/>
          </a:xfrm>
          <a:prstGeom prst="rect">
            <a:avLst/>
          </a:prstGeom>
          <a:noFill/>
        </p:spPr>
        <p:txBody>
          <a:bodyPr wrap="square" anchor="t" lIns="0" rIns="0" tIns="0" bIns="0">
            <a:spAutoFit/>
          </a:bodyPr>
          <a:lstStyle/>
          <a:p>
            <a:pPr algn="l">
              <a:lnSpc>
                <a:spcPct val="115000"/>
              </a:lnSpc>
              <a:spcAft>
                <a:spcPts val="400"/>
              </a:spcAft>
            </a:pPr>
            <a:r>
              <a:rPr sz="1150" b="0" i="0">
                <a:solidFill>
                  <a:srgbClr val="4A5568"/>
                </a:solidFill>
                <a:latin typeface="Calibri"/>
                <a:ea typeface="Calibri"/>
              </a:rPr>
              <a:t>How to talk: https (secure), http, file…</a:t>
            </a:r>
          </a:p>
        </p:txBody>
      </p:sp>
      <p:sp>
        <p:nvSpPr>
          <p:cNvPr id="28" name="Rounded Rectangle 27"/>
          <p:cNvSpPr/>
          <p:nvPr/>
        </p:nvSpPr>
        <p:spPr>
          <a:xfrm>
            <a:off x="3390823" y="3264408"/>
            <a:ext cx="2567863" cy="155448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619423" y="3538728"/>
            <a:ext cx="109728" cy="40233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93743" y="3511296"/>
            <a:ext cx="1744903" cy="365760"/>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alibri"/>
                <a:ea typeface="Calibri"/>
              </a:rPr>
              <a:t>Host &amp; port</a:t>
            </a:r>
          </a:p>
        </p:txBody>
      </p:sp>
      <p:sp>
        <p:nvSpPr>
          <p:cNvPr id="31" name="TextBox 30"/>
          <p:cNvSpPr txBox="1"/>
          <p:nvPr/>
        </p:nvSpPr>
        <p:spPr>
          <a:xfrm>
            <a:off x="3893743" y="3950208"/>
            <a:ext cx="1744903" cy="731520"/>
          </a:xfrm>
          <a:prstGeom prst="rect">
            <a:avLst/>
          </a:prstGeom>
          <a:noFill/>
        </p:spPr>
        <p:txBody>
          <a:bodyPr wrap="square" anchor="t" lIns="0" rIns="0" tIns="0" bIns="0">
            <a:spAutoFit/>
          </a:bodyPr>
          <a:lstStyle/>
          <a:p>
            <a:pPr algn="l">
              <a:lnSpc>
                <a:spcPct val="115000"/>
              </a:lnSpc>
              <a:spcAft>
                <a:spcPts val="400"/>
              </a:spcAft>
            </a:pPr>
            <a:r>
              <a:rPr sz="1150" b="0" i="0">
                <a:solidFill>
                  <a:srgbClr val="4A5568"/>
                </a:solidFill>
                <a:latin typeface="Calibri"/>
                <a:ea typeface="Calibri"/>
              </a:rPr>
              <a:t>Which machine, which door: polyu.edu.hk:443</a:t>
            </a:r>
          </a:p>
        </p:txBody>
      </p:sp>
      <p:sp>
        <p:nvSpPr>
          <p:cNvPr id="32" name="Rounded Rectangle 31"/>
          <p:cNvSpPr/>
          <p:nvPr/>
        </p:nvSpPr>
        <p:spPr>
          <a:xfrm>
            <a:off x="6233007" y="3264408"/>
            <a:ext cx="2567863" cy="155448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61607" y="3538728"/>
            <a:ext cx="109728" cy="40233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35927" y="3511296"/>
            <a:ext cx="1744903" cy="365760"/>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alibri"/>
                <a:ea typeface="Calibri"/>
              </a:rPr>
              <a:t>Path</a:t>
            </a:r>
          </a:p>
        </p:txBody>
      </p:sp>
      <p:sp>
        <p:nvSpPr>
          <p:cNvPr id="35" name="TextBox 34"/>
          <p:cNvSpPr txBox="1"/>
          <p:nvPr/>
        </p:nvSpPr>
        <p:spPr>
          <a:xfrm>
            <a:off x="6735927" y="3950208"/>
            <a:ext cx="1744903" cy="731520"/>
          </a:xfrm>
          <a:prstGeom prst="rect">
            <a:avLst/>
          </a:prstGeom>
          <a:noFill/>
        </p:spPr>
        <p:txBody>
          <a:bodyPr wrap="square" anchor="t" lIns="0" rIns="0" tIns="0" bIns="0">
            <a:spAutoFit/>
          </a:bodyPr>
          <a:lstStyle/>
          <a:p>
            <a:pPr algn="l">
              <a:lnSpc>
                <a:spcPct val="115000"/>
              </a:lnSpc>
              <a:spcAft>
                <a:spcPts val="400"/>
              </a:spcAft>
            </a:pPr>
            <a:r>
              <a:rPr sz="1150" b="0" i="0">
                <a:solidFill>
                  <a:srgbClr val="4A5568"/>
                </a:solidFill>
                <a:latin typeface="Calibri"/>
                <a:ea typeface="Calibri"/>
              </a:rPr>
              <a:t>Which resource: /comp3421/week1…</a:t>
            </a:r>
          </a:p>
        </p:txBody>
      </p:sp>
      <p:sp>
        <p:nvSpPr>
          <p:cNvPr id="36" name="Rounded Rectangle 35"/>
          <p:cNvSpPr/>
          <p:nvPr/>
        </p:nvSpPr>
        <p:spPr>
          <a:xfrm>
            <a:off x="9075191" y="3264408"/>
            <a:ext cx="2567863" cy="1554480"/>
          </a:xfrm>
          <a:prstGeom prst="roundRect">
            <a:avLst>
              <a:gd name="adj" fmla="val 8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303791" y="3538728"/>
            <a:ext cx="109728" cy="402336"/>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578111" y="3511296"/>
            <a:ext cx="1744903" cy="365760"/>
          </a:xfrm>
          <a:prstGeom prst="rect">
            <a:avLst/>
          </a:prstGeom>
          <a:noFill/>
        </p:spPr>
        <p:txBody>
          <a:bodyPr wrap="square" anchor="t" lIns="0" rIns="0" tIns="0" bIns="0">
            <a:spAutoFit/>
          </a:bodyPr>
          <a:lstStyle/>
          <a:p>
            <a:pPr algn="l">
              <a:lnSpc>
                <a:spcPct val="110000"/>
              </a:lnSpc>
              <a:spcAft>
                <a:spcPts val="400"/>
              </a:spcAft>
            </a:pPr>
            <a:r>
              <a:rPr sz="1500" b="1" i="0">
                <a:solidFill>
                  <a:srgbClr val="0E3F8C"/>
                </a:solidFill>
                <a:latin typeface="Calibri"/>
                <a:ea typeface="Calibri"/>
              </a:rPr>
              <a:t>Query</a:t>
            </a:r>
          </a:p>
        </p:txBody>
      </p:sp>
      <p:sp>
        <p:nvSpPr>
          <p:cNvPr id="39" name="TextBox 38"/>
          <p:cNvSpPr txBox="1"/>
          <p:nvPr/>
        </p:nvSpPr>
        <p:spPr>
          <a:xfrm>
            <a:off x="9578111" y="3950208"/>
            <a:ext cx="1744903" cy="731520"/>
          </a:xfrm>
          <a:prstGeom prst="rect">
            <a:avLst/>
          </a:prstGeom>
          <a:noFill/>
        </p:spPr>
        <p:txBody>
          <a:bodyPr wrap="square" anchor="t" lIns="0" rIns="0" tIns="0" bIns="0">
            <a:spAutoFit/>
          </a:bodyPr>
          <a:lstStyle/>
          <a:p>
            <a:pPr algn="l">
              <a:lnSpc>
                <a:spcPct val="115000"/>
              </a:lnSpc>
              <a:spcAft>
                <a:spcPts val="400"/>
              </a:spcAft>
            </a:pPr>
            <a:r>
              <a:rPr sz="1150" b="0" i="0">
                <a:solidFill>
                  <a:srgbClr val="4A5568"/>
                </a:solidFill>
                <a:latin typeface="Calibri"/>
                <a:ea typeface="Calibri"/>
              </a:rPr>
              <a:t>Extra parameters: ?q=web&amp;lang=en</a:t>
            </a:r>
          </a:p>
        </p:txBody>
      </p:sp>
      <p:sp>
        <p:nvSpPr>
          <p:cNvPr id="40" name="Rounded Rectangle 39"/>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9: URL anatomy in depth — and how to build them properly.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Part I — Node.js Runtime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Backend</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Runtime</a:t>
            </a:r>
            <a:br/>
            <a:r>
              <a:rPr sz="1350" b="0" i="0">
                <a:solidFill>
                  <a:srgbClr val="4A5568"/>
                </a:solidFill>
                <a:latin typeface="Calibri"/>
                <a:ea typeface="Calibri"/>
              </a:rPr>
              <a:t>Node.js is JavaScript outside the browser — the V8 engine plus libuv, an event-driven, non-blocking I/O model. One thread, many concurrent connections.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npm</a:t>
            </a:r>
            <a:br/>
            <a:r>
              <a:rPr sz="1350" b="0" i="0">
                <a:solidFill>
                  <a:srgbClr val="4A5568"/>
                </a:solidFill>
                <a:latin typeface="Calibri"/>
                <a:ea typeface="Calibri"/>
              </a:rPr>
              <a:t>The package manager: npm init creates a project, npm install </a:t>
            </a:r>
            <a:r>
              <a:rPr sz="1350" b="0" i="0">
                <a:solidFill>
                  <a:srgbClr val="1E4FA8"/>
                </a:solidFill>
                <a:latin typeface="Consolas"/>
                <a:ea typeface="Consolas"/>
              </a:rPr>
              <a:t>&lt;pkg&gt;</a:t>
            </a:r>
            <a:r>
              <a:rPr sz="1350" b="0" i="0">
                <a:solidFill>
                  <a:srgbClr val="4A5568"/>
                </a:solidFill>
                <a:latin typeface="Calibri"/>
                <a:ea typeface="Calibri"/>
              </a:rPr>
              <a:t> adds a library, package.json tracks every dependency.</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Modules</a:t>
            </a:r>
            <a:br/>
            <a:r>
              <a:rPr sz="1350" b="0" i="0">
                <a:solidFill>
                  <a:srgbClr val="4A5568"/>
                </a:solidFill>
                <a:latin typeface="Calibri"/>
                <a:ea typeface="Calibri"/>
              </a:rPr>
              <a:t>Split code into reusable files — CommonJS require / module.exports, or modern ES modules import / export.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HTTP server</a:t>
            </a:r>
            <a:br/>
            <a:r>
              <a:rPr sz="1350" b="0" i="0">
                <a:solidFill>
                  <a:srgbClr val="4A5568"/>
                </a:solidFill>
                <a:latin typeface="Calibri"/>
                <a:ea typeface="Calibri"/>
              </a:rPr>
              <a:t>The built-in http module turns any machine into a web server — no framework needed for the basics.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A TASTE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const http = require('http');</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const server = http.createServer((req, res) =&gt; {</a:t>
            </a:r>
          </a:p>
          <a:p>
            <a:pPr>
              <a:spcAft>
                <a:spcPts val="350"/>
              </a:spcAft>
            </a:pPr>
            <a:r>
              <a:rPr sz="1300" b="0" i="0">
                <a:solidFill>
                  <a:srgbClr val="E5C07B"/>
                </a:solidFill>
                <a:latin typeface="Consolas"/>
                <a:ea typeface="Consolas"/>
              </a:rPr>
              <a:t>  res.writeHead(200, { 'Content-Type': 'text/plain' });</a:t>
            </a:r>
          </a:p>
          <a:p>
            <a:pPr>
              <a:spcAft>
                <a:spcPts val="350"/>
              </a:spcAft>
            </a:pPr>
            <a:r>
              <a:rPr sz="1300" b="0" i="0">
                <a:solidFill>
                  <a:srgbClr val="98C379"/>
                </a:solidFill>
                <a:latin typeface="Consolas"/>
                <a:ea typeface="Consolas"/>
              </a:rPr>
              <a:t>  res.end('Hello from Node.js!');</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server.listen(3000, () =&gt; {</a:t>
            </a:r>
          </a:p>
          <a:p>
            <a:pPr>
              <a:spcAft>
                <a:spcPts val="350"/>
              </a:spcAft>
            </a:pPr>
            <a:r>
              <a:rPr sz="1300" b="0" i="0">
                <a:solidFill>
                  <a:srgbClr val="E5C07B"/>
                </a:solidFill>
                <a:latin typeface="Consolas"/>
                <a:ea typeface="Consolas"/>
              </a:rPr>
              <a:t>  console.log('Server running on :3000');</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editor.html?example=node/hello-http</a:t>
            </a:r>
          </a:p>
        </p:txBody>
      </p:sp>
      <p:sp>
        <p:nvSpPr>
          <p:cNvPr id="11" name="Rounded Rectangle 10"/>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10 — the runtime, npm, modules, and your first real server.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Part II — Express · REST · CRUD &amp; Data</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Backend</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Express</a:t>
            </a:r>
            <a:br/>
            <a:r>
              <a:rPr sz="1350" b="0" i="0">
                <a:solidFill>
                  <a:srgbClr val="4A5568"/>
                </a:solidFill>
                <a:latin typeface="Calibri"/>
                <a:ea typeface="Calibri"/>
              </a:rPr>
              <a:t>The de-facto web framework for Node. app.get('/path', handler) maps a URL to a function; middleware chains reusable steps (logging, auth, JSON parsing).</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REST API</a:t>
            </a:r>
            <a:br/>
            <a:r>
              <a:rPr sz="1350" b="0" i="0">
                <a:solidFill>
                  <a:srgbClr val="4A5568"/>
                </a:solidFill>
                <a:latin typeface="Calibri"/>
                <a:ea typeface="Calibri"/>
              </a:rPr>
              <a:t>Resources exposed over HTTP: GET /notes lists, POST creates, PUT /notes/1 updates, DELETE /notes/1 removes — the URL names the thing, the verb names the </a:t>
            </a:r>
            <a:r>
              <a:rPr sz="1350" b="0" i="0">
                <a:solidFill>
                  <a:srgbClr val="B8860B"/>
                </a:solidFill>
                <a:latin typeface="Consolas"/>
                <a:ea typeface="Consolas"/>
              </a:rPr>
              <a:t>action</a:t>
            </a:r>
            <a:r>
              <a:rPr sz="1350" b="0" i="0">
                <a:solidFill>
                  <a:srgbClr val="4A5568"/>
                </a:solidFill>
                <a:latin typeface="Calibri"/>
                <a:ea typeface="Calibri"/>
              </a:rPr>
              <a:t>.</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CRUD</a:t>
            </a:r>
            <a:br/>
            <a:r>
              <a:rPr sz="1350" b="0" i="0">
                <a:solidFill>
                  <a:srgbClr val="4A5568"/>
                </a:solidFill>
                <a:latin typeface="Calibri"/>
                <a:ea typeface="Calibri"/>
              </a:rPr>
              <a:t>Create, Read, Update, Delete — the four operations every app performs, mapped one-to-one onto database actions.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Database integration</a:t>
            </a:r>
            <a:br/>
            <a:r>
              <a:rPr sz="1350" b="0" i="0">
                <a:solidFill>
                  <a:srgbClr val="4A5568"/>
                </a:solidFill>
                <a:latin typeface="Calibri"/>
                <a:ea typeface="Calibri"/>
              </a:rPr>
              <a:t>Routes talk to SQL (SQLite, Postgres) or MongoDB. Drivers query, models shape, schemas validate — your data finally persists.</a:t>
            </a:r>
          </a:p>
        </p:txBody>
      </p:sp>
      <p:sp>
        <p:nvSpPr>
          <p:cNvPr id="6" name="Rounded Rectangle 5"/>
          <p:cNvSpPr/>
          <p:nvPr/>
        </p:nvSpPr>
        <p:spPr>
          <a:xfrm>
            <a:off x="5836615" y="978408"/>
            <a:ext cx="5806440" cy="370332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A TASTE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61AFEF"/>
                </a:solidFill>
                <a:latin typeface="Consolas"/>
                <a:ea typeface="Consolas"/>
              </a:rPr>
              <a:t>const express = require('express');</a:t>
            </a:r>
          </a:p>
          <a:p>
            <a:pPr>
              <a:spcAft>
                <a:spcPts val="350"/>
              </a:spcAft>
            </a:pPr>
            <a:r>
              <a:rPr sz="1300" b="0" i="0">
                <a:solidFill>
                  <a:srgbClr val="61AFEF"/>
                </a:solidFill>
                <a:latin typeface="Consolas"/>
                <a:ea typeface="Consolas"/>
              </a:rPr>
              <a:t>const app = express();</a:t>
            </a:r>
          </a:p>
          <a:p>
            <a:pPr>
              <a:spcAft>
                <a:spcPts val="350"/>
              </a:spcAft>
            </a:pPr>
            <a:r>
              <a:rPr sz="1300" b="0" i="0">
                <a:solidFill>
                  <a:srgbClr val="61AFEF"/>
                </a:solidFill>
                <a:latin typeface="Consolas"/>
                <a:ea typeface="Consolas"/>
              </a:rPr>
              <a:t>app.use(express.json());</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app.get('/api/notes', (req, res) =&gt; {</a:t>
            </a:r>
          </a:p>
          <a:p>
            <a:pPr>
              <a:spcAft>
                <a:spcPts val="350"/>
              </a:spcAft>
            </a:pPr>
            <a:r>
              <a:rPr sz="1300" b="0" i="0">
                <a:solidFill>
                  <a:srgbClr val="98C379"/>
                </a:solidFill>
                <a:latin typeface="Consolas"/>
                <a:ea typeface="Consolas"/>
              </a:rPr>
              <a:t>  res.json([{ id: 1, text: 'Hello' }]);</a:t>
            </a:r>
          </a:p>
          <a:p>
            <a:pPr>
              <a:spcAft>
                <a:spcPts val="350"/>
              </a:spcAft>
            </a:pPr>
            <a:r>
              <a:rPr sz="1300" b="0" i="0">
                <a:solidFill>
                  <a:srgbClr val="61AFEF"/>
                </a:solidFill>
                <a:latin typeface="Consolas"/>
                <a:ea typeface="Consolas"/>
              </a:rPr>
              <a:t>});</a:t>
            </a:r>
          </a:p>
          <a:p>
            <a:pPr>
              <a:spcAft>
                <a:spcPts val="350"/>
              </a:spcAft>
            </a:pPr>
            <a:r>
              <a:rPr sz="1300" b="0" i="0">
                <a:solidFill>
                  <a:srgbClr val="7F8C98"/>
                </a:solidFill>
                <a:latin typeface="Consolas"/>
                <a:ea typeface="Consolas"/>
              </a:rPr>
              <a:t/>
            </a:r>
          </a:p>
          <a:p>
            <a:pPr>
              <a:spcAft>
                <a:spcPts val="350"/>
              </a:spcAft>
            </a:pPr>
            <a:r>
              <a:rPr sz="1300" b="0" i="0">
                <a:solidFill>
                  <a:srgbClr val="61AFEF"/>
                </a:solidFill>
                <a:latin typeface="Consolas"/>
                <a:ea typeface="Consolas"/>
              </a:rPr>
              <a:t>app.post('/api/notes', (req, res) =&gt; {</a:t>
            </a:r>
          </a:p>
          <a:p>
            <a:pPr>
              <a:spcAft>
                <a:spcPts val="350"/>
              </a:spcAft>
            </a:pPr>
            <a:r>
              <a:rPr sz="1300" b="0" i="0">
                <a:solidFill>
                  <a:srgbClr val="7F8C98"/>
                </a:solidFill>
                <a:latin typeface="Consolas"/>
                <a:ea typeface="Consolas"/>
              </a:rPr>
              <a:t>  // create a note in the database…</a:t>
            </a:r>
          </a:p>
          <a:p>
            <a:pPr>
              <a:spcAft>
                <a:spcPts val="350"/>
              </a:spcAft>
            </a:pPr>
            <a:r>
              <a:rPr sz="1300" b="0" i="0">
                <a:solidFill>
                  <a:srgbClr val="61AFEF"/>
                </a:solidFill>
                <a:latin typeface="Consolas"/>
                <a:ea typeface="Consolas"/>
              </a:rPr>
              <a:t>});</a:t>
            </a:r>
          </a:p>
        </p:txBody>
      </p:sp>
      <p:sp>
        <p:nvSpPr>
          <p:cNvPr id="9" name="Rounded Rectangle 8"/>
          <p:cNvSpPr/>
          <p:nvPr/>
        </p:nvSpPr>
        <p:spPr>
          <a:xfrm>
            <a:off x="5836615" y="4800600"/>
            <a:ext cx="5806440" cy="475488"/>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2647" y="4919472"/>
            <a:ext cx="5294375" cy="274320"/>
          </a:xfrm>
          <a:prstGeom prst="rect">
            <a:avLst/>
          </a:prstGeom>
          <a:noFill/>
        </p:spPr>
        <p:txBody>
          <a:bodyPr wrap="square" anchor="t" lIns="0" rIns="0" tIns="0" bIns="0">
            <a:spAutoFit/>
          </a:bodyPr>
          <a:lstStyle/>
          <a:p>
            <a:pPr algn="l">
              <a:lnSpc>
                <a:spcPct val="110000"/>
              </a:lnSpc>
              <a:spcAft>
                <a:spcPts val="400"/>
              </a:spcAft>
            </a:pPr>
            <a:r>
              <a:rPr sz="1050" b="1" i="0">
                <a:solidFill>
                  <a:srgbClr val="0E3F8C"/>
                </a:solidFill>
                <a:latin typeface="Calibri"/>
                <a:ea typeface="Calibri"/>
              </a:rPr>
              <a:t>example →  </a:t>
            </a:r>
            <a:r>
              <a:rPr sz="1050" b="0" i="0">
                <a:solidFill>
                  <a:srgbClr val="3D7BD9"/>
                </a:solidFill>
                <a:latin typeface="Consolas"/>
                <a:ea typeface="Consolas"/>
                <a:hlinkClick r:id="rId2"/>
                <a:extLst>
                  <a:ext uri="{A12FA001-AC4F-418D-AE19-62706E023703}">
                    <ahyp:hlinkClr xmlns:ahyp="http://schemas.microsoft.com/office/drawing/2018/hyperlinkcolor" val="tx"/>
                  </a:ext>
                </a:extLst>
              </a:rPr>
              <a:t>editor.html?example=node/express-hello</a:t>
            </a:r>
          </a:p>
        </p:txBody>
      </p:sp>
      <p:sp>
        <p:nvSpPr>
          <p:cNvPr id="11" name="Rounded Rectangle 10"/>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11 — Express, REST, CRUD, and wiring it all to a database.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Part III — Advanced Integration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Backend</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WebSocket</a:t>
            </a:r>
            <a:br/>
            <a:r>
              <a:rPr sz="1350" b="0" i="0">
                <a:solidFill>
                  <a:srgbClr val="4A5568"/>
                </a:solidFill>
                <a:latin typeface="Calibri"/>
                <a:ea typeface="Calibri"/>
              </a:rPr>
              <a:t>A persistent, full-duplex connection — the server can push updates any time, not only when asked. It starts as HTTP, then upgrades.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Real-time</a:t>
            </a:r>
            <a:br/>
            <a:r>
              <a:rPr sz="1350" b="0" i="0">
                <a:solidFill>
                  <a:srgbClr val="4A5568"/>
                </a:solidFill>
                <a:latin typeface="Calibri"/>
                <a:ea typeface="Calibri"/>
              </a:rPr>
              <a:t>Chat, live scores, collaborative editing. Socket.IO wraps WebSocket with rooms, reconnection and fallbacks.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SPA</a:t>
            </a:r>
            <a:br/>
            <a:r>
              <a:rPr sz="1350" b="0" i="0">
                <a:solidFill>
                  <a:srgbClr val="4A5568"/>
                </a:solidFill>
                <a:latin typeface="Calibri"/>
                <a:ea typeface="Calibri"/>
              </a:rPr>
              <a:t>Single-Page App — one HTML page, JavaScript swaps the views. The app fetches data and re-renders, never whole pages.</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Deployment</a:t>
            </a:r>
            <a:br/>
            <a:r>
              <a:rPr sz="1350" b="0" i="0">
                <a:solidFill>
                  <a:srgbClr val="4A5568"/>
                </a:solidFill>
                <a:latin typeface="Calibri"/>
                <a:ea typeface="Calibri"/>
              </a:rPr>
              <a:t>Ship the same Node app to the cloud — static on Netlify/Vercel, servers on Render/Fly, plus a real domain and HTTPS.</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A TASTE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server pushes a message — client just listens</a:t>
            </a:r>
          </a:p>
          <a:p>
            <a:pPr>
              <a:spcAft>
                <a:spcPts val="350"/>
              </a:spcAft>
            </a:pPr>
            <a:r>
              <a:rPr sz="1300" b="0" i="0">
                <a:solidFill>
                  <a:srgbClr val="61AFEF"/>
                </a:solidFill>
                <a:latin typeface="Consolas"/>
                <a:ea typeface="Consolas"/>
              </a:rPr>
              <a:t>const ws = new WebSocket('wss://chat.example.com');</a:t>
            </a:r>
          </a:p>
          <a:p>
            <a:pPr>
              <a:spcAft>
                <a:spcPts val="350"/>
              </a:spcAft>
            </a:pPr>
            <a:r>
              <a:rPr sz="1300" b="0" i="0">
                <a:solidFill>
                  <a:srgbClr val="98C379"/>
                </a:solidFill>
                <a:latin typeface="Consolas"/>
                <a:ea typeface="Consolas"/>
              </a:rPr>
              <a:t>ws.onmessage = (ev) =&gt; renderMessage(ev.data);</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SPA — swap the view without reloading the page</a:t>
            </a:r>
          </a:p>
          <a:p>
            <a:pPr>
              <a:spcAft>
                <a:spcPts val="350"/>
              </a:spcAft>
            </a:pPr>
            <a:r>
              <a:rPr sz="1300" b="0" i="0">
                <a:solidFill>
                  <a:srgbClr val="E5C07B"/>
                </a:solidFill>
                <a:latin typeface="Consolas"/>
                <a:ea typeface="Consolas"/>
              </a:rPr>
              <a:t>history.pushState({}, '', '/notes');  renderView();</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deploy — push to git, the cloud builds and serves</a:t>
            </a:r>
          </a:p>
          <a:p>
            <a:pPr>
              <a:spcAft>
                <a:spcPts val="350"/>
              </a:spcAft>
            </a:pPr>
            <a:r>
              <a:rPr sz="1300" b="0" i="0">
                <a:solidFill>
                  <a:srgbClr val="E5C07B"/>
                </a:solidFill>
                <a:latin typeface="Consolas"/>
                <a:ea typeface="Consolas"/>
              </a:rPr>
              <a:t>git push origin main   →   auto-deploy</a:t>
            </a:r>
          </a:p>
        </p:txBody>
      </p:sp>
      <p:sp>
        <p:nvSpPr>
          <p:cNvPr id="9" name="Rounded Rectangle 8"/>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12 — real-time, SPA, and putting your app in front of real users.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Part IV — Performance &amp; Optimization</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Backend</a:t>
            </a:r>
          </a:p>
        </p:txBody>
      </p:sp>
      <p:sp>
        <p:nvSpPr>
          <p:cNvPr id="5" name="TextBox 4"/>
          <p:cNvSpPr txBox="1"/>
          <p:nvPr/>
        </p:nvSpPr>
        <p:spPr>
          <a:xfrm>
            <a:off x="548640" y="978408"/>
            <a:ext cx="4602175" cy="4937760"/>
          </a:xfrm>
          <a:prstGeom prst="rect">
            <a:avLst/>
          </a:prstGeom>
          <a:noFill/>
        </p:spPr>
        <p:txBody>
          <a:bodyPr wrap="square" lIns="0" rIns="0" tIns="0" bIns="0">
            <a:normAutofit/>
          </a:bodyPr>
          <a:lstStyle/>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Caching</a:t>
            </a:r>
            <a:br/>
            <a:r>
              <a:rPr sz="1350" b="0" i="0">
                <a:solidFill>
                  <a:srgbClr val="4A5568"/>
                </a:solidFill>
                <a:latin typeface="Calibri"/>
                <a:ea typeface="Calibri"/>
              </a:rPr>
              <a:t>Keep answers close: Cache-Control headers, ETags, and server-side caches (Redis) — repeat visits skip the work.</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CDN</a:t>
            </a:r>
            <a:br/>
            <a:r>
              <a:rPr sz="1350" b="0" i="0">
                <a:solidFill>
                  <a:srgbClr val="4A5568"/>
                </a:solidFill>
                <a:latin typeface="Calibri"/>
                <a:ea typeface="Calibri"/>
              </a:rPr>
              <a:t>Content Delivery Network — copies of your static files on edge servers worldwide, served from the one nearest each user.</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HTTP/2 &amp; HTTP/3</a:t>
            </a:r>
            <a:br/>
            <a:r>
              <a:rPr sz="1350" b="0" i="0">
                <a:solidFill>
                  <a:srgbClr val="4A5568"/>
                </a:solidFill>
                <a:latin typeface="Calibri"/>
                <a:ea typeface="Calibri"/>
              </a:rPr>
              <a:t>Multiplexing — many requests over one connection; header compression; HTTP/3 goes even further over QUIC/UDP.</a:t>
            </a:r>
          </a:p>
          <a:p>
            <a:pPr marL="274320" indent="-237744">
              <a:lnSpc>
                <a:spcPct val="112000"/>
              </a:lnSpc>
              <a:spcAft>
                <a:spcPts val="1000"/>
              </a:spcAft>
              <a:buClr>
                <a:srgbClr val="1E4FA8"/>
              </a:buClr>
              <a:buSzPct val="90000"/>
              <a:buFont typeface="Arial"/>
              <a:buChar char="▪"/>
            </a:pPr>
            <a:r>
              <a:rPr sz="1550" b="1" i="0">
                <a:solidFill>
                  <a:srgbClr val="1A2230"/>
                </a:solidFill>
                <a:latin typeface="Calibri"/>
                <a:ea typeface="Calibri"/>
              </a:rPr>
              <a:t>Measure first</a:t>
            </a:r>
            <a:br/>
            <a:r>
              <a:rPr sz="1350" b="0" i="0">
                <a:solidFill>
                  <a:srgbClr val="4A5568"/>
                </a:solidFill>
                <a:latin typeface="Calibri"/>
                <a:ea typeface="Calibri"/>
              </a:rPr>
              <a:t>Lighthouse and the Network tab give you numbers — optimize what the data says, not what you guess.</a:t>
            </a:r>
          </a:p>
        </p:txBody>
      </p:sp>
      <p:sp>
        <p:nvSpPr>
          <p:cNvPr id="6" name="Rounded Rectangle 5"/>
          <p:cNvSpPr/>
          <p:nvPr/>
        </p:nvSpPr>
        <p:spPr>
          <a:xfrm>
            <a:off x="5836615" y="978408"/>
            <a:ext cx="5806440" cy="4343400"/>
          </a:xfrm>
          <a:prstGeom prst="roundRect">
            <a:avLst>
              <a:gd name="adj" fmla="val 5000"/>
            </a:avLst>
          </a:prstGeom>
          <a:solidFill>
            <a:srgbClr val="2327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129223" y="1133856"/>
            <a:ext cx="5257800" cy="292608"/>
          </a:xfrm>
          <a:prstGeom prst="rect">
            <a:avLst/>
          </a:prstGeom>
          <a:noFill/>
        </p:spPr>
        <p:txBody>
          <a:bodyPr wrap="square" anchor="t" lIns="0" rIns="0" tIns="0" bIns="0">
            <a:spAutoFit/>
          </a:bodyPr>
          <a:lstStyle/>
          <a:p>
            <a:pPr algn="l">
              <a:lnSpc>
                <a:spcPct val="110000"/>
              </a:lnSpc>
              <a:spcAft>
                <a:spcPts val="400"/>
              </a:spcAft>
            </a:pPr>
            <a:r>
              <a:rPr sz="1100" b="1" i="0">
                <a:solidFill>
                  <a:srgbClr val="7F8C98"/>
                </a:solidFill>
                <a:latin typeface="Calibri"/>
                <a:ea typeface="Calibri"/>
              </a:rPr>
              <a:t>LOOK INSIDE — A TASTE</a:t>
            </a:r>
          </a:p>
        </p:txBody>
      </p:sp>
      <p:sp>
        <p:nvSpPr>
          <p:cNvPr id="8" name="TextBox 7"/>
          <p:cNvSpPr txBox="1"/>
          <p:nvPr/>
        </p:nvSpPr>
        <p:spPr>
          <a:xfrm>
            <a:off x="6129223" y="1463040"/>
            <a:ext cx="5221224" cy="3108960"/>
          </a:xfrm>
          <a:prstGeom prst="rect">
            <a:avLst/>
          </a:prstGeom>
          <a:noFill/>
        </p:spPr>
        <p:txBody>
          <a:bodyPr wrap="none" lIns="0" rIns="0" tIns="0" bIns="0">
            <a:spAutoFit/>
          </a:bodyPr>
          <a:lstStyle/>
          <a:p>
            <a:pPr>
              <a:spcAft>
                <a:spcPts val="350"/>
              </a:spcAft>
            </a:pPr>
            <a:r>
              <a:rPr sz="1300" b="0" i="0">
                <a:solidFill>
                  <a:srgbClr val="7F8C98"/>
                </a:solidFill>
                <a:latin typeface="Consolas"/>
                <a:ea typeface="Consolas"/>
              </a:rPr>
              <a:t>// one header tells the browser: cache this for a day</a:t>
            </a:r>
          </a:p>
          <a:p>
            <a:pPr>
              <a:spcAft>
                <a:spcPts val="350"/>
              </a:spcAft>
            </a:pPr>
            <a:r>
              <a:rPr sz="1300" b="0" i="0">
                <a:solidFill>
                  <a:srgbClr val="98C379"/>
                </a:solidFill>
                <a:latin typeface="Consolas"/>
                <a:ea typeface="Consolas"/>
              </a:rPr>
              <a:t>Cache-Control: max-age=86400</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CDN — serve static files from the nearest edge</a:t>
            </a:r>
          </a:p>
          <a:p>
            <a:pPr>
              <a:spcAft>
                <a:spcPts val="350"/>
              </a:spcAft>
            </a:pPr>
            <a:r>
              <a:rPr sz="1300" b="0" i="0">
                <a:solidFill>
                  <a:srgbClr val="E5C07B"/>
                </a:solidFill>
                <a:latin typeface="Consolas"/>
                <a:ea typeface="Consolas"/>
              </a:rPr>
              <a:t>&lt;script src="https://cdn.example.com/app.js"&gt;&lt;/script&gt;</a:t>
            </a:r>
          </a:p>
          <a:p>
            <a:pPr>
              <a:spcAft>
                <a:spcPts val="350"/>
              </a:spcAft>
            </a:pPr>
            <a:r>
              <a:rPr sz="1300" b="0" i="0">
                <a:solidFill>
                  <a:srgbClr val="7F8C98"/>
                </a:solidFill>
                <a:latin typeface="Consolas"/>
                <a:ea typeface="Consolas"/>
              </a:rPr>
              <a:t/>
            </a:r>
          </a:p>
          <a:p>
            <a:pPr>
              <a:spcAft>
                <a:spcPts val="350"/>
              </a:spcAft>
            </a:pPr>
            <a:r>
              <a:rPr sz="1300" b="0" i="0">
                <a:solidFill>
                  <a:srgbClr val="7F8C98"/>
                </a:solidFill>
                <a:latin typeface="Consolas"/>
                <a:ea typeface="Consolas"/>
              </a:rPr>
              <a:t>// HTTP/2 — one connection, many parallel requests</a:t>
            </a:r>
          </a:p>
          <a:p>
            <a:pPr>
              <a:spcAft>
                <a:spcPts val="350"/>
              </a:spcAft>
            </a:pPr>
            <a:r>
              <a:rPr sz="1300" b="0" i="0">
                <a:solidFill>
                  <a:srgbClr val="E5C07B"/>
                </a:solidFill>
                <a:latin typeface="Consolas"/>
                <a:ea typeface="Consolas"/>
              </a:rPr>
              <a:t>GET /style.css   GET /app.js   GET /logo.png  (in parallel)</a:t>
            </a:r>
          </a:p>
        </p:txBody>
      </p:sp>
      <p:sp>
        <p:nvSpPr>
          <p:cNvPr id="9" name="Rounded Rectangle 8"/>
          <p:cNvSpPr/>
          <p:nvPr/>
        </p:nvSpPr>
        <p:spPr>
          <a:xfrm>
            <a:off x="548640" y="5852159"/>
            <a:ext cx="11094415" cy="475488"/>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961888"/>
            <a:ext cx="10362895" cy="310896"/>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Week 13 — caching, CDN, HTTP/2 — the final polish on your project.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04</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From Personal Sites to Web Scale</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A simple personal site — just a few moving parts</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When traffic grows: DNS, load balancers, caches, queues, CDNs, …</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By Week 13, you ship a web application of your own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Simple Personal Website Architecture</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Journey</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350" b="0" i="0">
                <a:solidFill>
                  <a:srgbClr val="4A5568"/>
                </a:solidFill>
                <a:latin typeface="Calibri"/>
                <a:ea typeface="Calibri"/>
              </a:rPr>
              <a:t>Before we look at the giants, here is the simplest real website one person can run.</a:t>
            </a:r>
          </a:p>
        </p:txBody>
      </p:sp>
      <p:pic>
        <p:nvPicPr>
          <p:cNvPr id="6" name="Picture 5" descr="img_simple_personal_site.png"/>
          <p:cNvPicPr>
            <a:picLocks noChangeAspect="1"/>
          </p:cNvPicPr>
          <p:nvPr/>
        </p:nvPicPr>
        <p:blipFill>
          <a:blip r:embed="rId2"/>
          <a:stretch>
            <a:fillRect/>
          </a:stretch>
        </p:blipFill>
        <p:spPr>
          <a:xfrm>
            <a:off x="1798167" y="1435608"/>
            <a:ext cx="8595360" cy="4128414"/>
          </a:xfrm>
          <a:prstGeom prst="rect">
            <a:avLst/>
          </a:prstGeom>
        </p:spPr>
      </p:pic>
      <p:sp>
        <p:nvSpPr>
          <p:cNvPr id="7" name="Rounded Rectangle 6"/>
          <p:cNvSpPr/>
          <p:nvPr/>
        </p:nvSpPr>
        <p:spPr>
          <a:xfrm>
            <a:off x="548640" y="5852160"/>
            <a:ext cx="11094415" cy="45720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5852160"/>
            <a:ext cx="10545775" cy="457200"/>
          </a:xfrm>
          <a:prstGeom prst="rect">
            <a:avLst/>
          </a:prstGeom>
          <a:noFill/>
        </p:spPr>
        <p:txBody>
          <a:bodyPr wrap="square" anchor="ctr" lIns="0" rIns="0" tIns="0" bIns="0">
            <a:spAutoFit/>
          </a:bodyPr>
          <a:lstStyle/>
          <a:p>
            <a:pPr algn="ctr">
              <a:lnSpc>
                <a:spcPct val="110000"/>
              </a:lnSpc>
              <a:spcAft>
                <a:spcPts val="400"/>
              </a:spcAft>
            </a:pPr>
            <a:r>
              <a:rPr sz="1250" b="1" i="0">
                <a:solidFill>
                  <a:srgbClr val="0E3F8C"/>
                </a:solidFill>
                <a:latin typeface="Calibri"/>
                <a:ea typeface="Calibri"/>
              </a:rPr>
              <a:t>Just one of each — </a:t>
            </a:r>
            <a:r>
              <a:rPr sz="1250" b="0" i="0">
                <a:solidFill>
                  <a:srgbClr val="1A2230"/>
                </a:solidFill>
                <a:latin typeface="Calibri"/>
                <a:ea typeface="Calibri"/>
              </a:rPr>
              <a:t>one browser, one domain, one server (files + CMS), one database.</a:t>
            </a:r>
            <a:r>
              <a:rPr sz="1250" b="0" i="0">
                <a:solidFill>
                  <a:srgbClr val="4A5568"/>
                </a:solidFill>
                <a:latin typeface="Calibri"/>
                <a:ea typeface="Calibri"/>
              </a:rPr>
              <a:t>  Visitor  →  HTTPS  →  DNS  →  Website files  →  Database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Large-Scale Website Deployment</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Journey</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350" b="0" i="0">
                <a:solidFill>
                  <a:srgbClr val="4A5568"/>
                </a:solidFill>
                <a:latin typeface="Calibri"/>
                <a:ea typeface="Calibri"/>
              </a:rPr>
              <a:t>Now scale that idea up: a large website is not one program on one machine — it is a collection of distributed services working together for scale, availability, and speed.</a:t>
            </a:r>
          </a:p>
        </p:txBody>
      </p:sp>
      <p:pic>
        <p:nvPicPr>
          <p:cNvPr id="6" name="Picture 5" descr="img_deployment_arch.png"/>
          <p:cNvPicPr>
            <a:picLocks noChangeAspect="1"/>
          </p:cNvPicPr>
          <p:nvPr/>
        </p:nvPicPr>
        <p:blipFill>
          <a:blip r:embed="rId2"/>
          <a:stretch>
            <a:fillRect/>
          </a:stretch>
        </p:blipFill>
        <p:spPr>
          <a:xfrm>
            <a:off x="548640" y="1417320"/>
            <a:ext cx="6583680" cy="3704940"/>
          </a:xfrm>
          <a:prstGeom prst="rect">
            <a:avLst/>
          </a:prstGeom>
        </p:spPr>
      </p:pic>
      <p:sp>
        <p:nvSpPr>
          <p:cNvPr id="7" name="Rounded Rectangle 6"/>
          <p:cNvSpPr/>
          <p:nvPr/>
        </p:nvSpPr>
        <p:spPr>
          <a:xfrm>
            <a:off x="7360920" y="1298448"/>
            <a:ext cx="4282135" cy="4590288"/>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1444751"/>
            <a:ext cx="3824935" cy="310896"/>
          </a:xfrm>
          <a:prstGeom prst="rect">
            <a:avLst/>
          </a:prstGeom>
          <a:noFill/>
        </p:spPr>
        <p:txBody>
          <a:bodyPr wrap="square" anchor="t" lIns="0" rIns="0" tIns="0" bIns="0">
            <a:spAutoFit/>
          </a:bodyPr>
          <a:lstStyle/>
          <a:p>
            <a:pPr algn="l">
              <a:lnSpc>
                <a:spcPct val="110000"/>
              </a:lnSpc>
              <a:spcAft>
                <a:spcPts val="400"/>
              </a:spcAft>
            </a:pPr>
            <a:r>
              <a:rPr sz="1300" b="1" i="0">
                <a:solidFill>
                  <a:srgbClr val="0E3F8C"/>
                </a:solidFill>
                <a:latin typeface="Calibri"/>
                <a:ea typeface="Calibri"/>
              </a:rPr>
              <a:t>The thirteen numbered components</a:t>
            </a:r>
          </a:p>
        </p:txBody>
      </p:sp>
      <p:sp>
        <p:nvSpPr>
          <p:cNvPr id="9" name="TextBox 8"/>
          <p:cNvSpPr txBox="1"/>
          <p:nvPr/>
        </p:nvSpPr>
        <p:spPr>
          <a:xfrm>
            <a:off x="7616952" y="1865376"/>
            <a:ext cx="3770071" cy="3904487"/>
          </a:xfrm>
          <a:prstGeom prst="rect">
            <a:avLst/>
          </a:prstGeom>
          <a:noFill/>
        </p:spPr>
        <p:txBody>
          <a:bodyPr wrap="square" lIns="0" rIns="0" tIns="0" bIns="0">
            <a:normAutofit/>
          </a:bodyPr>
          <a:lstStyle/>
          <a:p>
            <a:pPr>
              <a:lnSpc>
                <a:spcPct val="112000"/>
              </a:lnSpc>
              <a:spcAft>
                <a:spcPts val="300"/>
              </a:spcAft>
            </a:pPr>
            <a:r>
              <a:rPr sz="1400" b="0" i="0">
                <a:solidFill>
                  <a:srgbClr val="1A2230"/>
                </a:solidFill>
                <a:latin typeface="Calibri"/>
                <a:ea typeface="Calibri"/>
              </a:rPr>
              <a:t>1.   DNS</a:t>
            </a:r>
          </a:p>
          <a:p>
            <a:pPr>
              <a:lnSpc>
                <a:spcPct val="112000"/>
              </a:lnSpc>
              <a:spcAft>
                <a:spcPts val="300"/>
              </a:spcAft>
            </a:pPr>
            <a:r>
              <a:rPr sz="1400" b="0" i="0">
                <a:solidFill>
                  <a:srgbClr val="1A2230"/>
                </a:solidFill>
                <a:latin typeface="Calibri"/>
                <a:ea typeface="Calibri"/>
              </a:rPr>
              <a:t>2.   User's Browser</a:t>
            </a:r>
          </a:p>
          <a:p>
            <a:pPr>
              <a:lnSpc>
                <a:spcPct val="112000"/>
              </a:lnSpc>
              <a:spcAft>
                <a:spcPts val="300"/>
              </a:spcAft>
            </a:pPr>
            <a:r>
              <a:rPr sz="1400" b="0" i="0">
                <a:solidFill>
                  <a:srgbClr val="1A2230"/>
                </a:solidFill>
                <a:latin typeface="Calibri"/>
                <a:ea typeface="Calibri"/>
              </a:rPr>
              <a:t>3.   Load Balancer</a:t>
            </a:r>
          </a:p>
          <a:p>
            <a:pPr>
              <a:lnSpc>
                <a:spcPct val="112000"/>
              </a:lnSpc>
              <a:spcAft>
                <a:spcPts val="300"/>
              </a:spcAft>
            </a:pPr>
            <a:r>
              <a:rPr sz="1400" b="0" i="0">
                <a:solidFill>
                  <a:srgbClr val="1A2230"/>
                </a:solidFill>
                <a:latin typeface="Calibri"/>
                <a:ea typeface="Calibri"/>
              </a:rPr>
              <a:t>4.   Web App Servers</a:t>
            </a:r>
          </a:p>
          <a:p>
            <a:pPr>
              <a:lnSpc>
                <a:spcPct val="112000"/>
              </a:lnSpc>
              <a:spcAft>
                <a:spcPts val="300"/>
              </a:spcAft>
            </a:pPr>
            <a:r>
              <a:rPr sz="1400" b="0" i="0">
                <a:solidFill>
                  <a:srgbClr val="1A2230"/>
                </a:solidFill>
                <a:latin typeface="Calibri"/>
                <a:ea typeface="Calibri"/>
              </a:rPr>
              <a:t>5.   Caching Service</a:t>
            </a:r>
          </a:p>
          <a:p>
            <a:pPr>
              <a:lnSpc>
                <a:spcPct val="112000"/>
              </a:lnSpc>
              <a:spcAft>
                <a:spcPts val="300"/>
              </a:spcAft>
            </a:pPr>
            <a:r>
              <a:rPr sz="1400" b="0" i="0">
                <a:solidFill>
                  <a:srgbClr val="1A2230"/>
                </a:solidFill>
                <a:latin typeface="Calibri"/>
                <a:ea typeface="Calibri"/>
              </a:rPr>
              <a:t>6.   Message Queue</a:t>
            </a:r>
          </a:p>
          <a:p>
            <a:pPr>
              <a:lnSpc>
                <a:spcPct val="112000"/>
              </a:lnSpc>
              <a:spcAft>
                <a:spcPts val="300"/>
              </a:spcAft>
            </a:pPr>
            <a:r>
              <a:rPr sz="1400" b="0" i="0">
                <a:solidFill>
                  <a:srgbClr val="1A2230"/>
                </a:solidFill>
                <a:latin typeface="Calibri"/>
                <a:ea typeface="Calibri"/>
              </a:rPr>
              <a:t>8.   Job Servers / Workers</a:t>
            </a:r>
          </a:p>
          <a:p>
            <a:pPr>
              <a:lnSpc>
                <a:spcPct val="112000"/>
              </a:lnSpc>
              <a:spcAft>
                <a:spcPts val="300"/>
              </a:spcAft>
            </a:pPr>
            <a:r>
              <a:rPr sz="1400" b="0" i="0">
                <a:solidFill>
                  <a:srgbClr val="1A2230"/>
                </a:solidFill>
                <a:latin typeface="Calibri"/>
                <a:ea typeface="Calibri"/>
              </a:rPr>
              <a:t>9.   Full-Text Search Service</a:t>
            </a:r>
          </a:p>
          <a:p>
            <a:pPr>
              <a:lnSpc>
                <a:spcPct val="112000"/>
              </a:lnSpc>
              <a:spcAft>
                <a:spcPts val="300"/>
              </a:spcAft>
            </a:pPr>
            <a:r>
              <a:rPr sz="1400" b="0" i="0">
                <a:solidFill>
                  <a:srgbClr val="1A2230"/>
                </a:solidFill>
                <a:latin typeface="Calibri"/>
                <a:ea typeface="Calibri"/>
              </a:rPr>
              <a:t>10.  Microservices / Services</a:t>
            </a:r>
          </a:p>
          <a:p>
            <a:pPr>
              <a:lnSpc>
                <a:spcPct val="112000"/>
              </a:lnSpc>
              <a:spcAft>
                <a:spcPts val="300"/>
              </a:spcAft>
            </a:pPr>
            <a:r>
              <a:rPr sz="1400" b="0" i="0">
                <a:solidFill>
                  <a:srgbClr val="1A2230"/>
                </a:solidFill>
                <a:latin typeface="Calibri"/>
                <a:ea typeface="Calibri"/>
              </a:rPr>
              <a:t>11.  Analytics / Data Pipeline</a:t>
            </a:r>
          </a:p>
          <a:p>
            <a:pPr>
              <a:lnSpc>
                <a:spcPct val="112000"/>
              </a:lnSpc>
              <a:spcAft>
                <a:spcPts val="300"/>
              </a:spcAft>
            </a:pPr>
            <a:r>
              <a:rPr sz="1400" b="0" i="0">
                <a:solidFill>
                  <a:srgbClr val="1A2230"/>
                </a:solidFill>
                <a:latin typeface="Calibri"/>
                <a:ea typeface="Calibri"/>
              </a:rPr>
              <a:t>12.  Data Warehouse</a:t>
            </a:r>
          </a:p>
          <a:p>
            <a:pPr>
              <a:lnSpc>
                <a:spcPct val="112000"/>
              </a:lnSpc>
              <a:spcAft>
                <a:spcPts val="300"/>
              </a:spcAft>
            </a:pPr>
            <a:r>
              <a:rPr sz="1400" b="0" i="0">
                <a:solidFill>
                  <a:srgbClr val="1A2230"/>
                </a:solidFill>
                <a:latin typeface="Calibri"/>
                <a:ea typeface="Calibri"/>
              </a:rPr>
              <a:t>13.  Cloud Storage</a:t>
            </a:r>
          </a:p>
          <a:p>
            <a:pPr>
              <a:lnSpc>
                <a:spcPct val="112000"/>
              </a:lnSpc>
              <a:spcAft>
                <a:spcPts val="300"/>
              </a:spcAft>
            </a:pPr>
            <a:r>
              <a:rPr sz="1400" b="0" i="0">
                <a:solidFill>
                  <a:srgbClr val="1A2230"/>
                </a:solidFill>
                <a:latin typeface="Calibri"/>
                <a:ea typeface="Calibri"/>
              </a:rPr>
              <a:t>14.  CDN</a:t>
            </a:r>
          </a:p>
        </p:txBody>
      </p:sp>
      <p:sp>
        <p:nvSpPr>
          <p:cNvPr id="10" name="Rounded Rectangle 9"/>
          <p:cNvSpPr/>
          <p:nvPr/>
        </p:nvSpPr>
        <p:spPr>
          <a:xfrm>
            <a:off x="548640" y="5989320"/>
            <a:ext cx="11094415" cy="384048"/>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5989320"/>
            <a:ext cx="10545775" cy="384048"/>
          </a:xfrm>
          <a:prstGeom prst="rect">
            <a:avLst/>
          </a:prstGeom>
          <a:noFill/>
        </p:spPr>
        <p:txBody>
          <a:bodyPr wrap="square" anchor="ctr" lIns="0" rIns="0" tIns="0" bIns="0">
            <a:spAutoFit/>
          </a:bodyPr>
          <a:lstStyle/>
          <a:p>
            <a:pPr algn="ctr">
              <a:lnSpc>
                <a:spcPct val="110000"/>
              </a:lnSpc>
              <a:spcAft>
                <a:spcPts val="400"/>
              </a:spcAft>
            </a:pPr>
            <a:r>
              <a:rPr sz="1250" b="1" i="0">
                <a:solidFill>
                  <a:srgbClr val="0E3F8C"/>
                </a:solidFill>
                <a:latin typeface="Calibri"/>
                <a:ea typeface="Calibri"/>
              </a:rPr>
              <a:t>Five layers — </a:t>
            </a:r>
            <a:r>
              <a:rPr sz="1250" b="0" i="0">
                <a:solidFill>
                  <a:srgbClr val="1A2230"/>
                </a:solidFill>
                <a:latin typeface="Calibri"/>
                <a:ea typeface="Calibri"/>
              </a:rPr>
              <a:t>User → Traffic Management → Application → Data &amp; Services → Cloud &amp; CDN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Five Layers — How a Request Travels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Journey</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350" b="0" i="0">
                <a:solidFill>
                  <a:srgbClr val="4A5568"/>
                </a:solidFill>
                <a:latin typeface="Calibri"/>
                <a:ea typeface="Calibri"/>
              </a:rPr>
              <a:t>A request visits them one layer at a time — each one with its own job and its own scaling knob.</a:t>
            </a:r>
          </a:p>
        </p:txBody>
      </p:sp>
      <p:sp>
        <p:nvSpPr>
          <p:cNvPr id="6" name="Rounded Rectangle 5"/>
          <p:cNvSpPr/>
          <p:nvPr/>
        </p:nvSpPr>
        <p:spPr>
          <a:xfrm>
            <a:off x="548640" y="1435608"/>
            <a:ext cx="2036003" cy="457200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1435608"/>
            <a:ext cx="2036003" cy="594360"/>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45336"/>
            <a:ext cx="2036003" cy="411480"/>
          </a:xfrm>
          <a:prstGeom prst="rect">
            <a:avLst/>
          </a:prstGeom>
          <a:noFill/>
        </p:spPr>
        <p:txBody>
          <a:bodyPr wrap="square" anchor="t" lIns="0" rIns="0" tIns="0" bIns="0">
            <a:spAutoFit/>
          </a:bodyPr>
          <a:lstStyle/>
          <a:p>
            <a:pPr algn="ctr">
              <a:lnSpc>
                <a:spcPct val="110000"/>
              </a:lnSpc>
              <a:spcAft>
                <a:spcPts val="400"/>
              </a:spcAft>
            </a:pPr>
            <a:r>
              <a:rPr sz="1150" b="1" i="0">
                <a:solidFill>
                  <a:srgbClr val="FFFFFF"/>
                </a:solidFill>
                <a:latin typeface="Calibri"/>
                <a:ea typeface="Calibri"/>
              </a:rPr>
              <a:t>1  User's browser</a:t>
            </a:r>
          </a:p>
        </p:txBody>
      </p:sp>
      <p:sp>
        <p:nvSpPr>
          <p:cNvPr id="9" name="TextBox 8"/>
          <p:cNvSpPr txBox="1"/>
          <p:nvPr/>
        </p:nvSpPr>
        <p:spPr>
          <a:xfrm>
            <a:off x="694944" y="2212848"/>
            <a:ext cx="1743395" cy="2834640"/>
          </a:xfrm>
          <a:prstGeom prst="rect">
            <a:avLst/>
          </a:prstGeom>
          <a:noFill/>
        </p:spPr>
        <p:txBody>
          <a:bodyPr wrap="square" anchor="t" lIns="0" rIns="0" tIns="0" bIns="0">
            <a:spAutoFit/>
          </a:bodyPr>
          <a:lstStyle/>
          <a:p>
            <a:pPr algn="l">
              <a:lnSpc>
                <a:spcPct val="130000"/>
              </a:lnSpc>
              <a:spcAft>
                <a:spcPts val="500"/>
              </a:spcAft>
            </a:pPr>
            <a:r>
              <a:rPr sz="1080" b="0" i="0">
                <a:solidFill>
                  <a:srgbClr val="1A2230"/>
                </a:solidFill>
                <a:latin typeface="Calibri"/>
                <a:ea typeface="Calibri"/>
              </a:rPr>
              <a:t>Your computer, phone, IoT — anything HTTP speaks.</a:t>
            </a:r>
          </a:p>
          <a:p>
            <a:pPr algn="l">
              <a:lnSpc>
                <a:spcPct val="130000"/>
              </a:lnSpc>
              <a:spcAft>
                <a:spcPts val="500"/>
              </a:spcAft>
            </a:pPr>
            <a:r>
              <a:rPr sz="1080" b="0" i="0">
                <a:solidFill>
                  <a:srgbClr val="1A2230"/>
                </a:solidFill>
                <a:latin typeface="Calibri"/>
                <a:ea typeface="Calibri"/>
              </a:rPr>
              <a:t>Renders HTML/CSS/JS, runs JavaScript, talks to servers.</a:t>
            </a:r>
          </a:p>
        </p:txBody>
      </p:sp>
      <p:sp>
        <p:nvSpPr>
          <p:cNvPr id="10" name="Rectangle 9"/>
          <p:cNvSpPr/>
          <p:nvPr/>
        </p:nvSpPr>
        <p:spPr>
          <a:xfrm>
            <a:off x="868680" y="5230368"/>
            <a:ext cx="1395923" cy="27432"/>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367528"/>
            <a:ext cx="1853123" cy="548640"/>
          </a:xfrm>
          <a:prstGeom prst="rect">
            <a:avLst/>
          </a:prstGeom>
          <a:noFill/>
        </p:spPr>
        <p:txBody>
          <a:bodyPr wrap="square" anchor="ctr" lIns="0" rIns="0" tIns="0" bIns="0">
            <a:spAutoFit/>
          </a:bodyPr>
          <a:lstStyle/>
          <a:p>
            <a:pPr algn="ctr">
              <a:lnSpc>
                <a:spcPct val="115000"/>
              </a:lnSpc>
              <a:spcAft>
                <a:spcPts val="400"/>
              </a:spcAft>
            </a:pPr>
            <a:r>
              <a:rPr sz="1019" b="1" i="0">
                <a:solidFill>
                  <a:srgbClr val="0E3F8C"/>
                </a:solidFill>
                <a:latin typeface="Calibri"/>
                <a:ea typeface="Calibri"/>
              </a:rPr>
              <a:t>Origin of every request</a:t>
            </a:r>
          </a:p>
        </p:txBody>
      </p:sp>
      <p:sp>
        <p:nvSpPr>
          <p:cNvPr id="12" name="Rounded Rectangle 11"/>
          <p:cNvSpPr/>
          <p:nvPr/>
        </p:nvSpPr>
        <p:spPr>
          <a:xfrm>
            <a:off x="2813243" y="1435608"/>
            <a:ext cx="2036003" cy="457200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813243" y="1435608"/>
            <a:ext cx="2036003" cy="594360"/>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13243" y="1545336"/>
            <a:ext cx="2036003" cy="411480"/>
          </a:xfrm>
          <a:prstGeom prst="rect">
            <a:avLst/>
          </a:prstGeom>
          <a:noFill/>
        </p:spPr>
        <p:txBody>
          <a:bodyPr wrap="square" anchor="t" lIns="0" rIns="0" tIns="0" bIns="0">
            <a:spAutoFit/>
          </a:bodyPr>
          <a:lstStyle/>
          <a:p>
            <a:pPr algn="ctr">
              <a:lnSpc>
                <a:spcPct val="110000"/>
              </a:lnSpc>
              <a:spcAft>
                <a:spcPts val="400"/>
              </a:spcAft>
            </a:pPr>
            <a:r>
              <a:rPr sz="1150" b="1" i="0">
                <a:solidFill>
                  <a:srgbClr val="FFFFFF"/>
                </a:solidFill>
                <a:latin typeface="Calibri"/>
                <a:ea typeface="Calibri"/>
              </a:rPr>
              <a:t>2  Traffic management</a:t>
            </a:r>
          </a:p>
        </p:txBody>
      </p:sp>
      <p:sp>
        <p:nvSpPr>
          <p:cNvPr id="15" name="TextBox 14"/>
          <p:cNvSpPr txBox="1"/>
          <p:nvPr/>
        </p:nvSpPr>
        <p:spPr>
          <a:xfrm>
            <a:off x="2959547" y="2212848"/>
            <a:ext cx="1743395" cy="2834640"/>
          </a:xfrm>
          <a:prstGeom prst="rect">
            <a:avLst/>
          </a:prstGeom>
          <a:noFill/>
        </p:spPr>
        <p:txBody>
          <a:bodyPr wrap="square" anchor="t" lIns="0" rIns="0" tIns="0" bIns="0">
            <a:spAutoFit/>
          </a:bodyPr>
          <a:lstStyle/>
          <a:p>
            <a:pPr algn="l">
              <a:lnSpc>
                <a:spcPct val="130000"/>
              </a:lnSpc>
              <a:spcAft>
                <a:spcPts val="500"/>
              </a:spcAft>
            </a:pPr>
            <a:r>
              <a:rPr sz="1080" b="0" i="0">
                <a:solidFill>
                  <a:srgbClr val="1A2230"/>
                </a:solidFill>
                <a:latin typeface="Calibri"/>
                <a:ea typeface="Calibri"/>
              </a:rPr>
              <a:t>DNS resolves the domain to an IP.</a:t>
            </a:r>
          </a:p>
          <a:p>
            <a:pPr algn="l">
              <a:lnSpc>
                <a:spcPct val="130000"/>
              </a:lnSpc>
              <a:spcAft>
                <a:spcPts val="500"/>
              </a:spcAft>
            </a:pPr>
            <a:r>
              <a:rPr sz="1080" b="0" i="0">
                <a:solidFill>
                  <a:srgbClr val="1A2230"/>
                </a:solidFill>
                <a:latin typeface="Calibri"/>
                <a:ea typeface="Calibri"/>
              </a:rPr>
              <a:t>Load balancer spreads traffic across web servers.</a:t>
            </a:r>
          </a:p>
          <a:p>
            <a:pPr algn="l">
              <a:lnSpc>
                <a:spcPct val="130000"/>
              </a:lnSpc>
              <a:spcAft>
                <a:spcPts val="500"/>
              </a:spcAft>
            </a:pPr>
            <a:r>
              <a:rPr sz="1080" b="0" i="0">
                <a:solidFill>
                  <a:srgbClr val="1A2230"/>
                </a:solidFill>
                <a:latin typeface="Calibri"/>
                <a:ea typeface="Calibri"/>
              </a:rPr>
              <a:t>CDN serves static files from edge servers near users.</a:t>
            </a:r>
          </a:p>
        </p:txBody>
      </p:sp>
      <p:sp>
        <p:nvSpPr>
          <p:cNvPr id="16" name="Rectangle 15"/>
          <p:cNvSpPr/>
          <p:nvPr/>
        </p:nvSpPr>
        <p:spPr>
          <a:xfrm>
            <a:off x="3133283" y="5230368"/>
            <a:ext cx="1395923" cy="27432"/>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04683" y="5367528"/>
            <a:ext cx="1853123" cy="548640"/>
          </a:xfrm>
          <a:prstGeom prst="rect">
            <a:avLst/>
          </a:prstGeom>
          <a:noFill/>
        </p:spPr>
        <p:txBody>
          <a:bodyPr wrap="square" anchor="ctr" lIns="0" rIns="0" tIns="0" bIns="0">
            <a:spAutoFit/>
          </a:bodyPr>
          <a:lstStyle/>
          <a:p>
            <a:pPr algn="ctr">
              <a:lnSpc>
                <a:spcPct val="115000"/>
              </a:lnSpc>
              <a:spcAft>
                <a:spcPts val="400"/>
              </a:spcAft>
            </a:pPr>
            <a:r>
              <a:rPr sz="1019" b="1" i="0">
                <a:solidFill>
                  <a:srgbClr val="0E3F8C"/>
                </a:solidFill>
                <a:latin typeface="Calibri"/>
                <a:ea typeface="Calibri"/>
              </a:rPr>
              <a:t>Spread, secure, accelerate</a:t>
            </a:r>
          </a:p>
        </p:txBody>
      </p:sp>
      <p:sp>
        <p:nvSpPr>
          <p:cNvPr id="18" name="Rounded Rectangle 17"/>
          <p:cNvSpPr/>
          <p:nvPr/>
        </p:nvSpPr>
        <p:spPr>
          <a:xfrm>
            <a:off x="5077846" y="1435608"/>
            <a:ext cx="2036003" cy="457200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077846" y="1435608"/>
            <a:ext cx="2036003" cy="594360"/>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77846" y="1545336"/>
            <a:ext cx="2036003" cy="411480"/>
          </a:xfrm>
          <a:prstGeom prst="rect">
            <a:avLst/>
          </a:prstGeom>
          <a:noFill/>
        </p:spPr>
        <p:txBody>
          <a:bodyPr wrap="square" anchor="t" lIns="0" rIns="0" tIns="0" bIns="0">
            <a:spAutoFit/>
          </a:bodyPr>
          <a:lstStyle/>
          <a:p>
            <a:pPr algn="ctr">
              <a:lnSpc>
                <a:spcPct val="110000"/>
              </a:lnSpc>
              <a:spcAft>
                <a:spcPts val="400"/>
              </a:spcAft>
            </a:pPr>
            <a:r>
              <a:rPr sz="1150" b="1" i="0">
                <a:solidFill>
                  <a:srgbClr val="FFFFFF"/>
                </a:solidFill>
                <a:latin typeface="Calibri"/>
                <a:ea typeface="Calibri"/>
              </a:rPr>
              <a:t>3  Application</a:t>
            </a:r>
          </a:p>
        </p:txBody>
      </p:sp>
      <p:sp>
        <p:nvSpPr>
          <p:cNvPr id="21" name="TextBox 20"/>
          <p:cNvSpPr txBox="1"/>
          <p:nvPr/>
        </p:nvSpPr>
        <p:spPr>
          <a:xfrm>
            <a:off x="5224150" y="2212848"/>
            <a:ext cx="1743395" cy="2834640"/>
          </a:xfrm>
          <a:prstGeom prst="rect">
            <a:avLst/>
          </a:prstGeom>
          <a:noFill/>
        </p:spPr>
        <p:txBody>
          <a:bodyPr wrap="square" anchor="t" lIns="0" rIns="0" tIns="0" bIns="0">
            <a:spAutoFit/>
          </a:bodyPr>
          <a:lstStyle/>
          <a:p>
            <a:pPr algn="l">
              <a:lnSpc>
                <a:spcPct val="130000"/>
              </a:lnSpc>
              <a:spcAft>
                <a:spcPts val="500"/>
              </a:spcAft>
            </a:pPr>
            <a:r>
              <a:rPr sz="1080" b="0" i="0">
                <a:solidFill>
                  <a:srgbClr val="1A2230"/>
                </a:solidFill>
                <a:latin typeface="Calibri"/>
                <a:ea typeface="Calibri"/>
              </a:rPr>
              <a:t>Web app servers run your code.</a:t>
            </a:r>
          </a:p>
          <a:p>
            <a:pPr algn="l">
              <a:lnSpc>
                <a:spcPct val="130000"/>
              </a:lnSpc>
              <a:spcAft>
                <a:spcPts val="500"/>
              </a:spcAft>
            </a:pPr>
            <a:r>
              <a:rPr sz="1080" b="0" i="0">
                <a:solidFill>
                  <a:srgbClr val="1A2230"/>
                </a:solidFill>
                <a:latin typeface="Calibri"/>
                <a:ea typeface="Calibri"/>
              </a:rPr>
              <a:t>Job queues + workers handle async tasks.</a:t>
            </a:r>
          </a:p>
          <a:p>
            <a:pPr algn="l">
              <a:lnSpc>
                <a:spcPct val="130000"/>
              </a:lnSpc>
              <a:spcAft>
                <a:spcPts val="500"/>
              </a:spcAft>
            </a:pPr>
            <a:r>
              <a:rPr sz="1080" b="0" i="0">
                <a:solidFill>
                  <a:srgbClr val="1A2230"/>
                </a:solidFill>
                <a:latin typeface="Calibri"/>
                <a:ea typeface="Calibri"/>
              </a:rPr>
              <a:t>Full-text search service for keyword queries.</a:t>
            </a:r>
          </a:p>
        </p:txBody>
      </p:sp>
      <p:sp>
        <p:nvSpPr>
          <p:cNvPr id="22" name="Rectangle 21"/>
          <p:cNvSpPr/>
          <p:nvPr/>
        </p:nvSpPr>
        <p:spPr>
          <a:xfrm>
            <a:off x="5397886" y="5230368"/>
            <a:ext cx="1395923" cy="27432"/>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9286" y="5367528"/>
            <a:ext cx="1853123" cy="548640"/>
          </a:xfrm>
          <a:prstGeom prst="rect">
            <a:avLst/>
          </a:prstGeom>
          <a:noFill/>
        </p:spPr>
        <p:txBody>
          <a:bodyPr wrap="square" anchor="ctr" lIns="0" rIns="0" tIns="0" bIns="0">
            <a:spAutoFit/>
          </a:bodyPr>
          <a:lstStyle/>
          <a:p>
            <a:pPr algn="ctr">
              <a:lnSpc>
                <a:spcPct val="115000"/>
              </a:lnSpc>
              <a:spcAft>
                <a:spcPts val="400"/>
              </a:spcAft>
            </a:pPr>
            <a:r>
              <a:rPr sz="1019" b="1" i="0">
                <a:solidFill>
                  <a:srgbClr val="0E3F8C"/>
                </a:solidFill>
                <a:latin typeface="Calibri"/>
                <a:ea typeface="Calibri"/>
              </a:rPr>
              <a:t>Execute the business logic</a:t>
            </a:r>
          </a:p>
        </p:txBody>
      </p:sp>
      <p:sp>
        <p:nvSpPr>
          <p:cNvPr id="24" name="Rounded Rectangle 23"/>
          <p:cNvSpPr/>
          <p:nvPr/>
        </p:nvSpPr>
        <p:spPr>
          <a:xfrm>
            <a:off x="7342449" y="1435608"/>
            <a:ext cx="2036003" cy="457200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42449" y="1435608"/>
            <a:ext cx="2036003" cy="594360"/>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42449" y="1545336"/>
            <a:ext cx="2036003" cy="411480"/>
          </a:xfrm>
          <a:prstGeom prst="rect">
            <a:avLst/>
          </a:prstGeom>
          <a:noFill/>
        </p:spPr>
        <p:txBody>
          <a:bodyPr wrap="square" anchor="t" lIns="0" rIns="0" tIns="0" bIns="0">
            <a:spAutoFit/>
          </a:bodyPr>
          <a:lstStyle/>
          <a:p>
            <a:pPr algn="ctr">
              <a:lnSpc>
                <a:spcPct val="110000"/>
              </a:lnSpc>
              <a:spcAft>
                <a:spcPts val="400"/>
              </a:spcAft>
            </a:pPr>
            <a:r>
              <a:rPr sz="1150" b="1" i="0">
                <a:solidFill>
                  <a:srgbClr val="FFFFFF"/>
                </a:solidFill>
                <a:latin typeface="Calibri"/>
                <a:ea typeface="Calibri"/>
              </a:rPr>
              <a:t>4  Data &amp; services</a:t>
            </a:r>
          </a:p>
        </p:txBody>
      </p:sp>
      <p:sp>
        <p:nvSpPr>
          <p:cNvPr id="27" name="TextBox 26"/>
          <p:cNvSpPr txBox="1"/>
          <p:nvPr/>
        </p:nvSpPr>
        <p:spPr>
          <a:xfrm>
            <a:off x="7488753" y="2212848"/>
            <a:ext cx="1743395" cy="2834640"/>
          </a:xfrm>
          <a:prstGeom prst="rect">
            <a:avLst/>
          </a:prstGeom>
          <a:noFill/>
        </p:spPr>
        <p:txBody>
          <a:bodyPr wrap="square" anchor="t" lIns="0" rIns="0" tIns="0" bIns="0">
            <a:spAutoFit/>
          </a:bodyPr>
          <a:lstStyle/>
          <a:p>
            <a:pPr algn="l">
              <a:lnSpc>
                <a:spcPct val="130000"/>
              </a:lnSpc>
              <a:spcAft>
                <a:spcPts val="500"/>
              </a:spcAft>
            </a:pPr>
            <a:r>
              <a:rPr sz="1080" b="0" i="0">
                <a:solidFill>
                  <a:srgbClr val="1A2230"/>
                </a:solidFill>
                <a:latin typeface="Calibri"/>
                <a:ea typeface="Calibri"/>
              </a:rPr>
              <a:t>Database stores persistent state.</a:t>
            </a:r>
          </a:p>
          <a:p>
            <a:pPr algn="l">
              <a:lnSpc>
                <a:spcPct val="130000"/>
              </a:lnSpc>
              <a:spcAft>
                <a:spcPts val="500"/>
              </a:spcAft>
            </a:pPr>
            <a:r>
              <a:rPr sz="1080" b="0" i="0">
                <a:solidFill>
                  <a:srgbClr val="1A2230"/>
                </a:solidFill>
                <a:latin typeface="Calibri"/>
                <a:ea typeface="Calibri"/>
              </a:rPr>
              <a:t>Caching service for hot data (Redis).</a:t>
            </a:r>
          </a:p>
          <a:p>
            <a:pPr algn="l">
              <a:lnSpc>
                <a:spcPct val="130000"/>
              </a:lnSpc>
              <a:spcAft>
                <a:spcPts val="500"/>
              </a:spcAft>
            </a:pPr>
            <a:r>
              <a:rPr sz="1080" b="0" i="0">
                <a:solidFill>
                  <a:srgbClr val="1A2230"/>
                </a:solidFill>
                <a:latin typeface="Calibri"/>
                <a:ea typeface="Calibri"/>
              </a:rPr>
              <a:t>Microservices: auth, payment, messaging, …</a:t>
            </a:r>
          </a:p>
        </p:txBody>
      </p:sp>
      <p:sp>
        <p:nvSpPr>
          <p:cNvPr id="28" name="Rectangle 27"/>
          <p:cNvSpPr/>
          <p:nvPr/>
        </p:nvSpPr>
        <p:spPr>
          <a:xfrm>
            <a:off x="7662489" y="5230368"/>
            <a:ext cx="1395923" cy="27432"/>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33889" y="5367528"/>
            <a:ext cx="1853123" cy="548640"/>
          </a:xfrm>
          <a:prstGeom prst="rect">
            <a:avLst/>
          </a:prstGeom>
          <a:noFill/>
        </p:spPr>
        <p:txBody>
          <a:bodyPr wrap="square" anchor="ctr" lIns="0" rIns="0" tIns="0" bIns="0">
            <a:spAutoFit/>
          </a:bodyPr>
          <a:lstStyle/>
          <a:p>
            <a:pPr algn="ctr">
              <a:lnSpc>
                <a:spcPct val="115000"/>
              </a:lnSpc>
              <a:spcAft>
                <a:spcPts val="400"/>
              </a:spcAft>
            </a:pPr>
            <a:r>
              <a:rPr sz="1019" b="1" i="0">
                <a:solidFill>
                  <a:srgbClr val="0E3F8C"/>
                </a:solidFill>
                <a:latin typeface="Calibri"/>
                <a:ea typeface="Calibri"/>
              </a:rPr>
              <a:t>Persist, retrieve, search</a:t>
            </a:r>
          </a:p>
        </p:txBody>
      </p:sp>
      <p:sp>
        <p:nvSpPr>
          <p:cNvPr id="30" name="Rounded Rectangle 29"/>
          <p:cNvSpPr/>
          <p:nvPr/>
        </p:nvSpPr>
        <p:spPr>
          <a:xfrm>
            <a:off x="9607052" y="1435608"/>
            <a:ext cx="2036003" cy="457200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07052" y="1435608"/>
            <a:ext cx="2036003" cy="594360"/>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07052" y="1545336"/>
            <a:ext cx="2036003" cy="411480"/>
          </a:xfrm>
          <a:prstGeom prst="rect">
            <a:avLst/>
          </a:prstGeom>
          <a:noFill/>
        </p:spPr>
        <p:txBody>
          <a:bodyPr wrap="square" anchor="t" lIns="0" rIns="0" tIns="0" bIns="0">
            <a:spAutoFit/>
          </a:bodyPr>
          <a:lstStyle/>
          <a:p>
            <a:pPr algn="ctr">
              <a:lnSpc>
                <a:spcPct val="110000"/>
              </a:lnSpc>
              <a:spcAft>
                <a:spcPts val="400"/>
              </a:spcAft>
            </a:pPr>
            <a:r>
              <a:rPr sz="1150" b="1" i="0">
                <a:solidFill>
                  <a:srgbClr val="FFFFFF"/>
                </a:solidFill>
                <a:latin typeface="Calibri"/>
                <a:ea typeface="Calibri"/>
              </a:rPr>
              <a:t>5  Cloud &amp; CDN</a:t>
            </a:r>
          </a:p>
        </p:txBody>
      </p:sp>
      <p:sp>
        <p:nvSpPr>
          <p:cNvPr id="33" name="TextBox 32"/>
          <p:cNvSpPr txBox="1"/>
          <p:nvPr/>
        </p:nvSpPr>
        <p:spPr>
          <a:xfrm>
            <a:off x="9753356" y="2212848"/>
            <a:ext cx="1743395" cy="2834640"/>
          </a:xfrm>
          <a:prstGeom prst="rect">
            <a:avLst/>
          </a:prstGeom>
          <a:noFill/>
        </p:spPr>
        <p:txBody>
          <a:bodyPr wrap="square" anchor="t" lIns="0" rIns="0" tIns="0" bIns="0">
            <a:spAutoFit/>
          </a:bodyPr>
          <a:lstStyle/>
          <a:p>
            <a:pPr algn="l">
              <a:lnSpc>
                <a:spcPct val="130000"/>
              </a:lnSpc>
              <a:spcAft>
                <a:spcPts val="500"/>
              </a:spcAft>
            </a:pPr>
            <a:r>
              <a:rPr sz="1080" b="0" i="0">
                <a:solidFill>
                  <a:srgbClr val="1A2230"/>
                </a:solidFill>
                <a:latin typeface="Calibri"/>
                <a:ea typeface="Calibri"/>
              </a:rPr>
              <a:t>Object storage for files and backups.</a:t>
            </a:r>
          </a:p>
          <a:p>
            <a:pPr algn="l">
              <a:lnSpc>
                <a:spcPct val="130000"/>
              </a:lnSpc>
              <a:spcAft>
                <a:spcPts val="500"/>
              </a:spcAft>
            </a:pPr>
            <a:r>
              <a:rPr sz="1080" b="0" i="0">
                <a:solidFill>
                  <a:srgbClr val="1A2230"/>
                </a:solidFill>
                <a:latin typeface="Calibri"/>
                <a:ea typeface="Calibri"/>
              </a:rPr>
              <a:t>Data warehouse for analytics.</a:t>
            </a:r>
          </a:p>
          <a:p>
            <a:pPr algn="l">
              <a:lnSpc>
                <a:spcPct val="130000"/>
              </a:lnSpc>
              <a:spcAft>
                <a:spcPts val="500"/>
              </a:spcAft>
            </a:pPr>
            <a:r>
              <a:rPr sz="1080" b="0" i="0">
                <a:solidFill>
                  <a:srgbClr val="1A2230"/>
                </a:solidFill>
                <a:latin typeface="Calibri"/>
                <a:ea typeface="Calibri"/>
              </a:rPr>
              <a:t>Pipeline streams events to BI dashboards.</a:t>
            </a:r>
          </a:p>
        </p:txBody>
      </p:sp>
      <p:sp>
        <p:nvSpPr>
          <p:cNvPr id="34" name="Rectangle 33"/>
          <p:cNvSpPr/>
          <p:nvPr/>
        </p:nvSpPr>
        <p:spPr>
          <a:xfrm>
            <a:off x="9927092" y="5230368"/>
            <a:ext cx="1395923" cy="27432"/>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98492" y="5367528"/>
            <a:ext cx="1853123" cy="548640"/>
          </a:xfrm>
          <a:prstGeom prst="rect">
            <a:avLst/>
          </a:prstGeom>
          <a:noFill/>
        </p:spPr>
        <p:txBody>
          <a:bodyPr wrap="square" anchor="ctr" lIns="0" rIns="0" tIns="0" bIns="0">
            <a:spAutoFit/>
          </a:bodyPr>
          <a:lstStyle/>
          <a:p>
            <a:pPr algn="ctr">
              <a:lnSpc>
                <a:spcPct val="115000"/>
              </a:lnSpc>
              <a:spcAft>
                <a:spcPts val="400"/>
              </a:spcAft>
            </a:pPr>
            <a:r>
              <a:rPr sz="1019" b="1" i="0">
                <a:solidFill>
                  <a:srgbClr val="0E3F8C"/>
                </a:solidFill>
                <a:latin typeface="Calibri"/>
                <a:ea typeface="Calibri"/>
              </a:rPr>
              <a:t>Bytes at scale, insights</a:t>
            </a:r>
          </a:p>
        </p:txBody>
      </p:sp>
      <p:sp>
        <p:nvSpPr>
          <p:cNvPr id="36" name="Rounded Rectangle 35"/>
          <p:cNvSpPr/>
          <p:nvPr/>
        </p:nvSpPr>
        <p:spPr>
          <a:xfrm>
            <a:off x="548640" y="5760720"/>
            <a:ext cx="11094415" cy="530352"/>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5870448"/>
            <a:ext cx="10454335" cy="347472"/>
          </a:xfrm>
          <a:prstGeom prst="rect">
            <a:avLst/>
          </a:prstGeom>
          <a:noFill/>
        </p:spPr>
        <p:txBody>
          <a:bodyPr wrap="square" anchor="ctr" lIns="0" rIns="0" tIns="0" bIns="0">
            <a:spAutoFit/>
          </a:bodyPr>
          <a:lstStyle/>
          <a:p>
            <a:pPr algn="ctr">
              <a:lnSpc>
                <a:spcPct val="110000"/>
              </a:lnSpc>
              <a:spcAft>
                <a:spcPts val="400"/>
              </a:spcAft>
            </a:pPr>
            <a:r>
              <a:rPr sz="1350" b="1" i="0">
                <a:solidFill>
                  <a:srgbClr val="0E3F8C"/>
                </a:solidFill>
                <a:latin typeface="Calibri"/>
                <a:ea typeface="Calibri"/>
              </a:rPr>
              <a:t>Eleven moving parts, five layers, one journey per request.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1800" b="1" i="0">
                <a:solidFill>
                  <a:srgbClr val="FFFFFF"/>
                </a:solidFill>
                <a:latin typeface="Calibri"/>
                <a:ea typeface="Calibri"/>
              </a:rPr>
              <a:t>The Key Idea — Scale Each Piece Independently</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The Journey</a:t>
            </a:r>
          </a:p>
        </p:txBody>
      </p:sp>
      <p:sp>
        <p:nvSpPr>
          <p:cNvPr id="5" name="Rounded Rectangle 4"/>
          <p:cNvSpPr/>
          <p:nvPr/>
        </p:nvSpPr>
        <p:spPr>
          <a:xfrm>
            <a:off x="548640" y="932688"/>
            <a:ext cx="5410047"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59" y="1207008"/>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1207008"/>
            <a:ext cx="4541367" cy="457200"/>
          </a:xfrm>
          <a:prstGeom prst="rect">
            <a:avLst/>
          </a:prstGeom>
          <a:noFill/>
        </p:spPr>
        <p:txBody>
          <a:bodyPr wrap="square" anchor="t" lIns="0" rIns="0" tIns="0" bIns="0">
            <a:spAutoFit/>
          </a:bodyPr>
          <a:lstStyle/>
          <a:p>
            <a:pPr algn="l">
              <a:lnSpc>
                <a:spcPct val="110000"/>
              </a:lnSpc>
              <a:spcAft>
                <a:spcPts val="400"/>
              </a:spcAft>
            </a:pPr>
            <a:r>
              <a:rPr sz="1900" b="1" i="0">
                <a:solidFill>
                  <a:srgbClr val="0E3F8C"/>
                </a:solidFill>
                <a:latin typeface="Calibri"/>
                <a:ea typeface="Calibri"/>
              </a:rPr>
              <a:t>Web traffic increases</a:t>
            </a:r>
          </a:p>
        </p:txBody>
      </p:sp>
      <p:sp>
        <p:nvSpPr>
          <p:cNvPr id="8" name="TextBox 7"/>
          <p:cNvSpPr txBox="1"/>
          <p:nvPr/>
        </p:nvSpPr>
        <p:spPr>
          <a:xfrm>
            <a:off x="1115568" y="1773936"/>
            <a:ext cx="4541367" cy="1156716"/>
          </a:xfrm>
          <a:prstGeom prst="rect">
            <a:avLst/>
          </a:prstGeom>
          <a:noFill/>
        </p:spPr>
        <p:txBody>
          <a:bodyPr wrap="square" anchor="t" lIns="0" rIns="0" tIns="0" bIns="0">
            <a:spAutoFit/>
          </a:bodyPr>
          <a:lstStyle/>
          <a:p>
            <a:pPr algn="l">
              <a:lnSpc>
                <a:spcPct val="120000"/>
              </a:lnSpc>
              <a:spcAft>
                <a:spcPts val="400"/>
              </a:spcAft>
            </a:pPr>
            <a:r>
              <a:rPr sz="1400" b="0" i="0">
                <a:solidFill>
                  <a:srgbClr val="4A5568"/>
                </a:solidFill>
                <a:latin typeface="Calibri"/>
                <a:ea typeface="Calibri"/>
              </a:rPr>
              <a:t>Add more web app servers behind the same load balancer — applications are stateless.</a:t>
            </a:r>
          </a:p>
        </p:txBody>
      </p:sp>
      <p:sp>
        <p:nvSpPr>
          <p:cNvPr id="9" name="Rounded Rectangle 8"/>
          <p:cNvSpPr/>
          <p:nvPr/>
        </p:nvSpPr>
        <p:spPr>
          <a:xfrm>
            <a:off x="6233007" y="932688"/>
            <a:ext cx="5410047"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07327" y="1207008"/>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99935" y="1207008"/>
            <a:ext cx="4541367" cy="457200"/>
          </a:xfrm>
          <a:prstGeom prst="rect">
            <a:avLst/>
          </a:prstGeom>
          <a:noFill/>
        </p:spPr>
        <p:txBody>
          <a:bodyPr wrap="square" anchor="t" lIns="0" rIns="0" tIns="0" bIns="0">
            <a:spAutoFit/>
          </a:bodyPr>
          <a:lstStyle/>
          <a:p>
            <a:pPr algn="l">
              <a:lnSpc>
                <a:spcPct val="110000"/>
              </a:lnSpc>
              <a:spcAft>
                <a:spcPts val="400"/>
              </a:spcAft>
            </a:pPr>
            <a:r>
              <a:rPr sz="1900" b="1" i="0">
                <a:solidFill>
                  <a:srgbClr val="0E3F8C"/>
                </a:solidFill>
                <a:latin typeface="Calibri"/>
                <a:ea typeface="Calibri"/>
              </a:rPr>
              <a:t>Database is the bottleneck</a:t>
            </a:r>
          </a:p>
        </p:txBody>
      </p:sp>
      <p:sp>
        <p:nvSpPr>
          <p:cNvPr id="12" name="TextBox 11"/>
          <p:cNvSpPr txBox="1"/>
          <p:nvPr/>
        </p:nvSpPr>
        <p:spPr>
          <a:xfrm>
            <a:off x="6799935" y="1773936"/>
            <a:ext cx="4541367" cy="1156716"/>
          </a:xfrm>
          <a:prstGeom prst="rect">
            <a:avLst/>
          </a:prstGeom>
          <a:noFill/>
        </p:spPr>
        <p:txBody>
          <a:bodyPr wrap="square" anchor="t" lIns="0" rIns="0" tIns="0" bIns="0">
            <a:spAutoFit/>
          </a:bodyPr>
          <a:lstStyle/>
          <a:p>
            <a:pPr algn="l">
              <a:lnSpc>
                <a:spcPct val="120000"/>
              </a:lnSpc>
              <a:spcAft>
                <a:spcPts val="400"/>
              </a:spcAft>
            </a:pPr>
            <a:r>
              <a:rPr sz="1400" b="0" i="0">
                <a:solidFill>
                  <a:srgbClr val="4A5568"/>
                </a:solidFill>
                <a:latin typeface="Calibri"/>
                <a:ea typeface="Calibri"/>
              </a:rPr>
              <a:t>Introduce a caching service (Redis) or database replicas — reads fan out, writes stay.</a:t>
            </a:r>
          </a:p>
        </p:txBody>
      </p:sp>
      <p:sp>
        <p:nvSpPr>
          <p:cNvPr id="13" name="Rounded Rectangle 12"/>
          <p:cNvSpPr/>
          <p:nvPr/>
        </p:nvSpPr>
        <p:spPr>
          <a:xfrm>
            <a:off x="548640" y="3415284"/>
            <a:ext cx="5410047"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59" y="3689604"/>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15568" y="3689604"/>
            <a:ext cx="4541367" cy="457200"/>
          </a:xfrm>
          <a:prstGeom prst="rect">
            <a:avLst/>
          </a:prstGeom>
          <a:noFill/>
        </p:spPr>
        <p:txBody>
          <a:bodyPr wrap="square" anchor="t" lIns="0" rIns="0" tIns="0" bIns="0">
            <a:spAutoFit/>
          </a:bodyPr>
          <a:lstStyle/>
          <a:p>
            <a:pPr algn="l">
              <a:lnSpc>
                <a:spcPct val="110000"/>
              </a:lnSpc>
              <a:spcAft>
                <a:spcPts val="400"/>
              </a:spcAft>
            </a:pPr>
            <a:r>
              <a:rPr sz="1900" b="1" i="0">
                <a:solidFill>
                  <a:srgbClr val="0E3F8C"/>
                </a:solidFill>
                <a:latin typeface="Calibri"/>
                <a:ea typeface="Calibri"/>
              </a:rPr>
              <a:t>Latency for far-away users</a:t>
            </a:r>
          </a:p>
        </p:txBody>
      </p:sp>
      <p:sp>
        <p:nvSpPr>
          <p:cNvPr id="16" name="TextBox 15"/>
          <p:cNvSpPr txBox="1"/>
          <p:nvPr/>
        </p:nvSpPr>
        <p:spPr>
          <a:xfrm>
            <a:off x="1115568" y="4256532"/>
            <a:ext cx="4541367" cy="1156716"/>
          </a:xfrm>
          <a:prstGeom prst="rect">
            <a:avLst/>
          </a:prstGeom>
          <a:noFill/>
        </p:spPr>
        <p:txBody>
          <a:bodyPr wrap="square" anchor="t" lIns="0" rIns="0" tIns="0" bIns="0">
            <a:spAutoFit/>
          </a:bodyPr>
          <a:lstStyle/>
          <a:p>
            <a:pPr algn="l">
              <a:lnSpc>
                <a:spcPct val="120000"/>
              </a:lnSpc>
              <a:spcAft>
                <a:spcPts val="400"/>
              </a:spcAft>
            </a:pPr>
            <a:r>
              <a:rPr sz="1400" b="0" i="0">
                <a:solidFill>
                  <a:srgbClr val="4A5568"/>
                </a:solidFill>
                <a:latin typeface="Calibri"/>
                <a:ea typeface="Calibri"/>
              </a:rPr>
              <a:t>Push a CDN to the edge — static assets (and even API responses) hit from a nearby node.</a:t>
            </a:r>
          </a:p>
        </p:txBody>
      </p:sp>
      <p:sp>
        <p:nvSpPr>
          <p:cNvPr id="17" name="Rounded Rectangle 16"/>
          <p:cNvSpPr/>
          <p:nvPr/>
        </p:nvSpPr>
        <p:spPr>
          <a:xfrm>
            <a:off x="6233007" y="3415284"/>
            <a:ext cx="5410047" cy="2162556"/>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07327" y="3689604"/>
            <a:ext cx="128016" cy="475488"/>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99935" y="3689604"/>
            <a:ext cx="4541367" cy="457200"/>
          </a:xfrm>
          <a:prstGeom prst="rect">
            <a:avLst/>
          </a:prstGeom>
          <a:noFill/>
        </p:spPr>
        <p:txBody>
          <a:bodyPr wrap="square" anchor="t" lIns="0" rIns="0" tIns="0" bIns="0">
            <a:spAutoFit/>
          </a:bodyPr>
          <a:lstStyle/>
          <a:p>
            <a:pPr algn="l">
              <a:lnSpc>
                <a:spcPct val="110000"/>
              </a:lnSpc>
              <a:spcAft>
                <a:spcPts val="400"/>
              </a:spcAft>
            </a:pPr>
            <a:r>
              <a:rPr sz="1900" b="1" i="0">
                <a:solidFill>
                  <a:srgbClr val="0E3F8C"/>
                </a:solidFill>
                <a:latin typeface="Calibri"/>
                <a:ea typeface="Calibri"/>
              </a:rPr>
              <a:t>Async or heavy work piles up</a:t>
            </a:r>
          </a:p>
        </p:txBody>
      </p:sp>
      <p:sp>
        <p:nvSpPr>
          <p:cNvPr id="20" name="TextBox 19"/>
          <p:cNvSpPr txBox="1"/>
          <p:nvPr/>
        </p:nvSpPr>
        <p:spPr>
          <a:xfrm>
            <a:off x="6799935" y="4256532"/>
            <a:ext cx="4541367" cy="1156716"/>
          </a:xfrm>
          <a:prstGeom prst="rect">
            <a:avLst/>
          </a:prstGeom>
          <a:noFill/>
        </p:spPr>
        <p:txBody>
          <a:bodyPr wrap="square" anchor="t" lIns="0" rIns="0" tIns="0" bIns="0">
            <a:spAutoFit/>
          </a:bodyPr>
          <a:lstStyle/>
          <a:p>
            <a:pPr algn="l">
              <a:lnSpc>
                <a:spcPct val="120000"/>
              </a:lnSpc>
              <a:spcAft>
                <a:spcPts val="400"/>
              </a:spcAft>
            </a:pPr>
            <a:r>
              <a:rPr sz="1400" b="0" i="0">
                <a:solidFill>
                  <a:srgbClr val="4A5568"/>
                </a:solidFill>
                <a:latin typeface="Calibri"/>
                <a:ea typeface="Calibri"/>
              </a:rPr>
              <a:t>Move it to a job queue + job servers — the user-facing path stays fast.</a:t>
            </a:r>
          </a:p>
        </p:txBody>
      </p:sp>
      <p:sp>
        <p:nvSpPr>
          <p:cNvPr id="21" name="Rounded Rectangle 20"/>
          <p:cNvSpPr/>
          <p:nvPr/>
        </p:nvSpPr>
        <p:spPr>
          <a:xfrm>
            <a:off x="548640" y="5577840"/>
            <a:ext cx="11094415" cy="713232"/>
          </a:xfrm>
          <a:prstGeom prst="roundRect">
            <a:avLst>
              <a:gd name="adj" fmla="val 8000"/>
            </a:avLst>
          </a:prstGeom>
          <a:solidFill>
            <a:srgbClr val="1A22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696712"/>
            <a:ext cx="10454335" cy="256032"/>
          </a:xfrm>
          <a:prstGeom prst="rect">
            <a:avLst/>
          </a:prstGeom>
          <a:noFill/>
        </p:spPr>
        <p:txBody>
          <a:bodyPr wrap="square" anchor="t" lIns="0" rIns="0" tIns="0" bIns="0">
            <a:spAutoFit/>
          </a:bodyPr>
          <a:lstStyle/>
          <a:p>
            <a:pPr algn="l">
              <a:lnSpc>
                <a:spcPct val="110000"/>
              </a:lnSpc>
              <a:spcAft>
                <a:spcPts val="400"/>
              </a:spcAft>
            </a:pPr>
            <a:r>
              <a:rPr sz="1100" b="1" i="0">
                <a:solidFill>
                  <a:srgbClr val="9DC0EE"/>
                </a:solidFill>
                <a:latin typeface="Calibri"/>
                <a:ea typeface="Calibri"/>
              </a:rPr>
              <a:t>Each component grows on its own</a:t>
            </a:r>
          </a:p>
        </p:txBody>
      </p:sp>
      <p:sp>
        <p:nvSpPr>
          <p:cNvPr id="23" name="TextBox 22"/>
          <p:cNvSpPr txBox="1"/>
          <p:nvPr/>
        </p:nvSpPr>
        <p:spPr>
          <a:xfrm>
            <a:off x="868680" y="5961888"/>
            <a:ext cx="10454335" cy="274320"/>
          </a:xfrm>
          <a:prstGeom prst="rect">
            <a:avLst/>
          </a:prstGeom>
          <a:noFill/>
        </p:spPr>
        <p:txBody>
          <a:bodyPr wrap="square" anchor="t" lIns="0" rIns="0" tIns="0" bIns="0">
            <a:spAutoFit/>
          </a:bodyPr>
          <a:lstStyle/>
          <a:p>
            <a:pPr algn="l">
              <a:lnSpc>
                <a:spcPct val="110000"/>
              </a:lnSpc>
              <a:spcAft>
                <a:spcPts val="400"/>
              </a:spcAft>
            </a:pPr>
            <a:r>
              <a:rPr sz="1350" b="0" i="0">
                <a:solidFill>
                  <a:srgbClr val="98C379"/>
                </a:solidFill>
                <a:latin typeface="Consolas"/>
                <a:ea typeface="Consolas"/>
              </a:rPr>
              <a:t>web: +1 server   |   data: +Redis   |   edge: +CDN node   |   async: +1 worker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8580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143000"/>
            <a:ext cx="3840480" cy="1828800"/>
          </a:xfrm>
          <a:prstGeom prst="rect">
            <a:avLst/>
          </a:prstGeom>
          <a:noFill/>
        </p:spPr>
        <p:txBody>
          <a:bodyPr wrap="square" anchor="t" lIns="0" rIns="0" tIns="0" bIns="0">
            <a:spAutoFit/>
          </a:bodyPr>
          <a:lstStyle/>
          <a:p>
            <a:pPr algn="l">
              <a:lnSpc>
                <a:spcPct val="110000"/>
              </a:lnSpc>
              <a:spcAft>
                <a:spcPts val="400"/>
              </a:spcAft>
            </a:pPr>
            <a:r>
              <a:rPr sz="9200" b="1" i="0">
                <a:solidFill>
                  <a:srgbClr val="9DC0EE"/>
                </a:solidFill>
                <a:latin typeface="Calibri"/>
                <a:ea typeface="Calibri"/>
              </a:rPr>
              <a:t>05</a:t>
            </a:r>
          </a:p>
        </p:txBody>
      </p:sp>
      <p:sp>
        <p:nvSpPr>
          <p:cNvPr id="5" name="TextBox 4"/>
          <p:cNvSpPr txBox="1"/>
          <p:nvPr/>
        </p:nvSpPr>
        <p:spPr>
          <a:xfrm>
            <a:off x="685800" y="3063240"/>
            <a:ext cx="10607040" cy="822960"/>
          </a:xfrm>
          <a:prstGeom prst="rect">
            <a:avLst/>
          </a:prstGeom>
          <a:noFill/>
        </p:spPr>
        <p:txBody>
          <a:bodyPr wrap="square" anchor="t" lIns="0" rIns="0" tIns="0" bIns="0">
            <a:spAutoFit/>
          </a:bodyPr>
          <a:lstStyle/>
          <a:p>
            <a:pPr algn="l">
              <a:lnSpc>
                <a:spcPct val="110000"/>
              </a:lnSpc>
              <a:spcAft>
                <a:spcPts val="400"/>
              </a:spcAft>
            </a:pPr>
            <a:r>
              <a:rPr sz="3800" b="1" i="0">
                <a:solidFill>
                  <a:srgbClr val="FFFFFF"/>
                </a:solidFill>
                <a:latin typeface="Calibri"/>
                <a:ea typeface="Calibri"/>
              </a:rPr>
              <a:t>Wrap-Up &amp; Takeaways</a:t>
            </a:r>
          </a:p>
        </p:txBody>
      </p:sp>
      <p:sp>
        <p:nvSpPr>
          <p:cNvPr id="6" name="Rectangle 5"/>
          <p:cNvSpPr/>
          <p:nvPr/>
        </p:nvSpPr>
        <p:spPr>
          <a:xfrm>
            <a:off x="713232" y="3977639"/>
            <a:ext cx="822960" cy="54864"/>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4251960"/>
            <a:ext cx="10058400" cy="1645920"/>
          </a:xfrm>
          <a:prstGeom prst="rect">
            <a:avLst/>
          </a:prstGeom>
          <a:noFill/>
        </p:spPr>
        <p:txBody>
          <a:bodyPr wrap="square" lIns="0" rIns="0" tIns="0" bIns="0">
            <a:normAutofit/>
          </a:bodyPr>
          <a:lstStyle/>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Your weekly roadmap — what you build each week</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Your final toolbox — what you'll be able to do by Week 13</a:t>
            </a:r>
          </a:p>
          <a:p>
            <a:pPr marL="256032" indent="-237744">
              <a:lnSpc>
                <a:spcPct val="112000"/>
              </a:lnSpc>
              <a:spcAft>
                <a:spcPts val="1000"/>
              </a:spcAft>
              <a:buClr>
                <a:srgbClr val="1E4FA8"/>
              </a:buClr>
              <a:buSzPct val="90000"/>
              <a:buFont typeface="Arial"/>
              <a:buChar char="▪"/>
            </a:pPr>
            <a:r>
              <a:rPr sz="1600" b="0" i="0">
                <a:solidFill>
                  <a:srgbClr val="B9CDEE"/>
                </a:solidFill>
                <a:latin typeface="Calibri"/>
                <a:ea typeface="Calibri"/>
              </a:rPr>
              <a:t>The five things to take away from today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Week by Week — What You Build</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Wrap-Up &amp; Takeaways</a:t>
            </a:r>
          </a:p>
        </p:txBody>
      </p:sp>
      <p:sp>
        <p:nvSpPr>
          <p:cNvPr id="5" name="Rounded Rectangle 4"/>
          <p:cNvSpPr/>
          <p:nvPr/>
        </p:nvSpPr>
        <p:spPr>
          <a:xfrm>
            <a:off x="548640" y="1389888"/>
            <a:ext cx="2567863" cy="329184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89888"/>
            <a:ext cx="2567863" cy="566928"/>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2202103" cy="365760"/>
          </a:xfrm>
          <a:prstGeom prst="rect">
            <a:avLst/>
          </a:prstGeom>
          <a:noFill/>
        </p:spPr>
        <p:txBody>
          <a:bodyPr wrap="square" anchor="t" lIns="0" rIns="0" tIns="0" bIns="0">
            <a:spAutoFit/>
          </a:bodyPr>
          <a:lstStyle/>
          <a:p>
            <a:pPr algn="ctr">
              <a:lnSpc>
                <a:spcPct val="110000"/>
              </a:lnSpc>
              <a:spcAft>
                <a:spcPts val="400"/>
              </a:spcAft>
            </a:pPr>
            <a:r>
              <a:rPr sz="1500" b="1" i="0">
                <a:solidFill>
                  <a:srgbClr val="FFFFFF"/>
                </a:solidFill>
                <a:latin typeface="Calibri"/>
                <a:ea typeface="Calibri"/>
              </a:rPr>
              <a:t>W2–5 · HTML + CSS</a:t>
            </a:r>
          </a:p>
        </p:txBody>
      </p:sp>
      <p:sp>
        <p:nvSpPr>
          <p:cNvPr id="8" name="TextBox 7"/>
          <p:cNvSpPr txBox="1"/>
          <p:nvPr/>
        </p:nvSpPr>
        <p:spPr>
          <a:xfrm>
            <a:off x="822959" y="2167128"/>
            <a:ext cx="2064943" cy="2377440"/>
          </a:xfrm>
          <a:prstGeom prst="rect">
            <a:avLst/>
          </a:prstGeom>
          <a:noFill/>
        </p:spPr>
        <p:txBody>
          <a:bodyPr wrap="square" lIns="0" rIns="0" tIns="0" bIns="0">
            <a:normAutofit/>
          </a:bodyPr>
          <a:lstStyle/>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2  HTML: structure &amp; forms</a:t>
            </a:r>
          </a:p>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3  CSS: selectors &amp; cascade</a:t>
            </a:r>
          </a:p>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4  CSS: layout &amp; responsive</a:t>
            </a:r>
          </a:p>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5  CSS: Flexbox, Grid &amp; motion</a:t>
            </a:r>
          </a:p>
        </p:txBody>
      </p:sp>
      <p:sp>
        <p:nvSpPr>
          <p:cNvPr id="9" name="Rounded Rectangle 8"/>
          <p:cNvSpPr/>
          <p:nvPr/>
        </p:nvSpPr>
        <p:spPr>
          <a:xfrm>
            <a:off x="3390823" y="1389888"/>
            <a:ext cx="2567863" cy="329184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90823" y="1389888"/>
            <a:ext cx="2567863" cy="566928"/>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73703" y="1508760"/>
            <a:ext cx="2202103" cy="365760"/>
          </a:xfrm>
          <a:prstGeom prst="rect">
            <a:avLst/>
          </a:prstGeom>
          <a:noFill/>
        </p:spPr>
        <p:txBody>
          <a:bodyPr wrap="square" anchor="t" lIns="0" rIns="0" tIns="0" bIns="0">
            <a:spAutoFit/>
          </a:bodyPr>
          <a:lstStyle/>
          <a:p>
            <a:pPr algn="ctr">
              <a:lnSpc>
                <a:spcPct val="110000"/>
              </a:lnSpc>
              <a:spcAft>
                <a:spcPts val="400"/>
              </a:spcAft>
            </a:pPr>
            <a:r>
              <a:rPr sz="1500" b="1" i="0">
                <a:solidFill>
                  <a:srgbClr val="FFFFFF"/>
                </a:solidFill>
                <a:latin typeface="Calibri"/>
                <a:ea typeface="Calibri"/>
              </a:rPr>
              <a:t>W6–8 · JavaScript</a:t>
            </a:r>
          </a:p>
        </p:txBody>
      </p:sp>
      <p:sp>
        <p:nvSpPr>
          <p:cNvPr id="12" name="TextBox 11"/>
          <p:cNvSpPr txBox="1"/>
          <p:nvPr/>
        </p:nvSpPr>
        <p:spPr>
          <a:xfrm>
            <a:off x="3665143" y="2167128"/>
            <a:ext cx="2064943" cy="2377440"/>
          </a:xfrm>
          <a:prstGeom prst="rect">
            <a:avLst/>
          </a:prstGeom>
          <a:noFill/>
        </p:spPr>
        <p:txBody>
          <a:bodyPr wrap="square" lIns="0" rIns="0" tIns="0" bIns="0">
            <a:normAutofit/>
          </a:bodyPr>
          <a:lstStyle/>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6  ES6+ &amp; DOM</a:t>
            </a:r>
          </a:p>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7  functions, closures, classes</a:t>
            </a:r>
          </a:p>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8  async, fetch, AJAX</a:t>
            </a:r>
          </a:p>
        </p:txBody>
      </p:sp>
      <p:sp>
        <p:nvSpPr>
          <p:cNvPr id="13" name="Rounded Rectangle 12"/>
          <p:cNvSpPr/>
          <p:nvPr/>
        </p:nvSpPr>
        <p:spPr>
          <a:xfrm>
            <a:off x="6233007" y="1389888"/>
            <a:ext cx="2567863" cy="329184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33007" y="1389888"/>
            <a:ext cx="2567863" cy="566928"/>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5887" y="1508760"/>
            <a:ext cx="2202103" cy="365760"/>
          </a:xfrm>
          <a:prstGeom prst="rect">
            <a:avLst/>
          </a:prstGeom>
          <a:noFill/>
        </p:spPr>
        <p:txBody>
          <a:bodyPr wrap="square" anchor="t" lIns="0" rIns="0" tIns="0" bIns="0">
            <a:spAutoFit/>
          </a:bodyPr>
          <a:lstStyle/>
          <a:p>
            <a:pPr algn="ctr">
              <a:lnSpc>
                <a:spcPct val="110000"/>
              </a:lnSpc>
              <a:spcAft>
                <a:spcPts val="400"/>
              </a:spcAft>
            </a:pPr>
            <a:r>
              <a:rPr sz="1500" b="1" i="0">
                <a:solidFill>
                  <a:srgbClr val="FFFFFF"/>
                </a:solidFill>
                <a:latin typeface="Calibri"/>
                <a:ea typeface="Calibri"/>
              </a:rPr>
              <a:t>W9–11 · HTTP + Node</a:t>
            </a:r>
          </a:p>
        </p:txBody>
      </p:sp>
      <p:sp>
        <p:nvSpPr>
          <p:cNvPr id="16" name="TextBox 15"/>
          <p:cNvSpPr txBox="1"/>
          <p:nvPr/>
        </p:nvSpPr>
        <p:spPr>
          <a:xfrm>
            <a:off x="6507327" y="2167128"/>
            <a:ext cx="2064943" cy="2377440"/>
          </a:xfrm>
          <a:prstGeom prst="rect">
            <a:avLst/>
          </a:prstGeom>
          <a:noFill/>
        </p:spPr>
        <p:txBody>
          <a:bodyPr wrap="square" lIns="0" rIns="0" tIns="0" bIns="0">
            <a:normAutofit/>
          </a:bodyPr>
          <a:lstStyle/>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9  HTTP protocol &amp; URLs</a:t>
            </a:r>
          </a:p>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10 Node.js &amp; npm</a:t>
            </a:r>
          </a:p>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11 Express, REST &amp; databases</a:t>
            </a:r>
          </a:p>
        </p:txBody>
      </p:sp>
      <p:sp>
        <p:nvSpPr>
          <p:cNvPr id="17" name="Rounded Rectangle 16"/>
          <p:cNvSpPr/>
          <p:nvPr/>
        </p:nvSpPr>
        <p:spPr>
          <a:xfrm>
            <a:off x="9075191" y="1389888"/>
            <a:ext cx="2567863" cy="3291840"/>
          </a:xfrm>
          <a:prstGeom prst="roundRect">
            <a:avLst>
              <a:gd name="adj" fmla="val 6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075191" y="1389888"/>
            <a:ext cx="2567863" cy="566928"/>
          </a:xfrm>
          <a:prstGeom prst="roundRect">
            <a:avLst>
              <a:gd name="adj" fmla="val 6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8071" y="1508760"/>
            <a:ext cx="2202103" cy="365760"/>
          </a:xfrm>
          <a:prstGeom prst="rect">
            <a:avLst/>
          </a:prstGeom>
          <a:noFill/>
        </p:spPr>
        <p:txBody>
          <a:bodyPr wrap="square" anchor="t" lIns="0" rIns="0" tIns="0" bIns="0">
            <a:spAutoFit/>
          </a:bodyPr>
          <a:lstStyle/>
          <a:p>
            <a:pPr algn="ctr">
              <a:lnSpc>
                <a:spcPct val="110000"/>
              </a:lnSpc>
              <a:spcAft>
                <a:spcPts val="400"/>
              </a:spcAft>
            </a:pPr>
            <a:r>
              <a:rPr sz="1500" b="1" i="0">
                <a:solidFill>
                  <a:srgbClr val="FFFFFF"/>
                </a:solidFill>
                <a:latin typeface="Calibri"/>
                <a:ea typeface="Calibri"/>
              </a:rPr>
              <a:t>W12–13 · Full-stack</a:t>
            </a:r>
          </a:p>
        </p:txBody>
      </p:sp>
      <p:sp>
        <p:nvSpPr>
          <p:cNvPr id="20" name="TextBox 19"/>
          <p:cNvSpPr txBox="1"/>
          <p:nvPr/>
        </p:nvSpPr>
        <p:spPr>
          <a:xfrm>
            <a:off x="9349511" y="2167128"/>
            <a:ext cx="2064943" cy="2377440"/>
          </a:xfrm>
          <a:prstGeom prst="rect">
            <a:avLst/>
          </a:prstGeom>
          <a:noFill/>
        </p:spPr>
        <p:txBody>
          <a:bodyPr wrap="square" lIns="0" rIns="0" tIns="0" bIns="0">
            <a:normAutofit/>
          </a:bodyPr>
          <a:lstStyle/>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12 WebSocket, SPA, deploy</a:t>
            </a:r>
          </a:p>
          <a:p>
            <a:pPr marL="201168" indent="-237744">
              <a:lnSpc>
                <a:spcPct val="112000"/>
              </a:lnSpc>
              <a:spcAft>
                <a:spcPts val="800"/>
              </a:spcAft>
              <a:buClr>
                <a:srgbClr val="1E4FA8"/>
              </a:buClr>
              <a:buSzPct val="90000"/>
              <a:buFont typeface="Arial"/>
              <a:buChar char="▪"/>
            </a:pPr>
            <a:r>
              <a:rPr sz="1200" b="1" i="0">
                <a:solidFill>
                  <a:srgbClr val="1A2230"/>
                </a:solidFill>
                <a:latin typeface="Calibri"/>
                <a:ea typeface="Calibri"/>
              </a:rPr>
              <a:t>Week 13 performance &amp; optimization</a:t>
            </a:r>
          </a:p>
        </p:txBody>
      </p:sp>
      <p:sp>
        <p:nvSpPr>
          <p:cNvPr id="21" name="Rounded Rectangle 20"/>
          <p:cNvSpPr/>
          <p:nvPr/>
        </p:nvSpPr>
        <p:spPr>
          <a:xfrm>
            <a:off x="548640" y="5760720"/>
            <a:ext cx="11094415" cy="530352"/>
          </a:xfrm>
          <a:prstGeom prst="roundRect">
            <a:avLst>
              <a:gd name="adj" fmla="val 10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870448"/>
            <a:ext cx="10454335" cy="347472"/>
          </a:xfrm>
          <a:prstGeom prst="rect">
            <a:avLst/>
          </a:prstGeom>
          <a:noFill/>
        </p:spPr>
        <p:txBody>
          <a:bodyPr wrap="square" anchor="ctr" lIns="0" rIns="0" tIns="0" bIns="0">
            <a:spAutoFit/>
          </a:bodyPr>
          <a:lstStyle/>
          <a:p>
            <a:pPr algn="ctr">
              <a:lnSpc>
                <a:spcPct val="110000"/>
              </a:lnSpc>
              <a:spcAft>
                <a:spcPts val="400"/>
              </a:spcAft>
            </a:pPr>
            <a:r>
              <a:rPr sz="1350" b="1" i="0">
                <a:solidFill>
                  <a:srgbClr val="0E3F8C"/>
                </a:solidFill>
                <a:latin typeface="Calibri"/>
                <a:ea typeface="Calibri"/>
              </a:rPr>
              <a:t>Tentative — the lab column in the course overview has the full list.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By the End of Week 13</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Wrap-Up &amp; Takeaways</a:t>
            </a:r>
          </a:p>
        </p:txBody>
      </p:sp>
      <p:sp>
        <p:nvSpPr>
          <p:cNvPr id="5" name="TextBox 4"/>
          <p:cNvSpPr txBox="1"/>
          <p:nvPr/>
        </p:nvSpPr>
        <p:spPr>
          <a:xfrm>
            <a:off x="548640" y="914400"/>
            <a:ext cx="11094415" cy="365760"/>
          </a:xfrm>
          <a:prstGeom prst="rect">
            <a:avLst/>
          </a:prstGeom>
          <a:noFill/>
        </p:spPr>
        <p:txBody>
          <a:bodyPr wrap="square" anchor="t" lIns="0" rIns="0" tIns="0" bIns="0">
            <a:spAutoFit/>
          </a:bodyPr>
          <a:lstStyle/>
          <a:p>
            <a:pPr algn="l">
              <a:lnSpc>
                <a:spcPct val="110000"/>
              </a:lnSpc>
              <a:spcAft>
                <a:spcPts val="400"/>
              </a:spcAft>
            </a:pPr>
            <a:r>
              <a:rPr sz="1450" b="0" i="0">
                <a:solidFill>
                  <a:srgbClr val="4A5568"/>
                </a:solidFill>
                <a:latin typeface="Calibri"/>
                <a:ea typeface="Calibri"/>
              </a:rPr>
              <a:t>You will be able to build a complete web application — and explain every layer of it.</a:t>
            </a:r>
          </a:p>
        </p:txBody>
      </p:sp>
      <p:sp>
        <p:nvSpPr>
          <p:cNvPr id="6" name="Rounded Rectangle 5"/>
          <p:cNvSpPr/>
          <p:nvPr/>
        </p:nvSpPr>
        <p:spPr>
          <a:xfrm>
            <a:off x="548640" y="1435608"/>
            <a:ext cx="5318607" cy="1143000"/>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64792"/>
            <a:ext cx="118872" cy="457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600200"/>
            <a:ext cx="4495647" cy="365760"/>
          </a:xfrm>
          <a:prstGeom prst="rect">
            <a:avLst/>
          </a:prstGeom>
          <a:noFill/>
        </p:spPr>
        <p:txBody>
          <a:bodyPr wrap="square" anchor="t" lIns="0" rIns="0" tIns="0" bIns="0">
            <a:spAutoFit/>
          </a:bodyPr>
          <a:lstStyle/>
          <a:p>
            <a:pPr algn="l">
              <a:lnSpc>
                <a:spcPct val="110000"/>
              </a:lnSpc>
              <a:spcAft>
                <a:spcPts val="400"/>
              </a:spcAft>
            </a:pPr>
            <a:r>
              <a:rPr sz="1600" b="1" i="0">
                <a:solidFill>
                  <a:srgbClr val="0E3F8C"/>
                </a:solidFill>
                <a:latin typeface="Calibri"/>
                <a:ea typeface="Calibri"/>
              </a:rPr>
              <a:t>Design the stack</a:t>
            </a:r>
          </a:p>
        </p:txBody>
      </p:sp>
      <p:sp>
        <p:nvSpPr>
          <p:cNvPr id="9" name="TextBox 8"/>
          <p:cNvSpPr txBox="1"/>
          <p:nvPr/>
        </p:nvSpPr>
        <p:spPr>
          <a:xfrm>
            <a:off x="1051560" y="2002536"/>
            <a:ext cx="4495647" cy="457200"/>
          </a:xfrm>
          <a:prstGeom prst="rect">
            <a:avLst/>
          </a:prstGeom>
          <a:noFill/>
        </p:spPr>
        <p:txBody>
          <a:bodyPr wrap="square" anchor="t" lIns="0" rIns="0" tIns="0" bIns="0">
            <a:spAutoFit/>
          </a:bodyPr>
          <a:lstStyle/>
          <a:p>
            <a:pPr algn="l">
              <a:lnSpc>
                <a:spcPct val="110000"/>
              </a:lnSpc>
              <a:spcAft>
                <a:spcPts val="400"/>
              </a:spcAft>
            </a:pPr>
            <a:r>
              <a:rPr sz="1250" b="0" i="0">
                <a:solidFill>
                  <a:srgbClr val="4A5568"/>
                </a:solidFill>
                <a:latin typeface="Calibri"/>
                <a:ea typeface="Calibri"/>
              </a:rPr>
              <a:t>Choose front-end, back-end, database — and justify it.</a:t>
            </a:r>
          </a:p>
        </p:txBody>
      </p:sp>
      <p:sp>
        <p:nvSpPr>
          <p:cNvPr id="10" name="Rounded Rectangle 9"/>
          <p:cNvSpPr/>
          <p:nvPr/>
        </p:nvSpPr>
        <p:spPr>
          <a:xfrm>
            <a:off x="6324447" y="1435608"/>
            <a:ext cx="5318607" cy="1143000"/>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53047" y="1764792"/>
            <a:ext cx="118872" cy="457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27367" y="1600200"/>
            <a:ext cx="4495647" cy="365760"/>
          </a:xfrm>
          <a:prstGeom prst="rect">
            <a:avLst/>
          </a:prstGeom>
          <a:noFill/>
        </p:spPr>
        <p:txBody>
          <a:bodyPr wrap="square" anchor="t" lIns="0" rIns="0" tIns="0" bIns="0">
            <a:spAutoFit/>
          </a:bodyPr>
          <a:lstStyle/>
          <a:p>
            <a:pPr algn="l">
              <a:lnSpc>
                <a:spcPct val="110000"/>
              </a:lnSpc>
              <a:spcAft>
                <a:spcPts val="400"/>
              </a:spcAft>
            </a:pPr>
            <a:r>
              <a:rPr sz="1600" b="1" i="0">
                <a:solidFill>
                  <a:srgbClr val="0E3F8C"/>
                </a:solidFill>
                <a:latin typeface="Calibri"/>
                <a:ea typeface="Calibri"/>
              </a:rPr>
              <a:t>Build the front-end</a:t>
            </a:r>
          </a:p>
        </p:txBody>
      </p:sp>
      <p:sp>
        <p:nvSpPr>
          <p:cNvPr id="13" name="TextBox 12"/>
          <p:cNvSpPr txBox="1"/>
          <p:nvPr/>
        </p:nvSpPr>
        <p:spPr>
          <a:xfrm>
            <a:off x="6827367" y="2002536"/>
            <a:ext cx="4495647" cy="457200"/>
          </a:xfrm>
          <a:prstGeom prst="rect">
            <a:avLst/>
          </a:prstGeom>
          <a:noFill/>
        </p:spPr>
        <p:txBody>
          <a:bodyPr wrap="square" anchor="t" lIns="0" rIns="0" tIns="0" bIns="0">
            <a:spAutoFit/>
          </a:bodyPr>
          <a:lstStyle/>
          <a:p>
            <a:pPr algn="l">
              <a:lnSpc>
                <a:spcPct val="110000"/>
              </a:lnSpc>
              <a:spcAft>
                <a:spcPts val="400"/>
              </a:spcAft>
            </a:pPr>
            <a:r>
              <a:rPr sz="1250" b="0" i="0">
                <a:solidFill>
                  <a:srgbClr val="4A5568"/>
                </a:solidFill>
                <a:latin typeface="Calibri"/>
                <a:ea typeface="Calibri"/>
              </a:rPr>
              <a:t>Semantic HTML, modern CSS, interactive JavaScript.</a:t>
            </a:r>
          </a:p>
        </p:txBody>
      </p:sp>
      <p:sp>
        <p:nvSpPr>
          <p:cNvPr id="14" name="Rounded Rectangle 13"/>
          <p:cNvSpPr/>
          <p:nvPr/>
        </p:nvSpPr>
        <p:spPr>
          <a:xfrm>
            <a:off x="548640" y="2834640"/>
            <a:ext cx="5318607" cy="1143000"/>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163824"/>
            <a:ext cx="118872" cy="457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2999232"/>
            <a:ext cx="4495647" cy="365760"/>
          </a:xfrm>
          <a:prstGeom prst="rect">
            <a:avLst/>
          </a:prstGeom>
          <a:noFill/>
        </p:spPr>
        <p:txBody>
          <a:bodyPr wrap="square" anchor="t" lIns="0" rIns="0" tIns="0" bIns="0">
            <a:spAutoFit/>
          </a:bodyPr>
          <a:lstStyle/>
          <a:p>
            <a:pPr algn="l">
              <a:lnSpc>
                <a:spcPct val="110000"/>
              </a:lnSpc>
              <a:spcAft>
                <a:spcPts val="400"/>
              </a:spcAft>
            </a:pPr>
            <a:r>
              <a:rPr sz="1600" b="1" i="0">
                <a:solidFill>
                  <a:srgbClr val="0E3F8C"/>
                </a:solidFill>
                <a:latin typeface="Calibri"/>
                <a:ea typeface="Calibri"/>
              </a:rPr>
              <a:t>Build the back-end</a:t>
            </a:r>
          </a:p>
        </p:txBody>
      </p:sp>
      <p:sp>
        <p:nvSpPr>
          <p:cNvPr id="17" name="TextBox 16"/>
          <p:cNvSpPr txBox="1"/>
          <p:nvPr/>
        </p:nvSpPr>
        <p:spPr>
          <a:xfrm>
            <a:off x="1051560" y="3401568"/>
            <a:ext cx="4495647" cy="457200"/>
          </a:xfrm>
          <a:prstGeom prst="rect">
            <a:avLst/>
          </a:prstGeom>
          <a:noFill/>
        </p:spPr>
        <p:txBody>
          <a:bodyPr wrap="square" anchor="t" lIns="0" rIns="0" tIns="0" bIns="0">
            <a:spAutoFit/>
          </a:bodyPr>
          <a:lstStyle/>
          <a:p>
            <a:pPr algn="l">
              <a:lnSpc>
                <a:spcPct val="110000"/>
              </a:lnSpc>
              <a:spcAft>
                <a:spcPts val="400"/>
              </a:spcAft>
            </a:pPr>
            <a:r>
              <a:rPr sz="1250" b="0" i="0">
                <a:solidFill>
                  <a:srgbClr val="4A5568"/>
                </a:solidFill>
                <a:latin typeface="Calibri"/>
                <a:ea typeface="Calibri"/>
              </a:rPr>
              <a:t>Node.js + Express REST API, talking to a database.</a:t>
            </a:r>
          </a:p>
        </p:txBody>
      </p:sp>
      <p:sp>
        <p:nvSpPr>
          <p:cNvPr id="18" name="Rounded Rectangle 17"/>
          <p:cNvSpPr/>
          <p:nvPr/>
        </p:nvSpPr>
        <p:spPr>
          <a:xfrm>
            <a:off x="6324447" y="2834640"/>
            <a:ext cx="5318607" cy="1143000"/>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53047" y="3163824"/>
            <a:ext cx="118872" cy="457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27367" y="2999232"/>
            <a:ext cx="4495647" cy="365760"/>
          </a:xfrm>
          <a:prstGeom prst="rect">
            <a:avLst/>
          </a:prstGeom>
          <a:noFill/>
        </p:spPr>
        <p:txBody>
          <a:bodyPr wrap="square" anchor="t" lIns="0" rIns="0" tIns="0" bIns="0">
            <a:spAutoFit/>
          </a:bodyPr>
          <a:lstStyle/>
          <a:p>
            <a:pPr algn="l">
              <a:lnSpc>
                <a:spcPct val="110000"/>
              </a:lnSpc>
              <a:spcAft>
                <a:spcPts val="400"/>
              </a:spcAft>
            </a:pPr>
            <a:r>
              <a:rPr sz="1600" b="1" i="0">
                <a:solidFill>
                  <a:srgbClr val="0E3F8C"/>
                </a:solidFill>
                <a:latin typeface="Calibri"/>
                <a:ea typeface="Calibri"/>
              </a:rPr>
              <a:t>Connect them</a:t>
            </a:r>
          </a:p>
        </p:txBody>
      </p:sp>
      <p:sp>
        <p:nvSpPr>
          <p:cNvPr id="21" name="TextBox 20"/>
          <p:cNvSpPr txBox="1"/>
          <p:nvPr/>
        </p:nvSpPr>
        <p:spPr>
          <a:xfrm>
            <a:off x="6827367" y="3401568"/>
            <a:ext cx="4495647" cy="457200"/>
          </a:xfrm>
          <a:prstGeom prst="rect">
            <a:avLst/>
          </a:prstGeom>
          <a:noFill/>
        </p:spPr>
        <p:txBody>
          <a:bodyPr wrap="square" anchor="t" lIns="0" rIns="0" tIns="0" bIns="0">
            <a:spAutoFit/>
          </a:bodyPr>
          <a:lstStyle/>
          <a:p>
            <a:pPr algn="l">
              <a:lnSpc>
                <a:spcPct val="110000"/>
              </a:lnSpc>
              <a:spcAft>
                <a:spcPts val="400"/>
              </a:spcAft>
            </a:pPr>
            <a:r>
              <a:rPr sz="1250" b="0" i="0">
                <a:solidFill>
                  <a:srgbClr val="4A5568"/>
                </a:solidFill>
                <a:latin typeface="Calibri"/>
                <a:ea typeface="Calibri"/>
              </a:rPr>
              <a:t>Fetch, JSON, and HTTP done properly.</a:t>
            </a:r>
          </a:p>
        </p:txBody>
      </p:sp>
      <p:sp>
        <p:nvSpPr>
          <p:cNvPr id="22" name="Rounded Rectangle 21"/>
          <p:cNvSpPr/>
          <p:nvPr/>
        </p:nvSpPr>
        <p:spPr>
          <a:xfrm>
            <a:off x="548640" y="4233672"/>
            <a:ext cx="5318607" cy="1143000"/>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62856"/>
            <a:ext cx="118872" cy="457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1560" y="4398264"/>
            <a:ext cx="4495647" cy="365760"/>
          </a:xfrm>
          <a:prstGeom prst="rect">
            <a:avLst/>
          </a:prstGeom>
          <a:noFill/>
        </p:spPr>
        <p:txBody>
          <a:bodyPr wrap="square" anchor="t" lIns="0" rIns="0" tIns="0" bIns="0">
            <a:spAutoFit/>
          </a:bodyPr>
          <a:lstStyle/>
          <a:p>
            <a:pPr algn="l">
              <a:lnSpc>
                <a:spcPct val="110000"/>
              </a:lnSpc>
              <a:spcAft>
                <a:spcPts val="400"/>
              </a:spcAft>
            </a:pPr>
            <a:r>
              <a:rPr sz="1600" b="1" i="0">
                <a:solidFill>
                  <a:srgbClr val="0E3F8C"/>
                </a:solidFill>
                <a:latin typeface="Calibri"/>
                <a:ea typeface="Calibri"/>
              </a:rPr>
              <a:t>Ship it</a:t>
            </a:r>
          </a:p>
        </p:txBody>
      </p:sp>
      <p:sp>
        <p:nvSpPr>
          <p:cNvPr id="25" name="TextBox 24"/>
          <p:cNvSpPr txBox="1"/>
          <p:nvPr/>
        </p:nvSpPr>
        <p:spPr>
          <a:xfrm>
            <a:off x="1051560" y="4800600"/>
            <a:ext cx="4495647" cy="457200"/>
          </a:xfrm>
          <a:prstGeom prst="rect">
            <a:avLst/>
          </a:prstGeom>
          <a:noFill/>
        </p:spPr>
        <p:txBody>
          <a:bodyPr wrap="square" anchor="t" lIns="0" rIns="0" tIns="0" bIns="0">
            <a:spAutoFit/>
          </a:bodyPr>
          <a:lstStyle/>
          <a:p>
            <a:pPr algn="l">
              <a:lnSpc>
                <a:spcPct val="110000"/>
              </a:lnSpc>
              <a:spcAft>
                <a:spcPts val="400"/>
              </a:spcAft>
            </a:pPr>
            <a:r>
              <a:rPr sz="1250" b="0" i="0">
                <a:solidFill>
                  <a:srgbClr val="4A5568"/>
                </a:solidFill>
                <a:latin typeface="Calibri"/>
                <a:ea typeface="Calibri"/>
              </a:rPr>
              <a:t>Deploy to the cloud with a real URL.</a:t>
            </a:r>
          </a:p>
        </p:txBody>
      </p:sp>
      <p:sp>
        <p:nvSpPr>
          <p:cNvPr id="26" name="Rounded Rectangle 25"/>
          <p:cNvSpPr/>
          <p:nvPr/>
        </p:nvSpPr>
        <p:spPr>
          <a:xfrm>
            <a:off x="6324447" y="4233672"/>
            <a:ext cx="5318607" cy="1143000"/>
          </a:xfrm>
          <a:prstGeom prst="roundRect">
            <a:avLst>
              <a:gd name="adj" fmla="val 7000"/>
            </a:avLst>
          </a:prstGeom>
          <a:solidFill>
            <a:srgbClr val="F0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53047" y="4562856"/>
            <a:ext cx="118872" cy="457200"/>
          </a:xfrm>
          <a:prstGeom prst="rect">
            <a:avLst/>
          </a:prstGeom>
          <a:solidFill>
            <a:srgbClr val="1E4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27367" y="4398264"/>
            <a:ext cx="4495647" cy="365760"/>
          </a:xfrm>
          <a:prstGeom prst="rect">
            <a:avLst/>
          </a:prstGeom>
          <a:noFill/>
        </p:spPr>
        <p:txBody>
          <a:bodyPr wrap="square" anchor="t" lIns="0" rIns="0" tIns="0" bIns="0">
            <a:spAutoFit/>
          </a:bodyPr>
          <a:lstStyle/>
          <a:p>
            <a:pPr algn="l">
              <a:lnSpc>
                <a:spcPct val="110000"/>
              </a:lnSpc>
              <a:spcAft>
                <a:spcPts val="400"/>
              </a:spcAft>
            </a:pPr>
            <a:r>
              <a:rPr sz="1600" b="1" i="0">
                <a:solidFill>
                  <a:srgbClr val="0E3F8C"/>
                </a:solidFill>
                <a:latin typeface="Calibri"/>
                <a:ea typeface="Calibri"/>
              </a:rPr>
              <a:t>Make it fast</a:t>
            </a:r>
          </a:p>
        </p:txBody>
      </p:sp>
      <p:sp>
        <p:nvSpPr>
          <p:cNvPr id="29" name="TextBox 28"/>
          <p:cNvSpPr txBox="1"/>
          <p:nvPr/>
        </p:nvSpPr>
        <p:spPr>
          <a:xfrm>
            <a:off x="6827367" y="4800600"/>
            <a:ext cx="4495647" cy="457200"/>
          </a:xfrm>
          <a:prstGeom prst="rect">
            <a:avLst/>
          </a:prstGeom>
          <a:noFill/>
        </p:spPr>
        <p:txBody>
          <a:bodyPr wrap="square" anchor="t" lIns="0" rIns="0" tIns="0" bIns="0">
            <a:spAutoFit/>
          </a:bodyPr>
          <a:lstStyle/>
          <a:p>
            <a:pPr algn="l">
              <a:lnSpc>
                <a:spcPct val="110000"/>
              </a:lnSpc>
              <a:spcAft>
                <a:spcPts val="400"/>
              </a:spcAft>
            </a:pPr>
            <a:r>
              <a:rPr sz="1250" b="0" i="0">
                <a:solidFill>
                  <a:srgbClr val="4A5568"/>
                </a:solidFill>
                <a:latin typeface="Calibri"/>
                <a:ea typeface="Calibri"/>
              </a:rPr>
              <a:t>Caching, CDN, and performance fundamentals.</a:t>
            </a:r>
          </a:p>
        </p:txBody>
      </p:sp>
      <p:sp>
        <p:nvSpPr>
          <p:cNvPr id="30" name="Rounded Rectangle 29"/>
          <p:cNvSpPr/>
          <p:nvPr/>
        </p:nvSpPr>
        <p:spPr>
          <a:xfrm>
            <a:off x="548640" y="5760720"/>
            <a:ext cx="11094415" cy="530352"/>
          </a:xfrm>
          <a:prstGeom prst="roundRect">
            <a:avLst>
              <a:gd name="adj" fmla="val 10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870448"/>
            <a:ext cx="10362895" cy="347472"/>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Your final project proves all of it — see the course overview for details.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6979615" cy="365760"/>
          </a:xfrm>
          <a:prstGeom prst="rect">
            <a:avLst/>
          </a:prstGeom>
          <a:noFill/>
        </p:spPr>
        <p:txBody>
          <a:bodyPr wrap="square" anchor="ctr" lIns="0" rIns="0" tIns="0" bIns="0">
            <a:spAutoFit/>
          </a:bodyPr>
          <a:lstStyle/>
          <a:p>
            <a:pPr algn="l">
              <a:lnSpc>
                <a:spcPct val="110000"/>
              </a:lnSpc>
              <a:spcAft>
                <a:spcPts val="400"/>
              </a:spcAft>
            </a:pPr>
            <a:r>
              <a:rPr sz="2100" b="1" i="0">
                <a:solidFill>
                  <a:srgbClr val="FFFFFF"/>
                </a:solidFill>
                <a:latin typeface="Calibri"/>
                <a:ea typeface="Calibri"/>
              </a:rPr>
              <a:t>Key Takeaways</a:t>
            </a:r>
          </a:p>
        </p:txBody>
      </p:sp>
      <p:sp>
        <p:nvSpPr>
          <p:cNvPr id="4" name="TextBox 3"/>
          <p:cNvSpPr txBox="1"/>
          <p:nvPr/>
        </p:nvSpPr>
        <p:spPr>
          <a:xfrm>
            <a:off x="7436815" y="109728"/>
            <a:ext cx="4206240" cy="365760"/>
          </a:xfrm>
          <a:prstGeom prst="rect">
            <a:avLst/>
          </a:prstGeom>
          <a:noFill/>
        </p:spPr>
        <p:txBody>
          <a:bodyPr wrap="square" anchor="ctr" lIns="0" rIns="0" tIns="0" bIns="0">
            <a:spAutoFit/>
          </a:bodyPr>
          <a:lstStyle/>
          <a:p>
            <a:pPr algn="r">
              <a:lnSpc>
                <a:spcPct val="110000"/>
              </a:lnSpc>
              <a:spcAft>
                <a:spcPts val="400"/>
              </a:spcAft>
            </a:pPr>
            <a:r>
              <a:rPr sz="1100" b="1" i="0">
                <a:solidFill>
                  <a:srgbClr val="B9CDEE"/>
                </a:solidFill>
                <a:latin typeface="Calibri"/>
                <a:ea typeface="Calibri"/>
              </a:rPr>
              <a:t>COMP3421 · Lecture 1</a:t>
            </a:r>
          </a:p>
        </p:txBody>
      </p:sp>
      <p:sp>
        <p:nvSpPr>
          <p:cNvPr id="5" name="TextBox 4"/>
          <p:cNvSpPr txBox="1"/>
          <p:nvPr/>
        </p:nvSpPr>
        <p:spPr>
          <a:xfrm>
            <a:off x="822959" y="1252728"/>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The web is </a:t>
            </a:r>
            <a:r>
              <a:rPr sz="1800" b="1" i="0">
                <a:solidFill>
                  <a:srgbClr val="1E4FA8"/>
                </a:solidFill>
                <a:latin typeface="Calibri"/>
                <a:ea typeface="Calibri"/>
              </a:rPr>
              <a:t>three layers</a:t>
            </a:r>
            <a:r>
              <a:rPr sz="1800" b="0" i="0">
                <a:solidFill>
                  <a:srgbClr val="1A2230"/>
                </a:solidFill>
                <a:latin typeface="Calibri"/>
                <a:ea typeface="Calibri"/>
              </a:rPr>
              <a:t> — browser, server, database — talking </a:t>
            </a:r>
            <a:r>
              <a:rPr sz="1800" b="1" i="0">
                <a:solidFill>
                  <a:srgbClr val="1E4FA8"/>
                </a:solidFill>
                <a:latin typeface="Calibri"/>
                <a:ea typeface="Calibri"/>
              </a:rPr>
              <a:t>HTTP</a:t>
            </a:r>
            <a:r>
              <a:rPr sz="1800" b="0" i="0">
                <a:solidFill>
                  <a:srgbClr val="1A2230"/>
                </a:solidFill>
                <a:latin typeface="Calibri"/>
                <a:ea typeface="Calibri"/>
              </a:rPr>
              <a:t>.</a:t>
            </a:r>
          </a:p>
        </p:txBody>
      </p:sp>
      <p:sp>
        <p:nvSpPr>
          <p:cNvPr id="6" name="TextBox 5"/>
          <p:cNvSpPr txBox="1"/>
          <p:nvPr/>
        </p:nvSpPr>
        <p:spPr>
          <a:xfrm>
            <a:off x="822959" y="2029968"/>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Front-end is </a:t>
            </a:r>
            <a:r>
              <a:rPr sz="1800" b="1" i="0">
                <a:solidFill>
                  <a:srgbClr val="1E4FA8"/>
                </a:solidFill>
                <a:latin typeface="Calibri"/>
                <a:ea typeface="Calibri"/>
              </a:rPr>
              <a:t>HTML (structure) + CSS (presentation) + JS (behaviour)</a:t>
            </a:r>
            <a:r>
              <a:rPr sz="1800" b="0" i="0">
                <a:solidFill>
                  <a:srgbClr val="1A2230"/>
                </a:solidFill>
                <a:latin typeface="Calibri"/>
                <a:ea typeface="Calibri"/>
              </a:rPr>
              <a:t>.</a:t>
            </a:r>
          </a:p>
        </p:txBody>
      </p:sp>
      <p:sp>
        <p:nvSpPr>
          <p:cNvPr id="7" name="TextBox 6"/>
          <p:cNvSpPr txBox="1"/>
          <p:nvPr/>
        </p:nvSpPr>
        <p:spPr>
          <a:xfrm>
            <a:off x="822959" y="2807208"/>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Back-end is </a:t>
            </a:r>
            <a:r>
              <a:rPr sz="1800" b="1" i="0">
                <a:solidFill>
                  <a:srgbClr val="1E4FA8"/>
                </a:solidFill>
                <a:latin typeface="Calibri"/>
                <a:ea typeface="Calibri"/>
              </a:rPr>
              <a:t>Node.js + Express + a database</a:t>
            </a:r>
            <a:r>
              <a:rPr sz="1800" b="0" i="0">
                <a:solidFill>
                  <a:srgbClr val="1A2230"/>
                </a:solidFill>
                <a:latin typeface="Calibri"/>
                <a:ea typeface="Calibri"/>
              </a:rPr>
              <a:t> — the same JavaScript.</a:t>
            </a:r>
          </a:p>
        </p:txBody>
      </p:sp>
      <p:sp>
        <p:nvSpPr>
          <p:cNvPr id="8" name="TextBox 7"/>
          <p:cNvSpPr txBox="1"/>
          <p:nvPr/>
        </p:nvSpPr>
        <p:spPr>
          <a:xfrm>
            <a:off x="822959" y="3584448"/>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A real website is </a:t>
            </a:r>
            <a:r>
              <a:rPr sz="1800" b="1" i="0">
                <a:solidFill>
                  <a:srgbClr val="1E4FA8"/>
                </a:solidFill>
                <a:latin typeface="Calibri"/>
                <a:ea typeface="Calibri"/>
              </a:rPr>
              <a:t>many distributed services</a:t>
            </a:r>
            <a:r>
              <a:rPr sz="1800" b="0" i="0">
                <a:solidFill>
                  <a:srgbClr val="1A2230"/>
                </a:solidFill>
                <a:latin typeface="Calibri"/>
                <a:ea typeface="Calibri"/>
              </a:rPr>
              <a:t>, each scaling on its own.</a:t>
            </a:r>
          </a:p>
        </p:txBody>
      </p:sp>
      <p:sp>
        <p:nvSpPr>
          <p:cNvPr id="9" name="TextBox 8"/>
          <p:cNvSpPr txBox="1"/>
          <p:nvPr/>
        </p:nvSpPr>
        <p:spPr>
          <a:xfrm>
            <a:off x="822959" y="4361688"/>
            <a:ext cx="10545775" cy="658368"/>
          </a:xfrm>
          <a:prstGeom prst="rect">
            <a:avLst/>
          </a:prstGeom>
          <a:noFill/>
        </p:spPr>
        <p:txBody>
          <a:bodyPr wrap="square" anchor="t" lIns="0" rIns="0" tIns="0" bIns="0">
            <a:spAutoFit/>
          </a:bodyPr>
          <a:lstStyle/>
          <a:p>
            <a:pPr algn="l">
              <a:lnSpc>
                <a:spcPct val="120000"/>
              </a:lnSpc>
              <a:spcAft>
                <a:spcPts val="400"/>
              </a:spcAft>
            </a:pPr>
            <a:r>
              <a:rPr sz="1800" b="0" i="0">
                <a:solidFill>
                  <a:srgbClr val="1A2230"/>
                </a:solidFill>
                <a:latin typeface="Calibri"/>
                <a:ea typeface="Calibri"/>
              </a:rPr>
              <a:t>This semester you </a:t>
            </a:r>
            <a:r>
              <a:rPr sz="1800" b="1" i="0">
                <a:solidFill>
                  <a:srgbClr val="1E4FA8"/>
                </a:solidFill>
                <a:latin typeface="Calibri"/>
                <a:ea typeface="Calibri"/>
              </a:rPr>
              <a:t>build every layer</a:t>
            </a:r>
            <a:r>
              <a:rPr sz="1800" b="0" i="0">
                <a:solidFill>
                  <a:srgbClr val="1A2230"/>
                </a:solidFill>
                <a:latin typeface="Calibri"/>
                <a:ea typeface="Calibri"/>
              </a:rPr>
              <a:t> and </a:t>
            </a:r>
            <a:r>
              <a:rPr sz="1800" b="1" i="0">
                <a:solidFill>
                  <a:srgbClr val="1E4FA8"/>
                </a:solidFill>
                <a:latin typeface="Calibri"/>
                <a:ea typeface="Calibri"/>
              </a:rPr>
              <a:t>ship a real app</a:t>
            </a:r>
            <a:r>
              <a:rPr sz="1800" b="0" i="0">
                <a:solidFill>
                  <a:srgbClr val="1A2230"/>
                </a:solidFill>
                <a:latin typeface="Calibri"/>
                <a:ea typeface="Calibri"/>
              </a:rPr>
              <a:t>.</a:t>
            </a:r>
          </a:p>
        </p:txBody>
      </p:sp>
      <p:sp>
        <p:nvSpPr>
          <p:cNvPr id="10" name="Rounded Rectangle 9"/>
          <p:cNvSpPr/>
          <p:nvPr/>
        </p:nvSpPr>
        <p:spPr>
          <a:xfrm>
            <a:off x="548640" y="5760720"/>
            <a:ext cx="11094415" cy="502920"/>
          </a:xfrm>
          <a:prstGeom prst="roundRect">
            <a:avLst>
              <a:gd name="adj" fmla="val 12000"/>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870448"/>
            <a:ext cx="10362895" cy="329184"/>
          </a:xfrm>
          <a:prstGeom prst="rect">
            <a:avLst/>
          </a:prstGeom>
          <a:noFill/>
        </p:spPr>
        <p:txBody>
          <a:bodyPr wrap="square" anchor="ctr" lIns="0" rIns="0" tIns="0" bIns="0">
            <a:spAutoFit/>
          </a:bodyPr>
          <a:lstStyle/>
          <a:p>
            <a:pPr algn="l">
              <a:lnSpc>
                <a:spcPct val="110000"/>
              </a:lnSpc>
              <a:spcAft>
                <a:spcPts val="400"/>
              </a:spcAft>
            </a:pPr>
            <a:r>
              <a:rPr sz="1400" b="1" i="0">
                <a:solidFill>
                  <a:srgbClr val="FFFFFF"/>
                </a:solidFill>
                <a:latin typeface="Calibri"/>
                <a:ea typeface="Calibri"/>
              </a:rPr>
              <a:t>Next week: HTML — structure, DevTools, and forms.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3F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554480"/>
            <a:ext cx="9966960" cy="365760"/>
          </a:xfrm>
          <a:prstGeom prst="rect">
            <a:avLst/>
          </a:prstGeom>
          <a:noFill/>
        </p:spPr>
        <p:txBody>
          <a:bodyPr wrap="square" anchor="t" lIns="0" rIns="0" tIns="0" bIns="0">
            <a:spAutoFit/>
          </a:bodyPr>
          <a:lstStyle/>
          <a:p>
            <a:pPr algn="ctr">
              <a:lnSpc>
                <a:spcPct val="110000"/>
              </a:lnSpc>
              <a:spcAft>
                <a:spcPts val="400"/>
              </a:spcAft>
            </a:pPr>
            <a:r>
              <a:rPr sz="1400" b="1" i="0">
                <a:solidFill>
                  <a:srgbClr val="B9CDEE"/>
                </a:solidFill>
                <a:latin typeface="Calibri"/>
                <a:ea typeface="Calibri"/>
              </a:rPr>
              <a:t>COMP3421 · LECTURE 01 · WEEK 1</a:t>
            </a:r>
          </a:p>
        </p:txBody>
      </p:sp>
      <p:sp>
        <p:nvSpPr>
          <p:cNvPr id="4" name="TextBox 3"/>
          <p:cNvSpPr txBox="1"/>
          <p:nvPr/>
        </p:nvSpPr>
        <p:spPr>
          <a:xfrm>
            <a:off x="1097280" y="2103120"/>
            <a:ext cx="9966960" cy="1005840"/>
          </a:xfrm>
          <a:prstGeom prst="rect">
            <a:avLst/>
          </a:prstGeom>
          <a:noFill/>
        </p:spPr>
        <p:txBody>
          <a:bodyPr wrap="square" anchor="t" lIns="0" rIns="0" tIns="0" bIns="0">
            <a:spAutoFit/>
          </a:bodyPr>
          <a:lstStyle/>
          <a:p>
            <a:pPr algn="ctr">
              <a:lnSpc>
                <a:spcPct val="110000"/>
              </a:lnSpc>
              <a:spcAft>
                <a:spcPts val="400"/>
              </a:spcAft>
            </a:pPr>
            <a:r>
              <a:rPr sz="5800" b="1" i="0">
                <a:solidFill>
                  <a:srgbClr val="FFFFFF"/>
                </a:solidFill>
                <a:latin typeface="Calibri"/>
                <a:ea typeface="Calibri"/>
              </a:rPr>
              <a:t>Thank You</a:t>
            </a:r>
          </a:p>
        </p:txBody>
      </p:sp>
      <p:sp>
        <p:nvSpPr>
          <p:cNvPr id="5" name="Rectangle 4"/>
          <p:cNvSpPr/>
          <p:nvPr/>
        </p:nvSpPr>
        <p:spPr>
          <a:xfrm>
            <a:off x="5410047" y="3383280"/>
            <a:ext cx="1371600" cy="64008"/>
          </a:xfrm>
          <a:prstGeom prst="rect">
            <a:avLst/>
          </a:prstGeom>
          <a:solidFill>
            <a:srgbClr val="FFC1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678527" y="3794760"/>
            <a:ext cx="2834640" cy="566928"/>
          </a:xfrm>
          <a:prstGeom prst="roundRect">
            <a:avLst>
              <a:gd name="adj" fmla="val 50000"/>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78527" y="3913632"/>
            <a:ext cx="2834640" cy="347472"/>
          </a:xfrm>
          <a:prstGeom prst="rect">
            <a:avLst/>
          </a:prstGeom>
          <a:noFill/>
        </p:spPr>
        <p:txBody>
          <a:bodyPr wrap="square" anchor="t" lIns="0" rIns="0" tIns="0" bIns="0">
            <a:spAutoFit/>
          </a:bodyPr>
          <a:lstStyle/>
          <a:p>
            <a:pPr algn="ctr">
              <a:lnSpc>
                <a:spcPct val="110000"/>
              </a:lnSpc>
              <a:spcAft>
                <a:spcPts val="400"/>
              </a:spcAft>
            </a:pPr>
            <a:r>
              <a:rPr sz="1600" b="1" i="0">
                <a:solidFill>
                  <a:srgbClr val="0E3F8C"/>
                </a:solidFill>
                <a:latin typeface="Calibri"/>
                <a:ea typeface="Calibri"/>
              </a:rPr>
              <a:t>Questions &amp; Discussion</a:t>
            </a:r>
          </a:p>
        </p:txBody>
      </p:sp>
      <p:sp>
        <p:nvSpPr>
          <p:cNvPr id="8" name="TextBox 7"/>
          <p:cNvSpPr txBox="1"/>
          <p:nvPr/>
        </p:nvSpPr>
        <p:spPr>
          <a:xfrm>
            <a:off x="1097280" y="489204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Prof. Lei Yang · ray.yang@polyu.edu.hk</a:t>
            </a:r>
          </a:p>
        </p:txBody>
      </p:sp>
      <p:sp>
        <p:nvSpPr>
          <p:cNvPr id="9" name="TextBox 8"/>
          <p:cNvSpPr txBox="1"/>
          <p:nvPr/>
        </p:nvSpPr>
        <p:spPr>
          <a:xfrm>
            <a:off x="1097280" y="5303520"/>
            <a:ext cx="9966960" cy="365760"/>
          </a:xfrm>
          <a:prstGeom prst="rect">
            <a:avLst/>
          </a:prstGeom>
          <a:noFill/>
        </p:spPr>
        <p:txBody>
          <a:bodyPr wrap="square" anchor="t" lIns="0" rIns="0" tIns="0" bIns="0">
            <a:spAutoFit/>
          </a:bodyPr>
          <a:lstStyle/>
          <a:p>
            <a:pPr algn="ctr">
              <a:lnSpc>
                <a:spcPct val="110000"/>
              </a:lnSpc>
              <a:spcAft>
                <a:spcPts val="400"/>
              </a:spcAft>
            </a:pPr>
            <a:r>
              <a:rPr sz="1450" b="0" i="0">
                <a:solidFill>
                  <a:srgbClr val="B9CDEE"/>
                </a:solidFill>
                <a:latin typeface="Calibri"/>
                <a:ea typeface="Calibri"/>
              </a:rPr>
              <a:t>Next: Week 2 — HTML: structure, DevTools &amp; forms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5B9BD5"/>
      </a:hlink>
      <a:folHlink>
        <a:srgbClr val="5B9BD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