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WebStorm is another popular choice — any editor that saves plain text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TAUGHT IN CLASS — SVG is the focus of this week's lecture. Live-demo the editor examples and resize the preview to show vectors never blur. The animation pages at the end of the section are the payoff.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SVG is — vector vs bitmap, crisp at any size, a readable text format, styleable with CSS. Live: resize the editor preview and watch the drawing stay sharp while a JPEG would pixelate.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rect / circle / line / ellipse, then edit the coordinates live until the drawing matches the class's mental model. Point out that (0,0) is the top-left.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polyline vs polygon on the same points — one stays open, one closes itself. Ask the class to turn the points into a star or an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stroke-dasharray takes lengths, not counts: "4 3" draws 4 units of ink then leaves a 3-unit gap, and the pair repeats along the path (one number alone, e.g. "4", means 4 4). The panel marks the difference: the pale line is the path itself, the blue bars are the ink actually painted on it, and the bare stretches between them are the gaps. Small even numbers read as a guide line; make both bigger and the dashes grow longer, not more numerous. pathLength is the escape hatch when those units get awkward: pathLength="100" declares the whole path to be 100 units long, so "4 3" becomes 4% ink and 3% gap and the same two numbers scale to a line of any length. It changes the arithmetic only — the shape, the size and the stroke width are untouched. stroke-dashoffset is the third dial and the only one that moves: it changes nothing about the pattern, it just declares where along the path that pattern begins. A negative value starts the ink further in, so the dashes step along the path — animate that single number and you get the draw-on illusion, and every loader on the web. In the two mini bars the pattern, the path and the tick are all identical; only the phase differs. Open the example and change any of the three numbers live — then watch the guide-line / arrow panel, which is where students actually meet dashes.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 attribute as a sentence: M16 29 puts the pen down, then each C draws one curve from where the pen is to a new point, pulled by two control points; Z closes the outline. Uppercase commands are absolute, lowercase are relative — switching the case of one command is the fastest way to show why that matters. The example builds the heart in stages, so you can watch the same attribute grow.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Live-demo: open the 'Animated SVG' example in the editor, then change stroke-width, a keyframe percentage or an animateMotion dur and let the class watch the same scene respond. Everything on this page is markup.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89705F14-AA41-4CD5-9988-F760E8416023}" type="slidenum">
              <a:rPr lang="en-US" sz="1050" b="1">
                <a:solidFill>
                  <a:srgbClr val="1E4FA8"/>
                </a:solidFill>
              </a:rPr>
              <a:t>1</a:t>
            </a:fld>
            <a:r>
              <a:rPr lang="en-US" sz="950">
                <a:solidFill>
                  <a:srgbClr val="8B97A8"/>
                </a:solidFill>
              </a:rPr>
              <a:t> / 58</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hello"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hell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hell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list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link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tex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tex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link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link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mage-ma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mage-ma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mage-ma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pictur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lis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tabl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for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for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nput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nput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nput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input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for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for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medi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medi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vg" TargetMode="External"/><Relationship Id="rId3" Type="http://schemas.openxmlformats.org/officeDocument/2006/relationships/notesSlide" Target="../notesSlides/notes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vg" TargetMode="External"/><Relationship Id="rId3" Type="http://schemas.openxmlformats.org/officeDocument/2006/relationships/notesSlide" Target="../notesSlides/notes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vg" TargetMode="External"/><Relationship Id="rId3" Type="http://schemas.openxmlformats.org/officeDocument/2006/relationships/notesSlide" Target="../notesSlides/notesSlid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vg-dasharray" TargetMode="External"/><Relationship Id="rId3" Type="http://schemas.openxmlformats.org/officeDocument/2006/relationships/notesSlide" Target="../notesSlides/notes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vg-path" TargetMode="External"/><Relationship Id="rId3"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agsysx.github.io/comp3421/editor.html?example=html/svg-animation" TargetMode="External"/><Relationship Id="rId4" Type="http://schemas.openxmlformats.org/officeDocument/2006/relationships/notesSlide" Target="../notesSlides/notesSlid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block-inlin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emantic"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emantic"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semantic"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77240"/>
            <a:ext cx="10972800" cy="731520"/>
          </a:xfrm>
          <a:prstGeom prst="rect">
            <a:avLst/>
          </a:prstGeom>
          <a:noFill/>
        </p:spPr>
        <p:txBody>
          <a:bodyPr wrap="square" anchor="t" lIns="0" rIns="0" tIns="0" bIns="0">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691640" cy="329184"/>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anchor="t" lIns="0" rIns="0" tIns="0" bIns="0">
            <a:spAutoFit/>
          </a:bodyPr>
          <a:lstStyle/>
          <a:p>
            <a:pPr algn="l">
              <a:lnSpc>
                <a:spcPct val="105000"/>
              </a:lnSpc>
              <a:spcAft>
                <a:spcPts val="400"/>
              </a:spcAft>
            </a:pPr>
            <a:r>
              <a:rPr sz="4400" b="1" i="0">
                <a:solidFill>
                  <a:srgbClr val="FFFFFF"/>
                </a:solidFill>
                <a:latin typeface="Calibri"/>
                <a:ea typeface="Calibri"/>
              </a:rPr>
              <a:t>HTML — The Structure of the Web</a:t>
            </a:r>
          </a:p>
        </p:txBody>
      </p:sp>
      <p:sp>
        <p:nvSpPr>
          <p:cNvPr id="8" name="TextBox 7"/>
          <p:cNvSpPr txBox="1"/>
          <p:nvPr/>
        </p:nvSpPr>
        <p:spPr>
          <a:xfrm>
            <a:off x="548640" y="3794760"/>
            <a:ext cx="11064240" cy="822960"/>
          </a:xfrm>
          <a:prstGeom prst="rect">
            <a:avLst/>
          </a:prstGeom>
          <a:noFill/>
        </p:spPr>
        <p:txBody>
          <a:bodyPr wrap="square" anchor="t" lIns="0" rIns="0" tIns="0" bIns="0">
            <a:spAutoFit/>
          </a:bodyPr>
          <a:lstStyle/>
          <a:p>
            <a:pPr algn="l">
              <a:lnSpc>
                <a:spcPct val="125000"/>
              </a:lnSpc>
              <a:spcAft>
                <a:spcPts val="400"/>
              </a:spcAft>
            </a:pPr>
            <a:r>
              <a:rPr sz="1900" b="0" i="0">
                <a:solidFill>
                  <a:srgbClr val="B9CDEE"/>
                </a:solidFill>
                <a:latin typeface="Calibri"/>
                <a:ea typeface="Calibri"/>
              </a:rPr>
              <a:t>Elements, forms and markup — plus SVG vector graphics — and how the browser turns it into a DOM.</a:t>
            </a:r>
          </a:p>
        </p:txBody>
      </p:sp>
      <p:sp>
        <p:nvSpPr>
          <p:cNvPr id="9" name="TextBox 8"/>
          <p:cNvSpPr txBox="1"/>
          <p:nvPr/>
        </p:nvSpPr>
        <p:spPr>
          <a:xfrm>
            <a:off x="548640" y="4846320"/>
            <a:ext cx="11064240"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COMP3421 · LECTURE 02 · WEEK 2</a:t>
            </a:r>
          </a:p>
        </p:txBody>
      </p:sp>
      <p:sp>
        <p:nvSpPr>
          <p:cNvPr id="10" name="TextBox 9"/>
          <p:cNvSpPr txBox="1"/>
          <p:nvPr/>
        </p:nvSpPr>
        <p:spPr>
          <a:xfrm>
            <a:off x="548640" y="5257800"/>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Lecture 2 · Week 2 · Wed 12:30–14:20 · HHBUG06</a:t>
            </a:r>
          </a:p>
        </p:txBody>
      </p:sp>
      <p:sp>
        <p:nvSpPr>
          <p:cNvPr id="11" name="TextBox 10"/>
          <p:cNvSpPr txBox="1"/>
          <p:nvPr/>
        </p:nvSpPr>
        <p:spPr>
          <a:xfrm>
            <a:off x="548640" y="5605272"/>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anchor="t" lIns="0" rIns="0" tIns="0" bIns="0">
            <a:spAutoFit/>
          </a:bodyPr>
          <a:lstStyle/>
          <a:p>
            <a:pPr algn="l">
              <a:lnSpc>
                <a:spcPct val="110000"/>
              </a:lnSpc>
              <a:spcAft>
                <a:spcPts val="400"/>
              </a:spcAft>
            </a:pPr>
            <a:r>
              <a:rPr sz="1300" b="1" i="0">
                <a:solidFill>
                  <a:srgbClr val="FFFFFF"/>
                </a:solidFill>
                <a:latin typeface="Calibri"/>
                <a:ea typeface="Calibri"/>
              </a:rPr>
              <a:t>Prof. Lei Yang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anchor="t" lIns="0" rIns="0" tIns="0" bIns="0">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880360"/>
            <a:ext cx="9448495" cy="1463040"/>
          </a:xfrm>
          <a:prstGeom prst="rect">
            <a:avLst/>
          </a:prstGeom>
          <a:noFill/>
        </p:spPr>
        <p:txBody>
          <a:bodyPr wrap="square" anchor="t" lIns="0" rIns="0" tIns="0" bIns="0">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92040"/>
            <a:ext cx="10362895" cy="777240"/>
          </a:xfrm>
          <a:prstGeom prst="rect">
            <a:avLst/>
          </a:prstGeom>
          <a:noFill/>
        </p:spPr>
        <p:txBody>
          <a:bodyPr wrap="square" anchor="ctr" lIns="0" rIns="0" tIns="0" bIns="0">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 · LECTURE 02</a:t>
            </a:r>
          </a:p>
        </p:txBody>
      </p:sp>
      <p:sp>
        <p:nvSpPr>
          <p:cNvPr id="3" name="TextBox 2"/>
          <p:cNvSpPr txBox="1"/>
          <p:nvPr/>
        </p:nvSpPr>
        <p:spPr>
          <a:xfrm>
            <a:off x="548640" y="1024128"/>
            <a:ext cx="10972800" cy="731520"/>
          </a:xfrm>
          <a:prstGeom prst="rect">
            <a:avLst/>
          </a:prstGeom>
          <a:noFill/>
        </p:spPr>
        <p:txBody>
          <a:bodyPr wrap="square" anchor="t" lIns="0" rIns="0" tIns="0" bIns="0">
            <a:spAutoFit/>
          </a:bodyPr>
          <a:lstStyle/>
          <a:p>
            <a:pPr algn="l">
              <a:lnSpc>
                <a:spcPct val="110000"/>
              </a:lnSpc>
              <a:spcAft>
                <a:spcPts val="400"/>
              </a:spcAft>
            </a:pPr>
            <a:r>
              <a:rPr sz="4000" b="1" i="0">
                <a:solidFill>
                  <a:srgbClr val="1A2230"/>
                </a:solidFill>
                <a:latin typeface="Calibri"/>
                <a:ea typeface="Calibri"/>
              </a:rPr>
              <a:t>Agenda</a:t>
            </a:r>
          </a:p>
        </p:txBody>
      </p:sp>
      <p:sp>
        <p:nvSpPr>
          <p:cNvPr id="4" name="TextBox 3"/>
          <p:cNvSpPr txBox="1"/>
          <p:nvPr/>
        </p:nvSpPr>
        <p:spPr>
          <a:xfrm>
            <a:off x="594360" y="1874519"/>
            <a:ext cx="10820095" cy="4343400"/>
          </a:xfrm>
          <a:prstGeom prst="rect">
            <a:avLst/>
          </a:prstGeom>
          <a:noFill/>
        </p:spPr>
        <p:txBody>
          <a:bodyPr wrap="square" lIns="0" rIns="0" tIns="0" bIns="0">
            <a:normAutofit/>
          </a:bodyPr>
          <a:lstStyle/>
          <a:p>
            <a:pPr>
              <a:lnSpc>
                <a:spcPct val="110000"/>
              </a:lnSpc>
              <a:spcAft>
                <a:spcPts val="800"/>
              </a:spcAft>
            </a:pPr>
            <a:r>
              <a:rPr sz="2000" b="1" i="0">
                <a:solidFill>
                  <a:srgbClr val="1A2230"/>
                </a:solidFill>
                <a:latin typeface="Calibri"/>
                <a:ea typeface="Calibri"/>
              </a:rPr>
              <a:t>01. HTML Foundations</a:t>
            </a:r>
            <a:br/>
            <a:r>
              <a:rPr sz="1350" b="0" i="0">
                <a:solidFill>
                  <a:srgbClr val="4A5568"/>
                </a:solidFill>
                <a:latin typeface="Calibri"/>
                <a:ea typeface="Calibri"/>
              </a:rPr>
              <a:t>What HTML is, elements, tags, attributes, and a first document.</a:t>
            </a:r>
          </a:p>
          <a:p>
            <a:pPr>
              <a:lnSpc>
                <a:spcPct val="110000"/>
              </a:lnSpc>
              <a:spcAft>
                <a:spcPts val="800"/>
              </a:spcAft>
            </a:pPr>
            <a:r>
              <a:rPr sz="2000" b="1" i="0">
                <a:solidFill>
                  <a:srgbClr val="1A2230"/>
                </a:solidFill>
                <a:latin typeface="Calibri"/>
                <a:ea typeface="Calibri"/>
              </a:rPr>
              <a:t>02. Text, Links &amp; Media</a:t>
            </a:r>
            <a:br/>
            <a:r>
              <a:rPr sz="1350" b="0" i="0">
                <a:solidFill>
                  <a:srgbClr val="4A5568"/>
                </a:solidFill>
                <a:latin typeface="Calibri"/>
                <a:ea typeface="Calibri"/>
              </a:rPr>
              <a:t>Headings, paragraphs, links, images, maps, lists, and tables.</a:t>
            </a:r>
          </a:p>
          <a:p>
            <a:pPr>
              <a:lnSpc>
                <a:spcPct val="110000"/>
              </a:lnSpc>
              <a:spcAft>
                <a:spcPts val="800"/>
              </a:spcAft>
            </a:pPr>
            <a:r>
              <a:rPr sz="2000" b="1" i="0">
                <a:solidFill>
                  <a:srgbClr val="1A2230"/>
                </a:solidFill>
                <a:latin typeface="Calibri"/>
                <a:ea typeface="Calibri"/>
              </a:rPr>
              <a:t>03. Forms</a:t>
            </a:r>
            <a:br/>
            <a:r>
              <a:rPr sz="1350" b="0" i="0">
                <a:solidFill>
                  <a:srgbClr val="4A5568"/>
                </a:solidFill>
                <a:latin typeface="Calibri"/>
                <a:ea typeface="Calibri"/>
              </a:rPr>
              <a:t>Collect user input: inputs, labels, validation.</a:t>
            </a:r>
          </a:p>
          <a:p>
            <a:pPr>
              <a:lnSpc>
                <a:spcPct val="110000"/>
              </a:lnSpc>
              <a:spcAft>
                <a:spcPts val="800"/>
              </a:spcAft>
            </a:pPr>
            <a:r>
              <a:rPr sz="2000" b="1" i="0">
                <a:solidFill>
                  <a:srgbClr val="1A2230"/>
                </a:solidFill>
                <a:latin typeface="Calibri"/>
                <a:ea typeface="Calibri"/>
              </a:rPr>
              <a:t>04. Media</a:t>
            </a:r>
            <a:br/>
            <a:r>
              <a:rPr sz="1350" b="0" i="0">
                <a:solidFill>
                  <a:srgbClr val="4A5568"/>
                </a:solidFill>
                <a:latin typeface="Calibri"/>
                <a:ea typeface="Calibri"/>
              </a:rPr>
              <a:t>Audio and video — one attribute brings the players.</a:t>
            </a:r>
          </a:p>
          <a:p>
            <a:pPr>
              <a:lnSpc>
                <a:spcPct val="110000"/>
              </a:lnSpc>
              <a:spcAft>
                <a:spcPts val="800"/>
              </a:spcAft>
            </a:pPr>
            <a:r>
              <a:rPr sz="2000" b="1" i="0">
                <a:solidFill>
                  <a:srgbClr val="1A2230"/>
                </a:solidFill>
                <a:latin typeface="Calibri"/>
                <a:ea typeface="Calibri"/>
              </a:rPr>
              <a:t>05. SVG</a:t>
            </a:r>
            <a:br/>
            <a:r>
              <a:rPr sz="1350" b="0" i="0">
                <a:solidFill>
                  <a:srgbClr val="4A5568"/>
                </a:solidFill>
                <a:latin typeface="Calibri"/>
                <a:ea typeface="Calibri"/>
              </a:rPr>
              <a:t>Vector graphics in markup — shapes, paths, and animation.</a:t>
            </a:r>
          </a:p>
          <a:p>
            <a:pPr>
              <a:lnSpc>
                <a:spcPct val="110000"/>
              </a:lnSpc>
              <a:spcAft>
                <a:spcPts val="800"/>
              </a:spcAft>
            </a:pPr>
            <a:r>
              <a:rPr sz="2000" b="1" i="0">
                <a:solidFill>
                  <a:srgbClr val="1A2230"/>
                </a:solidFill>
                <a:latin typeface="Calibri"/>
                <a:ea typeface="Calibri"/>
              </a:rPr>
              <a:t>06. Containers</a:t>
            </a:r>
            <a:br/>
            <a:r>
              <a:rPr sz="1350" b="0" i="0">
                <a:solidFill>
                  <a:srgbClr val="4A5568"/>
                </a:solidFill>
                <a:latin typeface="Calibri"/>
                <a:ea typeface="Calibri"/>
              </a:rPr>
              <a:t>Grouping content — div, span, and semantic containers.</a:t>
            </a:r>
          </a:p>
          <a:p>
            <a:pPr>
              <a:lnSpc>
                <a:spcPct val="110000"/>
              </a:lnSpc>
              <a:spcAft>
                <a:spcPts val="800"/>
              </a:spcAft>
            </a:pPr>
            <a:r>
              <a:rPr sz="2000" b="1" i="0">
                <a:solidFill>
                  <a:srgbClr val="1A2230"/>
                </a:solidFill>
                <a:latin typeface="Calibri"/>
                <a:ea typeface="Calibri"/>
              </a:rPr>
              <a:t>07. The DOM &amp; DevTools</a:t>
            </a:r>
            <a:br/>
            <a:r>
              <a:rPr sz="1350" b="0" i="0">
                <a:solidFill>
                  <a:srgbClr val="4A5568"/>
                </a:solidFill>
                <a:latin typeface="Calibri"/>
                <a:ea typeface="Calibri"/>
              </a:rPr>
              <a:t>The browser's live tree, and inspecting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HTML Foundations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What HTML is, and what it is not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Elements, tags, and attributes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Your first complete document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Is HTML?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HyperText Markup Language</a:t>
            </a:r>
            <a:br/>
            <a:r>
              <a:rPr sz="2000" b="0" i="0">
                <a:solidFill>
                  <a:srgbClr val="4A5568"/>
                </a:solidFill>
                <a:latin typeface="Calibri"/>
                <a:ea typeface="Calibri"/>
              </a:rPr>
              <a:t>The language every web page is written in — it gives a page its structure and meaning.</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Structure, not looks</a:t>
            </a:r>
            <a:br/>
            <a:r>
              <a:rPr sz="2000" b="0" i="0">
                <a:solidFill>
                  <a:srgbClr val="4A5568"/>
                </a:solidFill>
                <a:latin typeface="Calibri"/>
                <a:ea typeface="Calibri"/>
              </a:rPr>
              <a:t>HTML says what is on the page — CSS says how it looks.</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Rendered by the browser</a:t>
            </a:r>
            <a:br/>
            <a:r>
              <a:rPr sz="2000" b="0" i="0">
                <a:solidFill>
                  <a:srgbClr val="4A5568"/>
                </a:solidFill>
                <a:latin typeface="Calibri"/>
                <a:ea typeface="Calibri"/>
              </a:rPr>
              <a:t>The browser reads HTML and draws it on screen.</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The skeleton</a:t>
            </a:r>
            <a:br/>
            <a:r>
              <a:rPr sz="2000" b="0" i="0">
                <a:solidFill>
                  <a:srgbClr val="4A5568"/>
                </a:solidFill>
                <a:latin typeface="Calibri"/>
                <a:ea typeface="Calibri"/>
              </a:rPr>
              <a:t>Every page you have ever used is HTML underneath.</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HTML describes content, not appearance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tagsysx.github.io/comp3421/editor.html?example=html/hello</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&lt;p&gt;This is a paragraph of text.&lt;/p&gt;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Brief History of HTML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Rounded Rectangle 4"/>
          <p:cNvSpPr/>
          <p:nvPr/>
        </p:nvSpPr>
        <p:spPr>
          <a:xfrm>
            <a:off x="569945" y="1389888"/>
            <a:ext cx="2011680" cy="512064"/>
          </a:xfrm>
          <a:prstGeom prst="roundRect">
            <a:avLst>
              <a:gd name="adj" fmla="val 5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9945" y="1472184"/>
            <a:ext cx="2011680" cy="365760"/>
          </a:xfrm>
          <a:prstGeom prst="rect">
            <a:avLst/>
          </a:prstGeom>
          <a:noFill/>
        </p:spPr>
        <p:txBody>
          <a:bodyPr wrap="square" anchor="t" lIns="0" rIns="0" tIns="0" bIns="0">
            <a:spAutoFit/>
          </a:bodyPr>
          <a:lstStyle/>
          <a:p>
            <a:pPr algn="ctr">
              <a:lnSpc>
                <a:spcPct val="110000"/>
              </a:lnSpc>
              <a:spcAft>
                <a:spcPts val="400"/>
              </a:spcAft>
            </a:pPr>
            <a:r>
              <a:rPr sz="1700" b="1" i="0">
                <a:solidFill>
                  <a:srgbClr val="FFFFFF"/>
                </a:solidFill>
                <a:latin typeface="Calibri"/>
                <a:ea typeface="Calibri"/>
              </a:rPr>
              <a:t>1989</a:t>
            </a:r>
          </a:p>
        </p:txBody>
      </p:sp>
      <p:sp>
        <p:nvSpPr>
          <p:cNvPr id="7" name="Rectangle 6"/>
          <p:cNvSpPr/>
          <p:nvPr/>
        </p:nvSpPr>
        <p:spPr>
          <a:xfrm>
            <a:off x="1557497" y="1993392"/>
            <a:ext cx="41148" cy="658368"/>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52928"/>
            <a:ext cx="2054291" cy="457200"/>
          </a:xfrm>
          <a:prstGeom prst="rect">
            <a:avLst/>
          </a:prstGeom>
          <a:noFill/>
        </p:spPr>
        <p:txBody>
          <a:bodyPr wrap="square" anchor="t" lIns="0" rIns="0" tIns="0" bIns="0">
            <a:spAutoFit/>
          </a:bodyPr>
          <a:lstStyle/>
          <a:p>
            <a:pPr algn="ctr">
              <a:lnSpc>
                <a:spcPct val="110000"/>
              </a:lnSpc>
              <a:spcAft>
                <a:spcPts val="400"/>
              </a:spcAft>
            </a:pPr>
            <a:r>
              <a:rPr sz="2000" b="1" i="0">
                <a:solidFill>
                  <a:srgbClr val="1A2230"/>
                </a:solidFill>
                <a:latin typeface="Calibri"/>
                <a:ea typeface="Calibri"/>
              </a:rPr>
              <a:t>Invented</a:t>
            </a:r>
          </a:p>
        </p:txBody>
      </p:sp>
      <p:sp>
        <p:nvSpPr>
          <p:cNvPr id="9" name="TextBox 8"/>
          <p:cNvSpPr txBox="1"/>
          <p:nvPr/>
        </p:nvSpPr>
        <p:spPr>
          <a:xfrm>
            <a:off x="640080" y="3401568"/>
            <a:ext cx="1871411" cy="1051560"/>
          </a:xfrm>
          <a:prstGeom prst="rect">
            <a:avLst/>
          </a:prstGeom>
          <a:noFill/>
        </p:spPr>
        <p:txBody>
          <a:bodyPr wrap="square" anchor="t" lIns="0" rIns="0" tIns="0" bIns="0">
            <a:spAutoFit/>
          </a:bodyPr>
          <a:lstStyle/>
          <a:p>
            <a:pPr algn="ctr">
              <a:lnSpc>
                <a:spcPct val="125000"/>
              </a:lnSpc>
              <a:spcAft>
                <a:spcPts val="400"/>
              </a:spcAft>
            </a:pPr>
            <a:r>
              <a:rPr sz="1450" b="0" i="0">
                <a:solidFill>
                  <a:srgbClr val="4A5568"/>
                </a:solidFill>
                <a:latin typeface="Calibri"/>
                <a:ea typeface="Calibri"/>
              </a:rPr>
              <a:t>Tim Berners-Lee
creates the web.</a:t>
            </a:r>
          </a:p>
        </p:txBody>
      </p:sp>
      <p:sp>
        <p:nvSpPr>
          <p:cNvPr id="10" name="Rounded Rectangle 9"/>
          <p:cNvSpPr/>
          <p:nvPr/>
        </p:nvSpPr>
        <p:spPr>
          <a:xfrm>
            <a:off x="2898556" y="1389888"/>
            <a:ext cx="2011680" cy="512064"/>
          </a:xfrm>
          <a:prstGeom prst="roundRect">
            <a:avLst>
              <a:gd name="adj" fmla="val 5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556" y="1472184"/>
            <a:ext cx="2011680" cy="365760"/>
          </a:xfrm>
          <a:prstGeom prst="rect">
            <a:avLst/>
          </a:prstGeom>
          <a:noFill/>
        </p:spPr>
        <p:txBody>
          <a:bodyPr wrap="square" anchor="t" lIns="0" rIns="0" tIns="0" bIns="0">
            <a:spAutoFit/>
          </a:bodyPr>
          <a:lstStyle/>
          <a:p>
            <a:pPr algn="ctr">
              <a:lnSpc>
                <a:spcPct val="110000"/>
              </a:lnSpc>
              <a:spcAft>
                <a:spcPts val="400"/>
              </a:spcAft>
            </a:pPr>
            <a:r>
              <a:rPr sz="1700" b="1" i="0">
                <a:solidFill>
                  <a:srgbClr val="FFFFFF"/>
                </a:solidFill>
                <a:latin typeface="Calibri"/>
                <a:ea typeface="Calibri"/>
              </a:rPr>
              <a:t>1997</a:t>
            </a:r>
          </a:p>
        </p:txBody>
      </p:sp>
      <p:sp>
        <p:nvSpPr>
          <p:cNvPr id="12" name="Rectangle 11"/>
          <p:cNvSpPr/>
          <p:nvPr/>
        </p:nvSpPr>
        <p:spPr>
          <a:xfrm>
            <a:off x="3886108" y="1993392"/>
            <a:ext cx="41148" cy="658368"/>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7251" y="2852928"/>
            <a:ext cx="2054291" cy="457200"/>
          </a:xfrm>
          <a:prstGeom prst="rect">
            <a:avLst/>
          </a:prstGeom>
          <a:noFill/>
        </p:spPr>
        <p:txBody>
          <a:bodyPr wrap="square" anchor="t" lIns="0" rIns="0" tIns="0" bIns="0">
            <a:spAutoFit/>
          </a:bodyPr>
          <a:lstStyle/>
          <a:p>
            <a:pPr algn="ctr">
              <a:lnSpc>
                <a:spcPct val="110000"/>
              </a:lnSpc>
              <a:spcAft>
                <a:spcPts val="400"/>
              </a:spcAft>
            </a:pPr>
            <a:r>
              <a:rPr sz="2000" b="1" i="0">
                <a:solidFill>
                  <a:srgbClr val="1A2230"/>
                </a:solidFill>
                <a:latin typeface="Calibri"/>
                <a:ea typeface="Calibri"/>
              </a:rPr>
              <a:t>HTML 4.01</a:t>
            </a:r>
          </a:p>
        </p:txBody>
      </p:sp>
      <p:sp>
        <p:nvSpPr>
          <p:cNvPr id="14" name="TextBox 13"/>
          <p:cNvSpPr txBox="1"/>
          <p:nvPr/>
        </p:nvSpPr>
        <p:spPr>
          <a:xfrm>
            <a:off x="2968691" y="3401568"/>
            <a:ext cx="1871411" cy="1051560"/>
          </a:xfrm>
          <a:prstGeom prst="rect">
            <a:avLst/>
          </a:prstGeom>
          <a:noFill/>
        </p:spPr>
        <p:txBody>
          <a:bodyPr wrap="square" anchor="t" lIns="0" rIns="0" tIns="0" bIns="0">
            <a:spAutoFit/>
          </a:bodyPr>
          <a:lstStyle/>
          <a:p>
            <a:pPr algn="ctr">
              <a:lnSpc>
                <a:spcPct val="125000"/>
              </a:lnSpc>
              <a:spcAft>
                <a:spcPts val="400"/>
              </a:spcAft>
            </a:pPr>
            <a:r>
              <a:rPr sz="1450" b="0" i="0">
                <a:solidFill>
                  <a:srgbClr val="4A5568"/>
                </a:solidFill>
                <a:latin typeface="Calibri"/>
                <a:ea typeface="Calibri"/>
              </a:rPr>
              <a:t>Standardised
for the early web.</a:t>
            </a:r>
          </a:p>
        </p:txBody>
      </p:sp>
      <p:sp>
        <p:nvSpPr>
          <p:cNvPr id="15" name="Rounded Rectangle 14"/>
          <p:cNvSpPr/>
          <p:nvPr/>
        </p:nvSpPr>
        <p:spPr>
          <a:xfrm>
            <a:off x="5227167" y="1389888"/>
            <a:ext cx="2011680" cy="512064"/>
          </a:xfrm>
          <a:prstGeom prst="roundRect">
            <a:avLst>
              <a:gd name="adj" fmla="val 5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27167" y="1472184"/>
            <a:ext cx="2011680" cy="365760"/>
          </a:xfrm>
          <a:prstGeom prst="rect">
            <a:avLst/>
          </a:prstGeom>
          <a:noFill/>
        </p:spPr>
        <p:txBody>
          <a:bodyPr wrap="square" anchor="t" lIns="0" rIns="0" tIns="0" bIns="0">
            <a:spAutoFit/>
          </a:bodyPr>
          <a:lstStyle/>
          <a:p>
            <a:pPr algn="ctr">
              <a:lnSpc>
                <a:spcPct val="110000"/>
              </a:lnSpc>
              <a:spcAft>
                <a:spcPts val="400"/>
              </a:spcAft>
            </a:pPr>
            <a:r>
              <a:rPr sz="1700" b="1" i="0">
                <a:solidFill>
                  <a:srgbClr val="FFFFFF"/>
                </a:solidFill>
                <a:latin typeface="Calibri"/>
                <a:ea typeface="Calibri"/>
              </a:rPr>
              <a:t>2008</a:t>
            </a:r>
          </a:p>
        </p:txBody>
      </p:sp>
      <p:sp>
        <p:nvSpPr>
          <p:cNvPr id="17" name="Rectangle 16"/>
          <p:cNvSpPr/>
          <p:nvPr/>
        </p:nvSpPr>
        <p:spPr>
          <a:xfrm>
            <a:off x="6214719" y="1993392"/>
            <a:ext cx="41148" cy="658368"/>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5862" y="2852928"/>
            <a:ext cx="2054291" cy="457200"/>
          </a:xfrm>
          <a:prstGeom prst="rect">
            <a:avLst/>
          </a:prstGeom>
          <a:noFill/>
        </p:spPr>
        <p:txBody>
          <a:bodyPr wrap="square" anchor="t" lIns="0" rIns="0" tIns="0" bIns="0">
            <a:spAutoFit/>
          </a:bodyPr>
          <a:lstStyle/>
          <a:p>
            <a:pPr algn="ctr">
              <a:lnSpc>
                <a:spcPct val="110000"/>
              </a:lnSpc>
              <a:spcAft>
                <a:spcPts val="400"/>
              </a:spcAft>
            </a:pPr>
            <a:r>
              <a:rPr sz="2000" b="1" i="0">
                <a:solidFill>
                  <a:srgbClr val="1A2230"/>
                </a:solidFill>
                <a:latin typeface="Calibri"/>
                <a:ea typeface="Calibri"/>
              </a:rPr>
              <a:t>HTML5 draft</a:t>
            </a:r>
          </a:p>
        </p:txBody>
      </p:sp>
      <p:sp>
        <p:nvSpPr>
          <p:cNvPr id="19" name="TextBox 18"/>
          <p:cNvSpPr txBox="1"/>
          <p:nvPr/>
        </p:nvSpPr>
        <p:spPr>
          <a:xfrm>
            <a:off x="5297302" y="3401568"/>
            <a:ext cx="1871411" cy="1051560"/>
          </a:xfrm>
          <a:prstGeom prst="rect">
            <a:avLst/>
          </a:prstGeom>
          <a:noFill/>
        </p:spPr>
        <p:txBody>
          <a:bodyPr wrap="square" anchor="t" lIns="0" rIns="0" tIns="0" bIns="0">
            <a:spAutoFit/>
          </a:bodyPr>
          <a:lstStyle/>
          <a:p>
            <a:pPr algn="ctr">
              <a:lnSpc>
                <a:spcPct val="125000"/>
              </a:lnSpc>
              <a:spcAft>
                <a:spcPts val="400"/>
              </a:spcAft>
            </a:pPr>
            <a:r>
              <a:rPr sz="1450" b="0" i="0">
                <a:solidFill>
                  <a:srgbClr val="4A5568"/>
                </a:solidFill>
                <a:latin typeface="Calibri"/>
                <a:ea typeface="Calibri"/>
              </a:rPr>
              <a:t>First public
draft appears.</a:t>
            </a:r>
          </a:p>
        </p:txBody>
      </p:sp>
      <p:sp>
        <p:nvSpPr>
          <p:cNvPr id="20" name="Rounded Rectangle 19"/>
          <p:cNvSpPr/>
          <p:nvPr/>
        </p:nvSpPr>
        <p:spPr>
          <a:xfrm>
            <a:off x="7555778" y="1389888"/>
            <a:ext cx="2011680" cy="512064"/>
          </a:xfrm>
          <a:prstGeom prst="roundRect">
            <a:avLst>
              <a:gd name="adj" fmla="val 5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55778" y="1472184"/>
            <a:ext cx="2011680" cy="365760"/>
          </a:xfrm>
          <a:prstGeom prst="rect">
            <a:avLst/>
          </a:prstGeom>
          <a:noFill/>
        </p:spPr>
        <p:txBody>
          <a:bodyPr wrap="square" anchor="t" lIns="0" rIns="0" tIns="0" bIns="0">
            <a:spAutoFit/>
          </a:bodyPr>
          <a:lstStyle/>
          <a:p>
            <a:pPr algn="ctr">
              <a:lnSpc>
                <a:spcPct val="110000"/>
              </a:lnSpc>
              <a:spcAft>
                <a:spcPts val="400"/>
              </a:spcAft>
            </a:pPr>
            <a:r>
              <a:rPr sz="1700" b="1" i="0">
                <a:solidFill>
                  <a:srgbClr val="FFFFFF"/>
                </a:solidFill>
                <a:latin typeface="Calibri"/>
                <a:ea typeface="Calibri"/>
              </a:rPr>
              <a:t>2014</a:t>
            </a:r>
          </a:p>
        </p:txBody>
      </p:sp>
      <p:sp>
        <p:nvSpPr>
          <p:cNvPr id="22" name="Rectangle 21"/>
          <p:cNvSpPr/>
          <p:nvPr/>
        </p:nvSpPr>
        <p:spPr>
          <a:xfrm>
            <a:off x="8543330" y="1993392"/>
            <a:ext cx="41148" cy="658368"/>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473" y="2852928"/>
            <a:ext cx="2054291" cy="457200"/>
          </a:xfrm>
          <a:prstGeom prst="rect">
            <a:avLst/>
          </a:prstGeom>
          <a:noFill/>
        </p:spPr>
        <p:txBody>
          <a:bodyPr wrap="square" anchor="t" lIns="0" rIns="0" tIns="0" bIns="0">
            <a:spAutoFit/>
          </a:bodyPr>
          <a:lstStyle/>
          <a:p>
            <a:pPr algn="ctr">
              <a:lnSpc>
                <a:spcPct val="110000"/>
              </a:lnSpc>
              <a:spcAft>
                <a:spcPts val="400"/>
              </a:spcAft>
            </a:pPr>
            <a:r>
              <a:rPr sz="2000" b="1" i="0">
                <a:solidFill>
                  <a:srgbClr val="1A2230"/>
                </a:solidFill>
                <a:latin typeface="Calibri"/>
                <a:ea typeface="Calibri"/>
              </a:rPr>
              <a:t>W3C Recommendation</a:t>
            </a:r>
          </a:p>
        </p:txBody>
      </p:sp>
      <p:sp>
        <p:nvSpPr>
          <p:cNvPr id="24" name="TextBox 23"/>
          <p:cNvSpPr txBox="1"/>
          <p:nvPr/>
        </p:nvSpPr>
        <p:spPr>
          <a:xfrm>
            <a:off x="7625913" y="3401568"/>
            <a:ext cx="1871411" cy="1051560"/>
          </a:xfrm>
          <a:prstGeom prst="rect">
            <a:avLst/>
          </a:prstGeom>
          <a:noFill/>
        </p:spPr>
        <p:txBody>
          <a:bodyPr wrap="square" anchor="t" lIns="0" rIns="0" tIns="0" bIns="0">
            <a:spAutoFit/>
          </a:bodyPr>
          <a:lstStyle/>
          <a:p>
            <a:pPr algn="ctr">
              <a:lnSpc>
                <a:spcPct val="125000"/>
              </a:lnSpc>
              <a:spcAft>
                <a:spcPts val="400"/>
              </a:spcAft>
            </a:pPr>
            <a:r>
              <a:rPr sz="1450" b="0" i="0">
                <a:solidFill>
                  <a:srgbClr val="4A5568"/>
                </a:solidFill>
                <a:latin typeface="Calibri"/>
                <a:ea typeface="Calibri"/>
              </a:rPr>
              <a:t>HTML5
finalised.</a:t>
            </a:r>
          </a:p>
        </p:txBody>
      </p:sp>
      <p:sp>
        <p:nvSpPr>
          <p:cNvPr id="25" name="Rounded Rectangle 24"/>
          <p:cNvSpPr/>
          <p:nvPr/>
        </p:nvSpPr>
        <p:spPr>
          <a:xfrm>
            <a:off x="9884389" y="1389888"/>
            <a:ext cx="2011680" cy="512064"/>
          </a:xfrm>
          <a:prstGeom prst="roundRect">
            <a:avLst>
              <a:gd name="adj" fmla="val 5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4389" y="1472184"/>
            <a:ext cx="2011680" cy="365760"/>
          </a:xfrm>
          <a:prstGeom prst="rect">
            <a:avLst/>
          </a:prstGeom>
          <a:noFill/>
        </p:spPr>
        <p:txBody>
          <a:bodyPr wrap="square" anchor="t" lIns="0" rIns="0" tIns="0" bIns="0">
            <a:spAutoFit/>
          </a:bodyPr>
          <a:lstStyle/>
          <a:p>
            <a:pPr algn="ctr">
              <a:lnSpc>
                <a:spcPct val="110000"/>
              </a:lnSpc>
              <a:spcAft>
                <a:spcPts val="400"/>
              </a:spcAft>
            </a:pPr>
            <a:r>
              <a:rPr sz="1700" b="1" i="0">
                <a:solidFill>
                  <a:srgbClr val="FFFFFF"/>
                </a:solidFill>
                <a:latin typeface="Calibri"/>
                <a:ea typeface="Calibri"/>
              </a:rPr>
              <a:t>2025</a:t>
            </a:r>
          </a:p>
        </p:txBody>
      </p:sp>
      <p:sp>
        <p:nvSpPr>
          <p:cNvPr id="27" name="Rectangle 26"/>
          <p:cNvSpPr/>
          <p:nvPr/>
        </p:nvSpPr>
        <p:spPr>
          <a:xfrm>
            <a:off x="10871941" y="1993392"/>
            <a:ext cx="41148" cy="658368"/>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63084" y="2852928"/>
            <a:ext cx="2054291" cy="457200"/>
          </a:xfrm>
          <a:prstGeom prst="rect">
            <a:avLst/>
          </a:prstGeom>
          <a:noFill/>
        </p:spPr>
        <p:txBody>
          <a:bodyPr wrap="square" anchor="t" lIns="0" rIns="0" tIns="0" bIns="0">
            <a:spAutoFit/>
          </a:bodyPr>
          <a:lstStyle/>
          <a:p>
            <a:pPr algn="ctr">
              <a:lnSpc>
                <a:spcPct val="110000"/>
              </a:lnSpc>
              <a:spcAft>
                <a:spcPts val="400"/>
              </a:spcAft>
            </a:pPr>
            <a:r>
              <a:rPr sz="2000" b="1" i="0">
                <a:solidFill>
                  <a:srgbClr val="1A2230"/>
                </a:solidFill>
                <a:latin typeface="Calibri"/>
                <a:ea typeface="Calibri"/>
              </a:rPr>
              <a:t>Living standard</a:t>
            </a:r>
          </a:p>
        </p:txBody>
      </p:sp>
      <p:sp>
        <p:nvSpPr>
          <p:cNvPr id="29" name="TextBox 28"/>
          <p:cNvSpPr txBox="1"/>
          <p:nvPr/>
        </p:nvSpPr>
        <p:spPr>
          <a:xfrm>
            <a:off x="9954524" y="3401568"/>
            <a:ext cx="1871411" cy="1051560"/>
          </a:xfrm>
          <a:prstGeom prst="rect">
            <a:avLst/>
          </a:prstGeom>
          <a:noFill/>
        </p:spPr>
        <p:txBody>
          <a:bodyPr wrap="square" anchor="t" lIns="0" rIns="0" tIns="0" bIns="0">
            <a:spAutoFit/>
          </a:bodyPr>
          <a:lstStyle/>
          <a:p>
            <a:pPr algn="ctr">
              <a:lnSpc>
                <a:spcPct val="125000"/>
              </a:lnSpc>
              <a:spcAft>
                <a:spcPts val="400"/>
              </a:spcAft>
            </a:pPr>
            <a:r>
              <a:rPr sz="1450" b="0" i="0">
                <a:solidFill>
                  <a:srgbClr val="4A5568"/>
                </a:solidFill>
                <a:latin typeface="Calibri"/>
                <a:ea typeface="Calibri"/>
              </a:rPr>
              <a:t>Continuously
improved.</a:t>
            </a:r>
          </a:p>
        </p:txBody>
      </p:sp>
      <p:sp>
        <p:nvSpPr>
          <p:cNvPr id="30" name="Rounded Rectangle 29"/>
          <p:cNvSpPr/>
          <p:nvPr/>
        </p:nvSpPr>
        <p:spPr>
          <a:xfrm>
            <a:off x="548640" y="5550407"/>
            <a:ext cx="11094415" cy="603504"/>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5550407"/>
            <a:ext cx="10591495" cy="603504"/>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HTML evolved from simple text formatting to a living standard — and it still evolves.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Anatomy of an Element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4A5568"/>
                </a:solidFill>
                <a:latin typeface="Calibri"/>
                <a:ea typeface="Calibri"/>
              </a:rPr>
              <a:t>One element, five parts — read it like a sentence.</a:t>
            </a:r>
          </a:p>
        </p:txBody>
      </p:sp>
      <p:sp>
        <p:nvSpPr>
          <p:cNvPr id="6" name="Rounded Rectangle 5"/>
          <p:cNvSpPr/>
          <p:nvPr/>
        </p:nvSpPr>
        <p:spPr>
          <a:xfrm>
            <a:off x="548640" y="1435608"/>
            <a:ext cx="11094415" cy="1051560"/>
          </a:xfrm>
          <a:prstGeom prst="roundRect">
            <a:avLst>
              <a:gd name="adj" fmla="val 8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10180015" cy="548640"/>
          </a:xfrm>
          <a:prstGeom prst="rect">
            <a:avLst/>
          </a:prstGeom>
          <a:noFill/>
        </p:spPr>
        <p:txBody>
          <a:bodyPr wrap="none" lIns="0" rIns="0" tIns="0" bIns="0">
            <a:spAutoFit/>
          </a:bodyPr>
          <a:lstStyle/>
          <a:p>
            <a:r>
              <a:rPr sz="2600" b="0" i="0">
                <a:solidFill>
                  <a:srgbClr val="C678DD"/>
                </a:solidFill>
                <a:latin typeface="Consolas"/>
                <a:ea typeface="Consolas"/>
              </a:rPr>
              <a:t>&lt;p</a:t>
            </a:r>
            <a:r>
              <a:rPr sz="2600" b="0" i="0">
                <a:solidFill>
                  <a:srgbClr val="E5C07B"/>
                </a:solidFill>
                <a:latin typeface="Consolas"/>
                <a:ea typeface="Consolas"/>
              </a:rPr>
              <a:t> class="note"</a:t>
            </a:r>
            <a:r>
              <a:rPr sz="2600" b="0" i="0">
                <a:solidFill>
                  <a:srgbClr val="C678DD"/>
                </a:solidFill>
                <a:latin typeface="Consolas"/>
                <a:ea typeface="Consolas"/>
              </a:rPr>
              <a:t>&gt;</a:t>
            </a:r>
            <a:r>
              <a:rPr sz="2600" b="0" i="0">
                <a:solidFill>
                  <a:srgbClr val="98C379"/>
                </a:solidFill>
                <a:latin typeface="Consolas"/>
                <a:ea typeface="Consolas"/>
              </a:rPr>
              <a:t>Hello, web</a:t>
            </a:r>
            <a:r>
              <a:rPr sz="2600" b="0" i="0">
                <a:solidFill>
                  <a:srgbClr val="C678DD"/>
                </a:solidFill>
                <a:latin typeface="Consolas"/>
                <a:ea typeface="Consolas"/>
              </a:rPr>
              <a:t>&lt;/p&gt;</a:t>
            </a:r>
          </a:p>
        </p:txBody>
      </p:sp>
      <p:sp>
        <p:nvSpPr>
          <p:cNvPr id="8" name="Rounded Rectangle 7"/>
          <p:cNvSpPr/>
          <p:nvPr/>
        </p:nvSpPr>
        <p:spPr>
          <a:xfrm>
            <a:off x="868680"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69848" y="3063240"/>
            <a:ext cx="91440" cy="365760"/>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Start tag</a:t>
            </a:r>
          </a:p>
        </p:txBody>
      </p:sp>
      <p:sp>
        <p:nvSpPr>
          <p:cNvPr id="11" name="TextBox 10"/>
          <p:cNvSpPr txBox="1"/>
          <p:nvPr/>
        </p:nvSpPr>
        <p:spPr>
          <a:xfrm>
            <a:off x="1280160"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&lt;p  opens the element</a:t>
            </a:r>
          </a:p>
        </p:txBody>
      </p:sp>
      <p:sp>
        <p:nvSpPr>
          <p:cNvPr id="12" name="Rounded Rectangle 11"/>
          <p:cNvSpPr/>
          <p:nvPr/>
        </p:nvSpPr>
        <p:spPr>
          <a:xfrm>
            <a:off x="3688003"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89171" y="3063240"/>
            <a:ext cx="91440" cy="365760"/>
          </a:xfrm>
          <a:prstGeom prst="rect">
            <a:avLst/>
          </a:prstGeom>
          <a:solidFill>
            <a:srgbClr val="E5C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9483"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Attribute</a:t>
            </a:r>
          </a:p>
        </p:txBody>
      </p:sp>
      <p:sp>
        <p:nvSpPr>
          <p:cNvPr id="15" name="TextBox 14"/>
          <p:cNvSpPr txBox="1"/>
          <p:nvPr/>
        </p:nvSpPr>
        <p:spPr>
          <a:xfrm>
            <a:off x="4099483"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class="note" gives extra info</a:t>
            </a:r>
          </a:p>
        </p:txBody>
      </p:sp>
      <p:sp>
        <p:nvSpPr>
          <p:cNvPr id="16" name="Rounded Rectangle 15"/>
          <p:cNvSpPr/>
          <p:nvPr/>
        </p:nvSpPr>
        <p:spPr>
          <a:xfrm>
            <a:off x="6507327"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08495" y="3063240"/>
            <a:ext cx="91440" cy="365760"/>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8807"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Content</a:t>
            </a:r>
          </a:p>
        </p:txBody>
      </p:sp>
      <p:sp>
        <p:nvSpPr>
          <p:cNvPr id="19" name="TextBox 18"/>
          <p:cNvSpPr txBox="1"/>
          <p:nvPr/>
        </p:nvSpPr>
        <p:spPr>
          <a:xfrm>
            <a:off x="6918807"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the visible text</a:t>
            </a:r>
          </a:p>
        </p:txBody>
      </p:sp>
      <p:sp>
        <p:nvSpPr>
          <p:cNvPr id="20" name="Rounded Rectangle 19"/>
          <p:cNvSpPr/>
          <p:nvPr/>
        </p:nvSpPr>
        <p:spPr>
          <a:xfrm>
            <a:off x="9326651"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27819" y="3063240"/>
            <a:ext cx="91440" cy="365760"/>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8131"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End tag</a:t>
            </a:r>
          </a:p>
        </p:txBody>
      </p:sp>
      <p:sp>
        <p:nvSpPr>
          <p:cNvPr id="23" name="TextBox 22"/>
          <p:cNvSpPr txBox="1"/>
          <p:nvPr/>
        </p:nvSpPr>
        <p:spPr>
          <a:xfrm>
            <a:off x="9738131"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&lt;/p&gt; closes the element</a:t>
            </a:r>
          </a:p>
        </p:txBody>
      </p:sp>
      <p:sp>
        <p:nvSpPr>
          <p:cNvPr id="24" name="Rounded Rectangle 23"/>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2 lab: write a page, then break it and watch DevTools complain.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Elements &amp; Syntax Rules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Elements come in pairs</a:t>
            </a:r>
            <a:br/>
            <a:r>
              <a:rPr sz="1800" b="0" i="0">
                <a:solidFill>
                  <a:srgbClr val="4A5568"/>
                </a:solidFill>
                <a:latin typeface="Calibri"/>
                <a:ea typeface="Calibri"/>
              </a:rPr>
              <a:t>An opening tag and a closing tag wrap the content: </a:t>
            </a:r>
            <a:r>
              <a:rPr sz="1800" b="0" i="0">
                <a:solidFill>
                  <a:srgbClr val="1E4FA8"/>
                </a:solidFill>
                <a:latin typeface="Consolas"/>
                <a:ea typeface="Consolas"/>
              </a:rPr>
              <a:t>&lt;p&gt;</a:t>
            </a:r>
            <a:r>
              <a:rPr sz="1800" b="0" i="0">
                <a:solidFill>
                  <a:srgbClr val="4A5568"/>
                </a:solidFill>
                <a:latin typeface="Calibri"/>
                <a:ea typeface="Calibri"/>
              </a:rPr>
              <a:t>…</a:t>
            </a:r>
            <a:r>
              <a:rPr sz="1800" b="0" i="0">
                <a:solidFill>
                  <a:srgbClr val="1E4FA8"/>
                </a:solidFill>
                <a:latin typeface="Consolas"/>
                <a:ea typeface="Consolas"/>
              </a:rPr>
              <a:t>&lt;/p&gt;</a:t>
            </a:r>
            <a:r>
              <a:rPr sz="18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Void / self-closing tags</a:t>
            </a:r>
            <a:br/>
            <a:r>
              <a:rPr sz="1800" b="0" i="0">
                <a:solidFill>
                  <a:srgbClr val="4A5568"/>
                </a:solidFill>
                <a:latin typeface="Calibri"/>
                <a:ea typeface="Calibri"/>
              </a:rPr>
              <a:t>No content, so no closing tag: </a:t>
            </a:r>
            <a:r>
              <a:rPr sz="1800" b="0" i="0">
                <a:solidFill>
                  <a:srgbClr val="1E4FA8"/>
                </a:solidFill>
                <a:latin typeface="Consolas"/>
                <a:ea typeface="Consolas"/>
              </a:rPr>
              <a:t>&lt;img&gt;</a:t>
            </a:r>
            <a:r>
              <a:rPr sz="1800" b="0" i="0">
                <a:solidFill>
                  <a:srgbClr val="4A5568"/>
                </a:solidFill>
                <a:latin typeface="Calibri"/>
                <a:ea typeface="Calibri"/>
              </a:rPr>
              <a:t>, </a:t>
            </a:r>
            <a:r>
              <a:rPr sz="1800" b="0" i="0">
                <a:solidFill>
                  <a:srgbClr val="1E4FA8"/>
                </a:solidFill>
                <a:latin typeface="Consolas"/>
                <a:ea typeface="Consolas"/>
              </a:rPr>
              <a:t>&lt;br&gt;</a:t>
            </a:r>
            <a:r>
              <a:rPr sz="1800" b="0" i="0">
                <a:solidFill>
                  <a:srgbClr val="4A5568"/>
                </a:solidFill>
                <a:latin typeface="Calibri"/>
                <a:ea typeface="Calibri"/>
              </a:rPr>
              <a:t>, </a:t>
            </a:r>
            <a:r>
              <a:rPr sz="1800" b="0" i="0">
                <a:solidFill>
                  <a:srgbClr val="1E4FA8"/>
                </a:solidFill>
                <a:latin typeface="Consolas"/>
                <a:ea typeface="Consolas"/>
              </a:rPr>
              <a:t>&lt;input&gt;</a:t>
            </a:r>
            <a:r>
              <a:rPr sz="1800" b="0" i="0">
                <a:solidFill>
                  <a:srgbClr val="4A5568"/>
                </a:solidFill>
                <a:latin typeface="Calibri"/>
                <a:ea typeface="Calibri"/>
              </a:rPr>
              <a:t>, </a:t>
            </a:r>
            <a:r>
              <a:rPr sz="1800" b="0" i="0">
                <a:solidFill>
                  <a:srgbClr val="1E4FA8"/>
                </a:solidFill>
                <a:latin typeface="Consolas"/>
                <a:ea typeface="Consolas"/>
              </a:rPr>
              <a:t>&lt;hr&gt;</a:t>
            </a:r>
            <a:r>
              <a:rPr sz="18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Case-insensitive</a:t>
            </a:r>
            <a:br/>
            <a:r>
              <a:rPr sz="1800" b="0" i="0">
                <a:solidFill>
                  <a:srgbClr val="1E4FA8"/>
                </a:solidFill>
                <a:latin typeface="Consolas"/>
                <a:ea typeface="Consolas"/>
              </a:rPr>
              <a:t>&lt;P&gt;</a:t>
            </a:r>
            <a:r>
              <a:rPr sz="1800" b="0" i="0">
                <a:solidFill>
                  <a:srgbClr val="4A5568"/>
                </a:solidFill>
                <a:latin typeface="Calibri"/>
                <a:ea typeface="Calibri"/>
              </a:rPr>
              <a:t> and </a:t>
            </a:r>
            <a:r>
              <a:rPr sz="1800" b="0" i="0">
                <a:solidFill>
                  <a:srgbClr val="1E4FA8"/>
                </a:solidFill>
                <a:latin typeface="Consolas"/>
                <a:ea typeface="Consolas"/>
              </a:rPr>
              <a:t>&lt;p&gt;</a:t>
            </a:r>
            <a:r>
              <a:rPr sz="1800" b="0" i="0">
                <a:solidFill>
                  <a:srgbClr val="4A5568"/>
                </a:solidFill>
                <a:latin typeface="Calibri"/>
                <a:ea typeface="Calibri"/>
              </a:rPr>
              <a:t> mean the same — lowercase is the convention.</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Nest in reverse order</a:t>
            </a:r>
            <a:br/>
            <a:r>
              <a:rPr sz="1800" b="0" i="0">
                <a:solidFill>
                  <a:srgbClr val="4A5568"/>
                </a:solidFill>
                <a:latin typeface="Calibri"/>
                <a:ea typeface="Calibri"/>
              </a:rPr>
              <a:t>Close tags in the reverse order you opened them.</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Indent to show depth</a:t>
            </a:r>
            <a:br/>
            <a:r>
              <a:rPr sz="1800" b="0" i="0">
                <a:solidFill>
                  <a:srgbClr val="4A5568"/>
                </a:solidFill>
                <a:latin typeface="Calibri"/>
                <a:ea typeface="Calibri"/>
              </a:rPr>
              <a:t>Indentation makes the tree visible to humans.</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Common pitfalls</a:t>
            </a:r>
            <a:br/>
            <a:r>
              <a:rPr sz="1800" b="0" i="0">
                <a:solidFill>
                  <a:srgbClr val="4A5568"/>
                </a:solidFill>
                <a:latin typeface="Calibri"/>
                <a:ea typeface="Calibri"/>
              </a:rPr>
              <a:t>Unclosed tags, mis-nesting, and styling in HTML instead of CSS.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An element = start tag + content + end tag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tagsysx.github.io/comp3421/editor.html?example=html/hello</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&lt;p&gt;&lt;strong&gt;Hi&lt;/strong&gt;&lt;/p&gt;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 Complete Document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&lt;!DOCTYPE html&gt;</a:t>
            </a:r>
            <a:br/>
            <a:r>
              <a:rPr sz="1350" b="0" i="0">
                <a:solidFill>
                  <a:srgbClr val="4A5568"/>
                </a:solidFill>
                <a:latin typeface="Calibri"/>
                <a:ea typeface="Calibri"/>
              </a:rPr>
              <a:t>Declares this is HTML5 — an instruction, not a tag.</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&lt;html </a:t>
            </a:r>
            <a:r>
              <a:rPr sz="1550" b="1" i="0">
                <a:solidFill>
                  <a:srgbClr val="B8860B"/>
                </a:solidFill>
                <a:latin typeface="Consolas"/>
                <a:ea typeface="Consolas"/>
              </a:rPr>
              <a:t>lang</a:t>
            </a:r>
            <a:r>
              <a:rPr sz="1550" b="1" i="0">
                <a:solidFill>
                  <a:srgbClr val="1E4FA8"/>
                </a:solidFill>
                <a:latin typeface="Consolas"/>
                <a:ea typeface="Consolas"/>
              </a:rPr>
              <a:t>="en"&gt;</a:t>
            </a:r>
            <a:br/>
            <a:r>
              <a:rPr sz="1350" b="0" i="0">
                <a:solidFill>
                  <a:srgbClr val="4A5568"/>
                </a:solidFill>
                <a:latin typeface="Calibri"/>
                <a:ea typeface="Calibri"/>
              </a:rPr>
              <a:t>The root element; </a:t>
            </a:r>
            <a:r>
              <a:rPr sz="1350" b="0" i="0">
                <a:solidFill>
                  <a:srgbClr val="B8860B"/>
                </a:solidFill>
                <a:latin typeface="Consolas"/>
                <a:ea typeface="Consolas"/>
              </a:rPr>
              <a:t>lang</a:t>
            </a:r>
            <a:r>
              <a:rPr sz="1350" b="0" i="0">
                <a:solidFill>
                  <a:srgbClr val="4A5568"/>
                </a:solidFill>
                <a:latin typeface="Calibri"/>
                <a:ea typeface="Calibri"/>
              </a:rPr>
              <a:t> sets the document language.</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&lt;head&gt;</a:t>
            </a:r>
            <a:br/>
            <a:r>
              <a:rPr sz="1350" b="0" i="0">
                <a:solidFill>
                  <a:srgbClr val="4A5568"/>
                </a:solidFill>
                <a:latin typeface="Calibri"/>
                <a:ea typeface="Calibri"/>
              </a:rPr>
              <a:t>Metadata — not displayed on the page.</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&lt;meta charset&gt;</a:t>
            </a:r>
            <a:br/>
            <a:r>
              <a:rPr sz="1350" b="0" i="0">
                <a:solidFill>
                  <a:srgbClr val="4A5568"/>
                </a:solidFill>
                <a:latin typeface="Calibri"/>
                <a:ea typeface="Calibri"/>
              </a:rPr>
              <a:t>Character encoding (utf-8).</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&lt;meta viewport&gt;</a:t>
            </a:r>
            <a:br/>
            <a:r>
              <a:rPr sz="1350" b="0" i="0">
                <a:solidFill>
                  <a:srgbClr val="4A5568"/>
                </a:solidFill>
                <a:latin typeface="Calibri"/>
                <a:ea typeface="Calibri"/>
              </a:rPr>
              <a:t>Configures responsive design on mobile.</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&lt;title&gt;</a:t>
            </a:r>
            <a:br/>
            <a:r>
              <a:rPr sz="1350" b="0" i="0">
                <a:solidFill>
                  <a:srgbClr val="4A5568"/>
                </a:solidFill>
                <a:latin typeface="Calibri"/>
                <a:ea typeface="Calibri"/>
              </a:rPr>
              <a:t>The browser tab title.</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&lt;body&gt;</a:t>
            </a:r>
            <a:br/>
            <a:r>
              <a:rPr sz="1350" b="0" i="0">
                <a:solidFill>
                  <a:srgbClr val="4A5568"/>
                </a:solidFill>
                <a:latin typeface="Calibri"/>
                <a:ea typeface="Calibri"/>
              </a:rPr>
              <a:t>Everything the user actually sees.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&lt;!DOCTYPE html&gt;</a:t>
            </a:r>
          </a:p>
          <a:p>
            <a:pPr>
              <a:spcAft>
                <a:spcPts val="350"/>
              </a:spcAft>
            </a:pPr>
            <a:r>
              <a:rPr sz="1300" b="0" i="0">
                <a:solidFill>
                  <a:srgbClr val="7F8C98"/>
                </a:solidFill>
                <a:latin typeface="Consolas"/>
                <a:ea typeface="Consolas"/>
              </a:rPr>
              <a:t>&lt;html lang="en"&gt;</a:t>
            </a:r>
          </a:p>
          <a:p>
            <a:pPr>
              <a:spcAft>
                <a:spcPts val="350"/>
              </a:spcAft>
            </a:pPr>
            <a:r>
              <a:rPr sz="1300" b="0" i="0">
                <a:solidFill>
                  <a:srgbClr val="7F8C98"/>
                </a:solidFill>
                <a:latin typeface="Consolas"/>
                <a:ea typeface="Consolas"/>
              </a:rPr>
              <a:t>  &lt;head&gt;</a:t>
            </a:r>
          </a:p>
          <a:p>
            <a:pPr>
              <a:spcAft>
                <a:spcPts val="350"/>
              </a:spcAft>
            </a:pPr>
            <a:r>
              <a:rPr sz="1300" b="0" i="0">
                <a:solidFill>
                  <a:srgbClr val="E5C07B"/>
                </a:solidFill>
                <a:latin typeface="Consolas"/>
                <a:ea typeface="Consolas"/>
              </a:rPr>
              <a:t>    &lt;meta charset="utf-8" /&gt;</a:t>
            </a:r>
          </a:p>
          <a:p>
            <a:pPr>
              <a:spcAft>
                <a:spcPts val="350"/>
              </a:spcAft>
            </a:pPr>
            <a:r>
              <a:rPr sz="1300" b="0" i="0">
                <a:solidFill>
                  <a:srgbClr val="E5C07B"/>
                </a:solidFill>
                <a:latin typeface="Consolas"/>
                <a:ea typeface="Consolas"/>
              </a:rPr>
              <a:t>    &lt;meta name="viewport" content="width=device-width, initial-scale=1.0" /&gt;</a:t>
            </a:r>
          </a:p>
          <a:p>
            <a:pPr>
              <a:spcAft>
                <a:spcPts val="350"/>
              </a:spcAft>
            </a:pPr>
            <a:r>
              <a:rPr sz="1300" b="0" i="0">
                <a:solidFill>
                  <a:srgbClr val="E5C07B"/>
                </a:solidFill>
                <a:latin typeface="Consolas"/>
                <a:ea typeface="Consolas"/>
              </a:rPr>
              <a:t>    &lt;title&gt;My First Page&lt;/title&gt;</a:t>
            </a:r>
          </a:p>
          <a:p>
            <a:pPr>
              <a:spcAft>
                <a:spcPts val="350"/>
              </a:spcAft>
            </a:pPr>
            <a:r>
              <a:rPr sz="1300" b="0" i="0">
                <a:solidFill>
                  <a:srgbClr val="7F8C98"/>
                </a:solidFill>
                <a:latin typeface="Consolas"/>
                <a:ea typeface="Consolas"/>
              </a:rPr>
              <a:t>  &lt;/head&gt;</a:t>
            </a:r>
          </a:p>
          <a:p>
            <a:pPr>
              <a:spcAft>
                <a:spcPts val="350"/>
              </a:spcAft>
            </a:pPr>
            <a:r>
              <a:rPr sz="1300" b="0" i="0">
                <a:solidFill>
                  <a:srgbClr val="7F8C98"/>
                </a:solidFill>
                <a:latin typeface="Consolas"/>
                <a:ea typeface="Consolas"/>
              </a:rPr>
              <a:t>  &lt;body&gt;</a:t>
            </a:r>
          </a:p>
          <a:p>
            <a:pPr>
              <a:spcAft>
                <a:spcPts val="350"/>
              </a:spcAft>
            </a:pPr>
            <a:r>
              <a:rPr sz="1300" b="0" i="0">
                <a:solidFill>
                  <a:srgbClr val="61AFEF"/>
                </a:solidFill>
                <a:latin typeface="Consolas"/>
                <a:ea typeface="Consolas"/>
              </a:rPr>
              <a:t>    &lt;h1&gt;Hello, COMP3421!&lt;/h1&gt;</a:t>
            </a:r>
          </a:p>
          <a:p>
            <a:pPr>
              <a:spcAft>
                <a:spcPts val="350"/>
              </a:spcAft>
            </a:pPr>
            <a:r>
              <a:rPr sz="1300" b="0" i="0">
                <a:solidFill>
                  <a:srgbClr val="7F8C98"/>
                </a:solidFill>
                <a:latin typeface="Consolas"/>
                <a:ea typeface="Consolas"/>
              </a:rPr>
              <a:t>  &lt;/body&gt;</a:t>
            </a:r>
          </a:p>
          <a:p>
            <a:pPr>
              <a:spcAft>
                <a:spcPts val="350"/>
              </a:spcAft>
            </a:pPr>
            <a:r>
              <a:rPr sz="1300" b="0" i="0">
                <a:solidFill>
                  <a:srgbClr val="7F8C98"/>
                </a:solidFill>
                <a:latin typeface="Consolas"/>
                <a:ea typeface="Consolas"/>
              </a:rPr>
              <a:t>&lt;/html&gt;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tagsysx.github.io/comp3421/editor.html?example=html/hello</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Save as index.html, double-click it — the browser renders it instantly.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Nesting &amp; Hierarchy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Elements inside elements</a:t>
            </a:r>
            <a:br/>
            <a:r>
              <a:rPr sz="1350" b="0" i="0">
                <a:solidFill>
                  <a:srgbClr val="4A5568"/>
                </a:solidFill>
                <a:latin typeface="Calibri"/>
                <a:ea typeface="Calibri"/>
              </a:rPr>
              <a:t>A </a:t>
            </a:r>
            <a:r>
              <a:rPr sz="1350" b="0" i="0">
                <a:solidFill>
                  <a:srgbClr val="1E4FA8"/>
                </a:solidFill>
                <a:latin typeface="Consolas"/>
                <a:ea typeface="Consolas"/>
              </a:rPr>
              <a:t>&lt;li&gt;</a:t>
            </a:r>
            <a:r>
              <a:rPr sz="1350" b="0" i="0">
                <a:solidFill>
                  <a:srgbClr val="4A5568"/>
                </a:solidFill>
                <a:latin typeface="Calibri"/>
                <a:ea typeface="Calibri"/>
              </a:rPr>
              <a:t> lives inside a </a:t>
            </a:r>
            <a:r>
              <a:rPr sz="1350" b="0" i="0">
                <a:solidFill>
                  <a:srgbClr val="1E4FA8"/>
                </a:solidFill>
                <a:latin typeface="Consolas"/>
                <a:ea typeface="Consolas"/>
              </a:rPr>
              <a:t>&lt;ul&gt;</a:t>
            </a:r>
            <a:r>
              <a:rPr sz="1350" b="0" i="0">
                <a:solidFill>
                  <a:srgbClr val="4A5568"/>
                </a:solidFill>
                <a:latin typeface="Calibri"/>
                <a:ea typeface="Calibri"/>
              </a:rPr>
              <a:t> — a tree of content.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Parent &amp; child</a:t>
            </a:r>
            <a:br/>
            <a:r>
              <a:rPr sz="1350" b="0" i="0">
                <a:solidFill>
                  <a:srgbClr val="4A5568"/>
                </a:solidFill>
                <a:latin typeface="Calibri"/>
                <a:ea typeface="Calibri"/>
              </a:rPr>
              <a:t>The containing tag is the parent; the inner one is the child.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Correct order</a:t>
            </a:r>
            <a:br/>
            <a:r>
              <a:rPr sz="1350" b="0" i="0">
                <a:solidFill>
                  <a:srgbClr val="4A5568"/>
                </a:solidFill>
                <a:latin typeface="Calibri"/>
                <a:ea typeface="Calibri"/>
              </a:rPr>
              <a:t>Close tags in the reverse order you opened them.</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Indent to show it</a:t>
            </a:r>
            <a:br/>
            <a:r>
              <a:rPr sz="1350" b="0" i="0">
                <a:solidFill>
                  <a:srgbClr val="4A5568"/>
                </a:solidFill>
                <a:latin typeface="Calibri"/>
                <a:ea typeface="Calibri"/>
              </a:rPr>
              <a:t>Indentation makes the tree visible to humans.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 nesting: ul → li → ul → li --&gt;</a:t>
            </a:r>
          </a:p>
          <a:p>
            <a:pPr>
              <a:spcAft>
                <a:spcPts val="350"/>
              </a:spcAft>
            </a:pPr>
            <a:r>
              <a:rPr sz="1300" b="0" i="0">
                <a:solidFill>
                  <a:srgbClr val="61AFEF"/>
                </a:solidFill>
                <a:latin typeface="Consolas"/>
                <a:ea typeface="Consolas"/>
              </a:rPr>
              <a:t>&lt;ul&gt;</a:t>
            </a:r>
          </a:p>
          <a:p>
            <a:pPr>
              <a:spcAft>
                <a:spcPts val="350"/>
              </a:spcAft>
            </a:pPr>
            <a:r>
              <a:rPr sz="1300" b="0" i="0">
                <a:solidFill>
                  <a:srgbClr val="98C379"/>
                </a:solidFill>
                <a:latin typeface="Consolas"/>
                <a:ea typeface="Consolas"/>
              </a:rPr>
              <a:t>  &lt;li&gt;First&lt;/li&gt;</a:t>
            </a:r>
          </a:p>
          <a:p>
            <a:pPr>
              <a:spcAft>
                <a:spcPts val="350"/>
              </a:spcAft>
            </a:pPr>
            <a:r>
              <a:rPr sz="1300" b="0" i="0">
                <a:solidFill>
                  <a:srgbClr val="98C379"/>
                </a:solidFill>
                <a:latin typeface="Consolas"/>
                <a:ea typeface="Consolas"/>
              </a:rPr>
              <a:t>  &lt;li&gt;</a:t>
            </a:r>
          </a:p>
          <a:p>
            <a:pPr>
              <a:spcAft>
                <a:spcPts val="350"/>
              </a:spcAft>
            </a:pPr>
            <a:r>
              <a:rPr sz="1300" b="0" i="0">
                <a:solidFill>
                  <a:srgbClr val="61AFEF"/>
                </a:solidFill>
                <a:latin typeface="Consolas"/>
                <a:ea typeface="Consolas"/>
              </a:rPr>
              <a:t>    &lt;ul&gt;</a:t>
            </a:r>
          </a:p>
          <a:p>
            <a:pPr>
              <a:spcAft>
                <a:spcPts val="350"/>
              </a:spcAft>
            </a:pPr>
            <a:r>
              <a:rPr sz="1300" b="0" i="0">
                <a:solidFill>
                  <a:srgbClr val="98C379"/>
                </a:solidFill>
                <a:latin typeface="Consolas"/>
                <a:ea typeface="Consolas"/>
              </a:rPr>
              <a:t>      &lt;li&gt;Nested&lt;/li&gt;</a:t>
            </a:r>
          </a:p>
          <a:p>
            <a:pPr>
              <a:spcAft>
                <a:spcPts val="350"/>
              </a:spcAft>
            </a:pPr>
            <a:r>
              <a:rPr sz="1300" b="0" i="0">
                <a:solidFill>
                  <a:srgbClr val="61AFEF"/>
                </a:solidFill>
                <a:latin typeface="Consolas"/>
                <a:ea typeface="Consolas"/>
              </a:rPr>
              <a:t>    &lt;/ul&gt;</a:t>
            </a:r>
          </a:p>
          <a:p>
            <a:pPr>
              <a:spcAft>
                <a:spcPts val="350"/>
              </a:spcAft>
            </a:pPr>
            <a:r>
              <a:rPr sz="1300" b="0" i="0">
                <a:solidFill>
                  <a:srgbClr val="98C379"/>
                </a:solidFill>
                <a:latin typeface="Consolas"/>
                <a:ea typeface="Consolas"/>
              </a:rPr>
              <a:t>  &lt;/li&gt;</a:t>
            </a:r>
          </a:p>
          <a:p>
            <a:pPr>
              <a:spcAft>
                <a:spcPts val="350"/>
              </a:spcAft>
            </a:pPr>
            <a:r>
              <a:rPr sz="1300" b="0" i="0">
                <a:solidFill>
                  <a:srgbClr val="61AFEF"/>
                </a:solidFill>
                <a:latin typeface="Consolas"/>
                <a:ea typeface="Consolas"/>
              </a:rPr>
              <a:t>&lt;/ul&gt;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tagsysx.github.io/comp3421/editor.html?example=html/lists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Nested list — ul is parent, li is child.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Attributes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Extra information</a:t>
            </a:r>
            <a:br/>
            <a:r>
              <a:rPr sz="1350" b="0" i="0">
                <a:solidFill>
                  <a:srgbClr val="4A5568"/>
                </a:solidFill>
                <a:latin typeface="Calibri"/>
                <a:ea typeface="Calibri"/>
              </a:rPr>
              <a:t>Attributes modify an element — always in the start tag.</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name</a:t>
            </a:r>
            <a:r>
              <a:rPr sz="1550" b="1" i="0">
                <a:solidFill>
                  <a:srgbClr val="1A2230"/>
                </a:solidFill>
                <a:latin typeface="Calibri"/>
                <a:ea typeface="Calibri"/>
              </a:rPr>
              <a:t>="</a:t>
            </a:r>
            <a:r>
              <a:rPr sz="1550" b="1" i="0">
                <a:solidFill>
                  <a:srgbClr val="B8860B"/>
                </a:solidFill>
                <a:latin typeface="Consolas"/>
                <a:ea typeface="Consolas"/>
              </a:rPr>
              <a:t>value</a:t>
            </a:r>
            <a:r>
              <a:rPr sz="1550" b="1" i="0">
                <a:solidFill>
                  <a:srgbClr val="1A2230"/>
                </a:solidFill>
                <a:latin typeface="Calibri"/>
                <a:ea typeface="Calibri"/>
              </a:rPr>
              <a:t>"</a:t>
            </a:r>
            <a:br/>
            <a:r>
              <a:rPr sz="1350" b="0" i="0">
                <a:solidFill>
                  <a:srgbClr val="4A5568"/>
                </a:solidFill>
                <a:latin typeface="Calibri"/>
                <a:ea typeface="Calibri"/>
              </a:rPr>
              <a:t>A </a:t>
            </a:r>
            <a:r>
              <a:rPr sz="1350" b="0" i="0">
                <a:solidFill>
                  <a:srgbClr val="B8860B"/>
                </a:solidFill>
                <a:latin typeface="Consolas"/>
                <a:ea typeface="Consolas"/>
              </a:rPr>
              <a:t>name</a:t>
            </a:r>
            <a:r>
              <a:rPr sz="1350" b="0" i="0">
                <a:solidFill>
                  <a:srgbClr val="4A5568"/>
                </a:solidFill>
                <a:latin typeface="Calibri"/>
                <a:ea typeface="Calibri"/>
              </a:rPr>
              <a:t>/</a:t>
            </a:r>
            <a:r>
              <a:rPr sz="1350" b="0" i="0">
                <a:solidFill>
                  <a:srgbClr val="B8860B"/>
                </a:solidFill>
                <a:latin typeface="Consolas"/>
                <a:ea typeface="Consolas"/>
              </a:rPr>
              <a:t>value</a:t>
            </a:r>
            <a:r>
              <a:rPr sz="1350" b="0" i="0">
                <a:solidFill>
                  <a:srgbClr val="4A5568"/>
                </a:solidFill>
                <a:latin typeface="Calibri"/>
                <a:ea typeface="Calibri"/>
              </a:rPr>
              <a:t> pair, quoted.</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href</a:t>
            </a:r>
            <a:br/>
            <a:r>
              <a:rPr sz="1350" b="0" i="0">
                <a:solidFill>
                  <a:srgbClr val="4A5568"/>
                </a:solidFill>
                <a:latin typeface="Calibri"/>
                <a:ea typeface="Calibri"/>
              </a:rPr>
              <a:t>The link's destination.</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src</a:t>
            </a:r>
            <a:br/>
            <a:r>
              <a:rPr sz="1350" b="0" i="0">
                <a:solidFill>
                  <a:srgbClr val="4A5568"/>
                </a:solidFill>
                <a:latin typeface="Calibri"/>
                <a:ea typeface="Calibri"/>
              </a:rPr>
              <a:t>The image's source file.</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width</a:t>
            </a:r>
            <a:r>
              <a:rPr sz="1550" b="1" i="0">
                <a:solidFill>
                  <a:srgbClr val="1A2230"/>
                </a:solidFill>
                <a:latin typeface="Calibri"/>
                <a:ea typeface="Calibri"/>
              </a:rPr>
              <a:t> / </a:t>
            </a:r>
            <a:r>
              <a:rPr sz="1550" b="1" i="0">
                <a:solidFill>
                  <a:srgbClr val="B8860B"/>
                </a:solidFill>
                <a:latin typeface="Consolas"/>
                <a:ea typeface="Consolas"/>
              </a:rPr>
              <a:t>height</a:t>
            </a:r>
            <a:br/>
            <a:r>
              <a:rPr sz="1350" b="0" i="0">
                <a:solidFill>
                  <a:srgbClr val="4A5568"/>
                </a:solidFill>
                <a:latin typeface="Calibri"/>
                <a:ea typeface="Calibri"/>
              </a:rPr>
              <a:t>Image size, in pixels by default.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style</a:t>
            </a:r>
            <a:br/>
            <a:r>
              <a:rPr sz="1350" b="0" i="0">
                <a:solidFill>
                  <a:srgbClr val="4A5568"/>
                </a:solidFill>
                <a:latin typeface="Calibri"/>
                <a:ea typeface="Calibri"/>
              </a:rPr>
              <a:t>Inline styling for this one element.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lang</a:t>
            </a:r>
            <a:br/>
            <a:r>
              <a:rPr sz="1350" b="0" i="0">
                <a:solidFill>
                  <a:srgbClr val="4A5568"/>
                </a:solidFill>
                <a:latin typeface="Calibri"/>
                <a:ea typeface="Calibri"/>
              </a:rPr>
              <a:t>The document language, set on </a:t>
            </a:r>
            <a:r>
              <a:rPr sz="1350" b="0" i="0">
                <a:solidFill>
                  <a:srgbClr val="1E4FA8"/>
                </a:solidFill>
                <a:latin typeface="Consolas"/>
                <a:ea typeface="Consolas"/>
              </a:rPr>
              <a:t>&lt;html&gt;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class</a:t>
            </a:r>
            <a:r>
              <a:rPr sz="1550" b="1" i="0">
                <a:solidFill>
                  <a:srgbClr val="1A2230"/>
                </a:solidFill>
                <a:latin typeface="Calibri"/>
                <a:ea typeface="Calibri"/>
              </a:rPr>
              <a:t> &amp; </a:t>
            </a:r>
            <a:r>
              <a:rPr sz="1550" b="1" i="0">
                <a:solidFill>
                  <a:srgbClr val="B8860B"/>
                </a:solidFill>
                <a:latin typeface="Consolas"/>
                <a:ea typeface="Consolas"/>
              </a:rPr>
              <a:t>id</a:t>
            </a:r>
            <a:br/>
            <a:r>
              <a:rPr sz="1350" b="0" i="0">
                <a:solidFill>
                  <a:srgbClr val="4A5568"/>
                </a:solidFill>
                <a:latin typeface="Calibri"/>
                <a:ea typeface="Calibri"/>
              </a:rPr>
              <a:t>Hooks for CSS and JavaScript to find elements.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&lt;a href="https://polyu.edu.hk"&gt;</a:t>
            </a:r>
            <a:r>
              <a:rPr sz="1300" b="0" i="0">
                <a:solidFill>
                  <a:srgbClr val="98C379"/>
                </a:solidFill>
                <a:latin typeface="Consolas"/>
                <a:ea typeface="Consolas"/>
              </a:rPr>
              <a:t>PolyU</a:t>
            </a:r>
            <a:r>
              <a:rPr sz="1300" b="0" i="0">
                <a:solidFill>
                  <a:srgbClr val="61AFEF"/>
                </a:solidFill>
                <a:latin typeface="Consolas"/>
                <a:ea typeface="Consolas"/>
              </a:rPr>
              <a:t>&lt;/a&gt;</a:t>
            </a:r>
          </a:p>
          <a:p>
            <a:pPr>
              <a:spcAft>
                <a:spcPts val="350"/>
              </a:spcAft>
            </a:pPr>
            <a:r>
              <a:rPr sz="1300" b="0" i="0">
                <a:solidFill>
                  <a:srgbClr val="E5C07B"/>
                </a:solidFill>
                <a:latin typeface="Consolas"/>
                <a:ea typeface="Consolas"/>
              </a:rPr>
              <a:t>&lt;img src="logo.png" alt="Logo" width="500" height="600"&gt;</a:t>
            </a:r>
          </a:p>
          <a:p>
            <a:pPr>
              <a:spcAft>
                <a:spcPts val="350"/>
              </a:spcAft>
            </a:pPr>
            <a:r>
              <a:rPr sz="1300" b="0" i="0">
                <a:solidFill>
                  <a:srgbClr val="C678DD"/>
                </a:solidFill>
                <a:latin typeface="Consolas"/>
                <a:ea typeface="Consolas"/>
              </a:rPr>
              <a:t>&lt;p class="note" id="first" style="color:red"&gt;…&lt;/p&gt;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&lt;!DOCTYPE html&gt;&lt;html lang="en"&gt;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tagsysx.github.io/comp3421/editor.html?example=html/links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Attributes are the first thing CSS and JS reach for — learn them well.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Writing HTML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HTML Foundations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Any text editor</a:t>
            </a:r>
            <a:br/>
            <a:r>
              <a:rPr sz="2000" b="0" i="0">
                <a:solidFill>
                  <a:srgbClr val="4A5568"/>
                </a:solidFill>
                <a:latin typeface="Calibri"/>
                <a:ea typeface="Calibri"/>
              </a:rPr>
              <a:t>Notepad (PC) or TextEdit (Mac) — plain text is enough.</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Save as .html</a:t>
            </a:r>
            <a:br/>
            <a:r>
              <a:rPr sz="2000" b="0" i="0">
                <a:solidFill>
                  <a:srgbClr val="4A5568"/>
                </a:solidFill>
                <a:latin typeface="Calibri"/>
                <a:ea typeface="Calibri"/>
              </a:rPr>
              <a:t>The file extension tells the browser it is a web page.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VS Code</a:t>
            </a:r>
            <a:br/>
            <a:r>
              <a:rPr sz="2000" b="0" i="0">
                <a:solidFill>
                  <a:srgbClr val="4A5568"/>
                </a:solidFill>
                <a:latin typeface="Calibri"/>
                <a:ea typeface="Calibri"/>
              </a:rPr>
              <a:t>A code editor with syntax highlighting and code completion.</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Live preview</a:t>
            </a:r>
            <a:br/>
            <a:r>
              <a:rPr sz="2000" b="0" i="0">
                <a:solidFill>
                  <a:srgbClr val="4A5568"/>
                </a:solidFill>
                <a:latin typeface="Calibri"/>
                <a:ea typeface="Calibri"/>
              </a:rPr>
              <a:t>Edit, save, refresh — see the change instantly.</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You need only a text editor and a browser</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index.html  →  double-click  →  it renders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02</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Text, Links &amp; Media</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Headings, paragraphs, and text meaning</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Links and images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Lists and tables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Headings &amp; Paragraphs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E4FA8"/>
                </a:solidFill>
                <a:latin typeface="Consolas"/>
                <a:ea typeface="Consolas"/>
              </a:rPr>
              <a:t>&lt;h1&gt;</a:t>
            </a:r>
            <a:r>
              <a:rPr sz="1800" b="1" i="0">
                <a:solidFill>
                  <a:srgbClr val="1A2230"/>
                </a:solidFill>
                <a:latin typeface="Calibri"/>
                <a:ea typeface="Calibri"/>
              </a:rPr>
              <a:t>–</a:t>
            </a:r>
            <a:r>
              <a:rPr sz="1800" b="1" i="0">
                <a:solidFill>
                  <a:srgbClr val="1E4FA8"/>
                </a:solidFill>
                <a:latin typeface="Consolas"/>
                <a:ea typeface="Consolas"/>
              </a:rPr>
              <a:t>&lt;h6&gt;</a:t>
            </a:r>
            <a:br/>
            <a:r>
              <a:rPr sz="1600" b="0" i="0">
                <a:solidFill>
                  <a:srgbClr val="4A5568"/>
                </a:solidFill>
                <a:latin typeface="Calibri"/>
                <a:ea typeface="Calibri"/>
              </a:rPr>
              <a:t>Six heading levels — h1 biggest, h6 smallest.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One h1 per page</a:t>
            </a:r>
            <a:br/>
            <a:r>
              <a:rPr sz="1600" b="0" i="0">
                <a:solidFill>
                  <a:srgbClr val="4A5568"/>
                </a:solidFill>
                <a:latin typeface="Calibri"/>
                <a:ea typeface="Calibri"/>
              </a:rPr>
              <a:t>The main title; use levels for hierarchy.</a:t>
            </a:r>
          </a:p>
          <a:p>
            <a:pPr marL="274320" indent="-237744">
              <a:lnSpc>
                <a:spcPct val="112000"/>
              </a:lnSpc>
              <a:spcAft>
                <a:spcPts val="1000"/>
              </a:spcAft>
              <a:buClr>
                <a:srgbClr val="1E4FA8"/>
              </a:buClr>
              <a:buSzPct val="90000"/>
              <a:buFont typeface="Arial"/>
              <a:buChar char="▪"/>
            </a:pPr>
            <a:r>
              <a:rPr sz="1800" b="1" i="0">
                <a:solidFill>
                  <a:srgbClr val="1E4FA8"/>
                </a:solidFill>
                <a:latin typeface="Consolas"/>
                <a:ea typeface="Consolas"/>
              </a:rPr>
              <a:t>&lt;p&gt;</a:t>
            </a:r>
            <a:br/>
            <a:r>
              <a:rPr sz="1600" b="0" i="0">
                <a:solidFill>
                  <a:srgbClr val="4A5568"/>
                </a:solidFill>
                <a:latin typeface="Calibri"/>
                <a:ea typeface="Calibri"/>
              </a:rPr>
              <a:t>A paragraph of body text.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Whitespace collapses</a:t>
            </a:r>
            <a:br/>
            <a:r>
              <a:rPr sz="1600" b="0" i="0">
                <a:solidFill>
                  <a:srgbClr val="4A5568"/>
                </a:solidFill>
                <a:latin typeface="Calibri"/>
                <a:ea typeface="Calibri"/>
              </a:rPr>
              <a:t>Extra spaces and newlines are ignored — use tags.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&lt;h1&gt;Main title&lt;/h1&gt;</a:t>
            </a:r>
          </a:p>
          <a:p>
            <a:pPr>
              <a:spcAft>
                <a:spcPts val="350"/>
              </a:spcAft>
            </a:pPr>
            <a:r>
              <a:rPr sz="1300" b="0" i="0">
                <a:solidFill>
                  <a:srgbClr val="61AFEF"/>
                </a:solidFill>
                <a:latin typeface="Consolas"/>
                <a:ea typeface="Consolas"/>
              </a:rPr>
              <a:t>&lt;h2&gt;Section&lt;/h2&gt;</a:t>
            </a:r>
          </a:p>
          <a:p>
            <a:pPr>
              <a:spcAft>
                <a:spcPts val="350"/>
              </a:spcAft>
            </a:pPr>
            <a:r>
              <a:rPr sz="1300" b="0" i="0">
                <a:solidFill>
                  <a:srgbClr val="61AFEF"/>
                </a:solidFill>
                <a:latin typeface="Consolas"/>
                <a:ea typeface="Consolas"/>
              </a:rPr>
              <a:t>&lt;h3&gt;Sub-section&lt;/h3&gt;</a:t>
            </a:r>
          </a:p>
          <a:p>
            <a:pPr>
              <a:spcAft>
                <a:spcPts val="350"/>
              </a:spcAft>
            </a:pPr>
            <a:r>
              <a:rPr sz="1300" b="0" i="0">
                <a:solidFill>
                  <a:srgbClr val="7F8C98"/>
                </a:solidFill>
                <a:latin typeface="Consolas"/>
                <a:ea typeface="Consolas"/>
              </a:rPr>
              <a:t/>
            </a:r>
          </a:p>
          <a:p>
            <a:pPr>
              <a:spcAft>
                <a:spcPts val="350"/>
              </a:spcAft>
            </a:pPr>
            <a:r>
              <a:rPr sz="1300" b="0" i="0">
                <a:solidFill>
                  <a:srgbClr val="98C379"/>
                </a:solidFill>
                <a:latin typeface="Consolas"/>
                <a:ea typeface="Consolas"/>
              </a:rPr>
              <a:t>&lt;p&gt;A paragraph of body text…&lt;/p&gt;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one h1 per page, then h2, h3…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tagsysx.github.io/comp3421/editor.html?example=html/text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Headings give a page structure — screen readers and search engines rely on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Text Meaning (Not Just Looks)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400"/>
              </a:spcAft>
              <a:buClr>
                <a:srgbClr val="1E4FA8"/>
              </a:buClr>
              <a:buSzPct val="90000"/>
              <a:buFont typeface="Arial"/>
              <a:buChar char="▪"/>
            </a:pPr>
            <a:r>
              <a:rPr sz="2000" b="1" i="0">
                <a:solidFill>
                  <a:srgbClr val="1E4FA8"/>
                </a:solidFill>
                <a:latin typeface="Consolas"/>
                <a:ea typeface="Consolas"/>
              </a:rPr>
              <a:t>&lt;strong&gt;</a:t>
            </a:r>
            <a:r>
              <a:rPr sz="2000" b="1" i="0">
                <a:solidFill>
                  <a:srgbClr val="1A2230"/>
                </a:solidFill>
                <a:latin typeface="Calibri"/>
                <a:ea typeface="Calibri"/>
              </a:rPr>
              <a:t> / </a:t>
            </a:r>
            <a:r>
              <a:rPr sz="2000" b="1" i="0">
                <a:solidFill>
                  <a:srgbClr val="1E4FA8"/>
                </a:solidFill>
                <a:latin typeface="Consolas"/>
                <a:ea typeface="Consolas"/>
              </a:rPr>
              <a:t>&lt;b&gt;</a:t>
            </a:r>
            <a:br/>
            <a:r>
              <a:rPr sz="1800" b="0" i="0">
                <a:solidFill>
                  <a:srgbClr val="4A5568"/>
                </a:solidFill>
                <a:latin typeface="Calibri"/>
                <a:ea typeface="Calibri"/>
              </a:rPr>
              <a:t>Strong importance (bold) — use </a:t>
            </a:r>
            <a:r>
              <a:rPr sz="1800" b="0" i="0">
                <a:solidFill>
                  <a:srgbClr val="1E4FA8"/>
                </a:solidFill>
                <a:latin typeface="Consolas"/>
                <a:ea typeface="Consolas"/>
              </a:rPr>
              <a:t>&lt;strong&gt;</a:t>
            </a:r>
            <a:r>
              <a:rPr sz="1800" b="0" i="0">
                <a:solidFill>
                  <a:srgbClr val="4A5568"/>
                </a:solidFill>
                <a:latin typeface="Calibri"/>
                <a:ea typeface="Calibri"/>
              </a:rPr>
              <a:t> for meaning.</a:t>
            </a:r>
          </a:p>
          <a:p>
            <a:pPr marL="256032" indent="-237744">
              <a:lnSpc>
                <a:spcPct val="112000"/>
              </a:lnSpc>
              <a:spcAft>
                <a:spcPts val="400"/>
              </a:spcAft>
              <a:buClr>
                <a:srgbClr val="1E4FA8"/>
              </a:buClr>
              <a:buSzPct val="90000"/>
              <a:buFont typeface="Arial"/>
              <a:buChar char="▪"/>
            </a:pPr>
            <a:r>
              <a:rPr sz="2000" b="1" i="0">
                <a:solidFill>
                  <a:srgbClr val="1E4FA8"/>
                </a:solidFill>
                <a:latin typeface="Consolas"/>
                <a:ea typeface="Consolas"/>
              </a:rPr>
              <a:t>&lt;em&gt;</a:t>
            </a:r>
            <a:r>
              <a:rPr sz="2000" b="1" i="0">
                <a:solidFill>
                  <a:srgbClr val="1A2230"/>
                </a:solidFill>
                <a:latin typeface="Calibri"/>
                <a:ea typeface="Calibri"/>
              </a:rPr>
              <a:t> / </a:t>
            </a:r>
            <a:r>
              <a:rPr sz="2000" b="1" i="0">
                <a:solidFill>
                  <a:srgbClr val="1E4FA8"/>
                </a:solidFill>
                <a:latin typeface="Consolas"/>
                <a:ea typeface="Consolas"/>
              </a:rPr>
              <a:t>&lt;i&gt;</a:t>
            </a:r>
            <a:br/>
            <a:r>
              <a:rPr sz="1800" b="0" i="0">
                <a:solidFill>
                  <a:srgbClr val="4A5568"/>
                </a:solidFill>
                <a:latin typeface="Calibri"/>
                <a:ea typeface="Calibri"/>
              </a:rPr>
              <a:t>Emphasis (italic) — use </a:t>
            </a:r>
            <a:r>
              <a:rPr sz="1800" b="0" i="0">
                <a:solidFill>
                  <a:srgbClr val="1E4FA8"/>
                </a:solidFill>
                <a:latin typeface="Consolas"/>
                <a:ea typeface="Consolas"/>
              </a:rPr>
              <a:t>&lt;em&gt;</a:t>
            </a:r>
            <a:r>
              <a:rPr sz="1800" b="0" i="0">
                <a:solidFill>
                  <a:srgbClr val="4A5568"/>
                </a:solidFill>
                <a:latin typeface="Calibri"/>
                <a:ea typeface="Calibri"/>
              </a:rPr>
              <a:t> for meaning.</a:t>
            </a:r>
          </a:p>
          <a:p>
            <a:pPr marL="256032" indent="-237744">
              <a:lnSpc>
                <a:spcPct val="112000"/>
              </a:lnSpc>
              <a:spcAft>
                <a:spcPts val="400"/>
              </a:spcAft>
              <a:buClr>
                <a:srgbClr val="1E4FA8"/>
              </a:buClr>
              <a:buSzPct val="90000"/>
              <a:buFont typeface="Arial"/>
              <a:buChar char="▪"/>
            </a:pPr>
            <a:r>
              <a:rPr sz="2000" b="1" i="0">
                <a:solidFill>
                  <a:srgbClr val="1E4FA8"/>
                </a:solidFill>
                <a:latin typeface="Consolas"/>
                <a:ea typeface="Consolas"/>
              </a:rPr>
              <a:t>&lt;mark&gt;</a:t>
            </a:r>
            <a:br/>
            <a:r>
              <a:rPr sz="1800" b="0" i="0">
                <a:solidFill>
                  <a:srgbClr val="4A5568"/>
                </a:solidFill>
                <a:latin typeface="Calibri"/>
                <a:ea typeface="Calibri"/>
              </a:rPr>
              <a:t>Highlighted text.</a:t>
            </a:r>
          </a:p>
          <a:p>
            <a:pPr marL="256032" indent="-237744">
              <a:lnSpc>
                <a:spcPct val="112000"/>
              </a:lnSpc>
              <a:spcAft>
                <a:spcPts val="400"/>
              </a:spcAft>
              <a:buClr>
                <a:srgbClr val="1E4FA8"/>
              </a:buClr>
              <a:buSzPct val="90000"/>
              <a:buFont typeface="Arial"/>
              <a:buChar char="▪"/>
            </a:pPr>
            <a:r>
              <a:rPr sz="2000" b="1" i="0">
                <a:solidFill>
                  <a:srgbClr val="1E4FA8"/>
                </a:solidFill>
                <a:latin typeface="Consolas"/>
                <a:ea typeface="Consolas"/>
              </a:rPr>
              <a:t>&lt;sub&gt;</a:t>
            </a:r>
            <a:r>
              <a:rPr sz="2000" b="1" i="0">
                <a:solidFill>
                  <a:srgbClr val="1A2230"/>
                </a:solidFill>
                <a:latin typeface="Calibri"/>
                <a:ea typeface="Calibri"/>
              </a:rPr>
              <a:t> / </a:t>
            </a:r>
            <a:r>
              <a:rPr sz="2000" b="1" i="0">
                <a:solidFill>
                  <a:srgbClr val="1E4FA8"/>
                </a:solidFill>
                <a:latin typeface="Consolas"/>
                <a:ea typeface="Consolas"/>
              </a:rPr>
              <a:t>&lt;sup&gt;</a:t>
            </a:r>
            <a:br/>
            <a:r>
              <a:rPr sz="1800" b="0" i="0">
                <a:solidFill>
                  <a:srgbClr val="4A5568"/>
                </a:solidFill>
                <a:latin typeface="Calibri"/>
                <a:ea typeface="Calibri"/>
              </a:rPr>
              <a:t>Subscript and superscript — H</a:t>
            </a:r>
            <a:r>
              <a:rPr sz="1800" b="0" i="0">
                <a:solidFill>
                  <a:srgbClr val="1E4FA8"/>
                </a:solidFill>
                <a:latin typeface="Consolas"/>
                <a:ea typeface="Consolas"/>
              </a:rPr>
              <a:t>&lt;sub&gt;</a:t>
            </a:r>
            <a:r>
              <a:rPr sz="1800" b="0" i="0">
                <a:solidFill>
                  <a:srgbClr val="4A5568"/>
                </a:solidFill>
                <a:latin typeface="Calibri"/>
                <a:ea typeface="Calibri"/>
              </a:rPr>
              <a:t>2</a:t>
            </a:r>
            <a:r>
              <a:rPr sz="1800" b="0" i="0">
                <a:solidFill>
                  <a:srgbClr val="1E4FA8"/>
                </a:solidFill>
                <a:latin typeface="Consolas"/>
                <a:ea typeface="Consolas"/>
              </a:rPr>
              <a:t>&lt;/sub&gt;</a:t>
            </a:r>
            <a:r>
              <a:rPr sz="1800" b="0" i="0">
                <a:solidFill>
                  <a:srgbClr val="4A5568"/>
                </a:solidFill>
                <a:latin typeface="Calibri"/>
                <a:ea typeface="Calibri"/>
              </a:rPr>
              <a:t>O, x</a:t>
            </a:r>
            <a:r>
              <a:rPr sz="1800" b="0" i="0">
                <a:solidFill>
                  <a:srgbClr val="1E4FA8"/>
                </a:solidFill>
                <a:latin typeface="Consolas"/>
                <a:ea typeface="Consolas"/>
              </a:rPr>
              <a:t>&lt;sup&gt;</a:t>
            </a:r>
            <a:r>
              <a:rPr sz="1800" b="0" i="0">
                <a:solidFill>
                  <a:srgbClr val="4A5568"/>
                </a:solidFill>
                <a:latin typeface="Calibri"/>
                <a:ea typeface="Calibri"/>
              </a:rPr>
              <a:t>2</a:t>
            </a:r>
            <a:r>
              <a:rPr sz="1800" b="0" i="0">
                <a:solidFill>
                  <a:srgbClr val="1E4FA8"/>
                </a:solidFill>
                <a:latin typeface="Consolas"/>
                <a:ea typeface="Consolas"/>
              </a:rPr>
              <a:t>&lt;/sup&gt;</a:t>
            </a:r>
            <a:r>
              <a:rPr sz="1800" b="0" i="0">
                <a:solidFill>
                  <a:srgbClr val="4A5568"/>
                </a:solidFill>
                <a:latin typeface="Calibri"/>
                <a:ea typeface="Calibri"/>
              </a:rPr>
              <a:t>.</a:t>
            </a:r>
          </a:p>
          <a:p>
            <a:pPr marL="256032" indent="-237744">
              <a:lnSpc>
                <a:spcPct val="112000"/>
              </a:lnSpc>
              <a:spcAft>
                <a:spcPts val="400"/>
              </a:spcAft>
              <a:buClr>
                <a:srgbClr val="1E4FA8"/>
              </a:buClr>
              <a:buSzPct val="90000"/>
              <a:buFont typeface="Arial"/>
              <a:buChar char="▪"/>
            </a:pPr>
            <a:r>
              <a:rPr sz="2000" b="1" i="0">
                <a:solidFill>
                  <a:srgbClr val="1E4FA8"/>
                </a:solidFill>
                <a:latin typeface="Consolas"/>
                <a:ea typeface="Consolas"/>
              </a:rPr>
              <a:t>&lt;br&gt;</a:t>
            </a:r>
            <a:br/>
            <a:r>
              <a:rPr sz="1800" b="0" i="0">
                <a:solidFill>
                  <a:srgbClr val="4A5568"/>
                </a:solidFill>
                <a:latin typeface="Calibri"/>
                <a:ea typeface="Calibri"/>
              </a:rPr>
              <a:t>A line break (void element).</a:t>
            </a:r>
          </a:p>
          <a:p>
            <a:pPr marL="256032" indent="-237744">
              <a:lnSpc>
                <a:spcPct val="112000"/>
              </a:lnSpc>
              <a:spcAft>
                <a:spcPts val="400"/>
              </a:spcAft>
              <a:buClr>
                <a:srgbClr val="1E4FA8"/>
              </a:buClr>
              <a:buSzPct val="90000"/>
              <a:buFont typeface="Arial"/>
              <a:buChar char="▪"/>
            </a:pPr>
            <a:r>
              <a:rPr sz="2000" b="1" i="0">
                <a:solidFill>
                  <a:srgbClr val="1E4FA8"/>
                </a:solidFill>
                <a:latin typeface="Consolas"/>
                <a:ea typeface="Consolas"/>
              </a:rPr>
              <a:t>&lt;hr&gt;</a:t>
            </a:r>
            <a:br/>
            <a:r>
              <a:rPr sz="1800" b="0" i="0">
                <a:solidFill>
                  <a:srgbClr val="4A5568"/>
                </a:solidFill>
                <a:latin typeface="Calibri"/>
                <a:ea typeface="Calibri"/>
              </a:rPr>
              <a:t>A thematic break — a horizontal rule.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Mark meaning, not just appearance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tagsysx.github.io/comp3421/editor.html?example=html/text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This is &lt;strong&gt;important&lt;/strong&gt; and &lt;em&gt;emphasised&lt;/em&gt;.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Links — the &lt;a&gt; Element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href</a:t>
            </a:r>
            <a:br/>
            <a:r>
              <a:rPr sz="1350" b="0" i="0">
                <a:solidFill>
                  <a:srgbClr val="4A5568"/>
                </a:solidFill>
                <a:latin typeface="Calibri"/>
                <a:ea typeface="Calibri"/>
              </a:rPr>
              <a:t>The destination — the one </a:t>
            </a:r>
            <a:r>
              <a:rPr sz="1350" b="0" i="0">
                <a:solidFill>
                  <a:srgbClr val="B8860B"/>
                </a:solidFill>
                <a:latin typeface="Consolas"/>
                <a:ea typeface="Consolas"/>
              </a:rPr>
              <a:t>required</a:t>
            </a:r>
            <a:r>
              <a:rPr sz="1350" b="0" i="0">
                <a:solidFill>
                  <a:srgbClr val="4A5568"/>
                </a:solidFill>
                <a:latin typeface="Calibri"/>
                <a:ea typeface="Calibri"/>
              </a:rPr>
              <a:t> attribute.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Absolute URLs</a:t>
            </a:r>
            <a:br/>
            <a:r>
              <a:rPr sz="1350" b="0" i="0">
                <a:solidFill>
                  <a:srgbClr val="4A5568"/>
                </a:solidFill>
                <a:latin typeface="Calibri"/>
                <a:ea typeface="Calibri"/>
              </a:rPr>
              <a:t>Full address: https://polyu.edu.hk/…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Relative paths</a:t>
            </a:r>
            <a:br/>
            <a:r>
              <a:rPr sz="1350" b="0" i="0">
                <a:solidFill>
                  <a:srgbClr val="4A5568"/>
                </a:solidFill>
                <a:latin typeface="Calibri"/>
                <a:ea typeface="Calibri"/>
              </a:rPr>
              <a:t>about.html, ../index.html — relative to this page.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mailto:</a:t>
            </a:r>
            <a:br/>
            <a:r>
              <a:rPr sz="1350" b="0" i="0">
                <a:solidFill>
                  <a:srgbClr val="B8860B"/>
                </a:solidFill>
                <a:latin typeface="Consolas"/>
                <a:ea typeface="Consolas"/>
              </a:rPr>
              <a:t>href</a:t>
            </a:r>
            <a:r>
              <a:rPr sz="1350" b="0" i="0">
                <a:solidFill>
                  <a:srgbClr val="4A5568"/>
                </a:solidFill>
                <a:latin typeface="Calibri"/>
                <a:ea typeface="Calibri"/>
              </a:rPr>
              <a:t>="mailto:you@polyu.edu.hk" opens the email client.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target</a:t>
            </a:r>
            <a:br/>
            <a:r>
              <a:rPr sz="1350" b="0" i="0">
                <a:solidFill>
                  <a:srgbClr val="4A5568"/>
                </a:solidFill>
                <a:latin typeface="Calibri"/>
                <a:ea typeface="Calibri"/>
              </a:rPr>
              <a:t>_blank new tab · _self same tab (default).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Bookmarks</a:t>
            </a:r>
            <a:br/>
            <a:r>
              <a:rPr sz="1350" b="0" i="0">
                <a:solidFill>
                  <a:srgbClr val="B8860B"/>
                </a:solidFill>
                <a:latin typeface="Consolas"/>
                <a:ea typeface="Consolas"/>
              </a:rPr>
              <a:t>href</a:t>
            </a:r>
            <a:r>
              <a:rPr sz="1350" b="0" i="0">
                <a:solidFill>
                  <a:srgbClr val="4A5568"/>
                </a:solidFill>
                <a:latin typeface="Calibri"/>
                <a:ea typeface="Calibri"/>
              </a:rPr>
              <a:t>="#</a:t>
            </a:r>
            <a:r>
              <a:rPr sz="1350" b="0" i="0">
                <a:solidFill>
                  <a:srgbClr val="B8860B"/>
                </a:solidFill>
                <a:latin typeface="Consolas"/>
                <a:ea typeface="Consolas"/>
              </a:rPr>
              <a:t>id</a:t>
            </a:r>
            <a:r>
              <a:rPr sz="1350" b="0" i="0">
                <a:solidFill>
                  <a:srgbClr val="4A5568"/>
                </a:solidFill>
                <a:latin typeface="Calibri"/>
                <a:ea typeface="Calibri"/>
              </a:rPr>
              <a:t>" jumps to an element on the same page.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&lt;a href="https://polyu.edu.hk"&gt;PolyU&lt;/a&gt;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relative links --&gt;</a:t>
            </a:r>
          </a:p>
          <a:p>
            <a:pPr>
              <a:spcAft>
                <a:spcPts val="350"/>
              </a:spcAft>
            </a:pPr>
            <a:r>
              <a:rPr sz="1300" b="0" i="0">
                <a:solidFill>
                  <a:srgbClr val="98C379"/>
                </a:solidFill>
                <a:latin typeface="Consolas"/>
                <a:ea typeface="Consolas"/>
              </a:rPr>
              <a:t>&lt;a href="about.html"&gt;About&lt;/a&gt;</a:t>
            </a:r>
          </a:p>
          <a:p>
            <a:pPr>
              <a:spcAft>
                <a:spcPts val="350"/>
              </a:spcAft>
            </a:pPr>
            <a:r>
              <a:rPr sz="1300" b="0" i="0">
                <a:solidFill>
                  <a:srgbClr val="98C379"/>
                </a:solidFill>
                <a:latin typeface="Consolas"/>
                <a:ea typeface="Consolas"/>
              </a:rPr>
              <a:t>&lt;a href="../index.html"&gt;Home&lt;/a&gt;</a:t>
            </a:r>
          </a:p>
          <a:p>
            <a:pPr>
              <a:spcAft>
                <a:spcPts val="350"/>
              </a:spcAft>
            </a:pPr>
            <a:r>
              <a:rPr sz="1300" b="0" i="0">
                <a:solidFill>
                  <a:srgbClr val="7F8C98"/>
                </a:solidFill>
                <a:latin typeface="Consolas"/>
                <a:ea typeface="Consolas"/>
              </a:rPr>
              <a:t/>
            </a:r>
          </a:p>
          <a:p>
            <a:pPr>
              <a:spcAft>
                <a:spcPts val="350"/>
              </a:spcAft>
            </a:pPr>
            <a:r>
              <a:rPr sz="1300" b="0" i="0">
                <a:solidFill>
                  <a:srgbClr val="E5C07B"/>
                </a:solidFill>
                <a:latin typeface="Consolas"/>
                <a:ea typeface="Consolas"/>
              </a:rPr>
              <a:t>&lt;a href="mailto:you@polyu.edu.hk"&gt;Email me&lt;/a&gt;</a:t>
            </a:r>
          </a:p>
          <a:p>
            <a:pPr>
              <a:spcAft>
                <a:spcPts val="350"/>
              </a:spcAft>
            </a:pPr>
            <a:r>
              <a:rPr sz="1300" b="0" i="0">
                <a:solidFill>
                  <a:srgbClr val="E5C07B"/>
                </a:solidFill>
                <a:latin typeface="Consolas"/>
                <a:ea typeface="Consolas"/>
              </a:rPr>
              <a:t>&lt;a href="#top"&gt;Jump to top&lt;/a&gt;</a:t>
            </a:r>
          </a:p>
          <a:p>
            <a:pPr>
              <a:spcAft>
                <a:spcPts val="350"/>
              </a:spcAft>
            </a:pPr>
            <a:r>
              <a:rPr sz="1300" b="0" i="0">
                <a:solidFill>
                  <a:srgbClr val="C678DD"/>
                </a:solidFill>
                <a:latin typeface="Consolas"/>
                <a:ea typeface="Consolas"/>
              </a:rPr>
              <a:t>&lt;h2 id="top"&gt;Top&lt;/h2&gt;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tagsysx.github.io/comp3421/editor.html?example=html/links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Links are what make the web a web — one page points to another.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Images — the &lt;img&gt; Element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src</a:t>
            </a:r>
            <a:br/>
            <a:r>
              <a:rPr sz="1350" b="0" i="0">
                <a:solidFill>
                  <a:srgbClr val="4A5568"/>
                </a:solidFill>
                <a:latin typeface="Calibri"/>
                <a:ea typeface="Calibri"/>
              </a:rPr>
              <a:t>The image file to load.</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alt</a:t>
            </a:r>
            <a:br/>
            <a:r>
              <a:rPr sz="1350" b="0" i="0">
                <a:solidFill>
                  <a:srgbClr val="4A5568"/>
                </a:solidFill>
                <a:latin typeface="Calibri"/>
                <a:ea typeface="Calibri"/>
              </a:rPr>
              <a:t>Text shown if the image fails — and read by screen readers.</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width</a:t>
            </a:r>
            <a:r>
              <a:rPr sz="1550" b="1" i="0">
                <a:solidFill>
                  <a:srgbClr val="1A2230"/>
                </a:solidFill>
                <a:latin typeface="Calibri"/>
                <a:ea typeface="Calibri"/>
              </a:rPr>
              <a:t> / </a:t>
            </a:r>
            <a:r>
              <a:rPr sz="1550" b="1" i="0">
                <a:solidFill>
                  <a:srgbClr val="B8860B"/>
                </a:solidFill>
                <a:latin typeface="Consolas"/>
                <a:ea typeface="Consolas"/>
              </a:rPr>
              <a:t>height</a:t>
            </a:r>
            <a:br/>
            <a:r>
              <a:rPr sz="1350" b="0" i="0">
                <a:solidFill>
                  <a:srgbClr val="4A5568"/>
                </a:solidFill>
                <a:latin typeface="Calibri"/>
                <a:ea typeface="Calibri"/>
              </a:rPr>
              <a:t>Size in pixels by default — set both to avoid layout shift.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Void element</a:t>
            </a:r>
            <a:br/>
            <a:r>
              <a:rPr sz="1350" b="0" i="0">
                <a:solidFill>
                  <a:srgbClr val="4A5568"/>
                </a:solidFill>
                <a:latin typeface="Calibri"/>
                <a:ea typeface="Calibri"/>
              </a:rPr>
              <a:t>No end tag — </a:t>
            </a:r>
            <a:r>
              <a:rPr sz="1350" b="0" i="0">
                <a:solidFill>
                  <a:srgbClr val="1E4FA8"/>
                </a:solidFill>
                <a:latin typeface="Consolas"/>
                <a:ea typeface="Consolas"/>
              </a:rPr>
              <a:t>&lt;img&gt;</a:t>
            </a:r>
            <a:r>
              <a:rPr sz="1350" b="0" i="0">
                <a:solidFill>
                  <a:srgbClr val="4A5568"/>
                </a:solidFill>
                <a:latin typeface="Calibri"/>
                <a:ea typeface="Calibri"/>
              </a:rPr>
              <a:t> is self-contained.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Always set </a:t>
            </a:r>
            <a:r>
              <a:rPr sz="1550" b="1" i="0">
                <a:solidFill>
                  <a:srgbClr val="B8860B"/>
                </a:solidFill>
                <a:latin typeface="Consolas"/>
                <a:ea typeface="Consolas"/>
              </a:rPr>
              <a:t>alt</a:t>
            </a:r>
            <a:br/>
            <a:r>
              <a:rPr sz="1350" b="0" i="0">
                <a:solidFill>
                  <a:srgbClr val="4A5568"/>
                </a:solidFill>
                <a:latin typeface="Calibri"/>
                <a:ea typeface="Calibri"/>
              </a:rPr>
              <a:t>Accessibility and SEO both depend on it.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&lt;img src="logo.png"</a:t>
            </a:r>
          </a:p>
          <a:p>
            <a:pPr>
              <a:spcAft>
                <a:spcPts val="350"/>
              </a:spcAft>
            </a:pPr>
            <a:r>
              <a:rPr sz="1300" b="0" i="0">
                <a:solidFill>
                  <a:srgbClr val="E5C07B"/>
                </a:solidFill>
                <a:latin typeface="Consolas"/>
                <a:ea typeface="Consolas"/>
              </a:rPr>
              <a:t>     alt="PolyU logo" width="500" height="600"&gt;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an image can be a link --&gt;</a:t>
            </a:r>
          </a:p>
          <a:p>
            <a:pPr>
              <a:spcAft>
                <a:spcPts val="350"/>
              </a:spcAft>
            </a:pPr>
            <a:r>
              <a:rPr sz="1300" b="0" i="0">
                <a:solidFill>
                  <a:srgbClr val="98C379"/>
                </a:solidFill>
                <a:latin typeface="Consolas"/>
                <a:ea typeface="Consolas"/>
              </a:rPr>
              <a:t>&lt;a href="home.html"&gt;&lt;img src="logo.png" alt="Home"&gt;&lt;/a&gt;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tagsysx.github.io/comp3421/editor.html?example=html/links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alt text is not optional — it is what a screen reader speaks.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Image Maps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Clickable areas</a:t>
            </a:r>
            <a:br/>
            <a:r>
              <a:rPr sz="1350" b="0" i="0">
                <a:solidFill>
                  <a:srgbClr val="4A5568"/>
                </a:solidFill>
                <a:latin typeface="Calibri"/>
                <a:ea typeface="Calibri"/>
              </a:rPr>
              <a:t>Different actions depending on where you click.</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usemap</a:t>
            </a:r>
            <a:br/>
            <a:r>
              <a:rPr sz="1350" b="0" i="0">
                <a:solidFill>
                  <a:srgbClr val="4A5568"/>
                </a:solidFill>
                <a:latin typeface="Calibri"/>
                <a:ea typeface="Calibri"/>
              </a:rPr>
              <a:t>Links the </a:t>
            </a:r>
            <a:r>
              <a:rPr sz="1350" b="0" i="0">
                <a:solidFill>
                  <a:srgbClr val="1E4FA8"/>
                </a:solidFill>
                <a:latin typeface="Consolas"/>
                <a:ea typeface="Consolas"/>
              </a:rPr>
              <a:t>&lt;img&gt;</a:t>
            </a:r>
            <a:r>
              <a:rPr sz="1350" b="0" i="0">
                <a:solidFill>
                  <a:srgbClr val="4A5568"/>
                </a:solidFill>
                <a:latin typeface="Calibri"/>
                <a:ea typeface="Calibri"/>
              </a:rPr>
              <a:t> to a </a:t>
            </a:r>
            <a:r>
              <a:rPr sz="1350" b="0" i="0">
                <a:solidFill>
                  <a:srgbClr val="1E4FA8"/>
                </a:solidFill>
                <a:latin typeface="Consolas"/>
                <a:ea typeface="Consolas"/>
              </a:rPr>
              <a:t>&lt;map </a:t>
            </a:r>
            <a:r>
              <a:rPr sz="1350" b="0" i="0">
                <a:solidFill>
                  <a:srgbClr val="B8860B"/>
                </a:solidFill>
                <a:latin typeface="Consolas"/>
                <a:ea typeface="Consolas"/>
              </a:rPr>
              <a:t>name</a:t>
            </a:r>
            <a:r>
              <a:rPr sz="1350" b="0" i="0">
                <a:solidFill>
                  <a:srgbClr val="1E4FA8"/>
                </a:solidFill>
                <a:latin typeface="Consolas"/>
                <a:ea typeface="Consolas"/>
              </a:rPr>
              <a:t>="…"&gt;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&lt;area&gt;</a:t>
            </a:r>
            <a:br/>
            <a:r>
              <a:rPr sz="1350" b="0" i="0">
                <a:solidFill>
                  <a:srgbClr val="4A5568"/>
                </a:solidFill>
                <a:latin typeface="Calibri"/>
                <a:ea typeface="Calibri"/>
              </a:rPr>
              <a:t>A clickable region with shape, </a:t>
            </a:r>
            <a:r>
              <a:rPr sz="1350" b="0" i="0">
                <a:solidFill>
                  <a:srgbClr val="B8860B"/>
                </a:solidFill>
                <a:latin typeface="Consolas"/>
                <a:ea typeface="Consolas"/>
              </a:rPr>
              <a:t>coords</a:t>
            </a:r>
            <a:r>
              <a:rPr sz="1350" b="0" i="0">
                <a:solidFill>
                  <a:srgbClr val="4A5568"/>
                </a:solidFill>
                <a:latin typeface="Calibri"/>
                <a:ea typeface="Calibri"/>
              </a:rPr>
              <a:t> and </a:t>
            </a:r>
            <a:r>
              <a:rPr sz="1350" b="0" i="0">
                <a:solidFill>
                  <a:srgbClr val="B8860B"/>
                </a:solidFill>
                <a:latin typeface="Consolas"/>
                <a:ea typeface="Consolas"/>
              </a:rPr>
              <a:t>href</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Shapes</a:t>
            </a:r>
            <a:br/>
            <a:r>
              <a:rPr sz="1350" b="0" i="0">
                <a:solidFill>
                  <a:srgbClr val="4A5568"/>
                </a:solidFill>
                <a:latin typeface="Calibri"/>
                <a:ea typeface="Calibri"/>
              </a:rPr>
              <a:t>rect, circle, poly, or default (the whole image).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&lt;img src="workplace.jpg" alt="Workplace"</a:t>
            </a:r>
          </a:p>
          <a:p>
            <a:pPr>
              <a:spcAft>
                <a:spcPts val="350"/>
              </a:spcAft>
            </a:pPr>
            <a:r>
              <a:rPr sz="1300" b="0" i="0">
                <a:solidFill>
                  <a:srgbClr val="61AFEF"/>
                </a:solidFill>
                <a:latin typeface="Consolas"/>
                <a:ea typeface="Consolas"/>
              </a:rPr>
              <a:t>     usemap="#workmap" width="400"</a:t>
            </a:r>
          </a:p>
          <a:p>
            <a:pPr>
              <a:spcAft>
                <a:spcPts val="350"/>
              </a:spcAft>
            </a:pPr>
            <a:r>
              <a:rPr sz="1300" b="0" i="0">
                <a:solidFill>
                  <a:srgbClr val="61AFEF"/>
                </a:solidFill>
                <a:latin typeface="Consolas"/>
                <a:ea typeface="Consolas"/>
              </a:rPr>
              <a:t>     height="379"&gt;</a:t>
            </a:r>
          </a:p>
          <a:p>
            <a:pPr>
              <a:spcAft>
                <a:spcPts val="350"/>
              </a:spcAft>
            </a:pPr>
            <a:r>
              <a:rPr sz="1300" b="0" i="0">
                <a:solidFill>
                  <a:srgbClr val="C678DD"/>
                </a:solidFill>
                <a:latin typeface="Consolas"/>
                <a:ea typeface="Consolas"/>
              </a:rPr>
              <a:t>&lt;map name="workmap"&gt;</a:t>
            </a:r>
          </a:p>
          <a:p>
            <a:pPr>
              <a:spcAft>
                <a:spcPts val="350"/>
              </a:spcAft>
            </a:pPr>
            <a:r>
              <a:rPr sz="1300" b="0" i="0">
                <a:solidFill>
                  <a:srgbClr val="98C379"/>
                </a:solidFill>
                <a:latin typeface="Consolas"/>
                <a:ea typeface="Consolas"/>
              </a:rPr>
              <a:t>  &lt;area shape="rect" coords="34,44,270,350"</a:t>
            </a:r>
          </a:p>
          <a:p>
            <a:pPr>
              <a:spcAft>
                <a:spcPts val="350"/>
              </a:spcAft>
            </a:pPr>
            <a:r>
              <a:rPr sz="1300" b="0" i="0">
                <a:solidFill>
                  <a:srgbClr val="98C379"/>
                </a:solidFill>
                <a:latin typeface="Consolas"/>
                <a:ea typeface="Consolas"/>
              </a:rPr>
              <a:t>        alt="Computer" href="computer.html"&gt;</a:t>
            </a:r>
          </a:p>
          <a:p>
            <a:pPr>
              <a:spcAft>
                <a:spcPts val="350"/>
              </a:spcAft>
            </a:pPr>
            <a:r>
              <a:rPr sz="1300" b="0" i="0">
                <a:solidFill>
                  <a:srgbClr val="E5C07B"/>
                </a:solidFill>
                <a:latin typeface="Consolas"/>
                <a:ea typeface="Consolas"/>
              </a:rPr>
              <a:t>  &lt;area shape="rect" coords="290,172,333,250"</a:t>
            </a:r>
          </a:p>
          <a:p>
            <a:pPr>
              <a:spcAft>
                <a:spcPts val="350"/>
              </a:spcAft>
            </a:pPr>
            <a:r>
              <a:rPr sz="1300" b="0" i="0">
                <a:solidFill>
                  <a:srgbClr val="E5C07B"/>
                </a:solidFill>
                <a:latin typeface="Consolas"/>
                <a:ea typeface="Consolas"/>
              </a:rPr>
              <a:t>        alt="Phone" href="phone.html"&gt;</a:t>
            </a:r>
          </a:p>
          <a:p>
            <a:pPr>
              <a:spcAft>
                <a:spcPts val="350"/>
              </a:spcAft>
            </a:pPr>
            <a:r>
              <a:rPr sz="1300" b="0" i="0">
                <a:solidFill>
                  <a:srgbClr val="98C379"/>
                </a:solidFill>
                <a:latin typeface="Consolas"/>
                <a:ea typeface="Consolas"/>
              </a:rPr>
              <a:t>  &lt;area shape="circle" coords="337,300,44"</a:t>
            </a:r>
          </a:p>
          <a:p>
            <a:pPr>
              <a:spcAft>
                <a:spcPts val="350"/>
              </a:spcAft>
            </a:pPr>
            <a:r>
              <a:rPr sz="1300" b="0" i="0">
                <a:solidFill>
                  <a:srgbClr val="98C379"/>
                </a:solidFill>
                <a:latin typeface="Consolas"/>
                <a:ea typeface="Consolas"/>
              </a:rPr>
              <a:t>        alt="Cup of coffee" href="coffee.html"&gt;</a:t>
            </a:r>
          </a:p>
          <a:p>
            <a:pPr>
              <a:spcAft>
                <a:spcPts val="350"/>
              </a:spcAft>
            </a:pPr>
            <a:r>
              <a:rPr sz="1300" b="0" i="0">
                <a:solidFill>
                  <a:srgbClr val="C678DD"/>
                </a:solidFill>
                <a:latin typeface="Consolas"/>
                <a:ea typeface="Consolas"/>
              </a:rPr>
              <a:t>&lt;/map&gt;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tagsysx.github.io/comp3421/editor.html?example=html/image-map</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Each region is its own link — click the computer, phone or coffee.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Image Maps — Shapes &amp; Coords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rect — two corners</a:t>
            </a:r>
            <a:br/>
            <a:r>
              <a:rPr sz="1350" b="0" i="0">
                <a:solidFill>
                  <a:srgbClr val="B8860B"/>
                </a:solidFill>
                <a:latin typeface="Consolas"/>
                <a:ea typeface="Consolas"/>
              </a:rPr>
              <a:t>coords</a:t>
            </a:r>
            <a:r>
              <a:rPr sz="1350" b="0" i="0">
                <a:solidFill>
                  <a:srgbClr val="4A5568"/>
                </a:solidFill>
                <a:latin typeface="Calibri"/>
                <a:ea typeface="Calibri"/>
              </a:rPr>
              <a:t>="x1,y1,x2,y2": top-left, then bottom-right.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circle — centre + radius</a:t>
            </a:r>
            <a:br/>
            <a:r>
              <a:rPr sz="1350" b="0" i="0">
                <a:solidFill>
                  <a:srgbClr val="B8860B"/>
                </a:solidFill>
                <a:latin typeface="Consolas"/>
                <a:ea typeface="Consolas"/>
              </a:rPr>
              <a:t>coords</a:t>
            </a:r>
            <a:r>
              <a:rPr sz="1350" b="0" i="0">
                <a:solidFill>
                  <a:srgbClr val="4A5568"/>
                </a:solidFill>
                <a:latin typeface="Calibri"/>
                <a:ea typeface="Calibri"/>
              </a:rPr>
              <a:t>="</a:t>
            </a:r>
            <a:r>
              <a:rPr sz="1350" b="0" i="0">
                <a:solidFill>
                  <a:srgbClr val="B8860B"/>
                </a:solidFill>
                <a:latin typeface="Consolas"/>
                <a:ea typeface="Consolas"/>
              </a:rPr>
              <a:t>cx</a:t>
            </a:r>
            <a:r>
              <a:rPr sz="1350" b="0" i="0">
                <a:solidFill>
                  <a:srgbClr val="4A5568"/>
                </a:solidFill>
                <a:latin typeface="Calibri"/>
                <a:ea typeface="Calibri"/>
              </a:rPr>
              <a:t>,</a:t>
            </a:r>
            <a:r>
              <a:rPr sz="1350" b="0" i="0">
                <a:solidFill>
                  <a:srgbClr val="B8860B"/>
                </a:solidFill>
                <a:latin typeface="Consolas"/>
                <a:ea typeface="Consolas"/>
              </a:rPr>
              <a:t>cy</a:t>
            </a:r>
            <a:r>
              <a:rPr sz="1350" b="0" i="0">
                <a:solidFill>
                  <a:srgbClr val="4A5568"/>
                </a:solidFill>
                <a:latin typeface="Calibri"/>
                <a:ea typeface="Calibri"/>
              </a:rPr>
              <a:t>,</a:t>
            </a:r>
            <a:r>
              <a:rPr sz="1350" b="0" i="0">
                <a:solidFill>
                  <a:srgbClr val="B8860B"/>
                </a:solidFill>
                <a:latin typeface="Consolas"/>
                <a:ea typeface="Consolas"/>
              </a:rPr>
              <a:t>r</a:t>
            </a:r>
            <a:r>
              <a:rPr sz="1350" b="0" i="0">
                <a:solidFill>
                  <a:srgbClr val="4A5568"/>
                </a:solidFill>
                <a:latin typeface="Calibri"/>
                <a:ea typeface="Calibri"/>
              </a:rPr>
              <a:t>": centre point, then radius in pixels.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poly — vertex list</a:t>
            </a:r>
            <a:br/>
            <a:r>
              <a:rPr sz="1350" b="0" i="0">
                <a:solidFill>
                  <a:srgbClr val="B8860B"/>
                </a:solidFill>
                <a:latin typeface="Consolas"/>
                <a:ea typeface="Consolas"/>
              </a:rPr>
              <a:t>coords</a:t>
            </a:r>
            <a:r>
              <a:rPr sz="1350" b="0" i="0">
                <a:solidFill>
                  <a:srgbClr val="4A5568"/>
                </a:solidFill>
                <a:latin typeface="Calibri"/>
                <a:ea typeface="Calibri"/>
              </a:rPr>
              <a:t>="x1,y1,x2,y2,…": every corner, in order.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default</a:t>
            </a:r>
            <a:br/>
            <a:r>
              <a:rPr sz="1350" b="0" i="0">
                <a:solidFill>
                  <a:srgbClr val="4A5568"/>
                </a:solidFill>
                <a:latin typeface="Calibri"/>
                <a:ea typeface="Calibri"/>
              </a:rPr>
              <a:t>One region over the whole image — a fallback.</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 computer — a rectangle --&gt;</a:t>
            </a:r>
          </a:p>
          <a:p>
            <a:pPr>
              <a:spcAft>
                <a:spcPts val="350"/>
              </a:spcAft>
            </a:pPr>
            <a:r>
              <a:rPr sz="1300" b="0" i="0">
                <a:solidFill>
                  <a:srgbClr val="98C379"/>
                </a:solidFill>
                <a:latin typeface="Consolas"/>
                <a:ea typeface="Consolas"/>
              </a:rPr>
              <a:t>  &lt;area shape="rect" coords="34,44,270,350"</a:t>
            </a:r>
          </a:p>
          <a:p>
            <a:pPr>
              <a:spcAft>
                <a:spcPts val="350"/>
              </a:spcAft>
            </a:pPr>
            <a:r>
              <a:rPr sz="1300" b="0" i="0">
                <a:solidFill>
                  <a:srgbClr val="98C379"/>
                </a:solidFill>
                <a:latin typeface="Consolas"/>
                <a:ea typeface="Consolas"/>
              </a:rPr>
              <a:t>        alt="Computer" href="computer.html"&gt;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phone — another rectangle --&gt;</a:t>
            </a:r>
          </a:p>
          <a:p>
            <a:pPr>
              <a:spcAft>
                <a:spcPts val="350"/>
              </a:spcAft>
            </a:pPr>
            <a:r>
              <a:rPr sz="1300" b="0" i="0">
                <a:solidFill>
                  <a:srgbClr val="E5C07B"/>
                </a:solidFill>
                <a:latin typeface="Consolas"/>
                <a:ea typeface="Consolas"/>
              </a:rPr>
              <a:t>  &lt;area shape="rect" coords="290,172,333,250"</a:t>
            </a:r>
          </a:p>
          <a:p>
            <a:pPr>
              <a:spcAft>
                <a:spcPts val="350"/>
              </a:spcAft>
            </a:pPr>
            <a:r>
              <a:rPr sz="1300" b="0" i="0">
                <a:solidFill>
                  <a:srgbClr val="E5C07B"/>
                </a:solidFill>
                <a:latin typeface="Consolas"/>
                <a:ea typeface="Consolas"/>
              </a:rPr>
              <a:t>        alt="Phone" href="phone.html"&gt;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coffee — a circle --&gt;</a:t>
            </a:r>
          </a:p>
          <a:p>
            <a:pPr>
              <a:spcAft>
                <a:spcPts val="350"/>
              </a:spcAft>
            </a:pPr>
            <a:r>
              <a:rPr sz="1300" b="0" i="0">
                <a:solidFill>
                  <a:srgbClr val="98C379"/>
                </a:solidFill>
                <a:latin typeface="Consolas"/>
                <a:ea typeface="Consolas"/>
              </a:rPr>
              <a:t>  &lt;area shape="circle" coords="337,300,44"</a:t>
            </a:r>
          </a:p>
          <a:p>
            <a:pPr>
              <a:spcAft>
                <a:spcPts val="350"/>
              </a:spcAft>
            </a:pPr>
            <a:r>
              <a:rPr sz="1300" b="0" i="0">
                <a:solidFill>
                  <a:srgbClr val="98C379"/>
                </a:solidFill>
                <a:latin typeface="Consolas"/>
                <a:ea typeface="Consolas"/>
              </a:rPr>
              <a:t>        alt="Cup of coffee" href="coffee.html"&gt;</a:t>
            </a:r>
          </a:p>
          <a:p>
            <a:pPr>
              <a:spcAft>
                <a:spcPts val="350"/>
              </a:spcAft>
            </a:pPr>
            <a:r>
              <a:rPr sz="1300" b="0" i="0">
                <a:solidFill>
                  <a:srgbClr val="7F8C98"/>
                </a:solidFill>
                <a:latin typeface="Consolas"/>
                <a:ea typeface="Consolas"/>
              </a:rPr>
              <a:t>&lt;!-- irregular — list every corner --&gt;</a:t>
            </a:r>
          </a:p>
          <a:p>
            <a:pPr>
              <a:spcAft>
                <a:spcPts val="350"/>
              </a:spcAft>
            </a:pPr>
            <a:r>
              <a:rPr sz="1300" b="0" i="0">
                <a:solidFill>
                  <a:srgbClr val="E5C07B"/>
                </a:solidFill>
                <a:latin typeface="Consolas"/>
                <a:ea typeface="Consolas"/>
              </a:rPr>
              <a:t>  &lt;area shape="poly" coords="84,24,146,24,84,88"&gt;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tagsysx.github.io/comp3421/editor.html?example=html/image-map</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Coordinates are x,y pairs in pixels, measured from the image's top-left corner.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Picking the Numbers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800"/>
              </a:spcAft>
              <a:buClr>
                <a:srgbClr val="1E4FA8"/>
              </a:buClr>
              <a:buSzPct val="90000"/>
              <a:buFont typeface="Arial"/>
              <a:buChar char="▪"/>
            </a:pPr>
            <a:r>
              <a:rPr sz="1800" b="1" i="0">
                <a:solidFill>
                  <a:srgbClr val="1A2230"/>
                </a:solidFill>
                <a:latin typeface="Calibri"/>
                <a:ea typeface="Calibri"/>
              </a:rPr>
              <a:t>(0,0) is the top-left pixel</a:t>
            </a:r>
            <a:br/>
            <a:r>
              <a:rPr sz="1600" b="0" i="0">
                <a:solidFill>
                  <a:srgbClr val="4A5568"/>
                </a:solidFill>
                <a:latin typeface="Calibri"/>
                <a:ea typeface="Calibri"/>
              </a:rPr>
              <a:t>The image is a grid: x grows to the right, y grows down. Coords are positions on the image file — not on the page.</a:t>
            </a:r>
          </a:p>
          <a:p>
            <a:pPr marL="256032" indent="-237744">
              <a:lnSpc>
                <a:spcPct val="112000"/>
              </a:lnSpc>
              <a:spcAft>
                <a:spcPts val="800"/>
              </a:spcAft>
              <a:buClr>
                <a:srgbClr val="1E4FA8"/>
              </a:buClr>
              <a:buSzPct val="90000"/>
              <a:buFont typeface="Arial"/>
              <a:buChar char="▪"/>
            </a:pPr>
            <a:r>
              <a:rPr sz="1800" b="1" i="0">
                <a:solidFill>
                  <a:srgbClr val="1A2230"/>
                </a:solidFill>
                <a:latin typeface="Calibri"/>
                <a:ea typeface="Calibri"/>
              </a:rPr>
              <a:t>Measure the actual image</a:t>
            </a:r>
            <a:br/>
            <a:r>
              <a:rPr sz="1600" b="0" i="0">
                <a:solidFill>
                  <a:srgbClr val="4A5568"/>
                </a:solidFill>
                <a:latin typeface="Calibri"/>
                <a:ea typeface="Calibri"/>
              </a:rPr>
              <a:t>workplace.jpg is 400 × 379 px. Open it in Preview / an editor or hover it in the browser; the numbers below are the pixel positions you read.</a:t>
            </a:r>
          </a:p>
          <a:p>
            <a:pPr marL="256032" indent="-237744">
              <a:lnSpc>
                <a:spcPct val="112000"/>
              </a:lnSpc>
              <a:spcAft>
                <a:spcPts val="800"/>
              </a:spcAft>
              <a:buClr>
                <a:srgbClr val="1E4FA8"/>
              </a:buClr>
              <a:buSzPct val="90000"/>
              <a:buFont typeface="Arial"/>
              <a:buChar char="▪"/>
            </a:pPr>
            <a:r>
              <a:rPr sz="1800" b="1" i="0">
                <a:solidFill>
                  <a:srgbClr val="1A2230"/>
                </a:solidFill>
                <a:latin typeface="Calibri"/>
                <a:ea typeface="Calibri"/>
              </a:rPr>
              <a:t>rect — two opposite corners</a:t>
            </a:r>
            <a:br/>
            <a:r>
              <a:rPr sz="1600" b="0" i="0">
                <a:solidFill>
                  <a:srgbClr val="4A5568"/>
                </a:solidFill>
                <a:latin typeface="Calibri"/>
                <a:ea typeface="Calibri"/>
              </a:rPr>
              <a:t>Read one x,y pair for the top-left corner and one for the bottom-right: (34,44)–(270,350) boxes in the computer.</a:t>
            </a:r>
          </a:p>
          <a:p>
            <a:pPr marL="256032" indent="-237744">
              <a:lnSpc>
                <a:spcPct val="112000"/>
              </a:lnSpc>
              <a:spcAft>
                <a:spcPts val="800"/>
              </a:spcAft>
              <a:buClr>
                <a:srgbClr val="1E4FA8"/>
              </a:buClr>
              <a:buSzPct val="90000"/>
              <a:buFont typeface="Arial"/>
              <a:buChar char="▪"/>
            </a:pPr>
            <a:r>
              <a:rPr sz="1800" b="1" i="0">
                <a:solidFill>
                  <a:srgbClr val="1A2230"/>
                </a:solidFill>
                <a:latin typeface="Calibri"/>
                <a:ea typeface="Calibri"/>
              </a:rPr>
              <a:t>circle — centre, then radius</a:t>
            </a:r>
            <a:br/>
            <a:r>
              <a:rPr sz="1600" b="0" i="0">
                <a:solidFill>
                  <a:srgbClr val="4A5568"/>
                </a:solidFill>
                <a:latin typeface="Calibri"/>
                <a:ea typeface="Calibri"/>
              </a:rPr>
              <a:t>Read the middle of the cup (337,300), then count pixels out to its edge — the radius is 44.</a:t>
            </a:r>
          </a:p>
          <a:p>
            <a:pPr marL="256032" indent="-237744">
              <a:lnSpc>
                <a:spcPct val="112000"/>
              </a:lnSpc>
              <a:spcAft>
                <a:spcPts val="800"/>
              </a:spcAft>
              <a:buClr>
                <a:srgbClr val="1E4FA8"/>
              </a:buClr>
              <a:buSzPct val="90000"/>
              <a:buFont typeface="Arial"/>
              <a:buChar char="▪"/>
            </a:pPr>
            <a:r>
              <a:rPr sz="1800" b="1" i="0">
                <a:solidFill>
                  <a:srgbClr val="1A2230"/>
                </a:solidFill>
                <a:latin typeface="Calibri"/>
                <a:ea typeface="Calibri"/>
              </a:rPr>
              <a:t>poly — walk the outline</a:t>
            </a:r>
            <a:br/>
            <a:r>
              <a:rPr sz="1600" b="0" i="0">
                <a:solidFill>
                  <a:srgbClr val="4A5568"/>
                </a:solidFill>
                <a:latin typeface="Calibri"/>
                <a:ea typeface="Calibri"/>
              </a:rPr>
              <a:t>List each corner in order around the shape: x1,y1, x2,y2, x3,y3, … The browser joins the dots and closes the shape.</a:t>
            </a:r>
          </a:p>
          <a:p>
            <a:pPr marL="256032" indent="-237744">
              <a:lnSpc>
                <a:spcPct val="112000"/>
              </a:lnSpc>
              <a:spcAft>
                <a:spcPts val="800"/>
              </a:spcAft>
              <a:buClr>
                <a:srgbClr val="1E4FA8"/>
              </a:buClr>
              <a:buSzPct val="90000"/>
              <a:buFont typeface="Arial"/>
              <a:buChar char="▪"/>
            </a:pPr>
            <a:r>
              <a:rPr sz="1800" b="1" i="0">
                <a:solidFill>
                  <a:srgbClr val="1A2230"/>
                </a:solidFill>
                <a:latin typeface="Calibri"/>
                <a:ea typeface="Calibri"/>
              </a:rPr>
              <a:t>Test, then tune</a:t>
            </a:r>
            <a:br/>
            <a:r>
              <a:rPr sz="1600" b="0" i="0">
                <a:solidFill>
                  <a:srgbClr val="4A5568"/>
                </a:solidFill>
                <a:latin typeface="Calibri"/>
                <a:ea typeface="Calibri"/>
              </a:rPr>
              <a:t>Click every region once. If a hit misses, adjust one number and reload. Never resize the </a:t>
            </a:r>
            <a:r>
              <a:rPr sz="1600" b="0" i="0">
                <a:solidFill>
                  <a:srgbClr val="1E4FA8"/>
                </a:solidFill>
                <a:latin typeface="Consolas"/>
                <a:ea typeface="Consolas"/>
              </a:rPr>
              <a:t>&lt;img&gt;</a:t>
            </a:r>
            <a:r>
              <a:rPr sz="1600" b="0" i="0">
                <a:solidFill>
                  <a:srgbClr val="4A5568"/>
                </a:solidFill>
                <a:latin typeface="Calibri"/>
                <a:ea typeface="Calibri"/>
              </a:rPr>
              <a:t> with CSS — </a:t>
            </a:r>
            <a:r>
              <a:rPr sz="1600" b="0" i="0">
                <a:solidFill>
                  <a:srgbClr val="B8860B"/>
                </a:solidFill>
                <a:latin typeface="Consolas"/>
                <a:ea typeface="Consolas"/>
              </a:rPr>
              <a:t>coords</a:t>
            </a:r>
            <a:r>
              <a:rPr sz="1600" b="0" i="0">
                <a:solidFill>
                  <a:srgbClr val="4A5568"/>
                </a:solidFill>
                <a:latin typeface="Calibri"/>
                <a:ea typeface="Calibri"/>
              </a:rPr>
              <a:t> are fixed to the file's own pixels.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Click the three regions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tagsysx.github.io/comp3421/editor.html?example=html/image-map</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computer / phone / coffee — each goes to its own page.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&lt;picture&gt; Element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Responsive images</a:t>
            </a:r>
            <a:br/>
            <a:r>
              <a:rPr sz="1350" b="0" i="0">
                <a:solidFill>
                  <a:srgbClr val="4A5568"/>
                </a:solidFill>
                <a:latin typeface="Calibri"/>
                <a:ea typeface="Calibri"/>
              </a:rPr>
              <a:t>Load a different image per screen size.</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&lt;source </a:t>
            </a:r>
            <a:r>
              <a:rPr sz="1550" b="1" i="0">
                <a:solidFill>
                  <a:srgbClr val="B8860B"/>
                </a:solidFill>
                <a:latin typeface="Consolas"/>
                <a:ea typeface="Consolas"/>
              </a:rPr>
              <a:t>media</a:t>
            </a:r>
            <a:r>
              <a:rPr sz="1550" b="1" i="0">
                <a:solidFill>
                  <a:srgbClr val="1E4FA8"/>
                </a:solidFill>
                <a:latin typeface="Consolas"/>
                <a:ea typeface="Consolas"/>
              </a:rPr>
              <a:t>=…&gt;</a:t>
            </a:r>
            <a:br/>
            <a:r>
              <a:rPr sz="1350" b="0" i="0">
                <a:solidFill>
                  <a:srgbClr val="4A5568"/>
                </a:solidFill>
                <a:latin typeface="Calibri"/>
                <a:ea typeface="Calibri"/>
              </a:rPr>
              <a:t>A media query picks which image to use.</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&lt;img&gt;</a:t>
            </a:r>
            <a:r>
              <a:rPr sz="1550" b="1" i="0">
                <a:solidFill>
                  <a:srgbClr val="1A2230"/>
                </a:solidFill>
                <a:latin typeface="Calibri"/>
                <a:ea typeface="Calibri"/>
              </a:rPr>
              <a:t> fallback</a:t>
            </a:r>
            <a:br/>
            <a:r>
              <a:rPr sz="1350" b="0" i="0">
                <a:solidFill>
                  <a:srgbClr val="4A5568"/>
                </a:solidFill>
                <a:latin typeface="Calibri"/>
                <a:ea typeface="Calibri"/>
              </a:rPr>
              <a:t>The last </a:t>
            </a:r>
            <a:r>
              <a:rPr sz="1350" b="0" i="0">
                <a:solidFill>
                  <a:srgbClr val="1E4FA8"/>
                </a:solidFill>
                <a:latin typeface="Consolas"/>
                <a:ea typeface="Consolas"/>
              </a:rPr>
              <a:t>&lt;img&gt;</a:t>
            </a:r>
            <a:r>
              <a:rPr sz="1350" b="0" i="0">
                <a:solidFill>
                  <a:srgbClr val="4A5568"/>
                </a:solidFill>
                <a:latin typeface="Calibri"/>
                <a:ea typeface="Calibri"/>
              </a:rPr>
              <a:t> is used when none match.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Art direction</a:t>
            </a:r>
            <a:br/>
            <a:r>
              <a:rPr sz="1350" b="0" i="0">
                <a:solidFill>
                  <a:srgbClr val="4A5568"/>
                </a:solidFill>
                <a:latin typeface="Calibri"/>
                <a:ea typeface="Calibri"/>
              </a:rPr>
              <a:t>Crop or swap images for small vs large screens.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&lt;picture&gt;</a:t>
            </a:r>
          </a:p>
          <a:p>
            <a:pPr>
              <a:spcAft>
                <a:spcPts val="350"/>
              </a:spcAft>
            </a:pPr>
            <a:r>
              <a:rPr sz="1300" b="0" i="0">
                <a:solidFill>
                  <a:srgbClr val="98C379"/>
                </a:solidFill>
                <a:latin typeface="Consolas"/>
                <a:ea typeface="Consolas"/>
              </a:rPr>
              <a:t>  &lt;source media="(min-width: 650px)"</a:t>
            </a:r>
          </a:p>
          <a:p>
            <a:pPr>
              <a:spcAft>
                <a:spcPts val="350"/>
              </a:spcAft>
            </a:pPr>
            <a:r>
              <a:rPr sz="1300" b="0" i="0">
                <a:solidFill>
                  <a:srgbClr val="98C379"/>
                </a:solidFill>
                <a:latin typeface="Consolas"/>
                <a:ea typeface="Consolas"/>
              </a:rPr>
              <a:t>          srcset="large.jpg" /&gt;</a:t>
            </a:r>
          </a:p>
          <a:p>
            <a:pPr>
              <a:spcAft>
                <a:spcPts val="350"/>
              </a:spcAft>
            </a:pPr>
            <a:r>
              <a:rPr sz="1300" b="0" i="0">
                <a:solidFill>
                  <a:srgbClr val="98C379"/>
                </a:solidFill>
                <a:latin typeface="Consolas"/>
                <a:ea typeface="Consolas"/>
              </a:rPr>
              <a:t>  &lt;source media="(min-width: 465px)"</a:t>
            </a:r>
          </a:p>
          <a:p>
            <a:pPr>
              <a:spcAft>
                <a:spcPts val="350"/>
              </a:spcAft>
            </a:pPr>
            <a:r>
              <a:rPr sz="1300" b="0" i="0">
                <a:solidFill>
                  <a:srgbClr val="98C379"/>
                </a:solidFill>
                <a:latin typeface="Consolas"/>
                <a:ea typeface="Consolas"/>
              </a:rPr>
              <a:t>          srcset="medium.jpg" /&gt;</a:t>
            </a:r>
          </a:p>
          <a:p>
            <a:pPr>
              <a:spcAft>
                <a:spcPts val="350"/>
              </a:spcAft>
            </a:pPr>
            <a:r>
              <a:rPr sz="1300" b="0" i="0">
                <a:solidFill>
                  <a:srgbClr val="E5C07B"/>
                </a:solidFill>
                <a:latin typeface="Consolas"/>
                <a:ea typeface="Consolas"/>
              </a:rPr>
              <a:t>  &lt;img src="small.jpg" alt="A responsive image" /&gt;</a:t>
            </a:r>
          </a:p>
          <a:p>
            <a:pPr>
              <a:spcAft>
                <a:spcPts val="350"/>
              </a:spcAft>
            </a:pPr>
            <a:r>
              <a:rPr sz="1300" b="0" i="0">
                <a:solidFill>
                  <a:srgbClr val="61AFEF"/>
                </a:solidFill>
                <a:latin typeface="Consolas"/>
                <a:ea typeface="Consolas"/>
              </a:rPr>
              <a:t>&lt;/picture&gt;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tagsysx.github.io/comp3421/editor.html?example=html/picture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browser picks the right image — one &lt;picture&gt;, any device.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Lists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&lt;ul&gt;</a:t>
            </a:r>
            <a:br/>
            <a:r>
              <a:rPr sz="1350" b="0" i="0">
                <a:solidFill>
                  <a:srgbClr val="4A5568"/>
                </a:solidFill>
                <a:latin typeface="Calibri"/>
                <a:ea typeface="Calibri"/>
              </a:rPr>
              <a:t>Unordered list — bullets.</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&lt;ol&gt;</a:t>
            </a:r>
            <a:br/>
            <a:r>
              <a:rPr sz="1350" b="0" i="0">
                <a:solidFill>
                  <a:srgbClr val="4A5568"/>
                </a:solidFill>
                <a:latin typeface="Calibri"/>
                <a:ea typeface="Calibri"/>
              </a:rPr>
              <a:t>Ordered list — numbers.</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&lt;li&gt;</a:t>
            </a:r>
            <a:br/>
            <a:r>
              <a:rPr sz="1350" b="0" i="0">
                <a:solidFill>
                  <a:srgbClr val="4A5568"/>
                </a:solidFill>
                <a:latin typeface="Calibri"/>
                <a:ea typeface="Calibri"/>
              </a:rPr>
              <a:t>A list item, the child of ul or ol.</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&lt;dl&gt;</a:t>
            </a:r>
            <a:r>
              <a:rPr sz="1550" b="1" i="0">
                <a:solidFill>
                  <a:srgbClr val="1A2230"/>
                </a:solidFill>
                <a:latin typeface="Calibri"/>
                <a:ea typeface="Calibri"/>
              </a:rPr>
              <a:t> · </a:t>
            </a:r>
            <a:r>
              <a:rPr sz="1550" b="1" i="0">
                <a:solidFill>
                  <a:srgbClr val="1E4FA8"/>
                </a:solidFill>
                <a:latin typeface="Consolas"/>
                <a:ea typeface="Consolas"/>
              </a:rPr>
              <a:t>&lt;dt&gt;</a:t>
            </a:r>
            <a:r>
              <a:rPr sz="1550" b="1" i="0">
                <a:solidFill>
                  <a:srgbClr val="1A2230"/>
                </a:solidFill>
                <a:latin typeface="Calibri"/>
                <a:ea typeface="Calibri"/>
              </a:rPr>
              <a:t> · </a:t>
            </a:r>
            <a:r>
              <a:rPr sz="1550" b="1" i="0">
                <a:solidFill>
                  <a:srgbClr val="1E4FA8"/>
                </a:solidFill>
                <a:latin typeface="Consolas"/>
                <a:ea typeface="Consolas"/>
              </a:rPr>
              <a:t>&lt;dd&gt;</a:t>
            </a:r>
            <a:br/>
            <a:r>
              <a:rPr sz="1350" b="0" i="0">
                <a:solidFill>
                  <a:srgbClr val="4A5568"/>
                </a:solidFill>
                <a:latin typeface="Calibri"/>
                <a:ea typeface="Calibri"/>
              </a:rPr>
              <a:t>A definition list — term + description.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Nesting</a:t>
            </a:r>
            <a:br/>
            <a:r>
              <a:rPr sz="1350" b="0" i="0">
                <a:solidFill>
                  <a:srgbClr val="4A5568"/>
                </a:solidFill>
                <a:latin typeface="Calibri"/>
                <a:ea typeface="Calibri"/>
              </a:rPr>
              <a:t>Lists can nest for outlines and menus.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&lt;ul&gt;</a:t>
            </a:r>
          </a:p>
          <a:p>
            <a:pPr>
              <a:spcAft>
                <a:spcPts val="350"/>
              </a:spcAft>
            </a:pPr>
            <a:r>
              <a:rPr sz="1300" b="0" i="0">
                <a:solidFill>
                  <a:srgbClr val="98C379"/>
                </a:solidFill>
                <a:latin typeface="Consolas"/>
                <a:ea typeface="Consolas"/>
              </a:rPr>
              <a:t>  &lt;li&gt;HTML&lt;/li&gt;</a:t>
            </a:r>
          </a:p>
          <a:p>
            <a:pPr>
              <a:spcAft>
                <a:spcPts val="350"/>
              </a:spcAft>
            </a:pPr>
            <a:r>
              <a:rPr sz="1300" b="0" i="0">
                <a:solidFill>
                  <a:srgbClr val="98C379"/>
                </a:solidFill>
                <a:latin typeface="Consolas"/>
                <a:ea typeface="Consolas"/>
              </a:rPr>
              <a:t>  &lt;li&gt;CSS&lt;/li&gt;</a:t>
            </a:r>
          </a:p>
          <a:p>
            <a:pPr>
              <a:spcAft>
                <a:spcPts val="350"/>
              </a:spcAft>
            </a:pPr>
            <a:r>
              <a:rPr sz="1300" b="0" i="0">
                <a:solidFill>
                  <a:srgbClr val="61AFEF"/>
                </a:solidFill>
                <a:latin typeface="Consolas"/>
                <a:ea typeface="Consolas"/>
              </a:rPr>
              <a:t>&lt;/ul&gt;</a:t>
            </a:r>
          </a:p>
          <a:p>
            <a:pPr>
              <a:spcAft>
                <a:spcPts val="350"/>
              </a:spcAft>
            </a:pPr>
            <a:r>
              <a:rPr sz="1300" b="0" i="0">
                <a:solidFill>
                  <a:srgbClr val="7F8C98"/>
                </a:solidFill>
                <a:latin typeface="Consolas"/>
                <a:ea typeface="Consolas"/>
              </a:rPr>
              <a:t/>
            </a:r>
          </a:p>
          <a:p>
            <a:pPr>
              <a:spcAft>
                <a:spcPts val="350"/>
              </a:spcAft>
            </a:pPr>
            <a:r>
              <a:rPr sz="1300" b="0" i="0">
                <a:solidFill>
                  <a:srgbClr val="C678DD"/>
                </a:solidFill>
                <a:latin typeface="Consolas"/>
                <a:ea typeface="Consolas"/>
              </a:rPr>
              <a:t>&lt;dl&gt;</a:t>
            </a:r>
          </a:p>
          <a:p>
            <a:pPr>
              <a:spcAft>
                <a:spcPts val="350"/>
              </a:spcAft>
            </a:pPr>
            <a:r>
              <a:rPr sz="1300" b="0" i="0">
                <a:solidFill>
                  <a:srgbClr val="98C379"/>
                </a:solidFill>
                <a:latin typeface="Consolas"/>
                <a:ea typeface="Consolas"/>
              </a:rPr>
              <a:t>  &lt;dt&gt;HTML&lt;/dt&gt;</a:t>
            </a:r>
          </a:p>
          <a:p>
            <a:pPr>
              <a:spcAft>
                <a:spcPts val="350"/>
              </a:spcAft>
            </a:pPr>
            <a:r>
              <a:rPr sz="1300" b="0" i="0">
                <a:solidFill>
                  <a:srgbClr val="98C379"/>
                </a:solidFill>
                <a:latin typeface="Consolas"/>
                <a:ea typeface="Consolas"/>
              </a:rPr>
              <a:t>  &lt;dd&gt;HyperText Markup Language&lt;/dd&gt;</a:t>
            </a:r>
          </a:p>
          <a:p>
            <a:pPr>
              <a:spcAft>
                <a:spcPts val="350"/>
              </a:spcAft>
            </a:pPr>
            <a:r>
              <a:rPr sz="1300" b="0" i="0">
                <a:solidFill>
                  <a:srgbClr val="C678DD"/>
                </a:solidFill>
                <a:latin typeface="Consolas"/>
                <a:ea typeface="Consolas"/>
              </a:rPr>
              <a:t>&lt;/dl&gt;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tagsysx.github.io/comp3421/editor.html?example=html/lists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Three kinds of list — unordered, ordered, and definition.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Tables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 Links &amp; Media</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&lt;table&gt;</a:t>
            </a:r>
            <a:br/>
            <a:r>
              <a:rPr sz="1350" b="0" i="0">
                <a:solidFill>
                  <a:srgbClr val="4A5568"/>
                </a:solidFill>
                <a:latin typeface="Calibri"/>
                <a:ea typeface="Calibri"/>
              </a:rPr>
              <a:t>The table container.</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&lt;tr&gt;</a:t>
            </a:r>
            <a:br/>
            <a:r>
              <a:rPr sz="1350" b="0" i="0">
                <a:solidFill>
                  <a:srgbClr val="4A5568"/>
                </a:solidFill>
                <a:latin typeface="Calibri"/>
                <a:ea typeface="Calibri"/>
              </a:rPr>
              <a:t>A table row.</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&lt;th&gt;</a:t>
            </a:r>
            <a:r>
              <a:rPr sz="1550" b="1" i="0">
                <a:solidFill>
                  <a:srgbClr val="1A2230"/>
                </a:solidFill>
                <a:latin typeface="Calibri"/>
                <a:ea typeface="Calibri"/>
              </a:rPr>
              <a:t> / </a:t>
            </a:r>
            <a:r>
              <a:rPr sz="1550" b="1" i="0">
                <a:solidFill>
                  <a:srgbClr val="1E4FA8"/>
                </a:solidFill>
                <a:latin typeface="Consolas"/>
                <a:ea typeface="Consolas"/>
              </a:rPr>
              <a:t>&lt;td&gt;</a:t>
            </a:r>
            <a:br/>
            <a:r>
              <a:rPr sz="1350" b="0" i="0">
                <a:solidFill>
                  <a:srgbClr val="4A5568"/>
                </a:solidFill>
                <a:latin typeface="Calibri"/>
                <a:ea typeface="Calibri"/>
              </a:rPr>
              <a:t>A header cell (bold) / a data cell.</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&lt;caption&gt;</a:t>
            </a:r>
            <a:br/>
            <a:r>
              <a:rPr sz="1350" b="0" i="0">
                <a:solidFill>
                  <a:srgbClr val="4A5568"/>
                </a:solidFill>
                <a:latin typeface="Calibri"/>
                <a:ea typeface="Calibri"/>
              </a:rPr>
              <a:t>A visible title above the table.</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rowspan</a:t>
            </a:r>
            <a:r>
              <a:rPr sz="1550" b="1" i="0">
                <a:solidFill>
                  <a:srgbClr val="1A2230"/>
                </a:solidFill>
                <a:latin typeface="Calibri"/>
                <a:ea typeface="Calibri"/>
              </a:rPr>
              <a:t> / </a:t>
            </a:r>
            <a:r>
              <a:rPr sz="1550" b="1" i="0">
                <a:solidFill>
                  <a:srgbClr val="B8860B"/>
                </a:solidFill>
                <a:latin typeface="Consolas"/>
                <a:ea typeface="Consolas"/>
              </a:rPr>
              <a:t>colspan</a:t>
            </a:r>
            <a:br/>
            <a:r>
              <a:rPr sz="1350" b="0" i="0">
                <a:solidFill>
                  <a:srgbClr val="4A5568"/>
                </a:solidFill>
                <a:latin typeface="Calibri"/>
                <a:ea typeface="Calibri"/>
              </a:rPr>
              <a:t>Make a cell span rows or columns.</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&lt;thead&gt;</a:t>
            </a:r>
            <a:r>
              <a:rPr sz="1550" b="1" i="0">
                <a:solidFill>
                  <a:srgbClr val="1A2230"/>
                </a:solidFill>
                <a:latin typeface="Calibri"/>
                <a:ea typeface="Calibri"/>
              </a:rPr>
              <a:t> / </a:t>
            </a:r>
            <a:r>
              <a:rPr sz="1550" b="1" i="0">
                <a:solidFill>
                  <a:srgbClr val="1E4FA8"/>
                </a:solidFill>
                <a:latin typeface="Consolas"/>
                <a:ea typeface="Consolas"/>
              </a:rPr>
              <a:t>&lt;tbody&gt;</a:t>
            </a:r>
            <a:br/>
            <a:r>
              <a:rPr sz="1350" b="0" i="0">
                <a:solidFill>
                  <a:srgbClr val="4A5568"/>
                </a:solidFill>
                <a:latin typeface="Calibri"/>
                <a:ea typeface="Calibri"/>
              </a:rPr>
              <a:t>Group header and body rows.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For data only</a:t>
            </a:r>
            <a:br/>
            <a:r>
              <a:rPr sz="1350" b="0" i="0">
                <a:solidFill>
                  <a:srgbClr val="4A5568"/>
                </a:solidFill>
                <a:latin typeface="Calibri"/>
                <a:ea typeface="Calibri"/>
              </a:rPr>
              <a:t>Use tables for data — not for page layout.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&lt;table&gt;</a:t>
            </a:r>
          </a:p>
          <a:p>
            <a:pPr>
              <a:spcAft>
                <a:spcPts val="350"/>
              </a:spcAft>
            </a:pPr>
            <a:r>
              <a:rPr sz="1300" b="0" i="0">
                <a:solidFill>
                  <a:srgbClr val="C678DD"/>
                </a:solidFill>
                <a:latin typeface="Consolas"/>
                <a:ea typeface="Consolas"/>
              </a:rPr>
              <a:t>  &lt;caption&gt;Monthly savings&lt;/caption&gt;</a:t>
            </a:r>
          </a:p>
          <a:p>
            <a:pPr>
              <a:spcAft>
                <a:spcPts val="350"/>
              </a:spcAft>
            </a:pPr>
            <a:r>
              <a:rPr sz="1300" b="0" i="0">
                <a:solidFill>
                  <a:srgbClr val="C678DD"/>
                </a:solidFill>
                <a:latin typeface="Consolas"/>
                <a:ea typeface="Consolas"/>
              </a:rPr>
              <a:t>  &lt;tr&gt;&lt;th&gt;Name&lt;/th&gt;&lt;th&gt;Mark&lt;/th&gt;&lt;/tr&gt;</a:t>
            </a:r>
          </a:p>
          <a:p>
            <a:pPr>
              <a:spcAft>
                <a:spcPts val="350"/>
              </a:spcAft>
            </a:pPr>
            <a:r>
              <a:rPr sz="1300" b="0" i="0">
                <a:solidFill>
                  <a:srgbClr val="E5C07B"/>
                </a:solidFill>
                <a:latin typeface="Consolas"/>
                <a:ea typeface="Consolas"/>
              </a:rPr>
              <a:t>  &lt;tr&gt;&lt;td rowspan="2"&gt;Ada&lt;/td&gt;&lt;td&gt;95&lt;/td&gt;&lt;/tr&gt;</a:t>
            </a:r>
          </a:p>
          <a:p>
            <a:pPr>
              <a:spcAft>
                <a:spcPts val="350"/>
              </a:spcAft>
            </a:pPr>
            <a:r>
              <a:rPr sz="1300" b="0" i="0">
                <a:solidFill>
                  <a:srgbClr val="98C379"/>
                </a:solidFill>
                <a:latin typeface="Consolas"/>
                <a:ea typeface="Consolas"/>
              </a:rPr>
              <a:t>  &lt;tr&gt;&lt;td&gt;88&lt;/td&gt;&lt;/tr&gt;</a:t>
            </a:r>
          </a:p>
          <a:p>
            <a:pPr>
              <a:spcAft>
                <a:spcPts val="350"/>
              </a:spcAft>
            </a:pPr>
            <a:r>
              <a:rPr sz="1300" b="0" i="0">
                <a:solidFill>
                  <a:srgbClr val="61AFEF"/>
                </a:solidFill>
                <a:latin typeface="Consolas"/>
                <a:ea typeface="Consolas"/>
              </a:rPr>
              <a:t>&lt;/table&gt;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tagsysx.github.io/comp3421/editor.html?example=html/table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4 will style these with CSS — structure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03</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Forms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Collecting user input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Inputs, labels, and buttons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Validation without JavaScript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Why Forms?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The doorway for input</a:t>
            </a:r>
            <a:br/>
            <a:r>
              <a:rPr sz="2000" b="0" i="0">
                <a:solidFill>
                  <a:srgbClr val="4A5568"/>
                </a:solidFill>
                <a:latin typeface="Calibri"/>
                <a:ea typeface="Calibri"/>
              </a:rPr>
              <a:t>Every login, search, and checkout is a form.</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Submit to a server</a:t>
            </a:r>
            <a:br/>
            <a:r>
              <a:rPr sz="2000" b="0" i="0">
                <a:solidFill>
                  <a:srgbClr val="4A5568"/>
                </a:solidFill>
                <a:latin typeface="Calibri"/>
                <a:ea typeface="Calibri"/>
              </a:rPr>
              <a:t>Form data is sent as an HTTP request (Week 9).</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Many control types</a:t>
            </a:r>
            <a:br/>
            <a:r>
              <a:rPr sz="2000" b="0" i="0">
                <a:solidFill>
                  <a:srgbClr val="4A5568"/>
                </a:solidFill>
                <a:latin typeface="Calibri"/>
                <a:ea typeface="Calibri"/>
              </a:rPr>
              <a:t>Text, email, password, date, checkbox, radio…</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Label everything</a:t>
            </a:r>
            <a:br/>
            <a:r>
              <a:rPr sz="2000" b="0" i="0">
                <a:solidFill>
                  <a:srgbClr val="4A5568"/>
                </a:solidFill>
                <a:latin typeface="Calibri"/>
                <a:ea typeface="Calibri"/>
              </a:rPr>
              <a:t>Accessible forms label every control.</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form sends data to the server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tagsysx.github.io/comp3421/editor.html?example=html/form</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&lt;form action="/submit" method="post"&gt;…&lt;/form&gt;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&lt;form&gt; Element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action</a:t>
            </a:r>
            <a:br/>
            <a:r>
              <a:rPr sz="1350" b="0" i="0">
                <a:solidFill>
                  <a:srgbClr val="4A5568"/>
                </a:solidFill>
                <a:latin typeface="Calibri"/>
                <a:ea typeface="Calibri"/>
              </a:rPr>
              <a:t>Where to send the data — the URL, </a:t>
            </a:r>
            <a:r>
              <a:rPr sz="1350" b="0" i="0">
                <a:solidFill>
                  <a:srgbClr val="B8860B"/>
                </a:solidFill>
                <a:latin typeface="Consolas"/>
                <a:ea typeface="Consolas"/>
              </a:rPr>
              <a:t>required</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method</a:t>
            </a:r>
            <a:r>
              <a:rPr sz="1550" b="1" i="0">
                <a:solidFill>
                  <a:srgbClr val="1A2230"/>
                </a:solidFill>
                <a:latin typeface="Calibri"/>
                <a:ea typeface="Calibri"/>
              </a:rPr>
              <a:t>="get"</a:t>
            </a:r>
            <a:br/>
            <a:r>
              <a:rPr sz="1350" b="0" i="0">
                <a:solidFill>
                  <a:srgbClr val="4A5568"/>
                </a:solidFill>
                <a:latin typeface="Calibri"/>
                <a:ea typeface="Calibri"/>
              </a:rPr>
              <a:t>Data goes in the URL (?key=</a:t>
            </a:r>
            <a:r>
              <a:rPr sz="1350" b="0" i="0">
                <a:solidFill>
                  <a:srgbClr val="B8860B"/>
                </a:solidFill>
                <a:latin typeface="Consolas"/>
                <a:ea typeface="Consolas"/>
              </a:rPr>
              <a:t>value</a:t>
            </a:r>
            <a:r>
              <a:rPr sz="1350" b="0" i="0">
                <a:solidFill>
                  <a:srgbClr val="4A5568"/>
                </a:solidFill>
                <a:latin typeface="Calibri"/>
                <a:ea typeface="Calibri"/>
              </a:rPr>
              <a:t>) — for short, non-sensitive queries.</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method</a:t>
            </a:r>
            <a:r>
              <a:rPr sz="1550" b="1" i="0">
                <a:solidFill>
                  <a:srgbClr val="1A2230"/>
                </a:solidFill>
                <a:latin typeface="Calibri"/>
                <a:ea typeface="Calibri"/>
              </a:rPr>
              <a:t>="post"</a:t>
            </a:r>
            <a:br/>
            <a:r>
              <a:rPr sz="1350" b="0" i="0">
                <a:solidFill>
                  <a:srgbClr val="4A5568"/>
                </a:solidFill>
                <a:latin typeface="Calibri"/>
                <a:ea typeface="Calibri"/>
              </a:rPr>
              <a:t>Data goes in the request body — for anything sensitive or long.</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target</a:t>
            </a:r>
            <a:br/>
            <a:r>
              <a:rPr sz="1350" b="0" i="0">
                <a:solidFill>
                  <a:srgbClr val="4A5568"/>
                </a:solidFill>
                <a:latin typeface="Calibri"/>
                <a:ea typeface="Calibri"/>
              </a:rPr>
              <a:t>Where to open the result — _blank, _top, or same window.</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Submit button</a:t>
            </a:r>
            <a:br/>
            <a:r>
              <a:rPr sz="1350" b="0" i="0">
                <a:solidFill>
                  <a:srgbClr val="4A5568"/>
                </a:solidFill>
                <a:latin typeface="Calibri"/>
                <a:ea typeface="Calibri"/>
              </a:rPr>
              <a:t>Triggers the send to the server.</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&lt;form action="/submit" method="post"&gt;</a:t>
            </a:r>
          </a:p>
          <a:p>
            <a:pPr>
              <a:spcAft>
                <a:spcPts val="350"/>
              </a:spcAft>
            </a:pPr>
            <a:r>
              <a:rPr sz="1300" b="0" i="0">
                <a:solidFill>
                  <a:srgbClr val="98C379"/>
                </a:solidFill>
                <a:latin typeface="Consolas"/>
                <a:ea typeface="Consolas"/>
              </a:rPr>
              <a:t>  &lt;label&gt;Name: &lt;input name="name"&gt;&lt;/label&gt;</a:t>
            </a:r>
          </a:p>
          <a:p>
            <a:pPr>
              <a:spcAft>
                <a:spcPts val="350"/>
              </a:spcAft>
            </a:pPr>
            <a:r>
              <a:rPr sz="1300" b="0" i="0">
                <a:solidFill>
                  <a:srgbClr val="98C379"/>
                </a:solidFill>
                <a:latin typeface="Consolas"/>
                <a:ea typeface="Consolas"/>
              </a:rPr>
              <a:t>  &lt;label&gt;Email: &lt;input type="email"&gt;&lt;/label&gt;</a:t>
            </a:r>
          </a:p>
          <a:p>
            <a:pPr>
              <a:spcAft>
                <a:spcPts val="350"/>
              </a:spcAft>
            </a:pPr>
            <a:r>
              <a:rPr sz="1300" b="0" i="0">
                <a:solidFill>
                  <a:srgbClr val="E5C07B"/>
                </a:solidFill>
                <a:latin typeface="Consolas"/>
                <a:ea typeface="Consolas"/>
              </a:rPr>
              <a:t>  &lt;button type="submit"&gt;Send&lt;/button&gt;</a:t>
            </a:r>
          </a:p>
          <a:p>
            <a:pPr>
              <a:spcAft>
                <a:spcPts val="350"/>
              </a:spcAft>
            </a:pPr>
            <a:r>
              <a:rPr sz="1300" b="0" i="0">
                <a:solidFill>
                  <a:srgbClr val="61AFEF"/>
                </a:solidFill>
                <a:latin typeface="Consolas"/>
                <a:ea typeface="Consolas"/>
              </a:rPr>
              <a:t>&lt;/form&gt;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action + method tell the form what to 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Input Attributes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type</a:t>
            </a:r>
            <a:br/>
            <a:r>
              <a:rPr sz="1350" b="0" i="0">
                <a:solidFill>
                  <a:srgbClr val="4A5568"/>
                </a:solidFill>
                <a:latin typeface="Calibri"/>
                <a:ea typeface="Calibri"/>
              </a:rPr>
              <a:t>Which kind of control — text, email, password, checkbox…</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name</a:t>
            </a:r>
            <a:br/>
            <a:r>
              <a:rPr sz="1350" b="0" i="0">
                <a:solidFill>
                  <a:srgbClr val="4A5568"/>
                </a:solidFill>
                <a:latin typeface="Calibri"/>
                <a:ea typeface="Calibri"/>
              </a:rPr>
              <a:t>The key the server receives for this field.</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id</a:t>
            </a:r>
            <a:br/>
            <a:r>
              <a:rPr sz="1350" b="0" i="0">
                <a:solidFill>
                  <a:srgbClr val="4A5568"/>
                </a:solidFill>
                <a:latin typeface="Calibri"/>
                <a:ea typeface="Calibri"/>
              </a:rPr>
              <a:t>A unique identifier — pairs with </a:t>
            </a:r>
            <a:r>
              <a:rPr sz="1350" b="0" i="0">
                <a:solidFill>
                  <a:srgbClr val="1E4FA8"/>
                </a:solidFill>
                <a:latin typeface="Consolas"/>
                <a:ea typeface="Consolas"/>
              </a:rPr>
              <a:t>&lt;label </a:t>
            </a:r>
            <a:r>
              <a:rPr sz="1350" b="0" i="0">
                <a:solidFill>
                  <a:srgbClr val="B8860B"/>
                </a:solidFill>
                <a:latin typeface="Consolas"/>
                <a:ea typeface="Consolas"/>
              </a:rPr>
              <a:t>for</a:t>
            </a:r>
            <a:r>
              <a:rPr sz="1350" b="0" i="0">
                <a:solidFill>
                  <a:srgbClr val="1E4FA8"/>
                </a:solidFill>
                <a:latin typeface="Consolas"/>
                <a:ea typeface="Consolas"/>
              </a:rPr>
              <a:t>="…"&gt;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value</a:t>
            </a:r>
            <a:br/>
            <a:r>
              <a:rPr sz="1350" b="0" i="0">
                <a:solidFill>
                  <a:srgbClr val="4A5568"/>
                </a:solidFill>
                <a:latin typeface="Calibri"/>
                <a:ea typeface="Calibri"/>
              </a:rPr>
              <a:t>The field's current </a:t>
            </a:r>
            <a:r>
              <a:rPr sz="1350" b="0" i="0">
                <a:solidFill>
                  <a:srgbClr val="B8860B"/>
                </a:solidFill>
                <a:latin typeface="Consolas"/>
                <a:ea typeface="Consolas"/>
              </a:rPr>
              <a:t>value</a:t>
            </a:r>
            <a:r>
              <a:rPr sz="1350" b="0" i="0">
                <a:solidFill>
                  <a:srgbClr val="4A5568"/>
                </a:solidFill>
                <a:latin typeface="Calibri"/>
                <a:ea typeface="Calibri"/>
              </a:rPr>
              <a:t>, or a pre-filled default.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placeholder</a:t>
            </a:r>
            <a:br/>
            <a:r>
              <a:rPr sz="1350" b="0" i="0">
                <a:solidFill>
                  <a:srgbClr val="4A5568"/>
                </a:solidFill>
                <a:latin typeface="Calibri"/>
                <a:ea typeface="Calibri"/>
              </a:rPr>
              <a:t>Grey hint text — not a substitute for a label.</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readonly</a:t>
            </a:r>
            <a:r>
              <a:rPr sz="1550" b="1" i="0">
                <a:solidFill>
                  <a:srgbClr val="1A2230"/>
                </a:solidFill>
                <a:latin typeface="Calibri"/>
                <a:ea typeface="Calibri"/>
              </a:rPr>
              <a:t> / </a:t>
            </a:r>
            <a:r>
              <a:rPr sz="1550" b="1" i="0">
                <a:solidFill>
                  <a:srgbClr val="B8860B"/>
                </a:solidFill>
                <a:latin typeface="Consolas"/>
                <a:ea typeface="Consolas"/>
              </a:rPr>
              <a:t>disabled</a:t>
            </a:r>
            <a:br/>
            <a:r>
              <a:rPr sz="1350" b="0" i="0">
                <a:solidFill>
                  <a:srgbClr val="4A5568"/>
                </a:solidFill>
                <a:latin typeface="Calibri"/>
                <a:ea typeface="Calibri"/>
              </a:rPr>
              <a:t>Read-only, or completely inactive.</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required</a:t>
            </a:r>
            <a:br/>
            <a:r>
              <a:rPr sz="1350" b="0" i="0">
                <a:solidFill>
                  <a:srgbClr val="4A5568"/>
                </a:solidFill>
                <a:latin typeface="Calibri"/>
                <a:ea typeface="Calibri"/>
              </a:rPr>
              <a:t>Must be filled before submit.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&lt;input type="email" name="email"</a:t>
            </a:r>
          </a:p>
          <a:p>
            <a:pPr>
              <a:spcAft>
                <a:spcPts val="350"/>
              </a:spcAft>
            </a:pPr>
            <a:r>
              <a:rPr sz="1300" b="0" i="0">
                <a:solidFill>
                  <a:srgbClr val="98C379"/>
                </a:solidFill>
                <a:latin typeface="Consolas"/>
                <a:ea typeface="Consolas"/>
              </a:rPr>
              <a:t>       id="em"</a:t>
            </a:r>
          </a:p>
          <a:p>
            <a:pPr>
              <a:spcAft>
                <a:spcPts val="350"/>
              </a:spcAft>
            </a:pPr>
            <a:r>
              <a:rPr sz="1300" b="0" i="0">
                <a:solidFill>
                  <a:srgbClr val="E5C07B"/>
                </a:solidFill>
                <a:latin typeface="Consolas"/>
                <a:ea typeface="Consolas"/>
              </a:rPr>
              <a:t>       placeholder="you@polyu.edu.hk"</a:t>
            </a:r>
          </a:p>
          <a:p>
            <a:pPr>
              <a:spcAft>
                <a:spcPts val="350"/>
              </a:spcAft>
            </a:pPr>
            <a:r>
              <a:rPr sz="1300" b="0" i="0">
                <a:solidFill>
                  <a:srgbClr val="E5C07B"/>
                </a:solidFill>
                <a:latin typeface="Consolas"/>
                <a:ea typeface="Consolas"/>
              </a:rPr>
              <a:t>       required&gt;</a:t>
            </a:r>
          </a:p>
          <a:p>
            <a:pPr>
              <a:spcAft>
                <a:spcPts val="350"/>
              </a:spcAft>
            </a:pPr>
            <a:r>
              <a:rPr sz="1300" b="0" i="0">
                <a:solidFill>
                  <a:srgbClr val="7F8C98"/>
                </a:solidFill>
                <a:latin typeface="Consolas"/>
                <a:ea typeface="Consolas"/>
              </a:rPr>
              <a:t/>
            </a:r>
          </a:p>
          <a:p>
            <a:pPr>
              <a:spcAft>
                <a:spcPts val="350"/>
              </a:spcAft>
            </a:pPr>
            <a:r>
              <a:rPr sz="1300" b="0" i="0">
                <a:solidFill>
                  <a:srgbClr val="C678DD"/>
                </a:solidFill>
                <a:latin typeface="Consolas"/>
                <a:ea typeface="Consolas"/>
              </a:rPr>
              <a:t>&lt;input type="text" value="locked" readonly&gt;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tagsysx.github.io/comp3421/editor.html?example=html/inputs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attributes that make an input useful.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Input Types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text / password</a:t>
            </a:r>
            <a:br/>
            <a:r>
              <a:rPr sz="1350" b="0" i="0">
                <a:solidFill>
                  <a:srgbClr val="4A5568"/>
                </a:solidFill>
                <a:latin typeface="Calibri"/>
                <a:ea typeface="Calibri"/>
              </a:rPr>
              <a:t>Single-line text, or masked text.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email</a:t>
            </a:r>
            <a:br/>
            <a:r>
              <a:rPr sz="1350" b="0" i="0">
                <a:solidFill>
                  <a:srgbClr val="4A5568"/>
                </a:solidFill>
                <a:latin typeface="Calibri"/>
                <a:ea typeface="Calibri"/>
              </a:rPr>
              <a:t>With built-in format validation.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url</a:t>
            </a:r>
            <a:br/>
            <a:r>
              <a:rPr sz="1350" b="0" i="0">
                <a:solidFill>
                  <a:srgbClr val="4A5568"/>
                </a:solidFill>
                <a:latin typeface="Calibri"/>
                <a:ea typeface="Calibri"/>
              </a:rPr>
              <a:t>For web addresses.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number / date</a:t>
            </a:r>
            <a:br/>
            <a:r>
              <a:rPr sz="1350" b="0" i="0">
                <a:solidFill>
                  <a:srgbClr val="4A5568"/>
                </a:solidFill>
                <a:latin typeface="Calibri"/>
                <a:ea typeface="Calibri"/>
              </a:rPr>
              <a:t>Numeric input and a calendar picker.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range / color</a:t>
            </a:r>
            <a:br/>
            <a:r>
              <a:rPr sz="1350" b="0" i="0">
                <a:solidFill>
                  <a:srgbClr val="4A5568"/>
                </a:solidFill>
                <a:latin typeface="Calibri"/>
                <a:ea typeface="Calibri"/>
              </a:rPr>
              <a:t>A slider and a colour picker.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checkbox / radio</a:t>
            </a:r>
            <a:br/>
            <a:r>
              <a:rPr sz="1350" b="0" i="0">
                <a:solidFill>
                  <a:srgbClr val="4A5568"/>
                </a:solidFill>
                <a:latin typeface="Calibri"/>
                <a:ea typeface="Calibri"/>
              </a:rPr>
              <a:t>Tick boxes and mutually-exclusive choices.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submit / reset</a:t>
            </a:r>
            <a:br/>
            <a:r>
              <a:rPr sz="1350" b="0" i="0">
                <a:solidFill>
                  <a:srgbClr val="4A5568"/>
                </a:solidFill>
                <a:latin typeface="Calibri"/>
                <a:ea typeface="Calibri"/>
              </a:rPr>
              <a:t>Send the form, or clear its values.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file</a:t>
            </a:r>
            <a:br/>
            <a:r>
              <a:rPr sz="1350" b="0" i="0">
                <a:solidFill>
                  <a:srgbClr val="4A5568"/>
                </a:solidFill>
                <a:latin typeface="Calibri"/>
                <a:ea typeface="Calibri"/>
              </a:rPr>
              <a:t>Upload a file.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"text"</a:t>
            </a:r>
            <a:r>
              <a:rPr sz="1300" b="0" i="0">
                <a:solidFill>
                  <a:srgbClr val="61AFEF"/>
                </a:solidFill>
                <a:latin typeface="Consolas"/>
                <a:ea typeface="Consolas"/>
              </a:rPr>
              <a:t>&gt;</a:t>
            </a:r>
          </a:p>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"password"</a:t>
            </a:r>
            <a:r>
              <a:rPr sz="1300" b="0" i="0">
                <a:solidFill>
                  <a:srgbClr val="61AFEF"/>
                </a:solidFill>
                <a:latin typeface="Consolas"/>
                <a:ea typeface="Consolas"/>
              </a:rPr>
              <a:t>&gt;</a:t>
            </a:r>
          </a:p>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"email"</a:t>
            </a:r>
            <a:r>
              <a:rPr sz="1300" b="0" i="0">
                <a:solidFill>
                  <a:srgbClr val="61AFEF"/>
                </a:solidFill>
                <a:latin typeface="Consolas"/>
                <a:ea typeface="Consolas"/>
              </a:rPr>
              <a:t>&gt;</a:t>
            </a:r>
          </a:p>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"number"</a:t>
            </a:r>
            <a:r>
              <a:rPr sz="1300" b="0" i="0">
                <a:solidFill>
                  <a:srgbClr val="61AFEF"/>
                </a:solidFill>
                <a:latin typeface="Consolas"/>
                <a:ea typeface="Consolas"/>
              </a:rPr>
              <a:t>&gt;</a:t>
            </a:r>
          </a:p>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"date"</a:t>
            </a:r>
            <a:r>
              <a:rPr sz="1300" b="0" i="0">
                <a:solidFill>
                  <a:srgbClr val="61AFEF"/>
                </a:solidFill>
                <a:latin typeface="Consolas"/>
                <a:ea typeface="Consolas"/>
              </a:rPr>
              <a:t>&gt;</a:t>
            </a:r>
          </a:p>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"checkbox"</a:t>
            </a:r>
            <a:r>
              <a:rPr sz="1300" b="0" i="0">
                <a:solidFill>
                  <a:srgbClr val="61AFEF"/>
                </a:solidFill>
                <a:latin typeface="Consolas"/>
                <a:ea typeface="Consolas"/>
              </a:rPr>
              <a:t>&gt;</a:t>
            </a:r>
            <a:r>
              <a:rPr sz="1300" b="0" i="0">
                <a:solidFill>
                  <a:srgbClr val="7F8C98"/>
                </a:solidFill>
                <a:latin typeface="Consolas"/>
                <a:ea typeface="Consolas"/>
              </a:rPr>
              <a:t> Remember me</a:t>
            </a:r>
          </a:p>
          <a:p>
            <a:pPr>
              <a:spcAft>
                <a:spcPts val="350"/>
              </a:spcAft>
            </a:pPr>
            <a:r>
              <a:rPr sz="1300" b="0" i="0">
                <a:solidFill>
                  <a:srgbClr val="61AFEF"/>
                </a:solidFill>
                <a:latin typeface="Consolas"/>
                <a:ea typeface="Consolas"/>
              </a:rPr>
              <a:t>&lt;input</a:t>
            </a:r>
            <a:r>
              <a:rPr sz="1300" b="0" i="0">
                <a:solidFill>
                  <a:srgbClr val="E5C07B"/>
                </a:solidFill>
                <a:latin typeface="Consolas"/>
                <a:ea typeface="Consolas"/>
              </a:rPr>
              <a:t> type=</a:t>
            </a:r>
            <a:r>
              <a:rPr sz="1300" b="0" i="0">
                <a:solidFill>
                  <a:srgbClr val="98C379"/>
                </a:solidFill>
                <a:latin typeface="Consolas"/>
                <a:ea typeface="Consolas"/>
              </a:rPr>
              <a:t>"file"</a:t>
            </a:r>
            <a:r>
              <a:rPr sz="1300" b="0" i="0">
                <a:solidFill>
                  <a:srgbClr val="61AFEF"/>
                </a:solidFill>
                <a:latin typeface="Consolas"/>
                <a:ea typeface="Consolas"/>
              </a:rPr>
              <a:t>&gt;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tagsysx.github.io/comp3421/editor.html?example=html/inputs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type tells the browser what kind of input.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Inputs in Action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type</a:t>
            </a:r>
            <a:br/>
            <a:r>
              <a:rPr sz="1350" b="0" i="0">
                <a:solidFill>
                  <a:srgbClr val="4A5568"/>
                </a:solidFill>
                <a:latin typeface="Calibri"/>
                <a:ea typeface="Calibri"/>
              </a:rPr>
              <a:t>Changes the control and its behaviour.</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name</a:t>
            </a:r>
            <a:br/>
            <a:r>
              <a:rPr sz="1350" b="0" i="0">
                <a:solidFill>
                  <a:srgbClr val="4A5568"/>
                </a:solidFill>
                <a:latin typeface="Calibri"/>
                <a:ea typeface="Calibri"/>
              </a:rPr>
              <a:t>The key the server receives.</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placeholder</a:t>
            </a:r>
            <a:br/>
            <a:r>
              <a:rPr sz="1350" b="0" i="0">
                <a:solidFill>
                  <a:srgbClr val="4A5568"/>
                </a:solidFill>
                <a:latin typeface="Calibri"/>
                <a:ea typeface="Calibri"/>
              </a:rPr>
              <a:t>Grey hint text (not a label).</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value</a:t>
            </a:r>
            <a:br/>
            <a:r>
              <a:rPr sz="1350" b="0" i="0">
                <a:solidFill>
                  <a:srgbClr val="4A5568"/>
                </a:solidFill>
                <a:latin typeface="Calibri"/>
                <a:ea typeface="Calibri"/>
              </a:rPr>
              <a:t>A pre-filled </a:t>
            </a:r>
            <a:r>
              <a:rPr sz="1350" b="0" i="0">
                <a:solidFill>
                  <a:srgbClr val="B8860B"/>
                </a:solidFill>
                <a:latin typeface="Consolas"/>
                <a:ea typeface="Consolas"/>
              </a:rPr>
              <a:t>value</a:t>
            </a:r>
            <a:r>
              <a:rPr sz="1350" b="0" i="0">
                <a:solidFill>
                  <a:srgbClr val="4A5568"/>
                </a:solidFill>
                <a:latin typeface="Calibri"/>
                <a:ea typeface="Calibri"/>
              </a:rPr>
              <a: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&lt;input type="text" name="username"&gt;</a:t>
            </a:r>
          </a:p>
          <a:p>
            <a:pPr>
              <a:spcAft>
                <a:spcPts val="350"/>
              </a:spcAft>
            </a:pPr>
            <a:r>
              <a:rPr sz="1300" b="0" i="0">
                <a:solidFill>
                  <a:srgbClr val="61AFEF"/>
                </a:solidFill>
                <a:latin typeface="Consolas"/>
                <a:ea typeface="Consolas"/>
              </a:rPr>
              <a:t>&lt;input type="password" name="pw"&gt;</a:t>
            </a:r>
          </a:p>
          <a:p>
            <a:pPr>
              <a:spcAft>
                <a:spcPts val="350"/>
              </a:spcAft>
            </a:pPr>
            <a:r>
              <a:rPr sz="1300" b="0" i="0">
                <a:solidFill>
                  <a:srgbClr val="98C379"/>
                </a:solidFill>
                <a:latin typeface="Consolas"/>
                <a:ea typeface="Consolas"/>
              </a:rPr>
              <a:t>&lt;input type="email" placeholder="you@polyu.edu.hk"&gt;</a:t>
            </a:r>
          </a:p>
          <a:p>
            <a:pPr>
              <a:spcAft>
                <a:spcPts val="350"/>
              </a:spcAft>
            </a:pPr>
            <a:r>
              <a:rPr sz="1300" b="0" i="0">
                <a:solidFill>
                  <a:srgbClr val="E5C07B"/>
                </a:solidFill>
                <a:latin typeface="Consolas"/>
                <a:ea typeface="Consolas"/>
              </a:rPr>
              <a:t>&lt;input type="number" min="0" max="100"&gt;</a:t>
            </a:r>
          </a:p>
          <a:p>
            <a:pPr>
              <a:spcAft>
                <a:spcPts val="350"/>
              </a:spcAft>
            </a:pPr>
            <a:r>
              <a:rPr sz="1300" b="0" i="0">
                <a:solidFill>
                  <a:srgbClr val="C678DD"/>
                </a:solidFill>
                <a:latin typeface="Consolas"/>
                <a:ea typeface="Consolas"/>
              </a:rPr>
              <a:t>&lt;input type="date"&gt;</a:t>
            </a:r>
          </a:p>
          <a:p>
            <a:pPr>
              <a:spcAft>
                <a:spcPts val="350"/>
              </a:spcAft>
            </a:pPr>
            <a:r>
              <a:rPr sz="1300" b="0" i="0">
                <a:solidFill>
                  <a:srgbClr val="C678DD"/>
                </a:solidFill>
                <a:latin typeface="Consolas"/>
                <a:ea typeface="Consolas"/>
              </a:rPr>
              <a:t>&lt;input type="checkbox"&gt; Remember me</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tagsysx.github.io/comp3421/editor.html?example=html/inputs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Dozens of types — the browser gives each one free behaviour.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Labels &amp; Accessibility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&lt;label </a:t>
            </a:r>
            <a:r>
              <a:rPr sz="1550" b="1" i="0">
                <a:solidFill>
                  <a:srgbClr val="B8860B"/>
                </a:solidFill>
                <a:latin typeface="Consolas"/>
                <a:ea typeface="Consolas"/>
              </a:rPr>
              <a:t>for</a:t>
            </a:r>
            <a:r>
              <a:rPr sz="1550" b="1" i="0">
                <a:solidFill>
                  <a:srgbClr val="1E4FA8"/>
                </a:solidFill>
                <a:latin typeface="Consolas"/>
                <a:ea typeface="Consolas"/>
              </a:rPr>
              <a:t>="…"&gt;</a:t>
            </a:r>
            <a:br/>
            <a:r>
              <a:rPr sz="1350" b="0" i="0">
                <a:solidFill>
                  <a:srgbClr val="4A5568"/>
                </a:solidFill>
                <a:latin typeface="Calibri"/>
                <a:ea typeface="Calibri"/>
              </a:rPr>
              <a:t>Ties text to its control via the </a:t>
            </a:r>
            <a:r>
              <a:rPr sz="1350" b="0" i="0">
                <a:solidFill>
                  <a:srgbClr val="B8860B"/>
                </a:solidFill>
                <a:latin typeface="Consolas"/>
                <a:ea typeface="Consolas"/>
              </a:rPr>
              <a:t>id</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Click the label</a:t>
            </a:r>
            <a:br/>
            <a:r>
              <a:rPr sz="1350" b="0" i="0">
                <a:solidFill>
                  <a:srgbClr val="4A5568"/>
                </a:solidFill>
                <a:latin typeface="Calibri"/>
                <a:ea typeface="Calibri"/>
              </a:rPr>
              <a:t>Focuses the input — a bigger click area.</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Screen readers</a:t>
            </a:r>
            <a:br/>
            <a:r>
              <a:rPr sz="1350" b="0" i="0">
                <a:solidFill>
                  <a:srgbClr val="4A5568"/>
                </a:solidFill>
                <a:latin typeface="Calibri"/>
                <a:ea typeface="Calibri"/>
              </a:rPr>
              <a:t>Announce what each control is for.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Placeholder ≠ label</a:t>
            </a:r>
            <a:br/>
            <a:r>
              <a:rPr sz="1350" b="0" i="0">
                <a:solidFill>
                  <a:srgbClr val="4A5568"/>
                </a:solidFill>
                <a:latin typeface="Calibri"/>
                <a:ea typeface="Calibri"/>
              </a:rPr>
              <a:t>Hints vanish; labels stay.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&lt;label for="em"&gt;Email&lt;/label&gt;</a:t>
            </a:r>
          </a:p>
          <a:p>
            <a:pPr>
              <a:spcAft>
                <a:spcPts val="350"/>
              </a:spcAft>
            </a:pPr>
            <a:r>
              <a:rPr sz="1300" b="0" i="0">
                <a:solidFill>
                  <a:srgbClr val="98C379"/>
                </a:solidFill>
                <a:latin typeface="Consolas"/>
                <a:ea typeface="Consolas"/>
              </a:rPr>
              <a:t>&lt;input id="em" type="email"&gt;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clicking the label focuses the input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tagsysx.github.io/comp3421/editor.html?example=html/inputs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 label wired to its input.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Built-in Validation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required</a:t>
            </a:r>
            <a:br/>
            <a:r>
              <a:rPr sz="1350" b="0" i="0">
                <a:solidFill>
                  <a:srgbClr val="4A5568"/>
                </a:solidFill>
                <a:latin typeface="Calibri"/>
                <a:ea typeface="Calibri"/>
              </a:rPr>
              <a:t>The field must be filled.</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min</a:t>
            </a:r>
            <a:r>
              <a:rPr sz="1550" b="1" i="0">
                <a:solidFill>
                  <a:srgbClr val="1A2230"/>
                </a:solidFill>
                <a:latin typeface="Calibri"/>
                <a:ea typeface="Calibri"/>
              </a:rPr>
              <a:t> / </a:t>
            </a:r>
            <a:r>
              <a:rPr sz="1550" b="1" i="0">
                <a:solidFill>
                  <a:srgbClr val="B8860B"/>
                </a:solidFill>
                <a:latin typeface="Consolas"/>
                <a:ea typeface="Consolas"/>
              </a:rPr>
              <a:t>max</a:t>
            </a:r>
            <a:r>
              <a:rPr sz="1550" b="1" i="0">
                <a:solidFill>
                  <a:srgbClr val="1A2230"/>
                </a:solidFill>
                <a:latin typeface="Calibri"/>
                <a:ea typeface="Calibri"/>
              </a:rPr>
              <a:t> / minlength</a:t>
            </a:r>
            <a:br/>
            <a:r>
              <a:rPr sz="1350" b="0" i="0">
                <a:solidFill>
                  <a:srgbClr val="4A5568"/>
                </a:solidFill>
                <a:latin typeface="Calibri"/>
                <a:ea typeface="Calibri"/>
              </a:rPr>
              <a:t>Range and length checks.</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pattern</a:t>
            </a:r>
            <a:br/>
            <a:r>
              <a:rPr sz="1350" b="0" i="0">
                <a:solidFill>
                  <a:srgbClr val="4A5568"/>
                </a:solidFill>
                <a:latin typeface="Calibri"/>
                <a:ea typeface="Calibri"/>
              </a:rPr>
              <a:t>A regular expression the </a:t>
            </a:r>
            <a:r>
              <a:rPr sz="1350" b="0" i="0">
                <a:solidFill>
                  <a:srgbClr val="B8860B"/>
                </a:solidFill>
                <a:latin typeface="Consolas"/>
                <a:ea typeface="Consolas"/>
              </a:rPr>
              <a:t>value</a:t>
            </a:r>
            <a:r>
              <a:rPr sz="1350" b="0" i="0">
                <a:solidFill>
                  <a:srgbClr val="4A5568"/>
                </a:solidFill>
                <a:latin typeface="Calibri"/>
                <a:ea typeface="Calibri"/>
              </a:rPr>
              <a:t> must match.</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placeholder</a:t>
            </a:r>
            <a:br/>
            <a:r>
              <a:rPr sz="1350" b="0" i="0">
                <a:solidFill>
                  <a:srgbClr val="4A5568"/>
                </a:solidFill>
                <a:latin typeface="Calibri"/>
                <a:ea typeface="Calibri"/>
              </a:rPr>
              <a:t>Grey hint for the expected </a:t>
            </a:r>
            <a:r>
              <a:rPr sz="1350" b="0" i="0">
                <a:solidFill>
                  <a:srgbClr val="B8860B"/>
                </a:solidFill>
                <a:latin typeface="Consolas"/>
                <a:ea typeface="Consolas"/>
              </a:rPr>
              <a:t>value</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autocomplete</a:t>
            </a:r>
            <a:br/>
            <a:r>
              <a:rPr sz="1350" b="0" i="0">
                <a:solidFill>
                  <a:srgbClr val="4A5568"/>
                </a:solidFill>
                <a:latin typeface="Calibri"/>
                <a:ea typeface="Calibri"/>
              </a:rPr>
              <a:t>Suggest values from previous inputs.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Browser enforces</a:t>
            </a:r>
            <a:br/>
            <a:r>
              <a:rPr sz="1350" b="0" i="0">
                <a:solidFill>
                  <a:srgbClr val="4A5568"/>
                </a:solidFill>
                <a:latin typeface="Calibri"/>
                <a:ea typeface="Calibri"/>
              </a:rPr>
              <a:t>No JavaScript needed for basic checks.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&lt;input type="email" required&gt;</a:t>
            </a:r>
          </a:p>
          <a:p>
            <a:pPr>
              <a:spcAft>
                <a:spcPts val="350"/>
              </a:spcAft>
            </a:pPr>
            <a:r>
              <a:rPr sz="1300" b="0" i="0">
                <a:solidFill>
                  <a:srgbClr val="98C379"/>
                </a:solidFill>
                <a:latin typeface="Consolas"/>
                <a:ea typeface="Consolas"/>
              </a:rPr>
              <a:t>&lt;input type="number" min="0" max="100"&gt;</a:t>
            </a:r>
          </a:p>
          <a:p>
            <a:pPr>
              <a:spcAft>
                <a:spcPts val="350"/>
              </a:spcAft>
            </a:pPr>
            <a:r>
              <a:rPr sz="1300" b="0" i="0">
                <a:solidFill>
                  <a:srgbClr val="E5C07B"/>
                </a:solidFill>
                <a:latin typeface="Consolas"/>
                <a:ea typeface="Consolas"/>
              </a:rPr>
              <a:t>&lt;input type="text" pattern="[A-Za-z]{3,}"&gt;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the browser blocks invalid submits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browser blocks the submit until it is valid.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 Complete Form</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Label every control</a:t>
            </a:r>
            <a:br/>
            <a:r>
              <a:rPr sz="1350" b="0" i="0">
                <a:solidFill>
                  <a:srgbClr val="4A5568"/>
                </a:solidFill>
                <a:latin typeface="Calibri"/>
                <a:ea typeface="Calibri"/>
              </a:rPr>
              <a:t>Each input gets a </a:t>
            </a:r>
            <a:r>
              <a:rPr sz="1350" b="0" i="0">
                <a:solidFill>
                  <a:srgbClr val="1E4FA8"/>
                </a:solidFill>
                <a:latin typeface="Consolas"/>
                <a:ea typeface="Consolas"/>
              </a:rPr>
              <a:t>&lt;label&gt;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Group with fieldset</a:t>
            </a:r>
            <a:br/>
            <a:r>
              <a:rPr sz="1350" b="0" i="0">
                <a:solidFill>
                  <a:srgbClr val="4A5568"/>
                </a:solidFill>
                <a:latin typeface="Calibri"/>
                <a:ea typeface="Calibri"/>
              </a:rPr>
              <a:t>Wrap related fields in </a:t>
            </a:r>
            <a:r>
              <a:rPr sz="1350" b="0" i="0">
                <a:solidFill>
                  <a:srgbClr val="1E4FA8"/>
                </a:solidFill>
                <a:latin typeface="Consolas"/>
                <a:ea typeface="Consolas"/>
              </a:rPr>
              <a:t>&lt;fieldset&gt;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Submit button</a:t>
            </a:r>
            <a:br/>
            <a:r>
              <a:rPr sz="1350" b="0" i="0">
                <a:solidFill>
                  <a:srgbClr val="4A5568"/>
                </a:solidFill>
                <a:latin typeface="Calibri"/>
                <a:ea typeface="Calibri"/>
              </a:rPr>
              <a:t>Triggers the send to </a:t>
            </a:r>
            <a:r>
              <a:rPr sz="1350" b="0" i="0">
                <a:solidFill>
                  <a:srgbClr val="B8860B"/>
                </a:solidFill>
                <a:latin typeface="Consolas"/>
                <a:ea typeface="Consolas"/>
              </a:rPr>
              <a:t>action</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Validate</a:t>
            </a:r>
            <a:br/>
            <a:r>
              <a:rPr sz="1350" b="0" i="0">
                <a:solidFill>
                  <a:srgbClr val="B8860B"/>
                </a:solidFill>
                <a:latin typeface="Consolas"/>
                <a:ea typeface="Consolas"/>
              </a:rPr>
              <a:t>required</a:t>
            </a:r>
            <a:r>
              <a:rPr sz="1350" b="0" i="0">
                <a:solidFill>
                  <a:srgbClr val="4A5568"/>
                </a:solidFill>
                <a:latin typeface="Calibri"/>
                <a:ea typeface="Calibri"/>
              </a:rPr>
              <a:t> and </a:t>
            </a:r>
            <a:r>
              <a:rPr sz="1350" b="0" i="0">
                <a:solidFill>
                  <a:srgbClr val="B8860B"/>
                </a:solidFill>
                <a:latin typeface="Consolas"/>
                <a:ea typeface="Consolas"/>
              </a:rPr>
              <a:t>type</a:t>
            </a:r>
            <a:r>
              <a:rPr sz="1350" b="0" i="0">
                <a:solidFill>
                  <a:srgbClr val="4A5568"/>
                </a:solidFill>
                <a:latin typeface="Calibri"/>
                <a:ea typeface="Calibri"/>
              </a:rPr>
              <a:t> do the checks for free.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&lt;form action="/signup" method="post"&gt;</a:t>
            </a:r>
          </a:p>
          <a:p>
            <a:pPr>
              <a:spcAft>
                <a:spcPts val="350"/>
              </a:spcAft>
            </a:pPr>
            <a:r>
              <a:rPr sz="1300" b="0" i="0">
                <a:solidFill>
                  <a:srgbClr val="98C379"/>
                </a:solidFill>
                <a:latin typeface="Consolas"/>
                <a:ea typeface="Consolas"/>
              </a:rPr>
              <a:t>  &lt;label for="n"&gt;Name&lt;/label&gt;</a:t>
            </a:r>
          </a:p>
          <a:p>
            <a:pPr>
              <a:spcAft>
                <a:spcPts val="350"/>
              </a:spcAft>
            </a:pPr>
            <a:r>
              <a:rPr sz="1300" b="0" i="0">
                <a:solidFill>
                  <a:srgbClr val="98C379"/>
                </a:solidFill>
                <a:latin typeface="Consolas"/>
                <a:ea typeface="Consolas"/>
              </a:rPr>
              <a:t>  &lt;input id="n" name="name" required&gt;</a:t>
            </a:r>
          </a:p>
          <a:p>
            <a:pPr>
              <a:spcAft>
                <a:spcPts val="350"/>
              </a:spcAft>
            </a:pPr>
            <a:r>
              <a:rPr sz="1300" b="0" i="0">
                <a:solidFill>
                  <a:srgbClr val="98C379"/>
                </a:solidFill>
                <a:latin typeface="Consolas"/>
                <a:ea typeface="Consolas"/>
              </a:rPr>
              <a:t>  &lt;label for="e"&gt;Email&lt;/label&gt;</a:t>
            </a:r>
          </a:p>
          <a:p>
            <a:pPr>
              <a:spcAft>
                <a:spcPts val="350"/>
              </a:spcAft>
            </a:pPr>
            <a:r>
              <a:rPr sz="1300" b="0" i="0">
                <a:solidFill>
                  <a:srgbClr val="98C379"/>
                </a:solidFill>
                <a:latin typeface="Consolas"/>
                <a:ea typeface="Consolas"/>
              </a:rPr>
              <a:t>  &lt;input id="e" type="email" required&gt;</a:t>
            </a:r>
          </a:p>
          <a:p>
            <a:pPr>
              <a:spcAft>
                <a:spcPts val="350"/>
              </a:spcAft>
            </a:pPr>
            <a:r>
              <a:rPr sz="1300" b="0" i="0">
                <a:solidFill>
                  <a:srgbClr val="E5C07B"/>
                </a:solidFill>
                <a:latin typeface="Consolas"/>
                <a:ea typeface="Consolas"/>
              </a:rPr>
              <a:t>  &lt;button type="submit"&gt;Sign up&lt;/button&gt;</a:t>
            </a:r>
          </a:p>
          <a:p>
            <a:pPr>
              <a:spcAft>
                <a:spcPts val="350"/>
              </a:spcAft>
            </a:pPr>
            <a:r>
              <a:rPr sz="1300" b="0" i="0">
                <a:solidFill>
                  <a:srgbClr val="61AFEF"/>
                </a:solidFill>
                <a:latin typeface="Consolas"/>
                <a:ea typeface="Consolas"/>
              </a:rPr>
              <a:t>&lt;/form&gt;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11: an Express route will receive this form's fields.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04</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Media</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Audio and video elements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Players from one attribute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Format fallbacks with </a:t>
            </a:r>
            <a:r>
              <a:rPr sz="1600" b="0" i="0">
                <a:solidFill>
                  <a:srgbClr val="1E4FA8"/>
                </a:solidFill>
                <a:latin typeface="Consolas"/>
                <a:ea typeface="Consolas"/>
              </a:rPr>
              <a:t>&lt;source&gt;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Audio</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&amp; Accessibility</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controls</a:t>
            </a:r>
            <a:br/>
            <a:r>
              <a:rPr sz="1350" b="0" i="0">
                <a:solidFill>
                  <a:srgbClr val="4A5568"/>
                </a:solidFill>
                <a:latin typeface="Calibri"/>
                <a:ea typeface="Calibri"/>
              </a:rPr>
              <a:t>Shows the play / pause / volume buttons.</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&lt;source&gt;</a:t>
            </a:r>
            <a:br/>
            <a:r>
              <a:rPr sz="1350" b="0" i="0">
                <a:solidFill>
                  <a:srgbClr val="4A5568"/>
                </a:solidFill>
                <a:latin typeface="Calibri"/>
                <a:ea typeface="Calibri"/>
              </a:rPr>
              <a:t>Multiple formats — the browser plays the first it supports.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Fallback text</a:t>
            </a:r>
            <a:br/>
            <a:r>
              <a:rPr sz="1350" b="0" i="0">
                <a:solidFill>
                  <a:srgbClr val="4A5568"/>
                </a:solidFill>
                <a:latin typeface="Calibri"/>
                <a:ea typeface="Calibri"/>
              </a:rPr>
              <a:t>Shown when audio is not supported.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 plugins</a:t>
            </a:r>
            <a:br/>
            <a:r>
              <a:rPr sz="1350" b="0" i="0">
                <a:solidFill>
                  <a:srgbClr val="4A5568"/>
                </a:solidFill>
                <a:latin typeface="Calibri"/>
                <a:ea typeface="Calibri"/>
              </a:rPr>
              <a:t>HTML5 audio plays natively — no Flash needed.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&lt;audio controls&gt;</a:t>
            </a:r>
          </a:p>
          <a:p>
            <a:pPr>
              <a:spcAft>
                <a:spcPts val="350"/>
              </a:spcAft>
            </a:pPr>
            <a:r>
              <a:rPr sz="1300" b="0" i="0">
                <a:solidFill>
                  <a:srgbClr val="98C379"/>
                </a:solidFill>
                <a:latin typeface="Consolas"/>
                <a:ea typeface="Consolas"/>
              </a:rPr>
              <a:t>  &lt;source src="song.mp3" type="audio/mpeg" /&gt;</a:t>
            </a:r>
          </a:p>
          <a:p>
            <a:pPr>
              <a:spcAft>
                <a:spcPts val="350"/>
              </a:spcAft>
            </a:pPr>
            <a:r>
              <a:rPr sz="1300" b="0" i="0">
                <a:solidFill>
                  <a:srgbClr val="98C379"/>
                </a:solidFill>
                <a:latin typeface="Consolas"/>
                <a:ea typeface="Consolas"/>
              </a:rPr>
              <a:t>  &lt;source src="song.ogg" type="audio/ogg" /&gt;</a:t>
            </a:r>
          </a:p>
          <a:p>
            <a:pPr>
              <a:spcAft>
                <a:spcPts val="350"/>
              </a:spcAft>
            </a:pPr>
            <a:r>
              <a:rPr sz="1300" b="0" i="0">
                <a:solidFill>
                  <a:srgbClr val="7F8C98"/>
                </a:solidFill>
                <a:latin typeface="Consolas"/>
                <a:ea typeface="Consolas"/>
              </a:rPr>
              <a:t>  Your browser does not support audio.</a:t>
            </a:r>
          </a:p>
          <a:p>
            <a:pPr>
              <a:spcAft>
                <a:spcPts val="350"/>
              </a:spcAft>
            </a:pPr>
            <a:r>
              <a:rPr sz="1300" b="0" i="0">
                <a:solidFill>
                  <a:srgbClr val="61AFEF"/>
                </a:solidFill>
                <a:latin typeface="Consolas"/>
                <a:ea typeface="Consolas"/>
              </a:rPr>
              <a:t>&lt;/audio&gt;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tagsysx.github.io/comp3421/editor.html?example=html/media</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Audio plays in the browser — no third-party plugin required.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Video</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&amp; Accessibility</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controls</a:t>
            </a:r>
            <a:br/>
            <a:r>
              <a:rPr sz="1350" b="0" i="0">
                <a:solidFill>
                  <a:srgbClr val="4A5568"/>
                </a:solidFill>
                <a:latin typeface="Calibri"/>
                <a:ea typeface="Calibri"/>
              </a:rPr>
              <a:t>Play, pause, volume and fullscreen.</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width</a:t>
            </a:r>
            <a:r>
              <a:rPr sz="1550" b="1" i="0">
                <a:solidFill>
                  <a:srgbClr val="1A2230"/>
                </a:solidFill>
                <a:latin typeface="Calibri"/>
                <a:ea typeface="Calibri"/>
              </a:rPr>
              <a:t> / </a:t>
            </a:r>
            <a:r>
              <a:rPr sz="1550" b="1" i="0">
                <a:solidFill>
                  <a:srgbClr val="B8860B"/>
                </a:solidFill>
                <a:latin typeface="Consolas"/>
                <a:ea typeface="Consolas"/>
              </a:rPr>
              <a:t>height</a:t>
            </a:r>
            <a:br/>
            <a:r>
              <a:rPr sz="1350" b="0" i="0">
                <a:solidFill>
                  <a:srgbClr val="4A5568"/>
                </a:solidFill>
                <a:latin typeface="Calibri"/>
                <a:ea typeface="Calibri"/>
              </a:rPr>
              <a:t>The size of the player box.</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&lt;source&gt;</a:t>
            </a:r>
            <a:br/>
            <a:r>
              <a:rPr sz="1350" b="0" i="0">
                <a:solidFill>
                  <a:srgbClr val="4A5568"/>
                </a:solidFill>
                <a:latin typeface="Calibri"/>
                <a:ea typeface="Calibri"/>
              </a:rPr>
              <a:t>Try several formats for cross-browser support.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Fallback text</a:t>
            </a:r>
            <a:br/>
            <a:r>
              <a:rPr sz="1350" b="0" i="0">
                <a:solidFill>
                  <a:srgbClr val="4A5568"/>
                </a:solidFill>
                <a:latin typeface="Calibri"/>
                <a:ea typeface="Calibri"/>
              </a:rPr>
              <a:t>Shown if the video cannot play.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&lt;video width="320" controls&gt;</a:t>
            </a:r>
          </a:p>
          <a:p>
            <a:pPr>
              <a:spcAft>
                <a:spcPts val="350"/>
              </a:spcAft>
            </a:pPr>
            <a:r>
              <a:rPr sz="1300" b="0" i="0">
                <a:solidFill>
                  <a:srgbClr val="98C379"/>
                </a:solidFill>
                <a:latin typeface="Consolas"/>
                <a:ea typeface="Consolas"/>
              </a:rPr>
              <a:t>  &lt;source src="movie.mp4" type="video/mp4" /&gt;</a:t>
            </a:r>
          </a:p>
          <a:p>
            <a:pPr>
              <a:spcAft>
                <a:spcPts val="350"/>
              </a:spcAft>
            </a:pPr>
            <a:r>
              <a:rPr sz="1300" b="0" i="0">
                <a:solidFill>
                  <a:srgbClr val="98C379"/>
                </a:solidFill>
                <a:latin typeface="Consolas"/>
                <a:ea typeface="Consolas"/>
              </a:rPr>
              <a:t>  &lt;source src="movie.ogg" type="video/ogg" /&gt;</a:t>
            </a:r>
          </a:p>
          <a:p>
            <a:pPr>
              <a:spcAft>
                <a:spcPts val="350"/>
              </a:spcAft>
            </a:pPr>
            <a:r>
              <a:rPr sz="1300" b="0" i="0">
                <a:solidFill>
                  <a:srgbClr val="7F8C98"/>
                </a:solidFill>
                <a:latin typeface="Consolas"/>
                <a:ea typeface="Consolas"/>
              </a:rPr>
              <a:t>  Your browser does not support video.</a:t>
            </a:r>
          </a:p>
          <a:p>
            <a:pPr>
              <a:spcAft>
                <a:spcPts val="350"/>
              </a:spcAft>
            </a:pPr>
            <a:r>
              <a:rPr sz="1300" b="0" i="0">
                <a:solidFill>
                  <a:srgbClr val="61AFEF"/>
                </a:solidFill>
                <a:latin typeface="Consolas"/>
                <a:ea typeface="Consolas"/>
              </a:rPr>
              <a:t>&lt;/video&gt;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tagsysx.github.io/comp3421/editor.html?example=html/media</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Embedded video, straight from markup — no plugin.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05</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SVG</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Vector graphics in markup</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Shapes, paths, and coordinates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Why SVG beats a fixed-size image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Animation: CSS keyframes and SMIL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Is SVG?</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SVG</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Scalable Vector Graphics</a:t>
            </a:r>
            <a:br/>
            <a:r>
              <a:rPr sz="2000" b="0" i="0">
                <a:solidFill>
                  <a:srgbClr val="4A5568"/>
                </a:solidFill>
                <a:latin typeface="Calibri"/>
                <a:ea typeface="Calibri"/>
              </a:rPr>
              <a:t>Shapes described by markup, not pixels.</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Crisp at any size</a:t>
            </a:r>
            <a:br/>
            <a:r>
              <a:rPr sz="2000" b="0" i="0">
                <a:solidFill>
                  <a:srgbClr val="4A5568"/>
                </a:solidFill>
                <a:latin typeface="Calibri"/>
                <a:ea typeface="Calibri"/>
              </a:rPr>
              <a:t>Scale up or down — never blurry.</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Text-based</a:t>
            </a:r>
            <a:br/>
            <a:r>
              <a:rPr sz="2000" b="0" i="0">
                <a:solidFill>
                  <a:srgbClr val="4A5568"/>
                </a:solidFill>
                <a:latin typeface="Calibri"/>
                <a:ea typeface="Calibri"/>
              </a:rPr>
              <a:t>A plain-text format you can read and edit.</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Styleable with CSS</a:t>
            </a:r>
            <a:br/>
            <a:r>
              <a:rPr sz="2000" b="0" i="0">
                <a:solidFill>
                  <a:srgbClr val="4A5568"/>
                </a:solidFill>
                <a:latin typeface="Calibri"/>
                <a:ea typeface="Calibri"/>
              </a:rPr>
              <a:t>Change colour and size from stylesheets.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circle, described in markup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tagsysx.github.io/comp3421/editor.html?example=html/svg</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&lt;circle cx="50" cy="50" r="40" fill="blue"&gt;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Basic Shapes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SVG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&lt;rect&gt;</a:t>
            </a:r>
            <a:br/>
            <a:r>
              <a:rPr sz="1350" b="0" i="0">
                <a:solidFill>
                  <a:srgbClr val="4A5568"/>
                </a:solidFill>
                <a:latin typeface="Calibri"/>
                <a:ea typeface="Calibri"/>
              </a:rPr>
              <a:t>A rectangle: x, y, </a:t>
            </a:r>
            <a:r>
              <a:rPr sz="1350" b="0" i="0">
                <a:solidFill>
                  <a:srgbClr val="B8860B"/>
                </a:solidFill>
                <a:latin typeface="Consolas"/>
                <a:ea typeface="Consolas"/>
              </a:rPr>
              <a:t>width</a:t>
            </a:r>
            <a:r>
              <a:rPr sz="1350" b="0" i="0">
                <a:solidFill>
                  <a:srgbClr val="4A5568"/>
                </a:solidFill>
                <a:latin typeface="Calibri"/>
                <a:ea typeface="Calibri"/>
              </a:rPr>
              <a:t>, </a:t>
            </a:r>
            <a:r>
              <a:rPr sz="1350" b="0" i="0">
                <a:solidFill>
                  <a:srgbClr val="B8860B"/>
                </a:solidFill>
                <a:latin typeface="Consolas"/>
                <a:ea typeface="Consolas"/>
              </a:rPr>
              <a:t>height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&lt;circle&gt;</a:t>
            </a:r>
            <a:br/>
            <a:r>
              <a:rPr sz="1350" b="0" i="0">
                <a:solidFill>
                  <a:srgbClr val="4A5568"/>
                </a:solidFill>
                <a:latin typeface="Calibri"/>
                <a:ea typeface="Calibri"/>
              </a:rPr>
              <a:t>A circle: </a:t>
            </a:r>
            <a:r>
              <a:rPr sz="1350" b="0" i="0">
                <a:solidFill>
                  <a:srgbClr val="B8860B"/>
                </a:solidFill>
                <a:latin typeface="Consolas"/>
                <a:ea typeface="Consolas"/>
              </a:rPr>
              <a:t>cx</a:t>
            </a:r>
            <a:r>
              <a:rPr sz="1350" b="0" i="0">
                <a:solidFill>
                  <a:srgbClr val="4A5568"/>
                </a:solidFill>
                <a:latin typeface="Calibri"/>
                <a:ea typeface="Calibri"/>
              </a:rPr>
              <a:t>, </a:t>
            </a:r>
            <a:r>
              <a:rPr sz="1350" b="0" i="0">
                <a:solidFill>
                  <a:srgbClr val="B8860B"/>
                </a:solidFill>
                <a:latin typeface="Consolas"/>
                <a:ea typeface="Consolas"/>
              </a:rPr>
              <a:t>cy</a:t>
            </a:r>
            <a:r>
              <a:rPr sz="1350" b="0" i="0">
                <a:solidFill>
                  <a:srgbClr val="4A5568"/>
                </a:solidFill>
                <a:latin typeface="Calibri"/>
                <a:ea typeface="Calibri"/>
              </a:rPr>
              <a:t>, </a:t>
            </a:r>
            <a:r>
              <a:rPr sz="1350" b="0" i="0">
                <a:solidFill>
                  <a:srgbClr val="B8860B"/>
                </a:solidFill>
                <a:latin typeface="Consolas"/>
                <a:ea typeface="Consolas"/>
              </a:rPr>
              <a:t>r</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&lt;line&gt;</a:t>
            </a:r>
            <a:br/>
            <a:r>
              <a:rPr sz="1350" b="0" i="0">
                <a:solidFill>
                  <a:srgbClr val="4A5568"/>
                </a:solidFill>
                <a:latin typeface="Calibri"/>
                <a:ea typeface="Calibri"/>
              </a:rPr>
              <a:t>A line: x1, y1 to x2, y2.</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&lt;ellipse&gt;</a:t>
            </a:r>
            <a:br/>
            <a:r>
              <a:rPr sz="1350" b="0" i="0">
                <a:solidFill>
                  <a:srgbClr val="4A5568"/>
                </a:solidFill>
                <a:latin typeface="Calibri"/>
                <a:ea typeface="Calibri"/>
              </a:rPr>
              <a:t>An oval: rx, ry radii.</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fill &amp; </a:t>
            </a:r>
            <a:r>
              <a:rPr sz="1550" b="1" i="0">
                <a:solidFill>
                  <a:srgbClr val="B8860B"/>
                </a:solidFill>
                <a:latin typeface="Consolas"/>
                <a:ea typeface="Consolas"/>
              </a:rPr>
              <a:t>stroke</a:t>
            </a:r>
            <a:br/>
            <a:r>
              <a:rPr sz="1350" b="0" i="0">
                <a:solidFill>
                  <a:srgbClr val="4A5568"/>
                </a:solidFill>
                <a:latin typeface="Calibri"/>
                <a:ea typeface="Calibri"/>
              </a:rPr>
              <a:t>Fill colour and outline.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&lt;svg width="100" height="100"&gt;</a:t>
            </a:r>
          </a:p>
          <a:p>
            <a:pPr>
              <a:spcAft>
                <a:spcPts val="350"/>
              </a:spcAft>
            </a:pPr>
            <a:r>
              <a:rPr sz="1300" b="0" i="0">
                <a:solidFill>
                  <a:srgbClr val="98C379"/>
                </a:solidFill>
                <a:latin typeface="Consolas"/>
                <a:ea typeface="Consolas"/>
              </a:rPr>
              <a:t>  &lt;rect x="0" y="0" width="100" height="100"</a:t>
            </a:r>
          </a:p>
          <a:p>
            <a:pPr>
              <a:spcAft>
                <a:spcPts val="350"/>
              </a:spcAft>
            </a:pPr>
            <a:r>
              <a:rPr sz="1300" b="0" i="0">
                <a:solidFill>
                  <a:srgbClr val="E5C07B"/>
                </a:solidFill>
                <a:latin typeface="Consolas"/>
                <a:ea typeface="Consolas"/>
              </a:rPr>
              <a:t>        fill="#1E4FA8"/&gt;</a:t>
            </a:r>
          </a:p>
          <a:p>
            <a:pPr>
              <a:spcAft>
                <a:spcPts val="350"/>
              </a:spcAft>
            </a:pPr>
            <a:r>
              <a:rPr sz="1300" b="0" i="0">
                <a:solidFill>
                  <a:srgbClr val="98C379"/>
                </a:solidFill>
                <a:latin typeface="Consolas"/>
                <a:ea typeface="Consolas"/>
              </a:rPr>
              <a:t>  &lt;circle cx="50" cy="50" r="30" fill="white"/&gt;</a:t>
            </a:r>
          </a:p>
          <a:p>
            <a:pPr>
              <a:spcAft>
                <a:spcPts val="350"/>
              </a:spcAft>
            </a:pPr>
            <a:r>
              <a:rPr sz="1300" b="0" i="0">
                <a:solidFill>
                  <a:srgbClr val="61AFEF"/>
                </a:solidFill>
                <a:latin typeface="Consolas"/>
                <a:ea typeface="Consolas"/>
              </a:rPr>
              <a:t>&lt;/svg&gt;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tagsysx.github.io/comp3421/editor.html?example=html/svg</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Coordinates start at the top-left corner — (0,0) is the top-left.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More Shapes — polyline &amp; polygon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SVG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&lt;polyline&gt;</a:t>
            </a:r>
            <a:br/>
            <a:r>
              <a:rPr sz="1350" b="0" i="0">
                <a:solidFill>
                  <a:srgbClr val="B8860B"/>
                </a:solidFill>
                <a:latin typeface="Consolas"/>
                <a:ea typeface="Consolas"/>
              </a:rPr>
              <a:t>points</a:t>
            </a:r>
            <a:r>
              <a:rPr sz="1350" b="0" i="0">
                <a:solidFill>
                  <a:srgbClr val="4A5568"/>
                </a:solidFill>
                <a:latin typeface="Calibri"/>
                <a:ea typeface="Calibri"/>
              </a:rPr>
              <a:t>="x1,y1 x2,y2 …" — an open chain of segments.</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&lt;polygon&gt;</a:t>
            </a:r>
            <a:br/>
            <a:r>
              <a:rPr sz="1350" b="0" i="0">
                <a:solidFill>
                  <a:srgbClr val="4A5568"/>
                </a:solidFill>
                <a:latin typeface="Calibri"/>
                <a:ea typeface="Calibri"/>
              </a:rPr>
              <a:t>The same </a:t>
            </a:r>
            <a:r>
              <a:rPr sz="1350" b="0" i="0">
                <a:solidFill>
                  <a:srgbClr val="B8860B"/>
                </a:solidFill>
                <a:latin typeface="Consolas"/>
                <a:ea typeface="Consolas"/>
              </a:rPr>
              <a:t>points</a:t>
            </a:r>
            <a:r>
              <a:rPr sz="1350" b="0" i="0">
                <a:solidFill>
                  <a:srgbClr val="4A5568"/>
                </a:solidFill>
                <a:latin typeface="Calibri"/>
                <a:ea typeface="Calibri"/>
              </a:rPr>
              <a:t>, but the browser closes the shape.</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points</a:t>
            </a:r>
            <a:br/>
            <a:r>
              <a:rPr sz="1350" b="0" i="0">
                <a:solidFill>
                  <a:srgbClr val="4A5568"/>
                </a:solidFill>
                <a:latin typeface="Calibri"/>
                <a:ea typeface="Calibri"/>
              </a:rPr>
              <a:t>Every point is an x,y pair — vertices in order.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Closed by default</a:t>
            </a:r>
            <a:br/>
            <a:r>
              <a:rPr sz="1350" b="0" i="0">
                <a:solidFill>
                  <a:srgbClr val="4A5568"/>
                </a:solidFill>
                <a:latin typeface="Calibri"/>
                <a:ea typeface="Calibri"/>
              </a:rPr>
              <a:t>polygon joins the last point back to the first.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&lt;svg width="200" height="120"&gt;</a:t>
            </a:r>
          </a:p>
          <a:p>
            <a:pPr>
              <a:spcAft>
                <a:spcPts val="350"/>
              </a:spcAft>
            </a:pPr>
            <a:r>
              <a:rPr sz="1300" b="0" i="0">
                <a:solidFill>
                  <a:srgbClr val="98C379"/>
                </a:solidFill>
                <a:latin typeface="Consolas"/>
                <a:ea typeface="Consolas"/>
              </a:rPr>
              <a:t>  &lt;polyline points="10,90 40,10</a:t>
            </a:r>
          </a:p>
          <a:p>
            <a:pPr>
              <a:spcAft>
                <a:spcPts val="350"/>
              </a:spcAft>
            </a:pPr>
            <a:r>
              <a:rPr sz="1300" b="0" i="0">
                <a:solidFill>
                  <a:srgbClr val="98C379"/>
                </a:solidFill>
                <a:latin typeface="Consolas"/>
                <a:ea typeface="Consolas"/>
              </a:rPr>
              <a:t>              70,90 100,10 130,90"</a:t>
            </a:r>
          </a:p>
          <a:p>
            <a:pPr>
              <a:spcAft>
                <a:spcPts val="350"/>
              </a:spcAft>
            </a:pPr>
            <a:r>
              <a:rPr sz="1300" b="0" i="0">
                <a:solidFill>
                  <a:srgbClr val="E5C07B"/>
                </a:solidFill>
                <a:latin typeface="Consolas"/>
                <a:ea typeface="Consolas"/>
              </a:rPr>
              <a:t>              fill="none" stroke="#1E4FA8"</a:t>
            </a:r>
          </a:p>
          <a:p>
            <a:pPr>
              <a:spcAft>
                <a:spcPts val="350"/>
              </a:spcAft>
            </a:pPr>
            <a:r>
              <a:rPr sz="1300" b="0" i="0">
                <a:solidFill>
                  <a:srgbClr val="E5C07B"/>
                </a:solidFill>
                <a:latin typeface="Consolas"/>
                <a:ea typeface="Consolas"/>
              </a:rPr>
              <a:t>              stroke-width="4"/&gt;</a:t>
            </a:r>
          </a:p>
          <a:p>
            <a:pPr>
              <a:spcAft>
                <a:spcPts val="350"/>
              </a:spcAft>
            </a:pPr>
            <a:r>
              <a:rPr sz="1300" b="0" i="0">
                <a:solidFill>
                  <a:srgbClr val="98C379"/>
                </a:solidFill>
                <a:latin typeface="Consolas"/>
                <a:ea typeface="Consolas"/>
              </a:rPr>
              <a:t>  &lt;polygon points="60,10 100,60 60,110 20,60"</a:t>
            </a:r>
          </a:p>
          <a:p>
            <a:pPr>
              <a:spcAft>
                <a:spcPts val="350"/>
              </a:spcAft>
            </a:pPr>
            <a:r>
              <a:rPr sz="1300" b="0" i="0">
                <a:solidFill>
                  <a:srgbClr val="E5C07B"/>
                </a:solidFill>
                <a:latin typeface="Consolas"/>
                <a:ea typeface="Consolas"/>
              </a:rPr>
              <a:t>           fill="#FFC107" opacity="0.8"/&gt;</a:t>
            </a:r>
          </a:p>
          <a:p>
            <a:pPr>
              <a:spcAft>
                <a:spcPts val="350"/>
              </a:spcAft>
            </a:pPr>
            <a:r>
              <a:rPr sz="1300" b="0" i="0">
                <a:solidFill>
                  <a:srgbClr val="61AFEF"/>
                </a:solidFill>
                <a:latin typeface="Consolas"/>
                <a:ea typeface="Consolas"/>
              </a:rPr>
              <a:t>&lt;/svg&gt;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tagsysx.github.io/comp3421/editor.html?example=html/svg</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 zig-zag polyline on top; a diamond polygon below (opacity 0.8).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Fill, Stroke &amp; Opacity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SVG</a:t>
            </a:r>
          </a:p>
        </p:txBody>
      </p:sp>
      <p:sp>
        <p:nvSpPr>
          <p:cNvPr id="5" name="TextBox 4"/>
          <p:cNvSpPr txBox="1"/>
          <p:nvPr/>
        </p:nvSpPr>
        <p:spPr>
          <a:xfrm>
            <a:off x="548640" y="932688"/>
            <a:ext cx="4370832" cy="4599432"/>
          </a:xfrm>
          <a:prstGeom prst="rect">
            <a:avLst/>
          </a:prstGeom>
          <a:noFill/>
        </p:spPr>
        <p:txBody>
          <a:bodyPr wrap="square" lIns="0" rIns="0" tIns="0" bIns="0">
            <a:normAutofit/>
          </a:bodyPr>
          <a:lstStyle/>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fill</a:t>
            </a:r>
            <a:br/>
            <a:r>
              <a:rPr sz="1300" b="0" i="0">
                <a:solidFill>
                  <a:srgbClr val="4A5568"/>
                </a:solidFill>
                <a:latin typeface="Calibri"/>
                <a:ea typeface="Calibri"/>
              </a:rPr>
              <a:t>The inner colour — fill="none" leaves a shape hollow.</a:t>
            </a:r>
          </a:p>
          <a:p>
            <a:pPr marL="256032" indent="-237744">
              <a:lnSpc>
                <a:spcPct val="112000"/>
              </a:lnSpc>
              <a:spcAft>
                <a:spcPts val="900"/>
              </a:spcAft>
              <a:buClr>
                <a:srgbClr val="1E4FA8"/>
              </a:buClr>
              <a:buSzPct val="90000"/>
              <a:buFont typeface="Arial"/>
              <a:buChar char="▪"/>
            </a:pPr>
            <a:r>
              <a:rPr sz="1800" b="1" i="0">
                <a:solidFill>
                  <a:srgbClr val="B8860B"/>
                </a:solidFill>
                <a:latin typeface="Consolas"/>
                <a:ea typeface="Consolas"/>
              </a:rPr>
              <a:t>stroke</a:t>
            </a:r>
            <a:br/>
            <a:r>
              <a:rPr sz="1300" b="0" i="0">
                <a:solidFill>
                  <a:srgbClr val="4A5568"/>
                </a:solidFill>
                <a:latin typeface="Calibri"/>
                <a:ea typeface="Calibri"/>
              </a:rPr>
              <a:t>The outline colour; a line needs it (and stroke-width).</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stroke-width</a:t>
            </a:r>
            <a:br/>
            <a:r>
              <a:rPr sz="1300" b="0" i="0">
                <a:solidFill>
                  <a:srgbClr val="4A5568"/>
                </a:solidFill>
                <a:latin typeface="Calibri"/>
                <a:ea typeface="Calibri"/>
              </a:rPr>
              <a:t>Outline thickness — default 1px, try 4 or 8.</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opacity · fill-opacity</a:t>
            </a:r>
            <a:br/>
            <a:r>
              <a:rPr sz="1300" b="0" i="0">
                <a:solidFill>
                  <a:srgbClr val="4A5568"/>
                </a:solidFill>
                <a:latin typeface="Calibri"/>
                <a:ea typeface="Calibri"/>
              </a:rPr>
              <a:t>0 (invisible) to 1 — whole element, or just the fill.</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stroke-dasharray</a:t>
            </a:r>
            <a:br/>
            <a:r>
              <a:rPr sz="1300" b="0" i="0">
                <a:solidFill>
                  <a:srgbClr val="4A5568"/>
                </a:solidFill>
                <a:latin typeface="Calibri"/>
                <a:ea typeface="Calibri"/>
              </a:rPr>
              <a:t>Dashes — "4 3" means 4 units of ink, then a 3-unit gap.</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pathLength</a:t>
            </a:r>
            <a:br/>
            <a:r>
              <a:rPr sz="1300" b="0" i="0">
                <a:solidFill>
                  <a:srgbClr val="4A5568"/>
                </a:solidFill>
                <a:latin typeface="Calibri"/>
                <a:ea typeface="Calibri"/>
              </a:rPr>
              <a:t>Counts the path as 100 units — "4 3" is then 4% and 3%.</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stroke-dashoffset</a:t>
            </a:r>
            <a:br/>
            <a:r>
              <a:rPr sz="1300" b="0" i="0">
                <a:solidFill>
                  <a:srgbClr val="4A5568"/>
                </a:solidFill>
                <a:latin typeface="Calibri"/>
                <a:ea typeface="Calibri"/>
              </a:rPr>
              <a:t>Shifts where the dashes begin — the ink slides along.</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05856" y="1115568"/>
            <a:ext cx="5626303" cy="274320"/>
          </a:xfrm>
          <a:prstGeom prst="rect">
            <a:avLst/>
          </a:prstGeom>
          <a:noFill/>
        </p:spPr>
        <p:txBody>
          <a:bodyPr wrap="square" anchor="t" lIns="0" rIns="0" tIns="0" bIns="0">
            <a:spAutoFit/>
          </a:bodyPr>
          <a:lstStyle/>
          <a:p>
            <a:pPr algn="l">
              <a:lnSpc>
                <a:spcPct val="110000"/>
              </a:lnSpc>
              <a:spcAft>
                <a:spcPts val="400"/>
              </a:spcAft>
            </a:pPr>
            <a:r>
              <a:rPr sz="1150" b="1" i="0">
                <a:solidFill>
                  <a:srgbClr val="1E4FA8"/>
                </a:solidFill>
                <a:latin typeface="Calibri"/>
                <a:ea typeface="Calibri"/>
              </a:rPr>
              <a:t>INK vs GAP  </a:t>
            </a:r>
            <a:r>
              <a:rPr sz="1100" b="0" i="0">
                <a:solidFill>
                  <a:srgbClr val="4A5568"/>
                </a:solidFill>
                <a:latin typeface="Calibri"/>
                <a:ea typeface="Calibri"/>
              </a:rPr>
              <a:t>stroke-dasharray="4 3"</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58687" y="2377440"/>
            <a:ext cx="5120640" cy="18288"/>
          </a:xfrm>
          <a:prstGeom prst="rect">
            <a:avLst/>
          </a:prstGeom>
          <a:solidFill>
            <a:srgbClr val="C9D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58687" y="2249424"/>
            <a:ext cx="731520" cy="2743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38847" y="2249424"/>
            <a:ext cx="731520" cy="2743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19007" y="2249424"/>
            <a:ext cx="731520" cy="2743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799167" y="2249424"/>
            <a:ext cx="731520" cy="2743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58687" y="1993391"/>
            <a:ext cx="731519" cy="182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58687" y="1920239"/>
            <a:ext cx="18288" cy="14630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71919" y="1920239"/>
            <a:ext cx="18288" cy="14630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05856" y="1719072"/>
            <a:ext cx="2560320" cy="237744"/>
          </a:xfrm>
          <a:prstGeom prst="rect">
            <a:avLst/>
          </a:prstGeom>
          <a:noFill/>
        </p:spPr>
        <p:txBody>
          <a:bodyPr wrap="square" anchor="t" lIns="0" rIns="0" tIns="0" bIns="0">
            <a:spAutoFit/>
          </a:bodyPr>
          <a:lstStyle/>
          <a:p>
            <a:pPr algn="ctr">
              <a:lnSpc>
                <a:spcPct val="110000"/>
              </a:lnSpc>
              <a:spcAft>
                <a:spcPts val="400"/>
              </a:spcAft>
            </a:pPr>
            <a:r>
              <a:rPr sz="1250" b="1" i="0">
                <a:solidFill>
                  <a:srgbClr val="1E4FA8"/>
                </a:solidFill>
                <a:latin typeface="Calibri"/>
                <a:ea typeface="Calibri"/>
              </a:rPr>
              <a:t>ink — 4 units</a:t>
            </a:r>
          </a:p>
        </p:txBody>
      </p:sp>
      <p:sp>
        <p:nvSpPr>
          <p:cNvPr id="18" name="Rectangle 17"/>
          <p:cNvSpPr/>
          <p:nvPr/>
        </p:nvSpPr>
        <p:spPr>
          <a:xfrm>
            <a:off x="6690207" y="2761487"/>
            <a:ext cx="548640" cy="18288"/>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90207" y="2688335"/>
            <a:ext cx="18288" cy="146304"/>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20559" y="2688335"/>
            <a:ext cx="18288" cy="146304"/>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5807" y="2907791"/>
            <a:ext cx="2377440" cy="237744"/>
          </a:xfrm>
          <a:prstGeom prst="rect">
            <a:avLst/>
          </a:prstGeom>
          <a:noFill/>
        </p:spPr>
        <p:txBody>
          <a:bodyPr wrap="square" anchor="t" lIns="0" rIns="0" tIns="0" bIns="0">
            <a:spAutoFit/>
          </a:bodyPr>
          <a:lstStyle/>
          <a:p>
            <a:pPr algn="ctr">
              <a:lnSpc>
                <a:spcPct val="110000"/>
              </a:lnSpc>
              <a:spcAft>
                <a:spcPts val="400"/>
              </a:spcAft>
            </a:pPr>
            <a:r>
              <a:rPr sz="1250" b="1" i="0">
                <a:solidFill>
                  <a:srgbClr val="4A5568"/>
                </a:solidFill>
                <a:latin typeface="Calibri"/>
                <a:ea typeface="Calibri"/>
              </a:rPr>
              <a:t>gap — 3 units</a:t>
            </a:r>
          </a:p>
        </p:txBody>
      </p:sp>
      <p:sp>
        <p:nvSpPr>
          <p:cNvPr id="22" name="Rectangle 21"/>
          <p:cNvSpPr/>
          <p:nvPr/>
        </p:nvSpPr>
        <p:spPr>
          <a:xfrm>
            <a:off x="5958687" y="3419856"/>
            <a:ext cx="1280160" cy="18288"/>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58687" y="3360420"/>
            <a:ext cx="18288" cy="118872"/>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20559" y="3360420"/>
            <a:ext cx="18288" cy="118872"/>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05856" y="3547872"/>
            <a:ext cx="3108960" cy="237744"/>
          </a:xfrm>
          <a:prstGeom prst="rect">
            <a:avLst/>
          </a:prstGeom>
          <a:noFill/>
        </p:spPr>
        <p:txBody>
          <a:bodyPr wrap="square" anchor="t" lIns="0" rIns="0" tIns="0" bIns="0">
            <a:spAutoFit/>
          </a:bodyPr>
          <a:lstStyle/>
          <a:p>
            <a:pPr algn="ctr">
              <a:lnSpc>
                <a:spcPct val="110000"/>
              </a:lnSpc>
              <a:spcAft>
                <a:spcPts val="400"/>
              </a:spcAft>
            </a:pPr>
            <a:r>
              <a:rPr sz="1150" b="0" i="0">
                <a:solidFill>
                  <a:srgbClr val="4A5568"/>
                </a:solidFill>
                <a:latin typeface="Calibri"/>
                <a:ea typeface="Calibri"/>
              </a:rPr>
              <a:t>one period = 4 + 3 = 7 units, then it repeats</a:t>
            </a:r>
          </a:p>
        </p:txBody>
      </p:sp>
      <p:sp>
        <p:nvSpPr>
          <p:cNvPr id="26" name="Rectangle 25"/>
          <p:cNvSpPr/>
          <p:nvPr/>
        </p:nvSpPr>
        <p:spPr>
          <a:xfrm>
            <a:off x="5958687" y="3941063"/>
            <a:ext cx="2560320" cy="18288"/>
          </a:xfrm>
          <a:prstGeom prst="rect">
            <a:avLst/>
          </a:prstGeom>
          <a:solidFill>
            <a:srgbClr val="C9D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58687" y="3858768"/>
            <a:ext cx="731520" cy="18288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38847" y="3858768"/>
            <a:ext cx="731520" cy="18288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7714" y="3831335"/>
            <a:ext cx="21945" cy="237744"/>
          </a:xfrm>
          <a:prstGeom prst="rect">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65311" y="3822191"/>
            <a:ext cx="2919679" cy="237744"/>
          </a:xfrm>
          <a:prstGeom prst="rect">
            <a:avLst/>
          </a:prstGeom>
          <a:noFill/>
        </p:spPr>
        <p:txBody>
          <a:bodyPr wrap="square" anchor="t" lIns="0" rIns="0" tIns="0" bIns="0">
            <a:spAutoFit/>
          </a:bodyPr>
          <a:lstStyle/>
          <a:p>
            <a:pPr algn="l">
              <a:lnSpc>
                <a:spcPct val="110000"/>
              </a:lnSpc>
              <a:spcAft>
                <a:spcPts val="400"/>
              </a:spcAft>
            </a:pPr>
            <a:r>
              <a:rPr sz="1100" b="0" i="0">
                <a:solidFill>
                  <a:srgbClr val="4A5568"/>
                </a:solidFill>
                <a:latin typeface="Calibri"/>
                <a:ea typeface="Calibri"/>
              </a:rPr>
              <a:t>stroke-dashoffset: </a:t>
            </a:r>
            <a:r>
              <a:rPr sz="1200" b="1" i="0">
                <a:solidFill>
                  <a:srgbClr val="1E4FA8"/>
                </a:solidFill>
                <a:latin typeface="Consolas"/>
                <a:ea typeface="Consolas"/>
              </a:rPr>
              <a:t>0</a:t>
            </a:r>
          </a:p>
        </p:txBody>
      </p:sp>
      <p:sp>
        <p:nvSpPr>
          <p:cNvPr id="31" name="Rectangle 30"/>
          <p:cNvSpPr/>
          <p:nvPr/>
        </p:nvSpPr>
        <p:spPr>
          <a:xfrm>
            <a:off x="5958687" y="4178807"/>
            <a:ext cx="2560320" cy="18288"/>
          </a:xfrm>
          <a:prstGeom prst="rect">
            <a:avLst/>
          </a:prstGeom>
          <a:solidFill>
            <a:srgbClr val="C9D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07327" y="4096511"/>
            <a:ext cx="731520" cy="18288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87487" y="4096511"/>
            <a:ext cx="731520" cy="18288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47714" y="4069079"/>
            <a:ext cx="21945" cy="237744"/>
          </a:xfrm>
          <a:prstGeom prst="rect">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65311" y="4059935"/>
            <a:ext cx="2919679" cy="237744"/>
          </a:xfrm>
          <a:prstGeom prst="rect">
            <a:avLst/>
          </a:prstGeom>
          <a:noFill/>
        </p:spPr>
        <p:txBody>
          <a:bodyPr wrap="square" anchor="t" lIns="0" rIns="0" tIns="0" bIns="0">
            <a:spAutoFit/>
          </a:bodyPr>
          <a:lstStyle/>
          <a:p>
            <a:pPr algn="l">
              <a:lnSpc>
                <a:spcPct val="110000"/>
              </a:lnSpc>
              <a:spcAft>
                <a:spcPts val="400"/>
              </a:spcAft>
            </a:pPr>
            <a:r>
              <a:rPr sz="1100" b="0" i="0">
                <a:solidFill>
                  <a:srgbClr val="4A5568"/>
                </a:solidFill>
                <a:latin typeface="Calibri"/>
                <a:ea typeface="Calibri"/>
              </a:rPr>
              <a:t>stroke-dashoffset: </a:t>
            </a:r>
            <a:r>
              <a:rPr sz="1200" b="1" i="0">
                <a:solidFill>
                  <a:srgbClr val="1E4FA8"/>
                </a:solidFill>
                <a:latin typeface="Consolas"/>
                <a:ea typeface="Consolas"/>
              </a:rPr>
              <a:t>-3</a:t>
            </a:r>
          </a:p>
        </p:txBody>
      </p:sp>
      <p:sp>
        <p:nvSpPr>
          <p:cNvPr id="36" name="TextBox 35"/>
          <p:cNvSpPr txBox="1"/>
          <p:nvPr/>
        </p:nvSpPr>
        <p:spPr>
          <a:xfrm>
            <a:off x="5705856" y="4389120"/>
            <a:ext cx="5626303" cy="237744"/>
          </a:xfrm>
          <a:prstGeom prst="rect">
            <a:avLst/>
          </a:prstGeom>
          <a:noFill/>
        </p:spPr>
        <p:txBody>
          <a:bodyPr wrap="square" anchor="t" lIns="0" rIns="0" tIns="0" bIns="0">
            <a:spAutoFit/>
          </a:bodyPr>
          <a:lstStyle/>
          <a:p>
            <a:pPr algn="l">
              <a:lnSpc>
                <a:spcPct val="110000"/>
              </a:lnSpc>
              <a:spcAft>
                <a:spcPts val="400"/>
              </a:spcAft>
            </a:pPr>
            <a:r>
              <a:rPr sz="1100" b="0" i="0">
                <a:solidFill>
                  <a:srgbClr val="4A5568"/>
                </a:solidFill>
                <a:latin typeface="Calibri"/>
                <a:ea typeface="Calibri"/>
              </a:rPr>
              <a:t>The tick is the path's start; offset -3 slides the "4 3" pattern 3 units along it.</a:t>
            </a:r>
          </a:p>
        </p:txBody>
      </p:sp>
      <p:sp>
        <p:nvSpPr>
          <p:cNvPr id="37" name="TextBox 36"/>
          <p:cNvSpPr txBox="1"/>
          <p:nvPr/>
        </p:nvSpPr>
        <p:spPr>
          <a:xfrm>
            <a:off x="5705856" y="4681727"/>
            <a:ext cx="5626303" cy="27432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onsolas"/>
                <a:ea typeface="Consolas"/>
              </a:rPr>
              <a:t>stroke-dasharray=</a:t>
            </a:r>
            <a:r>
              <a:rPr sz="1300" b="0" i="0">
                <a:solidFill>
                  <a:srgbClr val="4A5568"/>
                </a:solidFill>
                <a:latin typeface="Consolas"/>
                <a:ea typeface="Consolas"/>
              </a:rPr>
              <a:t>"</a:t>
            </a:r>
            <a:r>
              <a:rPr sz="1400" b="1" i="0">
                <a:solidFill>
                  <a:srgbClr val="1E4FA8"/>
                </a:solidFill>
                <a:latin typeface="Consolas"/>
                <a:ea typeface="Consolas"/>
              </a:rPr>
              <a:t>4</a:t>
            </a:r>
            <a:r>
              <a:rPr sz="1300" b="0" i="0">
                <a:solidFill>
                  <a:srgbClr val="4A5568"/>
                </a:solidFill>
                <a:latin typeface="Consolas"/>
                <a:ea typeface="Consolas"/>
              </a:rPr>
              <a:t> </a:t>
            </a:r>
            <a:r>
              <a:rPr sz="1400" b="1" i="0">
                <a:solidFill>
                  <a:srgbClr val="4A5568"/>
                </a:solidFill>
                <a:latin typeface="Consolas"/>
                <a:ea typeface="Consolas"/>
              </a:rPr>
              <a:t>3</a:t>
            </a:r>
            <a:r>
              <a:rPr sz="1300" b="0" i="0">
                <a:solidFill>
                  <a:srgbClr val="4A5568"/>
                </a:solidFill>
                <a:latin typeface="Consolas"/>
                <a:ea typeface="Consolas"/>
              </a:rPr>
              <a:t>"</a:t>
            </a:r>
            <a:r>
              <a:rPr sz="1150" b="0" i="0">
                <a:solidFill>
                  <a:srgbClr val="4A5568"/>
                </a:solidFill>
                <a:latin typeface="Calibri"/>
                <a:ea typeface="Calibri"/>
              </a:rPr>
              <a:t>   ink, then gap — the pair repeats to the end</a:t>
            </a:r>
          </a:p>
        </p:txBody>
      </p:sp>
      <p:sp>
        <p:nvSpPr>
          <p:cNvPr id="38" name="TextBox 37"/>
          <p:cNvSpPr txBox="1"/>
          <p:nvPr/>
        </p:nvSpPr>
        <p:spPr>
          <a:xfrm>
            <a:off x="5705856" y="4992624"/>
            <a:ext cx="5626303" cy="256032"/>
          </a:xfrm>
          <a:prstGeom prst="rect">
            <a:avLst/>
          </a:prstGeom>
          <a:noFill/>
        </p:spPr>
        <p:txBody>
          <a:bodyPr wrap="square" anchor="t" lIns="0" rIns="0" tIns="0" bIns="0">
            <a:spAutoFit/>
          </a:bodyPr>
          <a:lstStyle/>
          <a:p>
            <a:pPr algn="l">
              <a:lnSpc>
                <a:spcPct val="110000"/>
              </a:lnSpc>
              <a:spcAft>
                <a:spcPts val="400"/>
              </a:spcAft>
            </a:pPr>
            <a:r>
              <a:rPr sz="1100" b="0" i="1">
                <a:solidFill>
                  <a:srgbClr val="4A5568"/>
                </a:solidFill>
                <a:latin typeface="Calibri"/>
                <a:ea typeface="Calibri"/>
              </a:rPr>
              <a:t>A lone number is shorthand: "4" means "4 4" — a 4-unit dash and a 4-unit gap.</a:t>
            </a:r>
          </a:p>
        </p:txBody>
      </p:sp>
      <p:sp>
        <p:nvSpPr>
          <p:cNvPr id="39" name="Rounded Rectangle 38"/>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Dashed strokes — the "4 3" rhythm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tagsysx.github.io/comp3421/editor.html?example=html/svg-dasharray</a:t>
            </a:r>
          </a:p>
        </p:txBody>
      </p:sp>
      <p:sp>
        <p:nvSpPr>
          <p:cNvPr id="41" name="TextBox 40"/>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61AFEF"/>
                </a:solidFill>
                <a:latin typeface="Consolas"/>
                <a:ea typeface="Consolas"/>
              </a:rPr>
              <a:t>&lt;line</a:t>
            </a:r>
            <a:r>
              <a:rPr sz="1350" b="0" i="0">
                <a:solidFill>
                  <a:srgbClr val="E5C07B"/>
                </a:solidFill>
                <a:latin typeface="Consolas"/>
                <a:ea typeface="Consolas"/>
              </a:rPr>
              <a:t> x1="10" y1="60" x2="190" y2="60"</a:t>
            </a:r>
            <a:r>
              <a:rPr sz="1350" b="0" i="0">
                <a:solidFill>
                  <a:srgbClr val="E5C07B"/>
                </a:solidFill>
                <a:latin typeface="Consolas"/>
                <a:ea typeface="Consolas"/>
              </a:rPr>
              <a:t> stroke-dasharray=</a:t>
            </a:r>
            <a:r>
              <a:rPr sz="1350" b="0" i="0">
                <a:solidFill>
                  <a:srgbClr val="98C379"/>
                </a:solidFill>
                <a:latin typeface="Consolas"/>
                <a:ea typeface="Consolas"/>
              </a:rPr>
              <a:t>"4 3"</a:t>
            </a:r>
            <a:r>
              <a:rPr sz="1350" b="0" i="0">
                <a:solidFill>
                  <a:srgbClr val="61AFEF"/>
                </a:solidFill>
                <a:latin typeface="Consolas"/>
                <a:ea typeface="Consolas"/>
              </a:rPr>
              <a:t> /&gt;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Paths &amp; the viewBox</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SVG</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000" b="1" i="0">
                <a:solidFill>
                  <a:srgbClr val="1E4FA8"/>
                </a:solidFill>
                <a:latin typeface="Consolas"/>
                <a:ea typeface="Consolas"/>
              </a:rPr>
              <a:t>&lt;path&gt;</a:t>
            </a:r>
            <a:br/>
            <a:r>
              <a:rPr sz="1800" b="0" i="0">
                <a:solidFill>
                  <a:srgbClr val="4A5568"/>
                </a:solidFill>
                <a:latin typeface="Calibri"/>
                <a:ea typeface="Calibri"/>
              </a:rPr>
              <a:t>The most powerful shape — arbitrary curves.</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d="…"</a:t>
            </a:r>
            <a:br/>
            <a:r>
              <a:rPr sz="1800" b="0" i="0">
                <a:solidFill>
                  <a:srgbClr val="4A5568"/>
                </a:solidFill>
                <a:latin typeface="Calibri"/>
                <a:ea typeface="Calibri"/>
              </a:rPr>
              <a:t>A command string: M (move), L (line), C (curve), Z (close).</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Case matters</a:t>
            </a:r>
            <a:br/>
            <a:r>
              <a:rPr sz="1800" b="0" i="0">
                <a:solidFill>
                  <a:srgbClr val="4A5568"/>
                </a:solidFill>
                <a:latin typeface="Calibri"/>
                <a:ea typeface="Calibri"/>
              </a:rPr>
              <a:t>M is absolute, m is relative to the current point.</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Control handles</a:t>
            </a:r>
            <a:br/>
            <a:r>
              <a:rPr sz="1800" b="0" i="0">
                <a:solidFill>
                  <a:srgbClr val="4A5568"/>
                </a:solidFill>
                <a:latin typeface="Calibri"/>
                <a:ea typeface="Calibri"/>
              </a:rPr>
              <a:t>C takes two; the curve is pulled toward them, not through them.</a:t>
            </a:r>
          </a:p>
          <a:p>
            <a:pPr marL="256032" indent="-237744">
              <a:lnSpc>
                <a:spcPct val="112000"/>
              </a:lnSpc>
              <a:spcAft>
                <a:spcPts val="700"/>
              </a:spcAft>
              <a:buClr>
                <a:srgbClr val="1E4FA8"/>
              </a:buClr>
              <a:buSzPct val="90000"/>
              <a:buFont typeface="Arial"/>
              <a:buChar char="▪"/>
            </a:pPr>
            <a:r>
              <a:rPr sz="2000" b="1" i="0">
                <a:solidFill>
                  <a:srgbClr val="B8860B"/>
                </a:solidFill>
                <a:latin typeface="Consolas"/>
                <a:ea typeface="Consolas"/>
              </a:rPr>
              <a:t>viewBox</a:t>
            </a:r>
            <a:br/>
            <a:r>
              <a:rPr sz="1800" b="0" i="0">
                <a:solidFill>
                  <a:srgbClr val="4A5568"/>
                </a:solidFill>
                <a:latin typeface="Calibri"/>
                <a:ea typeface="Calibri"/>
              </a:rPr>
              <a:t>The coordinate system of the drawing.</a:t>
            </a:r>
          </a:p>
          <a:p>
            <a:pPr marL="256032" indent="-237744">
              <a:lnSpc>
                <a:spcPct val="112000"/>
              </a:lnSpc>
              <a:spcAft>
                <a:spcPts val="700"/>
              </a:spcAft>
              <a:buClr>
                <a:srgbClr val="1E4FA8"/>
              </a:buClr>
              <a:buSzPct val="90000"/>
              <a:buFont typeface="Arial"/>
              <a:buChar char="▪"/>
            </a:pPr>
            <a:r>
              <a:rPr sz="2000" b="1" i="0">
                <a:solidFill>
                  <a:srgbClr val="1A2230"/>
                </a:solidFill>
                <a:latin typeface="Calibri"/>
                <a:ea typeface="Calibri"/>
              </a:rPr>
              <a:t>Shapes everywhere</a:t>
            </a:r>
            <a:br/>
            <a:r>
              <a:rPr sz="1800" b="0" i="0">
                <a:solidFill>
                  <a:srgbClr val="4A5568"/>
                </a:solidFill>
                <a:latin typeface="Calibri"/>
                <a:ea typeface="Calibri"/>
              </a:rPr>
              <a:t>Icons and charts are usually paths.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heart — seven curves, one attribute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tagsysx.github.io/comp3421/editor.html?example=html/svg-path</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&lt;path d="M16 29 C8 20 2 14 2 9 C2 4 6 2 9 2 … Z" /&gt;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Animated SVG in Action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SVG</a:t>
            </a:r>
          </a:p>
        </p:txBody>
      </p:sp>
      <p:sp>
        <p:nvSpPr>
          <p:cNvPr id="5" name="TextBox 4"/>
          <p:cNvSpPr txBox="1"/>
          <p:nvPr/>
        </p:nvSpPr>
        <p:spPr>
          <a:xfrm>
            <a:off x="548640" y="932688"/>
            <a:ext cx="5132527" cy="4828032"/>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550" b="1" i="0">
                <a:solidFill>
                  <a:srgbClr val="1A2230"/>
                </a:solidFill>
                <a:latin typeface="Calibri"/>
                <a:ea typeface="Calibri"/>
              </a:rPr>
              <a:t>Pulse rings</a:t>
            </a:r>
            <a:br/>
            <a:r>
              <a:rPr sz="1300" b="0" i="0">
                <a:solidFill>
                  <a:srgbClr val="4A5568"/>
                </a:solidFill>
                <a:latin typeface="Calibri"/>
                <a:ea typeface="Calibri"/>
              </a:rPr>
              <a:t>Three copies of one circle: one @keyframes, three delays.</a:t>
            </a:r>
          </a:p>
          <a:p>
            <a:pPr marL="274320" indent="-237744">
              <a:lnSpc>
                <a:spcPct val="112000"/>
              </a:lnSpc>
              <a:spcAft>
                <a:spcPts val="900"/>
              </a:spcAft>
              <a:buClr>
                <a:srgbClr val="1E4FA8"/>
              </a:buClr>
              <a:buSzPct val="90000"/>
              <a:buFont typeface="Arial"/>
              <a:buChar char="▪"/>
            </a:pPr>
            <a:r>
              <a:rPr sz="1550" b="1" i="0">
                <a:solidFill>
                  <a:srgbClr val="1A2230"/>
                </a:solidFill>
                <a:latin typeface="Calibri"/>
                <a:ea typeface="Calibri"/>
              </a:rPr>
              <a:t>Orbit</a:t>
            </a:r>
            <a:br/>
            <a:r>
              <a:rPr sz="1300" b="0" i="0">
                <a:solidFill>
                  <a:srgbClr val="4A5568"/>
                </a:solidFill>
                <a:latin typeface="Calibri"/>
                <a:ea typeface="Calibri"/>
              </a:rPr>
              <a:t>animateMotion carries two travellers around the ellipse.</a:t>
            </a:r>
          </a:p>
          <a:p>
            <a:pPr marL="274320" indent="-237744">
              <a:lnSpc>
                <a:spcPct val="112000"/>
              </a:lnSpc>
              <a:spcAft>
                <a:spcPts val="900"/>
              </a:spcAft>
              <a:buClr>
                <a:srgbClr val="1E4FA8"/>
              </a:buClr>
              <a:buSzPct val="90000"/>
              <a:buFont typeface="Arial"/>
              <a:buChar char="▪"/>
            </a:pPr>
            <a:r>
              <a:rPr sz="1550" b="1" i="0">
                <a:solidFill>
                  <a:srgbClr val="1A2230"/>
                </a:solidFill>
                <a:latin typeface="Calibri"/>
                <a:ea typeface="Calibri"/>
              </a:rPr>
              <a:t>Waveform</a:t>
            </a:r>
            <a:br/>
            <a:r>
              <a:rPr sz="1300" b="0" i="0">
                <a:solidFill>
                  <a:srgbClr val="4A5568"/>
                </a:solidFill>
                <a:latin typeface="Calibri"/>
                <a:ea typeface="Calibri"/>
              </a:rPr>
              <a:t>A 16-unit dash rhythm slides along a fixed path.</a:t>
            </a:r>
          </a:p>
          <a:p>
            <a:pPr marL="274320" indent="-237744">
              <a:lnSpc>
                <a:spcPct val="112000"/>
              </a:lnSpc>
              <a:spcAft>
                <a:spcPts val="900"/>
              </a:spcAft>
              <a:buClr>
                <a:srgbClr val="1E4FA8"/>
              </a:buClr>
              <a:buSzPct val="90000"/>
              <a:buFont typeface="Arial"/>
              <a:buChar char="▪"/>
            </a:pPr>
            <a:r>
              <a:rPr sz="1550" b="1" i="0">
                <a:solidFill>
                  <a:srgbClr val="1A2230"/>
                </a:solidFill>
                <a:latin typeface="Calibri"/>
                <a:ea typeface="Calibri"/>
              </a:rPr>
              <a:t>Halo</a:t>
            </a:r>
            <a:br/>
            <a:r>
              <a:rPr sz="1300" b="0" i="0">
                <a:solidFill>
                  <a:srgbClr val="4A5568"/>
                </a:solidFill>
                <a:latin typeface="Calibri"/>
                <a:ea typeface="Calibri"/>
              </a:rPr>
              <a:t>A blurred gradient breathing with opacity.</a:t>
            </a:r>
          </a:p>
          <a:p>
            <a:pPr marL="274320" indent="-237744">
              <a:lnSpc>
                <a:spcPct val="112000"/>
              </a:lnSpc>
              <a:spcAft>
                <a:spcPts val="900"/>
              </a:spcAft>
              <a:buClr>
                <a:srgbClr val="1E4FA8"/>
              </a:buClr>
              <a:buSzPct val="90000"/>
              <a:buFont typeface="Arial"/>
              <a:buChar char="▪"/>
            </a:pPr>
            <a:r>
              <a:rPr sz="1550" b="1" i="0">
                <a:solidFill>
                  <a:srgbClr val="1A2230"/>
                </a:solidFill>
                <a:latin typeface="Calibri"/>
                <a:ea typeface="Calibri"/>
              </a:rPr>
              <a:t>Zero JavaScript</a:t>
            </a:r>
            <a:br/>
            <a:r>
              <a:rPr sz="1300" b="0" i="0">
                <a:solidFill>
                  <a:srgbClr val="4A5568"/>
                </a:solidFill>
                <a:latin typeface="Calibri"/>
                <a:ea typeface="Calibri"/>
              </a:rPr>
              <a:t>Markup, CSS and SMIL — nothing else.</a:t>
            </a:r>
          </a:p>
        </p:txBody>
      </p:sp>
      <p:pic>
        <p:nvPicPr>
          <p:cNvPr id="6" name="Picture 5" descr="img_svg_scene.png"/>
          <p:cNvPicPr>
            <a:picLocks noChangeAspect="1"/>
          </p:cNvPicPr>
          <p:nvPr/>
        </p:nvPicPr>
        <p:blipFill>
          <a:blip r:embed="rId2"/>
          <a:stretch>
            <a:fillRect/>
          </a:stretch>
        </p:blipFill>
        <p:spPr>
          <a:xfrm>
            <a:off x="6065215" y="1882521"/>
            <a:ext cx="5577840" cy="2928365"/>
          </a:xfrm>
          <a:prstGeom prst="rect">
            <a:avLst/>
          </a:prstGeom>
        </p:spPr>
      </p:pic>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Four techniques in one scene   </a:t>
            </a:r>
            <a:r>
              <a:rPr sz="1300" b="1" i="0">
                <a:solidFill>
                  <a:srgbClr val="B9CDEE"/>
                </a:solidFill>
                <a:latin typeface="Calibri"/>
                <a:ea typeface="Calibri"/>
              </a:rPr>
              <a:t>example → </a:t>
            </a:r>
            <a:r>
              <a:rPr sz="1300" b="1" i="0">
                <a:solidFill>
                  <a:srgbClr val="FFFFFF"/>
                </a:solidFill>
                <a:latin typeface="Calibri"/>
                <a:ea typeface="Calibri"/>
                <a:hlinkClick r:id="rId3"/>
                <a:extLst>
                  <a:ext uri="{A12FA001-AC4F-418D-AE19-62706E023703}">
                    <ahyp:hlinkClr xmlns:ahyp="http://schemas.microsoft.com/office/drawing/2018/hyperlinkcolor" val="tx"/>
                  </a:ext>
                </a:extLst>
              </a:rPr>
              <a:t>Animated SVG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06</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Containers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Grouping content together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div — the block container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span — the inline container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Semantic containers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Grouping Content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Why group?</a:t>
            </a:r>
            <a:br/>
            <a:r>
              <a:rPr sz="2000" b="0" i="0">
                <a:solidFill>
                  <a:srgbClr val="4A5568"/>
                </a:solidFill>
                <a:latin typeface="Calibri"/>
                <a:ea typeface="Calibri"/>
              </a:rPr>
              <a:t>Wrap related elements into one unit you can treat as a single box.</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&lt;div&gt;</a:t>
            </a:r>
            <a:br/>
            <a:r>
              <a:rPr sz="2000" b="0" i="0">
                <a:solidFill>
                  <a:srgbClr val="4A5568"/>
                </a:solidFill>
                <a:latin typeface="Calibri"/>
                <a:ea typeface="Calibri"/>
              </a:rPr>
              <a:t>A block container — groups whole blocks for layout.</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&lt;span&gt;</a:t>
            </a:r>
            <a:br/>
            <a:r>
              <a:rPr sz="2000" b="0" i="0">
                <a:solidFill>
                  <a:srgbClr val="4A5568"/>
                </a:solidFill>
                <a:latin typeface="Calibri"/>
                <a:ea typeface="Calibri"/>
              </a:rPr>
              <a:t>An inline container — groups a run of text inside a line.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Semantic containers</a:t>
            </a:r>
            <a:br/>
            <a:r>
              <a:rPr sz="2000" b="0" i="0">
                <a:solidFill>
                  <a:srgbClr val="4A5568"/>
                </a:solidFill>
                <a:latin typeface="Calibri"/>
                <a:ea typeface="Calibri"/>
              </a:rPr>
              <a:t>header, nav, main, section… — grouping with meaning.</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Group related elements into one unit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&lt;div&gt;  &lt;h2&gt; + &lt;p&gt; + &lt;a&gt;  &lt;/div&gt;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Block vs Inline Elements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Block elements</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Start on a new line</a:t>
            </a:r>
            <a:br/>
            <a:r>
              <a:rPr sz="1400" b="0" i="0">
                <a:solidFill>
                  <a:srgbClr val="4A5568"/>
                </a:solidFill>
                <a:latin typeface="Calibri"/>
                <a:ea typeface="Calibri"/>
              </a:rPr>
              <a:t>Take the whole line.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Stack vertically</a:t>
            </a:r>
            <a:br/>
            <a:r>
              <a:rPr sz="1400" b="0" i="0">
                <a:solidFill>
                  <a:srgbClr val="4A5568"/>
                </a:solidFill>
                <a:latin typeface="Calibri"/>
                <a:ea typeface="Calibri"/>
              </a:rPr>
              <a:t>p, div, h1, ul, section…</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Contain other blocks</a:t>
            </a:r>
            <a:br/>
            <a:r>
              <a:rPr sz="1400" b="0" i="0">
                <a:solidFill>
                  <a:srgbClr val="4A5568"/>
                </a:solidFill>
                <a:latin typeface="Calibri"/>
                <a:ea typeface="Calibri"/>
              </a:rPr>
              <a:t>A block can hold blocks and inline content.</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Inline elements</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Flow with the text</a:t>
            </a:r>
            <a:br/>
            <a:r>
              <a:rPr sz="1400" b="0" i="0">
                <a:solidFill>
                  <a:srgbClr val="4A5568"/>
                </a:solidFill>
                <a:latin typeface="Calibri"/>
                <a:ea typeface="Calibri"/>
              </a:rPr>
              <a:t>Sit inside a line of text.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Take only the room it needs</a:t>
            </a:r>
            <a:br/>
            <a:r>
              <a:rPr sz="1400" b="0" i="0">
                <a:solidFill>
                  <a:srgbClr val="4A5568"/>
                </a:solidFill>
                <a:latin typeface="Calibri"/>
                <a:ea typeface="Calibri"/>
              </a:rPr>
              <a:t>span, a, strong, em, img…</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Cannot contain blocks</a:t>
            </a:r>
            <a:br/>
            <a:r>
              <a:rPr sz="1400" b="0" i="0">
                <a:solidFill>
                  <a:srgbClr val="4A5568"/>
                </a:solidFill>
                <a:latin typeface="Calibri"/>
                <a:ea typeface="Calibri"/>
              </a:rPr>
              <a:t>Inline elements hold inline content only.</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4's box model builds on this.  ·  example → tagsysx.github.io/comp3421/editor.html?example=html/block-inline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Containers — &lt;div&gt; &amp; &lt;span&gt;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&lt;div&gt;</a:t>
            </a:r>
            <a:br/>
            <a:r>
              <a:rPr sz="1350" b="0" i="0">
                <a:solidFill>
                  <a:srgbClr val="4A5568"/>
                </a:solidFill>
                <a:latin typeface="Calibri"/>
                <a:ea typeface="Calibri"/>
              </a:rPr>
              <a:t>A block-level container — starts on a new line, claims the whole row.</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&lt;span&gt;</a:t>
            </a:r>
            <a:br/>
            <a:r>
              <a:rPr sz="1350" b="0" i="0">
                <a:solidFill>
                  <a:srgbClr val="4A5568"/>
                </a:solidFill>
                <a:latin typeface="Calibri"/>
                <a:ea typeface="Calibri"/>
              </a:rPr>
              <a:t>An inline container — flows with the text, takes only the room it needs.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Generic by design</a:t>
            </a:r>
            <a:br/>
            <a:r>
              <a:rPr sz="1350" b="0" i="0">
                <a:solidFill>
                  <a:srgbClr val="4A5568"/>
                </a:solidFill>
                <a:latin typeface="Calibri"/>
                <a:ea typeface="Calibri"/>
              </a:rPr>
              <a:t>Neither carries meaning — </a:t>
            </a:r>
            <a:r>
              <a:rPr sz="1350" b="0" i="0">
                <a:solidFill>
                  <a:srgbClr val="B8860B"/>
                </a:solidFill>
                <a:latin typeface="Consolas"/>
                <a:ea typeface="Consolas"/>
              </a:rPr>
              <a:t>class</a:t>
            </a:r>
            <a:r>
              <a:rPr sz="1350" b="0" i="0">
                <a:solidFill>
                  <a:srgbClr val="4A5568"/>
                </a:solidFill>
                <a:latin typeface="Calibri"/>
                <a:ea typeface="Calibri"/>
              </a:rPr>
              <a:t> and </a:t>
            </a:r>
            <a:r>
              <a:rPr sz="1350" b="0" i="0">
                <a:solidFill>
                  <a:srgbClr val="B8860B"/>
                </a:solidFill>
                <a:latin typeface="Consolas"/>
                <a:ea typeface="Consolas"/>
              </a:rPr>
              <a:t>style</a:t>
            </a:r>
            <a:r>
              <a:rPr sz="1350" b="0" i="0">
                <a:solidFill>
                  <a:srgbClr val="4A5568"/>
                </a:solidFill>
                <a:latin typeface="Calibri"/>
                <a:ea typeface="Calibri"/>
              </a:rPr>
              <a:t> give them purpose.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Grouping</a:t>
            </a:r>
            <a:br/>
            <a:r>
              <a:rPr sz="1350" b="0" i="0">
                <a:solidFill>
                  <a:srgbClr val="4A5568"/>
                </a:solidFill>
                <a:latin typeface="Calibri"/>
                <a:ea typeface="Calibri"/>
              </a:rPr>
              <a:t>div groups blocks for layout; span marks a run of text.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&lt;div class="container"&gt;</a:t>
            </a:r>
          </a:p>
          <a:p>
            <a:pPr>
              <a:spcAft>
                <a:spcPts val="350"/>
              </a:spcAft>
            </a:pPr>
            <a:r>
              <a:rPr sz="1300" b="0" i="0">
                <a:solidFill>
                  <a:srgbClr val="98C379"/>
                </a:solidFill>
                <a:latin typeface="Consolas"/>
                <a:ea typeface="Consolas"/>
              </a:rPr>
              <a:t>  &lt;h2&gt;London&lt;/h2&gt;</a:t>
            </a:r>
          </a:p>
          <a:p>
            <a:pPr>
              <a:spcAft>
                <a:spcPts val="350"/>
              </a:spcAft>
            </a:pPr>
            <a:r>
              <a:rPr sz="1300" b="0" i="0">
                <a:solidFill>
                  <a:srgbClr val="98C379"/>
                </a:solidFill>
                <a:latin typeface="Consolas"/>
                <a:ea typeface="Consolas"/>
              </a:rPr>
              <a:t>  &lt;p&gt;The capital city.&lt;/p&gt;</a:t>
            </a:r>
          </a:p>
          <a:p>
            <a:pPr>
              <a:spcAft>
                <a:spcPts val="350"/>
              </a:spcAft>
            </a:pPr>
            <a:r>
              <a:rPr sz="1300" b="0" i="0">
                <a:solidFill>
                  <a:srgbClr val="61AFEF"/>
                </a:solidFill>
                <a:latin typeface="Consolas"/>
                <a:ea typeface="Consolas"/>
              </a:rPr>
              <a:t>&lt;/div&gt;</a:t>
            </a:r>
          </a:p>
          <a:p>
            <a:pPr>
              <a:spcAft>
                <a:spcPts val="350"/>
              </a:spcAft>
            </a:pPr>
            <a:r>
              <a:rPr sz="1300" b="0" i="0">
                <a:solidFill>
                  <a:srgbClr val="7F8C98"/>
                </a:solidFill>
                <a:latin typeface="Consolas"/>
                <a:ea typeface="Consolas"/>
              </a:rPr>
              <a:t/>
            </a:r>
          </a:p>
          <a:p>
            <a:pPr>
              <a:spcAft>
                <a:spcPts val="350"/>
              </a:spcAft>
            </a:pPr>
            <a:r>
              <a:rPr sz="1300" b="0" i="0">
                <a:solidFill>
                  <a:srgbClr val="C678DD"/>
                </a:solidFill>
                <a:latin typeface="Consolas"/>
                <a:ea typeface="Consolas"/>
              </a:rPr>
              <a:t>&lt;h1&gt;My &lt;span class="hl"&gt;Important&lt;/span&gt; Heading&lt;/h1&gt;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tagsysx.github.io/comp3421/editor.html?example=html/block-inline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div and span are the generic containers — semantic containers come next.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Why Semantic HTML?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Meaning, not just boxes</a:t>
            </a:r>
            <a:br/>
            <a:r>
              <a:rPr sz="2000" b="0" i="0">
                <a:solidFill>
                  <a:srgbClr val="4A5568"/>
                </a:solidFill>
                <a:latin typeface="Calibri"/>
                <a:ea typeface="Calibri"/>
              </a:rPr>
              <a:t>A </a:t>
            </a:r>
            <a:r>
              <a:rPr sz="2000" b="0" i="0">
                <a:solidFill>
                  <a:srgbClr val="1E4FA8"/>
                </a:solidFill>
                <a:latin typeface="Consolas"/>
                <a:ea typeface="Consolas"/>
              </a:rPr>
              <a:t>&lt;nav&gt;</a:t>
            </a:r>
            <a:r>
              <a:rPr sz="2000" b="0" i="0">
                <a:solidFill>
                  <a:srgbClr val="4A5568"/>
                </a:solidFill>
                <a:latin typeface="Calibri"/>
                <a:ea typeface="Calibri"/>
              </a:rPr>
              <a:t> says navigation — a </a:t>
            </a:r>
            <a:r>
              <a:rPr sz="2000" b="0" i="0">
                <a:solidFill>
                  <a:srgbClr val="1E4FA8"/>
                </a:solidFill>
                <a:latin typeface="Consolas"/>
                <a:ea typeface="Consolas"/>
              </a:rPr>
              <a:t>&lt;div&gt;</a:t>
            </a:r>
            <a:r>
              <a:rPr sz="2000" b="0" i="0">
                <a:solidFill>
                  <a:srgbClr val="4A5568"/>
                </a:solidFill>
                <a:latin typeface="Calibri"/>
                <a:ea typeface="Calibri"/>
              </a:rPr>
              <a:t> says nothing.</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Accessibility</a:t>
            </a:r>
            <a:br/>
            <a:r>
              <a:rPr sz="2000" b="0" i="0">
                <a:solidFill>
                  <a:srgbClr val="4A5568"/>
                </a:solidFill>
                <a:latin typeface="Calibri"/>
                <a:ea typeface="Calibri"/>
              </a:rPr>
              <a:t>Screen readers navigate by landmarks.</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SEO</a:t>
            </a:r>
            <a:br/>
            <a:r>
              <a:rPr sz="2000" b="0" i="0">
                <a:solidFill>
                  <a:srgbClr val="4A5568"/>
                </a:solidFill>
                <a:latin typeface="Calibri"/>
                <a:ea typeface="Calibri"/>
              </a:rPr>
              <a:t>Search engines understand your page's structure.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Maintainable</a:t>
            </a:r>
            <a:br/>
            <a:r>
              <a:rPr sz="2000" b="0" i="0">
                <a:solidFill>
                  <a:srgbClr val="4A5568"/>
                </a:solidFill>
                <a:latin typeface="Calibri"/>
                <a:ea typeface="Calibri"/>
              </a:rPr>
              <a:t>You and your team read the intent, not just the layout.</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Landmarks a screen reader can announce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tagsysx.github.io/comp3421/editor.html?example=html/semantic</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&lt;header&gt;  &lt;nav&gt;  &lt;main&gt;  &lt;footer&gt;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Semantic Toolkit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TextBox 4"/>
          <p:cNvSpPr txBox="1"/>
          <p:nvPr/>
        </p:nvSpPr>
        <p:spPr>
          <a:xfrm>
            <a:off x="548640" y="822960"/>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&lt;header&gt;</a:t>
            </a:r>
            <a:br/>
            <a:r>
              <a:rPr sz="2000" b="0" i="0">
                <a:solidFill>
                  <a:srgbClr val="4A5568"/>
                </a:solidFill>
                <a:latin typeface="Calibri"/>
                <a:ea typeface="Calibri"/>
              </a:rPr>
              <a:t>The top banner — logo and title.</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&lt;nav&gt;</a:t>
            </a:r>
            <a:br/>
            <a:r>
              <a:rPr sz="2000" b="0" i="0">
                <a:solidFill>
                  <a:srgbClr val="4A5568"/>
                </a:solidFill>
                <a:latin typeface="Calibri"/>
                <a:ea typeface="Calibri"/>
              </a:rPr>
              <a:t>The main navigation links.</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&lt;main&gt;</a:t>
            </a:r>
            <a:br/>
            <a:r>
              <a:rPr sz="2000" b="0" i="0">
                <a:solidFill>
                  <a:srgbClr val="4A5568"/>
                </a:solidFill>
                <a:latin typeface="Calibri"/>
                <a:ea typeface="Calibri"/>
              </a:rPr>
              <a:t>The primary content — one per page.</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&lt;section&gt;</a:t>
            </a:r>
            <a:br/>
            <a:r>
              <a:rPr sz="2000" b="0" i="0">
                <a:solidFill>
                  <a:srgbClr val="4A5568"/>
                </a:solidFill>
                <a:latin typeface="Calibri"/>
                <a:ea typeface="Calibri"/>
              </a:rPr>
              <a:t>A thematic grouping of content.</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&lt;article&gt;</a:t>
            </a:r>
            <a:br/>
            <a:r>
              <a:rPr sz="2000" b="0" i="0">
                <a:solidFill>
                  <a:srgbClr val="4A5568"/>
                </a:solidFill>
                <a:latin typeface="Calibri"/>
                <a:ea typeface="Calibri"/>
              </a:rPr>
              <a:t>A self-contained piece — a post, a card.</a:t>
            </a:r>
          </a:p>
          <a:p>
            <a:pPr marL="256032" indent="-237744">
              <a:lnSpc>
                <a:spcPct val="112000"/>
              </a:lnSpc>
              <a:spcAft>
                <a:spcPts val="700"/>
              </a:spcAft>
              <a:buClr>
                <a:srgbClr val="1E4FA8"/>
              </a:buClr>
              <a:buSzPct val="90000"/>
              <a:buFont typeface="Arial"/>
              <a:buChar char="▪"/>
            </a:pPr>
            <a:r>
              <a:rPr sz="2200" b="1" i="0">
                <a:solidFill>
                  <a:srgbClr val="1E4FA8"/>
                </a:solidFill>
                <a:latin typeface="Consolas"/>
                <a:ea typeface="Consolas"/>
              </a:rPr>
              <a:t>&lt;footer&gt;</a:t>
            </a:r>
            <a:br/>
            <a:r>
              <a:rPr sz="2000" b="0" i="0">
                <a:solidFill>
                  <a:srgbClr val="4A5568"/>
                </a:solidFill>
                <a:latin typeface="Calibri"/>
                <a:ea typeface="Calibri"/>
              </a:rPr>
              <a:t>The bottom — copyright, contact, links.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page skeleton in landmarks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tagsysx.github.io/comp3421/editor.html?example=html/semantic</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&lt;header&gt; &lt;nav&gt; &lt;main&gt;&lt;section&gt;&lt;article&gt; &lt;footer&gt;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&lt;div&gt; vs &lt;section&gt;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&lt;div&gt;</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Generic container</a:t>
            </a:r>
            <a:br/>
            <a:r>
              <a:rPr sz="1400" b="0" i="0">
                <a:solidFill>
                  <a:srgbClr val="4A5568"/>
                </a:solidFill>
                <a:latin typeface="Calibri"/>
                <a:ea typeface="Calibri"/>
              </a:rPr>
              <a:t>No built-in meaning.</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For layout &amp; styling</a:t>
            </a:r>
            <a:br/>
            <a:r>
              <a:rPr sz="1400" b="0" i="0">
                <a:solidFill>
                  <a:srgbClr val="4A5568"/>
                </a:solidFill>
                <a:latin typeface="Calibri"/>
                <a:ea typeface="Calibri"/>
              </a:rPr>
              <a:t>Group things for CSS, not for meaning.</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When nothing fits</a:t>
            </a:r>
            <a:br/>
            <a:r>
              <a:rPr sz="1400" b="0" i="0">
                <a:solidFill>
                  <a:srgbClr val="4A5568"/>
                </a:solidFill>
                <a:latin typeface="Calibri"/>
                <a:ea typeface="Calibri"/>
              </a:rPr>
              <a:t>The fallback when no semantic tag applies.</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&lt;section&gt;</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Has meaning</a:t>
            </a:r>
            <a:br/>
            <a:r>
              <a:rPr sz="1400" b="0" i="0">
                <a:solidFill>
                  <a:srgbClr val="4A5568"/>
                </a:solidFill>
                <a:latin typeface="Calibri"/>
                <a:ea typeface="Calibri"/>
              </a:rPr>
              <a:t>A thematic section of content.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Usually has a heading</a:t>
            </a:r>
            <a:br/>
            <a:r>
              <a:rPr sz="1400" b="0" i="0">
                <a:solidFill>
                  <a:srgbClr val="4A5568"/>
                </a:solidFill>
                <a:latin typeface="Calibri"/>
                <a:ea typeface="Calibri"/>
              </a:rPr>
              <a:t>A title that describes the section.</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Part of the outline</a:t>
            </a:r>
            <a:br/>
            <a:r>
              <a:rPr sz="1400" b="0" i="0">
                <a:solidFill>
                  <a:srgbClr val="4A5568"/>
                </a:solidFill>
                <a:latin typeface="Calibri"/>
                <a:ea typeface="Calibri"/>
              </a:rPr>
              <a:t>Contributes to the page structure.</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Rule of thumb: if a semantic tag fits, use it; &lt;div&gt; is the last resort.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 Semantic Page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Containers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Landmarks</a:t>
            </a:r>
            <a:br/>
            <a:r>
              <a:rPr sz="1350" b="0" i="0">
                <a:solidFill>
                  <a:srgbClr val="4A5568"/>
                </a:solidFill>
                <a:latin typeface="Calibri"/>
                <a:ea typeface="Calibri"/>
              </a:rPr>
              <a:t>header, nav, main and footer outline the page.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main</a:t>
            </a:r>
            <a:br/>
            <a:r>
              <a:rPr sz="1350" b="0" i="0">
                <a:solidFill>
                  <a:srgbClr val="4A5568"/>
                </a:solidFill>
                <a:latin typeface="Calibri"/>
                <a:ea typeface="Calibri"/>
              </a:rPr>
              <a:t>The primary content sits in one </a:t>
            </a:r>
            <a:r>
              <a:rPr sz="1350" b="0" i="0">
                <a:solidFill>
                  <a:srgbClr val="1E4FA8"/>
                </a:solidFill>
                <a:latin typeface="Consolas"/>
                <a:ea typeface="Consolas"/>
              </a:rPr>
              <a:t>&lt;main&gt;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article</a:t>
            </a:r>
            <a:br/>
            <a:r>
              <a:rPr sz="1350" b="0" i="0">
                <a:solidFill>
                  <a:srgbClr val="4A5568"/>
                </a:solidFill>
                <a:latin typeface="Calibri"/>
                <a:ea typeface="Calibri"/>
              </a:rPr>
              <a:t>A self-contained piece inside main.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aside</a:t>
            </a:r>
            <a:br/>
            <a:r>
              <a:rPr sz="1350" b="0" i="0">
                <a:solidFill>
                  <a:srgbClr val="4A5568"/>
                </a:solidFill>
                <a:latin typeface="Calibri"/>
                <a:ea typeface="Calibri"/>
              </a:rPr>
              <a:t>Side content — related but separate.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&lt;body&gt;</a:t>
            </a:r>
          </a:p>
          <a:p>
            <a:pPr>
              <a:spcAft>
                <a:spcPts val="350"/>
              </a:spcAft>
            </a:pPr>
            <a:r>
              <a:rPr sz="1300" b="0" i="0">
                <a:solidFill>
                  <a:srgbClr val="61AFEF"/>
                </a:solidFill>
                <a:latin typeface="Consolas"/>
                <a:ea typeface="Consolas"/>
              </a:rPr>
              <a:t>  &lt;header&gt;&lt;h1&gt;My Site&lt;/h1&gt;&lt;/header&gt;</a:t>
            </a:r>
          </a:p>
          <a:p>
            <a:pPr>
              <a:spcAft>
                <a:spcPts val="350"/>
              </a:spcAft>
            </a:pPr>
            <a:r>
              <a:rPr sz="1300" b="0" i="0">
                <a:solidFill>
                  <a:srgbClr val="61AFEF"/>
                </a:solidFill>
                <a:latin typeface="Consolas"/>
                <a:ea typeface="Consolas"/>
              </a:rPr>
              <a:t>  &lt;nav&gt;&lt;a href="/"&gt;Home&lt;/a&gt;…&lt;/nav&gt;</a:t>
            </a:r>
          </a:p>
          <a:p>
            <a:pPr>
              <a:spcAft>
                <a:spcPts val="350"/>
              </a:spcAft>
            </a:pPr>
            <a:r>
              <a:rPr sz="1300" b="0" i="0">
                <a:solidFill>
                  <a:srgbClr val="E5C07B"/>
                </a:solidFill>
                <a:latin typeface="Consolas"/>
                <a:ea typeface="Consolas"/>
              </a:rPr>
              <a:t>  &lt;main&gt;</a:t>
            </a:r>
          </a:p>
          <a:p>
            <a:pPr>
              <a:spcAft>
                <a:spcPts val="350"/>
              </a:spcAft>
            </a:pPr>
            <a:r>
              <a:rPr sz="1300" b="0" i="0">
                <a:solidFill>
                  <a:srgbClr val="98C379"/>
                </a:solidFill>
                <a:latin typeface="Consolas"/>
                <a:ea typeface="Consolas"/>
              </a:rPr>
              <a:t>    &lt;article&gt;&lt;h2&gt;Post&lt;/h2&gt;&lt;p&gt;…&lt;/p&gt;&lt;/article&gt;</a:t>
            </a:r>
          </a:p>
          <a:p>
            <a:pPr>
              <a:spcAft>
                <a:spcPts val="350"/>
              </a:spcAft>
            </a:pPr>
            <a:r>
              <a:rPr sz="1300" b="0" i="0">
                <a:solidFill>
                  <a:srgbClr val="E5C07B"/>
                </a:solidFill>
                <a:latin typeface="Consolas"/>
                <a:ea typeface="Consolas"/>
              </a:rPr>
              <a:t>  &lt;/main&gt;</a:t>
            </a:r>
          </a:p>
          <a:p>
            <a:pPr>
              <a:spcAft>
                <a:spcPts val="350"/>
              </a:spcAft>
            </a:pPr>
            <a:r>
              <a:rPr sz="1300" b="0" i="0">
                <a:solidFill>
                  <a:srgbClr val="C678DD"/>
                </a:solidFill>
                <a:latin typeface="Consolas"/>
                <a:ea typeface="Consolas"/>
              </a:rPr>
              <a:t>  &lt;aside&gt;Related links&lt;/aside&gt;</a:t>
            </a:r>
          </a:p>
          <a:p>
            <a:pPr>
              <a:spcAft>
                <a:spcPts val="350"/>
              </a:spcAft>
            </a:pPr>
            <a:r>
              <a:rPr sz="1300" b="0" i="0">
                <a:solidFill>
                  <a:srgbClr val="61AFEF"/>
                </a:solidFill>
                <a:latin typeface="Consolas"/>
                <a:ea typeface="Consolas"/>
              </a:rPr>
              <a:t>  &lt;footer&gt;© 2026&lt;/footer&gt;</a:t>
            </a:r>
          </a:p>
          <a:p>
            <a:pPr>
              <a:spcAft>
                <a:spcPts val="350"/>
              </a:spcAft>
            </a:pPr>
            <a:r>
              <a:rPr sz="1300" b="0" i="0">
                <a:solidFill>
                  <a:srgbClr val="7F8C98"/>
                </a:solidFill>
                <a:latin typeface="Consolas"/>
                <a:ea typeface="Consolas"/>
              </a:rPr>
              <a:t>&lt;/body&gt;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tagsysx.github.io/comp3421/editor.html?example=html/semantic</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This skeleton appears in almost every site you will build this semester.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07</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The DOM &amp; DevTools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HTML becomes a live tree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Document Object Model</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Inspect and edit it with DevTools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Is the DOM?</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DevTools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Document Object Model</a:t>
            </a:r>
            <a:br/>
            <a:r>
              <a:rPr sz="2000" b="0" i="0">
                <a:solidFill>
                  <a:srgbClr val="4A5568"/>
                </a:solidFill>
                <a:latin typeface="Calibri"/>
                <a:ea typeface="Calibri"/>
              </a:rPr>
              <a:t>The browser's in-memory tree of your page.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HTML becomes objects</a:t>
            </a:r>
            <a:br/>
            <a:r>
              <a:rPr sz="2000" b="0" i="0">
                <a:solidFill>
                  <a:srgbClr val="4A5568"/>
                </a:solidFill>
                <a:latin typeface="Calibri"/>
                <a:ea typeface="Calibri"/>
              </a:rPr>
              <a:t>Each element becomes a node you can reach.</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Live</a:t>
            </a:r>
            <a:br/>
            <a:r>
              <a:rPr sz="2000" b="0" i="0">
                <a:solidFill>
                  <a:srgbClr val="4A5568"/>
                </a:solidFill>
                <a:latin typeface="Calibri"/>
                <a:ea typeface="Calibri"/>
              </a:rPr>
              <a:t>Change it and the page updates instantly.</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JS's playground</a:t>
            </a:r>
            <a:br/>
            <a:r>
              <a:rPr sz="2000" b="0" i="0">
                <a:solidFill>
                  <a:srgbClr val="4A5568"/>
                </a:solidFill>
                <a:latin typeface="Calibri"/>
                <a:ea typeface="Calibri"/>
              </a:rPr>
              <a:t>Week 6: JavaScript walks this tree.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DOM is the bridge between HTML and JavaScript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document.querySelector('h1').textContent = 'Hi';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HTML Becomes a Tree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DevTools</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4A5568"/>
                </a:solidFill>
                <a:latin typeface="Calibri"/>
                <a:ea typeface="Calibri"/>
              </a:rPr>
              <a:t>The same page, two views — source on the left, the DOM tree on the right.</a:t>
            </a:r>
          </a:p>
        </p:txBody>
      </p:sp>
      <p:sp>
        <p:nvSpPr>
          <p:cNvPr id="6" name="Rounded Rectangle 5"/>
          <p:cNvSpPr/>
          <p:nvPr/>
        </p:nvSpPr>
        <p:spPr>
          <a:xfrm>
            <a:off x="548640" y="1389888"/>
            <a:ext cx="5120640" cy="420624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27048"/>
            <a:ext cx="4572000" cy="274320"/>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SOURCE (index.html)</a:t>
            </a:r>
          </a:p>
        </p:txBody>
      </p:sp>
      <p:sp>
        <p:nvSpPr>
          <p:cNvPr id="8" name="TextBox 7"/>
          <p:cNvSpPr txBox="1"/>
          <p:nvPr/>
        </p:nvSpPr>
        <p:spPr>
          <a:xfrm>
            <a:off x="822959" y="1847088"/>
            <a:ext cx="4572000" cy="3657600"/>
          </a:xfrm>
          <a:prstGeom prst="rect">
            <a:avLst/>
          </a:prstGeom>
          <a:noFill/>
        </p:spPr>
        <p:txBody>
          <a:bodyPr wrap="none" lIns="0" rIns="0" tIns="0" bIns="0">
            <a:spAutoFit/>
          </a:bodyPr>
          <a:lstStyle/>
          <a:p>
            <a:pPr>
              <a:spcAft>
                <a:spcPts val="300"/>
              </a:spcAft>
            </a:pPr>
            <a:r>
              <a:rPr sz="1300" b="0" i="0">
                <a:solidFill>
                  <a:srgbClr val="61AFEF"/>
                </a:solidFill>
                <a:latin typeface="Consolas"/>
                <a:ea typeface="Consolas"/>
              </a:rPr>
              <a:t>&lt;html&gt;</a:t>
            </a:r>
          </a:p>
          <a:p>
            <a:pPr>
              <a:spcAft>
                <a:spcPts val="300"/>
              </a:spcAft>
            </a:pPr>
            <a:r>
              <a:rPr sz="1300" b="0" i="0">
                <a:solidFill>
                  <a:srgbClr val="61AFEF"/>
                </a:solidFill>
                <a:latin typeface="Consolas"/>
                <a:ea typeface="Consolas"/>
              </a:rPr>
              <a:t>  &lt;head&gt;…&lt;/head&gt;</a:t>
            </a:r>
          </a:p>
          <a:p>
            <a:pPr>
              <a:spcAft>
                <a:spcPts val="300"/>
              </a:spcAft>
            </a:pPr>
            <a:r>
              <a:rPr sz="1300" b="0" i="0">
                <a:solidFill>
                  <a:srgbClr val="61AFEF"/>
                </a:solidFill>
                <a:latin typeface="Consolas"/>
                <a:ea typeface="Consolas"/>
              </a:rPr>
              <a:t>  &lt;body&gt;</a:t>
            </a:r>
          </a:p>
          <a:p>
            <a:pPr>
              <a:spcAft>
                <a:spcPts val="300"/>
              </a:spcAft>
            </a:pPr>
            <a:r>
              <a:rPr sz="1300" b="0" i="0">
                <a:solidFill>
                  <a:srgbClr val="61AFEF"/>
                </a:solidFill>
                <a:latin typeface="Consolas"/>
                <a:ea typeface="Consolas"/>
              </a:rPr>
              <a:t>    &lt;h1&gt;Title&lt;/h1&gt;</a:t>
            </a:r>
          </a:p>
          <a:p>
            <a:pPr>
              <a:spcAft>
                <a:spcPts val="300"/>
              </a:spcAft>
            </a:pPr>
            <a:r>
              <a:rPr sz="1300" b="0" i="0">
                <a:solidFill>
                  <a:srgbClr val="61AFEF"/>
                </a:solidFill>
                <a:latin typeface="Consolas"/>
                <a:ea typeface="Consolas"/>
              </a:rPr>
              <a:t>    &lt;ul&gt;</a:t>
            </a:r>
          </a:p>
          <a:p>
            <a:pPr>
              <a:spcAft>
                <a:spcPts val="300"/>
              </a:spcAft>
            </a:pPr>
            <a:r>
              <a:rPr sz="1300" b="0" i="0">
                <a:solidFill>
                  <a:srgbClr val="61AFEF"/>
                </a:solidFill>
                <a:latin typeface="Consolas"/>
                <a:ea typeface="Consolas"/>
              </a:rPr>
              <a:t>      &lt;li&gt;One&lt;/li&gt;</a:t>
            </a:r>
          </a:p>
          <a:p>
            <a:pPr>
              <a:spcAft>
                <a:spcPts val="300"/>
              </a:spcAft>
            </a:pPr>
            <a:r>
              <a:rPr sz="1300" b="0" i="0">
                <a:solidFill>
                  <a:srgbClr val="61AFEF"/>
                </a:solidFill>
                <a:latin typeface="Consolas"/>
                <a:ea typeface="Consolas"/>
              </a:rPr>
              <a:t>      &lt;li&gt;Two&lt;/li&gt;</a:t>
            </a:r>
          </a:p>
          <a:p>
            <a:pPr>
              <a:spcAft>
                <a:spcPts val="300"/>
              </a:spcAft>
            </a:pPr>
            <a:r>
              <a:rPr sz="1300" b="0" i="0">
                <a:solidFill>
                  <a:srgbClr val="61AFEF"/>
                </a:solidFill>
                <a:latin typeface="Consolas"/>
                <a:ea typeface="Consolas"/>
              </a:rPr>
              <a:t>    &lt;/ul&gt;</a:t>
            </a:r>
          </a:p>
          <a:p>
            <a:pPr>
              <a:spcAft>
                <a:spcPts val="300"/>
              </a:spcAft>
            </a:pPr>
            <a:r>
              <a:rPr sz="1300" b="0" i="0">
                <a:solidFill>
                  <a:srgbClr val="61AFEF"/>
                </a:solidFill>
                <a:latin typeface="Consolas"/>
                <a:ea typeface="Consolas"/>
              </a:rPr>
              <a:t>  &lt;/body&gt;</a:t>
            </a:r>
          </a:p>
          <a:p>
            <a:pPr>
              <a:spcAft>
                <a:spcPts val="300"/>
              </a:spcAft>
            </a:pPr>
            <a:r>
              <a:rPr sz="1300" b="0" i="0">
                <a:solidFill>
                  <a:srgbClr val="61AFEF"/>
                </a:solidFill>
                <a:latin typeface="Consolas"/>
                <a:ea typeface="Consolas"/>
              </a:rPr>
              <a:t>&lt;/html&gt;</a:t>
            </a:r>
          </a:p>
        </p:txBody>
      </p:sp>
      <p:sp>
        <p:nvSpPr>
          <p:cNvPr id="9" name="TextBox 8"/>
          <p:cNvSpPr txBox="1"/>
          <p:nvPr/>
        </p:nvSpPr>
        <p:spPr>
          <a:xfrm>
            <a:off x="6126479" y="1499616"/>
            <a:ext cx="5516575" cy="274320"/>
          </a:xfrm>
          <a:prstGeom prst="rect">
            <a:avLst/>
          </a:prstGeom>
          <a:noFill/>
        </p:spPr>
        <p:txBody>
          <a:bodyPr wrap="square" anchor="t" lIns="0" rIns="0" tIns="0" bIns="0">
            <a:spAutoFit/>
          </a:bodyPr>
          <a:lstStyle/>
          <a:p>
            <a:pPr algn="l">
              <a:lnSpc>
                <a:spcPct val="110000"/>
              </a:lnSpc>
              <a:spcAft>
                <a:spcPts val="400"/>
              </a:spcAft>
            </a:pPr>
            <a:r>
              <a:rPr sz="1100" b="1" i="0">
                <a:solidFill>
                  <a:srgbClr val="0E3F8C"/>
                </a:solidFill>
                <a:latin typeface="Calibri"/>
                <a:ea typeface="Calibri"/>
              </a:rPr>
              <a:t>DOM TREE</a:t>
            </a:r>
          </a:p>
        </p:txBody>
      </p:sp>
      <p:sp>
        <p:nvSpPr>
          <p:cNvPr id="10" name="Rectangle 9"/>
          <p:cNvSpPr/>
          <p:nvPr/>
        </p:nvSpPr>
        <p:spPr>
          <a:xfrm>
            <a:off x="8873337" y="2304288"/>
            <a:ext cx="22860" cy="201168"/>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69479" y="2494026"/>
            <a:ext cx="3230575" cy="22860"/>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58049" y="2505456"/>
            <a:ext cx="22860" cy="164591"/>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88625" y="2505456"/>
            <a:ext cx="22860" cy="164591"/>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488625" y="3127248"/>
            <a:ext cx="22860" cy="365759"/>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488625" y="3950208"/>
            <a:ext cx="22860" cy="365760"/>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88625" y="4773168"/>
            <a:ext cx="22860" cy="201167"/>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28455" y="4962905"/>
            <a:ext cx="1737360" cy="22860"/>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17025" y="4974336"/>
            <a:ext cx="22860" cy="164591"/>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854385" y="4974336"/>
            <a:ext cx="22860" cy="164591"/>
          </a:xfrm>
          <a:prstGeom prst="rect">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87487" y="1847088"/>
            <a:ext cx="2194560" cy="457200"/>
          </a:xfrm>
          <a:prstGeom prst="roundRect">
            <a:avLst>
              <a:gd name="adj" fmla="val 25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87487" y="1901952"/>
            <a:ext cx="219456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html</a:t>
            </a:r>
          </a:p>
        </p:txBody>
      </p:sp>
      <p:sp>
        <p:nvSpPr>
          <p:cNvPr id="22" name="Rounded Rectangle 21"/>
          <p:cNvSpPr/>
          <p:nvPr/>
        </p:nvSpPr>
        <p:spPr>
          <a:xfrm>
            <a:off x="6583679" y="2670048"/>
            <a:ext cx="1371600" cy="457200"/>
          </a:xfrm>
          <a:prstGeom prst="roundRect">
            <a:avLst>
              <a:gd name="adj" fmla="val 25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79" y="2724912"/>
            <a:ext cx="137160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head</a:t>
            </a:r>
          </a:p>
        </p:txBody>
      </p:sp>
      <p:sp>
        <p:nvSpPr>
          <p:cNvPr id="24" name="Rounded Rectangle 23"/>
          <p:cNvSpPr/>
          <p:nvPr/>
        </p:nvSpPr>
        <p:spPr>
          <a:xfrm>
            <a:off x="9814255" y="2670048"/>
            <a:ext cx="1371600" cy="457200"/>
          </a:xfrm>
          <a:prstGeom prst="roundRect">
            <a:avLst>
              <a:gd name="adj" fmla="val 25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14255" y="2724912"/>
            <a:ext cx="137160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body</a:t>
            </a:r>
          </a:p>
        </p:txBody>
      </p:sp>
      <p:sp>
        <p:nvSpPr>
          <p:cNvPr id="26" name="Rounded Rectangle 25"/>
          <p:cNvSpPr/>
          <p:nvPr/>
        </p:nvSpPr>
        <p:spPr>
          <a:xfrm>
            <a:off x="9814255" y="3493008"/>
            <a:ext cx="1371600" cy="457200"/>
          </a:xfrm>
          <a:prstGeom prst="roundRect">
            <a:avLst>
              <a:gd name="adj" fmla="val 25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14255" y="3547872"/>
            <a:ext cx="137160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h1</a:t>
            </a:r>
          </a:p>
        </p:txBody>
      </p:sp>
      <p:sp>
        <p:nvSpPr>
          <p:cNvPr id="28" name="Rounded Rectangle 27"/>
          <p:cNvSpPr/>
          <p:nvPr/>
        </p:nvSpPr>
        <p:spPr>
          <a:xfrm>
            <a:off x="9814255" y="4315968"/>
            <a:ext cx="1371600" cy="457200"/>
          </a:xfrm>
          <a:prstGeom prst="roundRect">
            <a:avLst>
              <a:gd name="adj" fmla="val 25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14255" y="4370832"/>
            <a:ext cx="137160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ul</a:t>
            </a:r>
          </a:p>
        </p:txBody>
      </p:sp>
      <p:sp>
        <p:nvSpPr>
          <p:cNvPr id="30" name="Rounded Rectangle 29"/>
          <p:cNvSpPr/>
          <p:nvPr/>
        </p:nvSpPr>
        <p:spPr>
          <a:xfrm>
            <a:off x="8534095" y="5138927"/>
            <a:ext cx="1188720" cy="457200"/>
          </a:xfrm>
          <a:prstGeom prst="roundRect">
            <a:avLst>
              <a:gd name="adj" fmla="val 25000"/>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34095" y="5193791"/>
            <a:ext cx="118872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li</a:t>
            </a:r>
          </a:p>
        </p:txBody>
      </p:sp>
      <p:sp>
        <p:nvSpPr>
          <p:cNvPr id="32" name="Rounded Rectangle 31"/>
          <p:cNvSpPr/>
          <p:nvPr/>
        </p:nvSpPr>
        <p:spPr>
          <a:xfrm>
            <a:off x="10271455" y="5138927"/>
            <a:ext cx="1188720" cy="457200"/>
          </a:xfrm>
          <a:prstGeom prst="roundRect">
            <a:avLst>
              <a:gd name="adj" fmla="val 25000"/>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71455" y="5193791"/>
            <a:ext cx="1188720" cy="365760"/>
          </a:xfrm>
          <a:prstGeom prst="rect">
            <a:avLst/>
          </a:prstGeom>
          <a:noFill/>
        </p:spPr>
        <p:txBody>
          <a:bodyPr wrap="square" anchor="t" lIns="0" rIns="0" tIns="0" bIns="0">
            <a:spAutoFit/>
          </a:bodyPr>
          <a:lstStyle/>
          <a:p>
            <a:pPr algn="ctr">
              <a:lnSpc>
                <a:spcPct val="110000"/>
              </a:lnSpc>
              <a:spcAft>
                <a:spcPts val="400"/>
              </a:spcAft>
            </a:pPr>
            <a:r>
              <a:rPr sz="1200" b="1" i="0">
                <a:solidFill>
                  <a:srgbClr val="FFFFFF"/>
                </a:solidFill>
                <a:latin typeface="Calibri"/>
                <a:ea typeface="Calibri"/>
              </a:rPr>
              <a:t>li</a:t>
            </a:r>
          </a:p>
        </p:txBody>
      </p:sp>
      <p:sp>
        <p:nvSpPr>
          <p:cNvPr id="34" name="Rounded Rectangle 33"/>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Parent → child → grandchild: the DOM is exactly this tree, live.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DOM Nodes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DevTools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Element nodes</a:t>
            </a:r>
            <a:br/>
            <a:r>
              <a:rPr sz="2000" b="0" i="0">
                <a:solidFill>
                  <a:srgbClr val="4A5568"/>
                </a:solidFill>
                <a:latin typeface="Calibri"/>
                <a:ea typeface="Calibri"/>
              </a:rPr>
              <a:t>Each tag becomes an element node.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Text nodes</a:t>
            </a:r>
            <a:br/>
            <a:r>
              <a:rPr sz="2000" b="0" i="0">
                <a:solidFill>
                  <a:srgbClr val="4A5568"/>
                </a:solidFill>
                <a:latin typeface="Calibri"/>
                <a:ea typeface="Calibri"/>
              </a:rPr>
              <a:t>The text inside an element is its own node.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Parent / child / sibling</a:t>
            </a:r>
            <a:br/>
            <a:r>
              <a:rPr sz="2000" b="0" i="0">
                <a:solidFill>
                  <a:srgbClr val="4A5568"/>
                </a:solidFill>
                <a:latin typeface="Calibri"/>
                <a:ea typeface="Calibri"/>
              </a:rPr>
              <a:t>The tree has a family tree's vocabulary.</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document</a:t>
            </a:r>
            <a:br/>
            <a:r>
              <a:rPr sz="2000" b="0" i="0">
                <a:solidFill>
                  <a:srgbClr val="4A5568"/>
                </a:solidFill>
                <a:latin typeface="Calibri"/>
                <a:ea typeface="Calibri"/>
              </a:rPr>
              <a:t>The root — your entry point from JavaScript.</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Walk the tree from document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document.body.children[0].textContent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Opening DevTools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DevTools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Right-click → Inspect</a:t>
            </a:r>
            <a:br/>
            <a:r>
              <a:rPr sz="2000" b="0" i="0">
                <a:solidFill>
                  <a:srgbClr val="4A5568"/>
                </a:solidFill>
                <a:latin typeface="Calibri"/>
                <a:ea typeface="Calibri"/>
              </a:rPr>
              <a:t>Jump straight to that element.</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F12</a:t>
            </a:r>
            <a:br/>
            <a:r>
              <a:rPr sz="2000" b="0" i="0">
                <a:solidFill>
                  <a:srgbClr val="4A5568"/>
                </a:solidFill>
                <a:latin typeface="Calibri"/>
                <a:ea typeface="Calibri"/>
              </a:rPr>
              <a:t>Opens the panel in Chrome and Edge.</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Cmd+Opt+I</a:t>
            </a:r>
            <a:br/>
            <a:r>
              <a:rPr sz="2000" b="0" i="0">
                <a:solidFill>
                  <a:srgbClr val="4A5568"/>
                </a:solidFill>
                <a:latin typeface="Calibri"/>
                <a:ea typeface="Calibri"/>
              </a:rPr>
              <a:t>The Mac shortcut.</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Elements tab</a:t>
            </a:r>
            <a:br/>
            <a:r>
              <a:rPr sz="2000" b="0" i="0">
                <a:solidFill>
                  <a:srgbClr val="4A5568"/>
                </a:solidFill>
                <a:latin typeface="Calibri"/>
                <a:ea typeface="Calibri"/>
              </a:rPr>
              <a:t>See the live DOM and the applied CSS.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fastest way to a live view of any page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Right-click any text  →  Inspect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Elements Panel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DevTools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Live DOM</a:t>
            </a:r>
            <a:br/>
            <a:r>
              <a:rPr sz="2000" b="0" i="0">
                <a:solidFill>
                  <a:srgbClr val="4A5568"/>
                </a:solidFill>
                <a:latin typeface="Calibri"/>
                <a:ea typeface="Calibri"/>
              </a:rPr>
              <a:t>The tree, exactly as the browser sees it.</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Edit HTML</a:t>
            </a:r>
            <a:br/>
            <a:r>
              <a:rPr sz="2000" b="0" i="0">
                <a:solidFill>
                  <a:srgbClr val="4A5568"/>
                </a:solidFill>
                <a:latin typeface="Calibri"/>
                <a:ea typeface="Calibri"/>
              </a:rPr>
              <a:t>Double-click to change text, tags, attributes.</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Add / delete nodes</a:t>
            </a:r>
            <a:br/>
            <a:r>
              <a:rPr sz="2000" b="0" i="0">
                <a:solidFill>
                  <a:srgbClr val="4A5568"/>
                </a:solidFill>
                <a:latin typeface="Calibri"/>
                <a:ea typeface="Calibri"/>
              </a:rPr>
              <a:t>Right-click to add or remove elements.</a:t>
            </a:r>
          </a:p>
          <a:p>
            <a:pPr marL="256032" indent="-237744">
              <a:lnSpc>
                <a:spcPct val="112000"/>
              </a:lnSpc>
              <a:spcAft>
                <a:spcPts val="700"/>
              </a:spcAft>
              <a:buClr>
                <a:srgbClr val="1E4FA8"/>
              </a:buClr>
              <a:buSzPct val="90000"/>
              <a:buFont typeface="Arial"/>
              <a:buChar char="▪"/>
            </a:pPr>
            <a:r>
              <a:rPr sz="2200" b="1" i="0">
                <a:solidFill>
                  <a:srgbClr val="1A2230"/>
                </a:solidFill>
                <a:latin typeface="Calibri"/>
                <a:ea typeface="Calibri"/>
              </a:rPr>
              <a:t>Styles panel</a:t>
            </a:r>
            <a:br/>
            <a:r>
              <a:rPr sz="2000" b="0" i="0">
                <a:solidFill>
                  <a:srgbClr val="4A5568"/>
                </a:solidFill>
                <a:latin typeface="Calibri"/>
                <a:ea typeface="Calibri"/>
              </a:rPr>
              <a:t>See and edit the CSS for the element you clicked.</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Edit the page live — then refresh to reset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Double-click a heading in Elements  →  retype 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Console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DevTools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Interactive JavaScript</a:t>
            </a:r>
            <a:br/>
            <a:r>
              <a:rPr sz="1350" b="0" i="0">
                <a:solidFill>
                  <a:srgbClr val="4A5568"/>
                </a:solidFill>
                <a:latin typeface="Calibri"/>
                <a:ea typeface="Calibri"/>
              </a:rPr>
              <a:t>Type commands and run them instantly.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Inspect the page</a:t>
            </a:r>
            <a:br/>
            <a:r>
              <a:rPr sz="1350" b="0" i="0">
                <a:solidFill>
                  <a:srgbClr val="4A5568"/>
                </a:solidFill>
                <a:latin typeface="Calibri"/>
                <a:ea typeface="Calibri"/>
              </a:rPr>
              <a:t>Peek at any element's contents.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Errors land here</a:t>
            </a:r>
            <a:br/>
            <a:r>
              <a:rPr sz="1350" b="0" i="0">
                <a:solidFill>
                  <a:srgbClr val="4A5568"/>
                </a:solidFill>
                <a:latin typeface="Calibri"/>
                <a:ea typeface="Calibri"/>
              </a:rPr>
              <a:t>Broken code reports to the console.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console.log</a:t>
            </a:r>
            <a:br/>
            <a:r>
              <a:rPr sz="1350" b="0" i="0">
                <a:solidFill>
                  <a:srgbClr val="4A5568"/>
                </a:solidFill>
                <a:latin typeface="Calibri"/>
                <a:ea typeface="Calibri"/>
              </a:rPr>
              <a:t>Print values while debugging.</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&gt; document.title</a:t>
            </a:r>
          </a:p>
          <a:p>
            <a:pPr>
              <a:spcAft>
                <a:spcPts val="350"/>
              </a:spcAft>
            </a:pPr>
            <a:r>
              <a:rPr sz="1300" b="0" i="0">
                <a:solidFill>
                  <a:srgbClr val="98C379"/>
                </a:solidFill>
                <a:latin typeface="Consolas"/>
                <a:ea typeface="Consolas"/>
              </a:rPr>
              <a:t>"My First Page"</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&gt; document.querySelector('h1').textContent</a:t>
            </a:r>
          </a:p>
          <a:p>
            <a:pPr>
              <a:spcAft>
                <a:spcPts val="350"/>
              </a:spcAft>
            </a:pPr>
            <a:r>
              <a:rPr sz="1300" b="0" i="0">
                <a:solidFill>
                  <a:srgbClr val="98C379"/>
                </a:solidFill>
                <a:latin typeface="Consolas"/>
                <a:ea typeface="Consolas"/>
              </a:rPr>
              <a:t>"Hello, COMP3421!"</a:t>
            </a:r>
          </a:p>
          <a:p>
            <a:pPr>
              <a:spcAft>
                <a:spcPts val="350"/>
              </a:spcAft>
            </a:pPr>
            <a:r>
              <a:rPr sz="1300" b="0" i="0">
                <a:solidFill>
                  <a:srgbClr val="7F8C98"/>
                </a:solidFill>
                <a:latin typeface="Consolas"/>
                <a:ea typeface="Consolas"/>
              </a:rPr>
              <a:t/>
            </a:r>
          </a:p>
          <a:p>
            <a:pPr>
              <a:spcAft>
                <a:spcPts val="350"/>
              </a:spcAft>
            </a:pPr>
            <a:r>
              <a:rPr sz="1300" b="0" i="0">
                <a:solidFill>
                  <a:srgbClr val="E5C07B"/>
                </a:solidFill>
                <a:latin typeface="Consolas"/>
                <a:ea typeface="Consolas"/>
              </a:rPr>
              <a:t>&gt; console.log('hello web')</a:t>
            </a:r>
          </a:p>
          <a:p>
            <a:pPr>
              <a:spcAft>
                <a:spcPts val="350"/>
              </a:spcAft>
            </a:pPr>
            <a:r>
              <a:rPr sz="1300" b="0" i="0">
                <a:solidFill>
                  <a:srgbClr val="98C379"/>
                </a:solidFill>
                <a:latin typeface="Consolas"/>
                <a:ea typeface="Consolas"/>
              </a:rPr>
              <a:t>hello web</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the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tagsysx.github.io/comp3421/editor.html</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6: this console becomes your JavaScript playground.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966960" cy="365760"/>
          </a:xfrm>
          <a:prstGeom prst="rect">
            <a:avLst/>
          </a:prstGeom>
          <a:noFill/>
        </p:spPr>
        <p:txBody>
          <a:bodyPr wrap="square" anchor="t" lIns="0" rIns="0" tIns="0" bIns="0">
            <a:spAutoFit/>
          </a:bodyPr>
          <a:lstStyle/>
          <a:p>
            <a:pPr algn="ctr">
              <a:lnSpc>
                <a:spcPct val="110000"/>
              </a:lnSpc>
              <a:spcAft>
                <a:spcPts val="400"/>
              </a:spcAft>
            </a:pPr>
            <a:r>
              <a:rPr sz="1400" b="1" i="0">
                <a:solidFill>
                  <a:srgbClr val="B9CDEE"/>
                </a:solidFill>
                <a:latin typeface="Calibri"/>
                <a:ea typeface="Calibri"/>
              </a:rPr>
              <a:t>COMP3421 · LECTURE 02 · WEEK 2</a:t>
            </a:r>
          </a:p>
        </p:txBody>
      </p:sp>
      <p:sp>
        <p:nvSpPr>
          <p:cNvPr id="4" name="TextBox 3"/>
          <p:cNvSpPr txBox="1"/>
          <p:nvPr/>
        </p:nvSpPr>
        <p:spPr>
          <a:xfrm>
            <a:off x="1097280" y="2103120"/>
            <a:ext cx="9966960" cy="1005840"/>
          </a:xfrm>
          <a:prstGeom prst="rect">
            <a:avLst/>
          </a:prstGeom>
          <a:noFill/>
        </p:spPr>
        <p:txBody>
          <a:bodyPr wrap="square" anchor="t" lIns="0" rIns="0" tIns="0" bIns="0">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8527" y="3913632"/>
            <a:ext cx="2834640" cy="347472"/>
          </a:xfrm>
          <a:prstGeom prst="rect">
            <a:avLst/>
          </a:prstGeom>
          <a:noFill/>
        </p:spPr>
        <p:txBody>
          <a:bodyPr wrap="square" anchor="t" lIns="0" rIns="0" tIns="0" bIns="0">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Next: Week 3 — Styling: colour, length, text, font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