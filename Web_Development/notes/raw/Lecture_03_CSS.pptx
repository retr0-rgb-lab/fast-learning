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notesMaster" Target="notesMasters/notesMaster1.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fourth notation is alpha — rgba(..., 0.5) or #RRGGBBAA — which is a separate idea from picking the hue.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
        <p:nvSpPr>
          <p:cNvPr id="600" name="Footer Left"/>
          <p:cNvSpPr/>
          <p:nvPr/>
        </p:nvSpPr>
        <p:spPr>
          <a:xfrm>
            <a:off x="548640" y="6473952"/>
            <a:ext cx="8686800" cy="274320"/>
          </a:xfrm>
          <a:prstGeom prst="rect">
            <a:avLst/>
          </a:prstGeom>
        </p:spPr>
        <p:txBody>
          <a:bodyPr wrap="none"/>
          <a:lstStyle/>
          <a:p>
            <a:r>
              <a:rPr lang="en-US" sz="950">
                <a:solidFill>
                  <a:srgbClr val="8B97A8"/>
                </a:solidFill>
              </a:rPr>
              <a:t>COMP3421 Web Application Design and Development · The Hong Kong Polytechnic University · Department of Computing</a:t>
            </a:r>
          </a:p>
        </p:txBody>
      </p:sp>
      <p:sp>
        <p:nvSpPr>
          <p:cNvPr id="601" name="Footer Page"/>
          <p:cNvSpPr/>
          <p:nvPr/>
        </p:nvSpPr>
        <p:spPr>
          <a:xfrm>
            <a:off x="9265615" y="6473952"/>
            <a:ext cx="2377440" cy="274320"/>
          </a:xfrm>
          <a:prstGeom prst="rect">
            <a:avLst/>
          </a:prstGeom>
        </p:spPr>
        <p:txBody>
          <a:bodyPr wrap="none"/>
          <a:lstStyle/>
          <a:p>
            <a:pPr algn="r"/>
            <a:fld id="{F40B4E37-65A7-4205-870E-20AE06D3A31E}" type="slidenum">
              <a:rPr lang="en-US" sz="1050" b="1">
                <a:solidFill>
                  <a:srgbClr val="1E4FA8"/>
                </a:solidFill>
              </a:rPr>
              <a:t>1</a:t>
            </a:fld>
            <a:r>
              <a:rPr lang="en-US" sz="950">
                <a:solidFill>
                  <a:srgbClr val="8B97A8"/>
                </a:solidFill>
              </a:rPr>
              <a:t> / 37</a:t>
            </a:r>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tagsysx.github.io/comp3421/"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tagsysx.github.io/comp3421/editor.html?example=css-styling/showcase"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tagsysx.github.io/comp3421/editor.html?example=css-styling/showcase"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tagsysx.github.io/comp3421/editor.html?example=css-styling/colors"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hyperlink" Target="https://tagsysx.github.io/comp3421/editor.html?example=css-styling/colors" TargetMode="External"/><Relationship Id="rId4" Type="http://schemas.openxmlformats.org/officeDocument/2006/relationships/notesSlide" Target="../notesSlides/notesSlide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tagsysx.github.io/comp3421/editor.html?example=css-layout/variables"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tagsysx.github.io/comp3421/editor.html?example=css-styling/named-colors"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tagsysx.github.io/comp3421/editor.html?example=css-styling/colors"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tagsysx.github.io/comp3421/editor.html?example=css-styling/colors"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tagsysx.github.io/comp3421/editor.html?example=css-styling/overlay"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tagsysx.github.io/comp3421/editor.html?example=css-styling/length-units" TargetMode="Externa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tagsysx.github.io/comp3421/editor.html?example=css-styling/length-units" TargetMode="Externa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tagsysx.github.io/comp3421/editor.html?example=css-styling/length-units" TargetMode="Externa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tagsysx.github.io/comp3421/editor.html?example=css-styling/length-units" TargetMode="Externa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tagsysx.github.io/comp3421/editor.html?example=css-styling/length-units" TargetMode="Externa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tagsysx.github.io/comp3421/editor.html?example=css-styling/text" TargetMode="Externa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tagsysx.github.io/comp3421/editor.html?example=css-styling/text" TargetMode="Externa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tagsysx.github.io/comp3421/editor.html?example=css-styling/text" TargetMode="External"/><Relationship Id="rId3" Type="http://schemas.openxmlformats.org/officeDocument/2006/relationships/image" Target="../media/image2.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tagsysx.github.io/comp3421/editor.html?example=css-styling/font" TargetMode="Externa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tagsysx.github.io/comp3421/editor.html?example=css-styling/font" TargetMode="Externa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tagsysx.github.io/comp3421/editor.html?example=css-styling/font" TargetMode="Externa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tagsysx.github.io/comp3421/editor.html?example=css-styling/font" TargetMode="Externa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tagsysx.github.io/comp3421/editor.html?example=css-styling/font" TargetMode="Externa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tagsysx.github.io/comp3421/editor.html?example=css-styling/webfont" TargetMode="Externa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tagsysx.github.io/comp3421/editor.html?example=css-styling/webfont" TargetMode="Externa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tagsysx.github.io/comp3421/editor.html?example=css-cascade/inheritance" TargetMode="Externa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tagsysx.github.io/comp3421/editor.html?example=css-cascade/inheritance" TargetMode="Externa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28016"/>
          </a:xfrm>
          <a:prstGeom prst="rect">
            <a:avLst/>
          </a:prstGeom>
          <a:solidFill>
            <a:srgbClr val="1E4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777240"/>
            <a:ext cx="10972800" cy="731520"/>
          </a:xfrm>
          <a:prstGeom prst="rect">
            <a:avLst/>
          </a:prstGeom>
          <a:noFill/>
        </p:spPr>
        <p:txBody>
          <a:bodyPr wrap="square" anchor="t" lIns="0" rIns="0" tIns="0" bIns="0">
            <a:spAutoFit/>
          </a:bodyPr>
          <a:lstStyle/>
          <a:p>
            <a:pPr algn="l">
              <a:lnSpc>
                <a:spcPct val="110000"/>
              </a:lnSpc>
              <a:spcAft>
                <a:spcPts val="200"/>
              </a:spcAft>
            </a:pPr>
            <a:r>
              <a:rPr sz="1300" b="1" i="0">
                <a:solidFill>
                  <a:srgbClr val="B9CDEE"/>
                </a:solidFill>
                <a:latin typeface="Calibri"/>
                <a:ea typeface="Calibri"/>
              </a:rPr>
              <a:t>THE HONG KONG POLYTECHNIC UNIVERSITY · DEPARTMENT OF COMPUTING</a:t>
            </a:r>
            <a:r>
              <a:rPr sz="1700" b="1" i="0">
                <a:solidFill>
                  <a:srgbClr val="FFFFFF"/>
                </a:solidFill>
                <a:latin typeface="Calibri"/>
                <a:ea typeface="Calibri"/>
              </a:rPr>
              <a:t>
COMP3421 Web Application Design and Development</a:t>
            </a:r>
          </a:p>
        </p:txBody>
      </p:sp>
      <p:sp>
        <p:nvSpPr>
          <p:cNvPr id="5" name="Rounded Rectangle 4"/>
          <p:cNvSpPr/>
          <p:nvPr/>
        </p:nvSpPr>
        <p:spPr>
          <a:xfrm>
            <a:off x="548640" y="1783080"/>
            <a:ext cx="1691640" cy="457200"/>
          </a:xfrm>
          <a:prstGeom prst="roundRect">
            <a:avLst>
              <a:gd name="adj" fmla="val 50000"/>
            </a:avLst>
          </a:prstGeom>
          <a:solidFill>
            <a:srgbClr val="1E4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847088"/>
            <a:ext cx="1691640" cy="329184"/>
          </a:xfrm>
          <a:prstGeom prst="rect">
            <a:avLst/>
          </a:prstGeom>
          <a:noFill/>
        </p:spPr>
        <p:txBody>
          <a:bodyPr wrap="square" anchor="t" lIns="0" rIns="0" tIns="0" bIns="0">
            <a:spAutoFit/>
          </a:bodyPr>
          <a:lstStyle/>
          <a:p>
            <a:pPr algn="ctr">
              <a:lnSpc>
                <a:spcPct val="110000"/>
              </a:lnSpc>
              <a:spcAft>
                <a:spcPts val="400"/>
              </a:spcAft>
            </a:pPr>
            <a:r>
              <a:rPr sz="1600" b="1" i="0">
                <a:solidFill>
                  <a:srgbClr val="FFFFFF"/>
                </a:solidFill>
                <a:latin typeface="Calibri"/>
                <a:ea typeface="Calibri"/>
              </a:rPr>
              <a:t>COMP3421</a:t>
            </a:r>
          </a:p>
        </p:txBody>
      </p:sp>
      <p:sp>
        <p:nvSpPr>
          <p:cNvPr id="7" name="TextBox 6"/>
          <p:cNvSpPr txBox="1"/>
          <p:nvPr/>
        </p:nvSpPr>
        <p:spPr>
          <a:xfrm>
            <a:off x="548640" y="2514600"/>
            <a:ext cx="11064240" cy="1463040"/>
          </a:xfrm>
          <a:prstGeom prst="rect">
            <a:avLst/>
          </a:prstGeom>
          <a:noFill/>
        </p:spPr>
        <p:txBody>
          <a:bodyPr wrap="square" anchor="t" lIns="0" rIns="0" tIns="0" bIns="0">
            <a:spAutoFit/>
          </a:bodyPr>
          <a:lstStyle/>
          <a:p>
            <a:pPr algn="l">
              <a:lnSpc>
                <a:spcPct val="105000"/>
              </a:lnSpc>
              <a:spcAft>
                <a:spcPts val="400"/>
              </a:spcAft>
            </a:pPr>
            <a:r>
              <a:rPr sz="4400" b="1" i="0">
                <a:solidFill>
                  <a:srgbClr val="FFFFFF"/>
                </a:solidFill>
                <a:latin typeface="Calibri"/>
                <a:ea typeface="Calibri"/>
              </a:rPr>
              <a:t>Styling the Web</a:t>
            </a:r>
          </a:p>
        </p:txBody>
      </p:sp>
      <p:sp>
        <p:nvSpPr>
          <p:cNvPr id="8" name="TextBox 7"/>
          <p:cNvSpPr txBox="1"/>
          <p:nvPr/>
        </p:nvSpPr>
        <p:spPr>
          <a:xfrm>
            <a:off x="548640" y="3794760"/>
            <a:ext cx="11064240" cy="822960"/>
          </a:xfrm>
          <a:prstGeom prst="rect">
            <a:avLst/>
          </a:prstGeom>
          <a:noFill/>
        </p:spPr>
        <p:txBody>
          <a:bodyPr wrap="square" anchor="t" lIns="0" rIns="0" tIns="0" bIns="0">
            <a:spAutoFit/>
          </a:bodyPr>
          <a:lstStyle/>
          <a:p>
            <a:pPr algn="l">
              <a:lnSpc>
                <a:spcPct val="125000"/>
              </a:lnSpc>
              <a:spcAft>
                <a:spcPts val="400"/>
              </a:spcAft>
            </a:pPr>
            <a:r>
              <a:rPr sz="1900" b="0" i="0">
                <a:solidFill>
                  <a:srgbClr val="B9CDEE"/>
                </a:solidFill>
                <a:latin typeface="Calibri"/>
                <a:ea typeface="Calibri"/>
              </a:rPr>
              <a:t>Style one element with one attribute — colour, length, text and font.</a:t>
            </a:r>
          </a:p>
        </p:txBody>
      </p:sp>
      <p:sp>
        <p:nvSpPr>
          <p:cNvPr id="9" name="TextBox 8"/>
          <p:cNvSpPr txBox="1"/>
          <p:nvPr/>
        </p:nvSpPr>
        <p:spPr>
          <a:xfrm>
            <a:off x="548640" y="4846320"/>
            <a:ext cx="11064240" cy="365760"/>
          </a:xfrm>
          <a:prstGeom prst="rect">
            <a:avLst/>
          </a:prstGeom>
          <a:noFill/>
        </p:spPr>
        <p:txBody>
          <a:bodyPr wrap="square" anchor="t" lIns="0" rIns="0" tIns="0" bIns="0">
            <a:spAutoFit/>
          </a:bodyPr>
          <a:lstStyle/>
          <a:p>
            <a:pPr algn="l">
              <a:lnSpc>
                <a:spcPct val="110000"/>
              </a:lnSpc>
              <a:spcAft>
                <a:spcPts val="400"/>
              </a:spcAft>
            </a:pPr>
            <a:r>
              <a:rPr sz="1400" b="1" i="0">
                <a:solidFill>
                  <a:srgbClr val="FFFFFF"/>
                </a:solidFill>
                <a:latin typeface="Calibri"/>
                <a:ea typeface="Calibri"/>
              </a:rPr>
              <a:t>COMP3421 · LECTURE 03 · WEEK 3</a:t>
            </a:r>
          </a:p>
        </p:txBody>
      </p:sp>
      <p:sp>
        <p:nvSpPr>
          <p:cNvPr id="10" name="TextBox 9"/>
          <p:cNvSpPr txBox="1"/>
          <p:nvPr/>
        </p:nvSpPr>
        <p:spPr>
          <a:xfrm>
            <a:off x="548640" y="5257800"/>
            <a:ext cx="11064240" cy="292608"/>
          </a:xfrm>
          <a:prstGeom prst="rect">
            <a:avLst/>
          </a:prstGeom>
          <a:noFill/>
        </p:spPr>
        <p:txBody>
          <a:bodyPr wrap="square" anchor="t" lIns="0" rIns="0" tIns="0" bIns="0">
            <a:spAutoFit/>
          </a:bodyPr>
          <a:lstStyle/>
          <a:p>
            <a:pPr algn="l">
              <a:lnSpc>
                <a:spcPct val="110000"/>
              </a:lnSpc>
              <a:spcAft>
                <a:spcPts val="400"/>
              </a:spcAft>
            </a:pPr>
            <a:r>
              <a:rPr sz="1300" b="0" i="0">
                <a:solidFill>
                  <a:srgbClr val="B9CDEE"/>
                </a:solidFill>
                <a:latin typeface="Calibri"/>
                <a:ea typeface="Calibri"/>
              </a:rPr>
              <a:t>Lecture 3 · Week 3 · Wed 12:30–14:20 · HHBUG06</a:t>
            </a:r>
          </a:p>
        </p:txBody>
      </p:sp>
      <p:sp>
        <p:nvSpPr>
          <p:cNvPr id="11" name="TextBox 10"/>
          <p:cNvSpPr txBox="1"/>
          <p:nvPr/>
        </p:nvSpPr>
        <p:spPr>
          <a:xfrm>
            <a:off x="548640" y="5605272"/>
            <a:ext cx="11064240" cy="292608"/>
          </a:xfrm>
          <a:prstGeom prst="rect">
            <a:avLst/>
          </a:prstGeom>
          <a:noFill/>
        </p:spPr>
        <p:txBody>
          <a:bodyPr wrap="square" anchor="t" lIns="0" rIns="0" tIns="0" bIns="0">
            <a:spAutoFit/>
          </a:bodyPr>
          <a:lstStyle/>
          <a:p>
            <a:pPr algn="l">
              <a:lnSpc>
                <a:spcPct val="110000"/>
              </a:lnSpc>
              <a:spcAft>
                <a:spcPts val="400"/>
              </a:spcAft>
            </a:pPr>
            <a:r>
              <a:rPr sz="1300" b="0" i="0">
                <a:solidFill>
                  <a:srgbClr val="B9CDEE"/>
                </a:solidFill>
                <a:latin typeface="Calibri"/>
                <a:ea typeface="Calibri"/>
              </a:rPr>
              <a:t>Examples &amp; code:  </a:t>
            </a:r>
            <a:r>
              <a:rPr sz="1300" b="1" i="0">
                <a:solidFill>
                  <a:srgbClr val="FFFFFF"/>
                </a:solidFill>
                <a:latin typeface="Calibri"/>
                <a:ea typeface="Calibri"/>
                <a:hlinkClick r:id="rId2"/>
                <a:extLst>
                  <a:ext uri="{A12FA001-AC4F-418D-AE19-62706E023703}">
                    <ahyp:hlinkClr xmlns:ahyp="http://schemas.microsoft.com/office/drawing/2018/hyperlinkcolor" val="tx"/>
                  </a:ext>
                </a:extLst>
              </a:rPr>
              <a:t>tagsysx.github.io/comp3421/</a:t>
            </a:r>
          </a:p>
        </p:txBody>
      </p:sp>
      <p:sp>
        <p:nvSpPr>
          <p:cNvPr id="12" name="TextBox 11"/>
          <p:cNvSpPr txBox="1"/>
          <p:nvPr/>
        </p:nvSpPr>
        <p:spPr>
          <a:xfrm>
            <a:off x="548640" y="5952744"/>
            <a:ext cx="11064240" cy="292608"/>
          </a:xfrm>
          <a:prstGeom prst="rect">
            <a:avLst/>
          </a:prstGeom>
          <a:noFill/>
        </p:spPr>
        <p:txBody>
          <a:bodyPr wrap="square" anchor="t" lIns="0" rIns="0" tIns="0" bIns="0">
            <a:spAutoFit/>
          </a:bodyPr>
          <a:lstStyle/>
          <a:p>
            <a:pPr algn="l">
              <a:lnSpc>
                <a:spcPct val="110000"/>
              </a:lnSpc>
              <a:spcAft>
                <a:spcPts val="400"/>
              </a:spcAft>
            </a:pPr>
            <a:r>
              <a:rPr sz="1300" b="1" i="0">
                <a:solidFill>
                  <a:srgbClr val="FFFFFF"/>
                </a:solidFill>
                <a:latin typeface="Calibri"/>
                <a:ea typeface="Calibri"/>
              </a:rPr>
              <a:t>Prof. Lei Yang</a:t>
            </a:r>
          </a:p>
        </p:txBody>
      </p:sp>
      <p:sp>
        <p:nvSpPr>
          <p:cNvPr id="13" name="TextBox 12"/>
          <p:cNvSpPr txBox="1"/>
          <p:nvPr/>
        </p:nvSpPr>
        <p:spPr>
          <a:xfrm>
            <a:off x="548640" y="6053328"/>
            <a:ext cx="11064240" cy="274320"/>
          </a:xfrm>
          <a:prstGeom prst="rect">
            <a:avLst/>
          </a:prstGeom>
          <a:noFill/>
        </p:spPr>
        <p:txBody>
          <a:bodyPr wrap="square" anchor="t" lIns="0" rIns="0" tIns="0" bIns="0">
            <a:spAutoFit/>
          </a:bodyPr>
          <a:lstStyle/>
          <a:p>
            <a:pPr algn="r">
              <a:lnSpc>
                <a:spcPct val="110000"/>
              </a:lnSpc>
              <a:spcAft>
                <a:spcPts val="400"/>
              </a:spcAft>
            </a:pPr>
            <a:r>
              <a:rPr sz="1100" b="0" i="0">
                <a:solidFill>
                  <a:srgbClr val="9DC0EE"/>
                </a:solidFill>
                <a:latin typeface="Calibri"/>
                <a:ea typeface="Calibri"/>
              </a:rPr>
              <a:t>version  </a:t>
            </a:r>
            <a:r>
              <a:rPr sz="1100" b="1" i="0">
                <a:solidFill>
                  <a:srgbClr val="FFFFFF"/>
                </a:solidFill>
                <a:latin typeface="Calibri"/>
                <a:ea typeface="Calibri"/>
              </a:rPr>
              <a:t>202609222127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685800"/>
            <a:ext cx="5486400" cy="320040"/>
          </a:xfrm>
          <a:prstGeom prst="rect">
            <a:avLst/>
          </a:prstGeom>
          <a:noFill/>
        </p:spPr>
        <p:txBody>
          <a:bodyPr wrap="square" anchor="t" lIns="0" rIns="0" tIns="0" bIns="0">
            <a:spAutoFit/>
          </a:bodyPr>
          <a:lstStyle/>
          <a:p>
            <a:pPr algn="l">
              <a:lnSpc>
                <a:spcPct val="110000"/>
              </a:lnSpc>
              <a:spcAft>
                <a:spcPts val="400"/>
              </a:spcAft>
            </a:pPr>
            <a:r>
              <a:rPr sz="1200" b="1" i="0">
                <a:solidFill>
                  <a:srgbClr val="1E4FA8"/>
                </a:solidFill>
                <a:latin typeface="Calibri"/>
                <a:ea typeface="Calibri"/>
              </a:rPr>
              <a:t>COMP3421</a:t>
            </a:r>
          </a:p>
        </p:txBody>
      </p:sp>
      <p:sp>
        <p:nvSpPr>
          <p:cNvPr id="3" name="TextBox 2"/>
          <p:cNvSpPr txBox="1"/>
          <p:nvPr/>
        </p:nvSpPr>
        <p:spPr>
          <a:xfrm>
            <a:off x="548640" y="1234440"/>
            <a:ext cx="11094415" cy="822960"/>
          </a:xfrm>
          <a:prstGeom prst="rect">
            <a:avLst/>
          </a:prstGeom>
          <a:noFill/>
        </p:spPr>
        <p:txBody>
          <a:bodyPr wrap="square" anchor="t" lIns="0" rIns="0" tIns="0" bIns="0">
            <a:spAutoFit/>
          </a:bodyPr>
          <a:lstStyle/>
          <a:p>
            <a:pPr algn="l">
              <a:lnSpc>
                <a:spcPct val="110000"/>
              </a:lnSpc>
              <a:spcAft>
                <a:spcPts val="400"/>
              </a:spcAft>
            </a:pPr>
            <a:r>
              <a:rPr sz="3000" b="1" i="0">
                <a:solidFill>
                  <a:srgbClr val="1A2230"/>
                </a:solidFill>
                <a:latin typeface="Calibri"/>
                <a:ea typeface="Calibri"/>
              </a:rPr>
              <a:t>Classroom Recording &amp; Sharing Policy</a:t>
            </a:r>
          </a:p>
        </p:txBody>
      </p:sp>
      <p:sp>
        <p:nvSpPr>
          <p:cNvPr id="4" name="Rectangle 3"/>
          <p:cNvSpPr/>
          <p:nvPr/>
        </p:nvSpPr>
        <p:spPr>
          <a:xfrm>
            <a:off x="548640" y="2331720"/>
            <a:ext cx="1463040" cy="45720"/>
          </a:xfrm>
          <a:prstGeom prst="rect">
            <a:avLst/>
          </a:prstGeom>
          <a:solidFill>
            <a:srgbClr val="1E4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371600" y="2880360"/>
            <a:ext cx="9448495" cy="1463040"/>
          </a:xfrm>
          <a:prstGeom prst="rect">
            <a:avLst/>
          </a:prstGeom>
          <a:noFill/>
        </p:spPr>
        <p:txBody>
          <a:bodyPr wrap="square" anchor="t" lIns="0" rIns="0" tIns="0" bIns="0">
            <a:spAutoFit/>
          </a:bodyPr>
          <a:lstStyle/>
          <a:p>
            <a:pPr algn="ctr">
              <a:lnSpc>
                <a:spcPct val="145000"/>
              </a:lnSpc>
              <a:spcAft>
                <a:spcPts val="400"/>
              </a:spcAft>
            </a:pPr>
            <a:r>
              <a:rPr sz="1700" b="0" i="0">
                <a:solidFill>
                  <a:srgbClr val="4A5568"/>
                </a:solidFill>
                <a:latin typeface="Calibri"/>
                <a:ea typeface="Calibri"/>
              </a:rPr>
              <a:t>Please do not photograph, audio/video record, or upload any lecture content to the Internet or social media without prior permission from the instructor. Course materials are provided for personal learning only and should not be redistributed without authorization.</a:t>
            </a:r>
          </a:p>
        </p:txBody>
      </p:sp>
      <p:sp>
        <p:nvSpPr>
          <p:cNvPr id="6" name="Rounded Rectangle 5"/>
          <p:cNvSpPr/>
          <p:nvPr/>
        </p:nvSpPr>
        <p:spPr>
          <a:xfrm>
            <a:off x="548640" y="4892040"/>
            <a:ext cx="11094415" cy="777240"/>
          </a:xfrm>
          <a:prstGeom prst="roundRect">
            <a:avLst>
              <a:gd name="adj" fmla="val 8000"/>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4892040"/>
            <a:ext cx="10362895" cy="777240"/>
          </a:xfrm>
          <a:prstGeom prst="rect">
            <a:avLst/>
          </a:prstGeom>
          <a:noFill/>
        </p:spPr>
        <p:txBody>
          <a:bodyPr wrap="square" anchor="ctr" lIns="0" rIns="0" tIns="0" bIns="0">
            <a:spAutoFit/>
          </a:bodyPr>
          <a:lstStyle/>
          <a:p>
            <a:pPr algn="ctr">
              <a:lnSpc>
                <a:spcPct val="110000"/>
              </a:lnSpc>
              <a:spcAft>
                <a:spcPts val="400"/>
              </a:spcAft>
            </a:pPr>
            <a:r>
              <a:rPr sz="1700" b="1" i="0">
                <a:solidFill>
                  <a:srgbClr val="FFFFFF"/>
                </a:solidFill>
                <a:latin typeface="Calibri"/>
                <a:ea typeface="Calibri"/>
              </a:rPr>
              <a:t>Do not photograph, record, reproduce, or upload classroom content without permission.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685800"/>
            <a:ext cx="5486400" cy="320040"/>
          </a:xfrm>
          <a:prstGeom prst="rect">
            <a:avLst/>
          </a:prstGeom>
          <a:noFill/>
        </p:spPr>
        <p:txBody>
          <a:bodyPr wrap="square" anchor="t" lIns="0" rIns="0" tIns="0" bIns="0">
            <a:spAutoFit/>
          </a:bodyPr>
          <a:lstStyle/>
          <a:p>
            <a:pPr algn="l">
              <a:lnSpc>
                <a:spcPct val="110000"/>
              </a:lnSpc>
              <a:spcAft>
                <a:spcPts val="400"/>
              </a:spcAft>
            </a:pPr>
            <a:r>
              <a:rPr sz="1200" b="1" i="0">
                <a:solidFill>
                  <a:srgbClr val="1E4FA8"/>
                </a:solidFill>
                <a:latin typeface="Calibri"/>
                <a:ea typeface="Calibri"/>
              </a:rPr>
              <a:t>COMP3421 · LECTURE 03</a:t>
            </a:r>
          </a:p>
        </p:txBody>
      </p:sp>
      <p:sp>
        <p:nvSpPr>
          <p:cNvPr id="3" name="TextBox 2"/>
          <p:cNvSpPr txBox="1"/>
          <p:nvPr/>
        </p:nvSpPr>
        <p:spPr>
          <a:xfrm>
            <a:off x="548640" y="1024128"/>
            <a:ext cx="10972800" cy="731520"/>
          </a:xfrm>
          <a:prstGeom prst="rect">
            <a:avLst/>
          </a:prstGeom>
          <a:noFill/>
        </p:spPr>
        <p:txBody>
          <a:bodyPr wrap="square" anchor="t" lIns="0" rIns="0" tIns="0" bIns="0">
            <a:spAutoFit/>
          </a:bodyPr>
          <a:lstStyle/>
          <a:p>
            <a:pPr algn="l">
              <a:lnSpc>
                <a:spcPct val="110000"/>
              </a:lnSpc>
              <a:spcAft>
                <a:spcPts val="400"/>
              </a:spcAft>
            </a:pPr>
            <a:r>
              <a:rPr sz="4000" b="1" i="0">
                <a:solidFill>
                  <a:srgbClr val="1A2230"/>
                </a:solidFill>
                <a:latin typeface="Calibri"/>
                <a:ea typeface="Calibri"/>
              </a:rPr>
              <a:t>Agenda</a:t>
            </a:r>
          </a:p>
        </p:txBody>
      </p:sp>
      <p:sp>
        <p:nvSpPr>
          <p:cNvPr id="4" name="TextBox 3"/>
          <p:cNvSpPr txBox="1"/>
          <p:nvPr/>
        </p:nvSpPr>
        <p:spPr>
          <a:xfrm>
            <a:off x="594360" y="1874519"/>
            <a:ext cx="10820095" cy="4343400"/>
          </a:xfrm>
          <a:prstGeom prst="rect">
            <a:avLst/>
          </a:prstGeom>
          <a:noFill/>
        </p:spPr>
        <p:txBody>
          <a:bodyPr wrap="square" lIns="0" rIns="0" tIns="0" bIns="0">
            <a:normAutofit/>
          </a:bodyPr>
          <a:lstStyle/>
          <a:p>
            <a:pPr>
              <a:lnSpc>
                <a:spcPct val="110000"/>
              </a:lnSpc>
              <a:spcAft>
                <a:spcPts val="800"/>
              </a:spcAft>
            </a:pPr>
            <a:r>
              <a:rPr sz="2000" b="1" i="0">
                <a:solidFill>
                  <a:srgbClr val="1A2230"/>
                </a:solidFill>
                <a:latin typeface="Calibri"/>
                <a:ea typeface="Calibri"/>
              </a:rPr>
              <a:t>01. Styling the Web</a:t>
            </a:r>
            <a:br/>
            <a:r>
              <a:rPr sz="1350" b="0" i="0">
                <a:solidFill>
                  <a:srgbClr val="4A5568"/>
                </a:solidFill>
                <a:latin typeface="Calibri"/>
                <a:ea typeface="Calibri"/>
              </a:rPr>
              <a:t>The </a:t>
            </a:r>
            <a:r>
              <a:rPr sz="1350" b="0" i="0">
                <a:solidFill>
                  <a:srgbClr val="B8860B"/>
                </a:solidFill>
                <a:latin typeface="Consolas"/>
                <a:ea typeface="Consolas"/>
              </a:rPr>
              <a:t>style</a:t>
            </a:r>
            <a:r>
              <a:rPr sz="1350" b="0" i="0">
                <a:solidFill>
                  <a:srgbClr val="4A5568"/>
                </a:solidFill>
                <a:latin typeface="Calibri"/>
                <a:ea typeface="Calibri"/>
              </a:rPr>
              <a:t> attribute, and the property: </a:t>
            </a:r>
            <a:r>
              <a:rPr sz="1350" b="0" i="0">
                <a:solidFill>
                  <a:srgbClr val="B8860B"/>
                </a:solidFill>
                <a:latin typeface="Consolas"/>
                <a:ea typeface="Consolas"/>
              </a:rPr>
              <a:t>value</a:t>
            </a:r>
            <a:r>
              <a:rPr sz="1350" b="0" i="0">
                <a:solidFill>
                  <a:srgbClr val="4A5568"/>
                </a:solidFill>
                <a:latin typeface="Calibri"/>
                <a:ea typeface="Calibri"/>
              </a:rPr>
              <a:t> declaration.</a:t>
            </a:r>
          </a:p>
          <a:p>
            <a:pPr>
              <a:lnSpc>
                <a:spcPct val="110000"/>
              </a:lnSpc>
              <a:spcAft>
                <a:spcPts val="800"/>
              </a:spcAft>
            </a:pPr>
            <a:r>
              <a:rPr sz="2000" b="1" i="0">
                <a:solidFill>
                  <a:srgbClr val="1A2230"/>
                </a:solidFill>
                <a:latin typeface="Calibri"/>
                <a:ea typeface="Calibri"/>
              </a:rPr>
              <a:t>02. Colour</a:t>
            </a:r>
            <a:br/>
            <a:r>
              <a:rPr sz="1350" b="0" i="0">
                <a:solidFill>
                  <a:srgbClr val="4A5568"/>
                </a:solidFill>
                <a:latin typeface="Calibri"/>
                <a:ea typeface="Calibri"/>
              </a:rPr>
              <a:t>Named, hex, rgb, hsl — four ways to write one colour.</a:t>
            </a:r>
          </a:p>
          <a:p>
            <a:pPr>
              <a:lnSpc>
                <a:spcPct val="110000"/>
              </a:lnSpc>
              <a:spcAft>
                <a:spcPts val="800"/>
              </a:spcAft>
            </a:pPr>
            <a:r>
              <a:rPr sz="2000" b="1" i="0">
                <a:solidFill>
                  <a:srgbClr val="1A2230"/>
                </a:solidFill>
                <a:latin typeface="Calibri"/>
                <a:ea typeface="Calibri"/>
              </a:rPr>
              <a:t>03. Length &amp; Units</a:t>
            </a:r>
            <a:br/>
            <a:r>
              <a:rPr sz="1350" b="0" i="0">
                <a:solidFill>
                  <a:srgbClr val="4A5568"/>
                </a:solidFill>
                <a:latin typeface="Calibri"/>
                <a:ea typeface="Calibri"/>
              </a:rPr>
              <a:t>px, %, em, rem, vw — a length carries a unit.</a:t>
            </a:r>
          </a:p>
          <a:p>
            <a:pPr>
              <a:lnSpc>
                <a:spcPct val="110000"/>
              </a:lnSpc>
              <a:spcAft>
                <a:spcPts val="800"/>
              </a:spcAft>
            </a:pPr>
            <a:r>
              <a:rPr sz="2000" b="1" i="0">
                <a:solidFill>
                  <a:srgbClr val="1A2230"/>
                </a:solidFill>
                <a:latin typeface="Calibri"/>
                <a:ea typeface="Calibri"/>
              </a:rPr>
              <a:t>04. Text</a:t>
            </a:r>
            <a:br/>
            <a:r>
              <a:rPr sz="1350" b="0" i="0">
                <a:solidFill>
                  <a:srgbClr val="4A5568"/>
                </a:solidFill>
                <a:latin typeface="Calibri"/>
                <a:ea typeface="Calibri"/>
              </a:rPr>
              <a:t>Alignment, decoration, spacing and shadow.</a:t>
            </a:r>
          </a:p>
          <a:p>
            <a:pPr>
              <a:lnSpc>
                <a:spcPct val="110000"/>
              </a:lnSpc>
              <a:spcAft>
                <a:spcPts val="800"/>
              </a:spcAft>
            </a:pPr>
            <a:r>
              <a:rPr sz="2000" b="1" i="0">
                <a:solidFill>
                  <a:srgbClr val="1A2230"/>
                </a:solidFill>
                <a:latin typeface="Calibri"/>
                <a:ea typeface="Calibri"/>
              </a:rPr>
              <a:t>05. Font</a:t>
            </a:r>
            <a:br/>
            <a:r>
              <a:rPr sz="1350" b="0" i="0">
                <a:solidFill>
                  <a:srgbClr val="4A5568"/>
                </a:solidFill>
                <a:latin typeface="Calibri"/>
                <a:ea typeface="Calibri"/>
              </a:rPr>
              <a:t>Family, web fonts, size, weight, shorthand.</a:t>
            </a:r>
          </a:p>
          <a:p>
            <a:pPr>
              <a:lnSpc>
                <a:spcPct val="110000"/>
              </a:lnSpc>
              <a:spcAft>
                <a:spcPts val="800"/>
              </a:spcAft>
            </a:pPr>
            <a:r>
              <a:rPr sz="2000" b="1" i="0">
                <a:solidFill>
                  <a:srgbClr val="1A2230"/>
                </a:solidFill>
                <a:latin typeface="Calibri"/>
                <a:ea typeface="Calibri"/>
              </a:rPr>
              <a:t>06. Inheritance</a:t>
            </a:r>
            <a:br/>
            <a:r>
              <a:rPr sz="1350" b="0" i="0">
                <a:solidFill>
                  <a:srgbClr val="4A5568"/>
                </a:solidFill>
                <a:latin typeface="Calibri"/>
                <a:ea typeface="Calibri"/>
              </a:rPr>
              <a:t>Text styles flow down; box styles stay put.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6858000"/>
          </a:xfrm>
          <a:prstGeom prst="rect">
            <a:avLst/>
          </a:prstGeom>
          <a:solidFill>
            <a:srgbClr val="1E4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143000"/>
            <a:ext cx="3840480" cy="1828800"/>
          </a:xfrm>
          <a:prstGeom prst="rect">
            <a:avLst/>
          </a:prstGeom>
          <a:noFill/>
        </p:spPr>
        <p:txBody>
          <a:bodyPr wrap="square" anchor="t" lIns="0" rIns="0" tIns="0" bIns="0">
            <a:spAutoFit/>
          </a:bodyPr>
          <a:lstStyle/>
          <a:p>
            <a:pPr algn="l">
              <a:lnSpc>
                <a:spcPct val="110000"/>
              </a:lnSpc>
              <a:spcAft>
                <a:spcPts val="400"/>
              </a:spcAft>
            </a:pPr>
            <a:r>
              <a:rPr sz="9200" b="1" i="0">
                <a:solidFill>
                  <a:srgbClr val="9DC0EE"/>
                </a:solidFill>
                <a:latin typeface="Calibri"/>
                <a:ea typeface="Calibri"/>
              </a:rPr>
              <a:t>01</a:t>
            </a:r>
          </a:p>
        </p:txBody>
      </p:sp>
      <p:sp>
        <p:nvSpPr>
          <p:cNvPr id="5" name="TextBox 4"/>
          <p:cNvSpPr txBox="1"/>
          <p:nvPr/>
        </p:nvSpPr>
        <p:spPr>
          <a:xfrm>
            <a:off x="685800" y="3063240"/>
            <a:ext cx="10607040" cy="822960"/>
          </a:xfrm>
          <a:prstGeom prst="rect">
            <a:avLst/>
          </a:prstGeom>
          <a:noFill/>
        </p:spPr>
        <p:txBody>
          <a:bodyPr wrap="square" anchor="t" lIns="0" rIns="0" tIns="0" bIns="0">
            <a:spAutoFit/>
          </a:bodyPr>
          <a:lstStyle/>
          <a:p>
            <a:pPr algn="l">
              <a:lnSpc>
                <a:spcPct val="110000"/>
              </a:lnSpc>
              <a:spcAft>
                <a:spcPts val="400"/>
              </a:spcAft>
            </a:pPr>
            <a:r>
              <a:rPr sz="3800" b="1" i="0">
                <a:solidFill>
                  <a:srgbClr val="FFFFFF"/>
                </a:solidFill>
                <a:latin typeface="Calibri"/>
                <a:ea typeface="Calibri"/>
              </a:rPr>
              <a:t>Styling the Web</a:t>
            </a:r>
          </a:p>
        </p:txBody>
      </p:sp>
      <p:sp>
        <p:nvSpPr>
          <p:cNvPr id="6" name="Rectangle 5"/>
          <p:cNvSpPr/>
          <p:nvPr/>
        </p:nvSpPr>
        <p:spPr>
          <a:xfrm>
            <a:off x="713232" y="3977639"/>
            <a:ext cx="822960" cy="54864"/>
          </a:xfrm>
          <a:prstGeom prst="rect">
            <a:avLst/>
          </a:prstGeom>
          <a:solidFill>
            <a:srgbClr val="1E4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13232" y="4251960"/>
            <a:ext cx="10058400" cy="1645920"/>
          </a:xfrm>
          <a:prstGeom prst="rect">
            <a:avLst/>
          </a:prstGeom>
          <a:noFill/>
        </p:spPr>
        <p:txBody>
          <a:bodyPr wrap="square" lIns="0" rIns="0" tIns="0" bIns="0">
            <a:normAutofit/>
          </a:bodyPr>
          <a:lstStyle/>
          <a:p>
            <a:pPr marL="256032" indent="-237744">
              <a:lnSpc>
                <a:spcPct val="112000"/>
              </a:lnSpc>
              <a:spcAft>
                <a:spcPts val="1000"/>
              </a:spcAft>
              <a:buClr>
                <a:srgbClr val="1E4FA8"/>
              </a:buClr>
              <a:buSzPct val="90000"/>
              <a:buFont typeface="Arial"/>
              <a:buChar char="▪"/>
            </a:pPr>
            <a:r>
              <a:rPr sz="1600" b="0" i="0">
                <a:solidFill>
                  <a:srgbClr val="B9CDEE"/>
                </a:solidFill>
                <a:latin typeface="Calibri"/>
                <a:ea typeface="Calibri"/>
              </a:rPr>
              <a:t>Start with the </a:t>
            </a:r>
            <a:r>
              <a:rPr sz="1600" b="0" i="0">
                <a:solidFill>
                  <a:srgbClr val="B8860B"/>
                </a:solidFill>
                <a:latin typeface="Consolas"/>
                <a:ea typeface="Consolas"/>
              </a:rPr>
              <a:t>style</a:t>
            </a:r>
            <a:r>
              <a:rPr sz="1600" b="0" i="0">
                <a:solidFill>
                  <a:srgbClr val="B9CDEE"/>
                </a:solidFill>
                <a:latin typeface="Calibri"/>
                <a:ea typeface="Calibri"/>
              </a:rPr>
              <a:t> attribute</a:t>
            </a:r>
          </a:p>
          <a:p>
            <a:pPr marL="256032" indent="-237744">
              <a:lnSpc>
                <a:spcPct val="112000"/>
              </a:lnSpc>
              <a:spcAft>
                <a:spcPts val="1000"/>
              </a:spcAft>
              <a:buClr>
                <a:srgbClr val="1E4FA8"/>
              </a:buClr>
              <a:buSzPct val="90000"/>
              <a:buFont typeface="Arial"/>
              <a:buChar char="▪"/>
            </a:pPr>
            <a:r>
              <a:rPr sz="1600" b="0" i="0">
                <a:solidFill>
                  <a:srgbClr val="B9CDEE"/>
                </a:solidFill>
                <a:latin typeface="Calibri"/>
                <a:ea typeface="Calibri"/>
              </a:rPr>
              <a:t>Colour, length, text and font</a:t>
            </a:r>
          </a:p>
          <a:p>
            <a:pPr marL="256032" indent="-237744">
              <a:lnSpc>
                <a:spcPct val="112000"/>
              </a:lnSpc>
              <a:spcAft>
                <a:spcPts val="1000"/>
              </a:spcAft>
              <a:buClr>
                <a:srgbClr val="1E4FA8"/>
              </a:buClr>
              <a:buSzPct val="90000"/>
              <a:buFont typeface="Arial"/>
              <a:buChar char="▪"/>
            </a:pPr>
            <a:r>
              <a:rPr sz="1600" b="0" i="0">
                <a:solidFill>
                  <a:srgbClr val="B9CDEE"/>
                </a:solidFill>
                <a:latin typeface="Calibri"/>
                <a:ea typeface="Calibri"/>
              </a:rPr>
              <a:t>One element at a time — styling, not the language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66928"/>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6979615" cy="365760"/>
          </a:xfrm>
          <a:prstGeom prst="rect">
            <a:avLst/>
          </a:prstGeom>
          <a:noFill/>
        </p:spPr>
        <p:txBody>
          <a:bodyPr wrap="square" anchor="ctr" lIns="0" rIns="0" tIns="0" bIns="0">
            <a:spAutoFit/>
          </a:bodyPr>
          <a:lstStyle/>
          <a:p>
            <a:pPr algn="l">
              <a:lnSpc>
                <a:spcPct val="110000"/>
              </a:lnSpc>
              <a:spcAft>
                <a:spcPts val="400"/>
              </a:spcAft>
            </a:pPr>
            <a:r>
              <a:rPr sz="2100" b="1" i="0">
                <a:solidFill>
                  <a:srgbClr val="FFFFFF"/>
                </a:solidFill>
                <a:latin typeface="Calibri"/>
                <a:ea typeface="Calibri"/>
              </a:rPr>
              <a:t>Styling with the style Attribute</a:t>
            </a:r>
          </a:p>
        </p:txBody>
      </p:sp>
      <p:sp>
        <p:nvSpPr>
          <p:cNvPr id="4" name="TextBox 3"/>
          <p:cNvSpPr txBox="1"/>
          <p:nvPr/>
        </p:nvSpPr>
        <p:spPr>
          <a:xfrm>
            <a:off x="7436815" y="109728"/>
            <a:ext cx="4206240" cy="365760"/>
          </a:xfrm>
          <a:prstGeom prst="rect">
            <a:avLst/>
          </a:prstGeom>
          <a:noFill/>
        </p:spPr>
        <p:txBody>
          <a:bodyPr wrap="square" anchor="ctr" lIns="0" rIns="0" tIns="0" bIns="0">
            <a:spAutoFit/>
          </a:bodyPr>
          <a:lstStyle/>
          <a:p>
            <a:pPr algn="r">
              <a:lnSpc>
                <a:spcPct val="110000"/>
              </a:lnSpc>
              <a:spcAft>
                <a:spcPts val="400"/>
              </a:spcAft>
            </a:pPr>
            <a:r>
              <a:rPr sz="1100" b="1" i="0">
                <a:solidFill>
                  <a:srgbClr val="B9CDEE"/>
                </a:solidFill>
                <a:latin typeface="Calibri"/>
                <a:ea typeface="Calibri"/>
              </a:rPr>
              <a:t>COMP3421 · Styling the Web</a:t>
            </a:r>
          </a:p>
        </p:txBody>
      </p:sp>
      <p:sp>
        <p:nvSpPr>
          <p:cNvPr id="5" name="TextBox 4"/>
          <p:cNvSpPr txBox="1"/>
          <p:nvPr/>
        </p:nvSpPr>
        <p:spPr>
          <a:xfrm>
            <a:off x="548640" y="978408"/>
            <a:ext cx="4602175" cy="4937760"/>
          </a:xfrm>
          <a:prstGeom prst="rect">
            <a:avLst/>
          </a:prstGeom>
          <a:noFill/>
        </p:spPr>
        <p:txBody>
          <a:bodyPr wrap="square" lIns="0" rIns="0" tIns="0" bIns="0">
            <a:normAutofit/>
          </a:bodyPr>
          <a:lstStyle/>
          <a:p>
            <a:pPr marL="274320" indent="-237744">
              <a:lnSpc>
                <a:spcPct val="112000"/>
              </a:lnSpc>
              <a:spcAft>
                <a:spcPts val="1000"/>
              </a:spcAft>
              <a:buClr>
                <a:srgbClr val="1E4FA8"/>
              </a:buClr>
              <a:buSzPct val="90000"/>
              <a:buFont typeface="Arial"/>
              <a:buChar char="▪"/>
            </a:pPr>
            <a:r>
              <a:rPr sz="1550" b="1" i="0">
                <a:solidFill>
                  <a:srgbClr val="B8860B"/>
                </a:solidFill>
                <a:latin typeface="Consolas"/>
                <a:ea typeface="Consolas"/>
              </a:rPr>
              <a:t>style</a:t>
            </a:r>
            <a:r>
              <a:rPr sz="1550" b="1" i="0">
                <a:solidFill>
                  <a:srgbClr val="1A2230"/>
                </a:solidFill>
                <a:latin typeface="Calibri"/>
                <a:ea typeface="Calibri"/>
              </a:rPr>
              <a:t> attribute</a:t>
            </a:r>
            <a:br/>
            <a:r>
              <a:rPr sz="1350" b="0" i="0">
                <a:solidFill>
                  <a:srgbClr val="4A5568"/>
                </a:solidFill>
                <a:latin typeface="Calibri"/>
                <a:ea typeface="Calibri"/>
              </a:rPr>
              <a:t>A </a:t>
            </a:r>
            <a:r>
              <a:rPr sz="1350" b="0" i="0">
                <a:solidFill>
                  <a:srgbClr val="B8860B"/>
                </a:solidFill>
                <a:latin typeface="Consolas"/>
                <a:ea typeface="Consolas"/>
              </a:rPr>
              <a:t>style</a:t>
            </a:r>
            <a:r>
              <a:rPr sz="1350" b="0" i="0">
                <a:solidFill>
                  <a:srgbClr val="4A5568"/>
                </a:solidFill>
                <a:latin typeface="Calibri"/>
                <a:ea typeface="Calibri"/>
              </a:rPr>
              <a:t>="…" sits right on any HTML tag.</a:t>
            </a:r>
          </a:p>
          <a:p>
            <a:pPr marL="274320" indent="-237744">
              <a:lnSpc>
                <a:spcPct val="112000"/>
              </a:lnSpc>
              <a:spcAft>
                <a:spcPts val="1000"/>
              </a:spcAft>
              <a:buClr>
                <a:srgbClr val="1E4FA8"/>
              </a:buClr>
              <a:buSzPct val="90000"/>
              <a:buFont typeface="Arial"/>
              <a:buChar char="▪"/>
            </a:pPr>
            <a:r>
              <a:rPr sz="1550" b="1" i="0">
                <a:solidFill>
                  <a:srgbClr val="1A2230"/>
                </a:solidFill>
                <a:latin typeface="Calibri"/>
                <a:ea typeface="Calibri"/>
              </a:rPr>
              <a:t>property: </a:t>
            </a:r>
            <a:r>
              <a:rPr sz="1550" b="1" i="0">
                <a:solidFill>
                  <a:srgbClr val="B8860B"/>
                </a:solidFill>
                <a:latin typeface="Consolas"/>
                <a:ea typeface="Consolas"/>
              </a:rPr>
              <a:t>value</a:t>
            </a:r>
            <a:br/>
            <a:r>
              <a:rPr sz="1350" b="0" i="0">
                <a:solidFill>
                  <a:srgbClr val="4A5568"/>
                </a:solidFill>
                <a:latin typeface="Calibri"/>
                <a:ea typeface="Calibri"/>
              </a:rPr>
              <a:t>Colon-separated pairs, joined by a ;.</a:t>
            </a:r>
          </a:p>
          <a:p>
            <a:pPr marL="274320" indent="-237744">
              <a:lnSpc>
                <a:spcPct val="112000"/>
              </a:lnSpc>
              <a:spcAft>
                <a:spcPts val="1000"/>
              </a:spcAft>
              <a:buClr>
                <a:srgbClr val="1E4FA8"/>
              </a:buClr>
              <a:buSzPct val="90000"/>
              <a:buFont typeface="Arial"/>
              <a:buChar char="▪"/>
            </a:pPr>
            <a:r>
              <a:rPr sz="1550" b="1" i="0">
                <a:solidFill>
                  <a:srgbClr val="1A2230"/>
                </a:solidFill>
                <a:latin typeface="Calibri"/>
                <a:ea typeface="Calibri"/>
              </a:rPr>
              <a:t>Inline</a:t>
            </a:r>
            <a:br/>
            <a:r>
              <a:rPr sz="1350" b="0" i="0">
                <a:solidFill>
                  <a:srgbClr val="4A5568"/>
                </a:solidFill>
                <a:latin typeface="Calibri"/>
                <a:ea typeface="Calibri"/>
              </a:rPr>
              <a:t>The styling lives on the element itself.</a:t>
            </a:r>
          </a:p>
          <a:p>
            <a:pPr marL="274320" indent="-237744">
              <a:lnSpc>
                <a:spcPct val="112000"/>
              </a:lnSpc>
              <a:spcAft>
                <a:spcPts val="1000"/>
              </a:spcAft>
              <a:buClr>
                <a:srgbClr val="1E4FA8"/>
              </a:buClr>
              <a:buSzPct val="90000"/>
              <a:buFont typeface="Arial"/>
              <a:buChar char="▪"/>
            </a:pPr>
            <a:r>
              <a:rPr sz="1550" b="1" i="0">
                <a:solidFill>
                  <a:srgbClr val="1A2230"/>
                </a:solidFill>
                <a:latin typeface="Calibri"/>
                <a:ea typeface="Calibri"/>
              </a:rPr>
              <a:t>One at a time</a:t>
            </a:r>
            <a:br/>
            <a:r>
              <a:rPr sz="1350" b="0" i="0">
                <a:solidFill>
                  <a:srgbClr val="4A5568"/>
                </a:solidFill>
                <a:latin typeface="Calibri"/>
                <a:ea typeface="Calibri"/>
              </a:rPr>
              <a:t>Each element carries its own declarations.</a:t>
            </a:r>
          </a:p>
        </p:txBody>
      </p:sp>
      <p:sp>
        <p:nvSpPr>
          <p:cNvPr id="6" name="Rounded Rectangle 5"/>
          <p:cNvSpPr/>
          <p:nvPr/>
        </p:nvSpPr>
        <p:spPr>
          <a:xfrm>
            <a:off x="5836615" y="978408"/>
            <a:ext cx="5806440" cy="3703320"/>
          </a:xfrm>
          <a:prstGeom prst="roundRect">
            <a:avLst>
              <a:gd name="adj" fmla="val 5000"/>
            </a:avLst>
          </a:prstGeom>
          <a:solidFill>
            <a:srgbClr val="2327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129223" y="1133856"/>
            <a:ext cx="5257800" cy="292608"/>
          </a:xfrm>
          <a:prstGeom prst="rect">
            <a:avLst/>
          </a:prstGeom>
          <a:noFill/>
        </p:spPr>
        <p:txBody>
          <a:bodyPr wrap="square" anchor="t" lIns="0" rIns="0" tIns="0" bIns="0">
            <a:spAutoFit/>
          </a:bodyPr>
          <a:lstStyle/>
          <a:p>
            <a:pPr algn="l">
              <a:lnSpc>
                <a:spcPct val="110000"/>
              </a:lnSpc>
              <a:spcAft>
                <a:spcPts val="400"/>
              </a:spcAft>
            </a:pPr>
            <a:r>
              <a:rPr sz="1100" b="1" i="0">
                <a:solidFill>
                  <a:srgbClr val="7F8C98"/>
                </a:solidFill>
                <a:latin typeface="Calibri"/>
                <a:ea typeface="Calibri"/>
              </a:rPr>
              <a:t>LOOK INSIDE — CODE</a:t>
            </a:r>
          </a:p>
        </p:txBody>
      </p:sp>
      <p:sp>
        <p:nvSpPr>
          <p:cNvPr id="8" name="TextBox 7"/>
          <p:cNvSpPr txBox="1"/>
          <p:nvPr/>
        </p:nvSpPr>
        <p:spPr>
          <a:xfrm>
            <a:off x="6129223" y="1463040"/>
            <a:ext cx="5221224" cy="3108960"/>
          </a:xfrm>
          <a:prstGeom prst="rect">
            <a:avLst/>
          </a:prstGeom>
          <a:noFill/>
        </p:spPr>
        <p:txBody>
          <a:bodyPr wrap="none" lIns="0" rIns="0" tIns="0" bIns="0">
            <a:spAutoFit/>
          </a:bodyPr>
          <a:lstStyle/>
          <a:p>
            <a:pPr>
              <a:spcAft>
                <a:spcPts val="350"/>
              </a:spcAft>
            </a:pPr>
            <a:r>
              <a:rPr sz="1300" b="0" i="0">
                <a:solidFill>
                  <a:srgbClr val="61AFEF"/>
                </a:solidFill>
                <a:latin typeface="Consolas"/>
                <a:ea typeface="Consolas"/>
              </a:rPr>
              <a:t>&lt;h1 style="color: blue;"&gt;Hello&lt;/h1&gt;</a:t>
            </a:r>
          </a:p>
          <a:p>
            <a:pPr>
              <a:spcAft>
                <a:spcPts val="350"/>
              </a:spcAft>
            </a:pPr>
            <a:r>
              <a:rPr sz="1300" b="0" i="0">
                <a:solidFill>
                  <a:srgbClr val="98C379"/>
                </a:solidFill>
                <a:latin typeface="Consolas"/>
                <a:ea typeface="Consolas"/>
              </a:rPr>
              <a:t>&lt;p style="color: green; font-size: 18px;"&gt;</a:t>
            </a:r>
          </a:p>
          <a:p>
            <a:pPr>
              <a:spcAft>
                <a:spcPts val="350"/>
              </a:spcAft>
            </a:pPr>
            <a:r>
              <a:rPr sz="1300" b="0" i="0">
                <a:solidFill>
                  <a:srgbClr val="98C379"/>
                </a:solidFill>
                <a:latin typeface="Consolas"/>
                <a:ea typeface="Consolas"/>
              </a:rPr>
              <a:t>  This is a paragraph.&lt;/p&gt;</a:t>
            </a:r>
          </a:p>
          <a:p>
            <a:pPr>
              <a:spcAft>
                <a:spcPts val="350"/>
              </a:spcAft>
            </a:pPr>
            <a:r>
              <a:rPr sz="1300" b="0" i="0">
                <a:solidFill>
                  <a:srgbClr val="7F8C98"/>
                </a:solidFill>
                <a:latin typeface="Consolas"/>
                <a:ea typeface="Consolas"/>
              </a:rPr>
              <a:t/>
            </a:r>
          </a:p>
          <a:p>
            <a:pPr>
              <a:spcAft>
                <a:spcPts val="350"/>
              </a:spcAft>
            </a:pPr>
            <a:r>
              <a:rPr sz="1300" b="0" i="0">
                <a:solidFill>
                  <a:srgbClr val="7F8C98"/>
                </a:solidFill>
                <a:latin typeface="Consolas"/>
                <a:ea typeface="Consolas"/>
              </a:rPr>
              <a:t>&lt;!-- style = one or more  property: value; --&gt;</a:t>
            </a:r>
          </a:p>
        </p:txBody>
      </p:sp>
      <p:sp>
        <p:nvSpPr>
          <p:cNvPr id="9" name="Rounded Rectangle 8"/>
          <p:cNvSpPr/>
          <p:nvPr/>
        </p:nvSpPr>
        <p:spPr>
          <a:xfrm>
            <a:off x="5836615" y="4800600"/>
            <a:ext cx="5806440" cy="475488"/>
          </a:xfrm>
          <a:prstGeom prst="roundRect">
            <a:avLst>
              <a:gd name="adj" fmla="val 10000"/>
            </a:avLst>
          </a:prstGeom>
          <a:solidFill>
            <a:srgbClr val="F0F5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092647" y="4919472"/>
            <a:ext cx="5294375" cy="274320"/>
          </a:xfrm>
          <a:prstGeom prst="rect">
            <a:avLst/>
          </a:prstGeom>
          <a:noFill/>
        </p:spPr>
        <p:txBody>
          <a:bodyPr wrap="square" anchor="t" lIns="0" rIns="0" tIns="0" bIns="0">
            <a:spAutoFit/>
          </a:bodyPr>
          <a:lstStyle/>
          <a:p>
            <a:pPr algn="l">
              <a:lnSpc>
                <a:spcPct val="110000"/>
              </a:lnSpc>
              <a:spcAft>
                <a:spcPts val="400"/>
              </a:spcAft>
            </a:pPr>
            <a:r>
              <a:rPr sz="1050" b="1" i="0">
                <a:solidFill>
                  <a:srgbClr val="0E3F8C"/>
                </a:solidFill>
                <a:latin typeface="Calibri"/>
                <a:ea typeface="Calibri"/>
              </a:rPr>
              <a:t>open in editor →  </a:t>
            </a:r>
            <a:r>
              <a:rPr sz="1050" b="0" i="0">
                <a:solidFill>
                  <a:srgbClr val="3D7BD9"/>
                </a:solidFill>
                <a:latin typeface="Consolas"/>
                <a:ea typeface="Consolas"/>
                <a:hlinkClick r:id="rId2"/>
                <a:extLst>
                  <a:ext uri="{A12FA001-AC4F-418D-AE19-62706E023703}">
                    <ahyp:hlinkClr xmlns:ahyp="http://schemas.microsoft.com/office/drawing/2018/hyperlinkcolor" val="tx"/>
                  </a:ext>
                </a:extLst>
              </a:rPr>
              <a:t>editor.html?example=css-styling/showcase</a:t>
            </a:r>
          </a:p>
        </p:txBody>
      </p:sp>
      <p:sp>
        <p:nvSpPr>
          <p:cNvPr id="11" name="Rounded Rectangle 10"/>
          <p:cNvSpPr/>
          <p:nvPr/>
        </p:nvSpPr>
        <p:spPr>
          <a:xfrm>
            <a:off x="548640" y="5943600"/>
            <a:ext cx="11094415" cy="475488"/>
          </a:xfrm>
          <a:prstGeom prst="roundRect">
            <a:avLst>
              <a:gd name="adj" fmla="val 10000"/>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04672" y="5943600"/>
            <a:ext cx="10591495" cy="475488"/>
          </a:xfrm>
          <a:prstGeom prst="rect">
            <a:avLst/>
          </a:prstGeom>
          <a:noFill/>
        </p:spPr>
        <p:txBody>
          <a:bodyPr wrap="square" anchor="ctr" lIns="0" rIns="0" tIns="0" bIns="0">
            <a:spAutoFit/>
          </a:bodyPr>
          <a:lstStyle/>
          <a:p>
            <a:pPr algn="l">
              <a:lnSpc>
                <a:spcPct val="110000"/>
              </a:lnSpc>
              <a:spcAft>
                <a:spcPts val="400"/>
              </a:spcAft>
            </a:pPr>
            <a:r>
              <a:rPr sz="1400" b="1" i="0">
                <a:solidFill>
                  <a:srgbClr val="FFFFFF"/>
                </a:solidFill>
                <a:latin typeface="Calibri"/>
                <a:ea typeface="Calibri"/>
              </a:rPr>
              <a:t>The style attribute is styling at its simplest — one element, one set of declarations.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66928"/>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6979615" cy="365760"/>
          </a:xfrm>
          <a:prstGeom prst="rect">
            <a:avLst/>
          </a:prstGeom>
          <a:noFill/>
        </p:spPr>
        <p:txBody>
          <a:bodyPr wrap="square" anchor="ctr" lIns="0" rIns="0" tIns="0" bIns="0">
            <a:spAutoFit/>
          </a:bodyPr>
          <a:lstStyle/>
          <a:p>
            <a:pPr algn="l">
              <a:lnSpc>
                <a:spcPct val="110000"/>
              </a:lnSpc>
              <a:spcAft>
                <a:spcPts val="400"/>
              </a:spcAft>
            </a:pPr>
            <a:r>
              <a:rPr sz="2100" b="1" i="0">
                <a:solidFill>
                  <a:srgbClr val="FFFFFF"/>
                </a:solidFill>
                <a:latin typeface="Calibri"/>
                <a:ea typeface="Calibri"/>
              </a:rPr>
              <a:t>Style Syntax — property &amp; value</a:t>
            </a:r>
          </a:p>
        </p:txBody>
      </p:sp>
      <p:sp>
        <p:nvSpPr>
          <p:cNvPr id="4" name="TextBox 3"/>
          <p:cNvSpPr txBox="1"/>
          <p:nvPr/>
        </p:nvSpPr>
        <p:spPr>
          <a:xfrm>
            <a:off x="7436815" y="109728"/>
            <a:ext cx="4206240" cy="365760"/>
          </a:xfrm>
          <a:prstGeom prst="rect">
            <a:avLst/>
          </a:prstGeom>
          <a:noFill/>
        </p:spPr>
        <p:txBody>
          <a:bodyPr wrap="square" anchor="ctr" lIns="0" rIns="0" tIns="0" bIns="0">
            <a:spAutoFit/>
          </a:bodyPr>
          <a:lstStyle/>
          <a:p>
            <a:pPr algn="r">
              <a:lnSpc>
                <a:spcPct val="110000"/>
              </a:lnSpc>
              <a:spcAft>
                <a:spcPts val="400"/>
              </a:spcAft>
            </a:pPr>
            <a:r>
              <a:rPr sz="1100" b="1" i="0">
                <a:solidFill>
                  <a:srgbClr val="B9CDEE"/>
                </a:solidFill>
                <a:latin typeface="Calibri"/>
                <a:ea typeface="Calibri"/>
              </a:rPr>
              <a:t>COMP3421 · Styling the Web</a:t>
            </a:r>
          </a:p>
        </p:txBody>
      </p:sp>
      <p:sp>
        <p:nvSpPr>
          <p:cNvPr id="5" name="TextBox 4"/>
          <p:cNvSpPr txBox="1"/>
          <p:nvPr/>
        </p:nvSpPr>
        <p:spPr>
          <a:xfrm>
            <a:off x="548640" y="914400"/>
            <a:ext cx="11094415" cy="365760"/>
          </a:xfrm>
          <a:prstGeom prst="rect">
            <a:avLst/>
          </a:prstGeom>
          <a:noFill/>
        </p:spPr>
        <p:txBody>
          <a:bodyPr wrap="square" anchor="t" lIns="0" rIns="0" tIns="0" bIns="0">
            <a:spAutoFit/>
          </a:bodyPr>
          <a:lstStyle/>
          <a:p>
            <a:pPr algn="l">
              <a:lnSpc>
                <a:spcPct val="110000"/>
              </a:lnSpc>
              <a:spcAft>
                <a:spcPts val="400"/>
              </a:spcAft>
            </a:pPr>
            <a:r>
              <a:rPr sz="1400" b="0" i="0">
                <a:solidFill>
                  <a:srgbClr val="4A5568"/>
                </a:solidFill>
                <a:latin typeface="Calibri"/>
                <a:ea typeface="Calibri"/>
              </a:rPr>
              <a:t>Every style is a list of declarations — property, colon, value, semicolon.</a:t>
            </a:r>
          </a:p>
        </p:txBody>
      </p:sp>
      <p:sp>
        <p:nvSpPr>
          <p:cNvPr id="6" name="Rounded Rectangle 5"/>
          <p:cNvSpPr/>
          <p:nvPr/>
        </p:nvSpPr>
        <p:spPr>
          <a:xfrm>
            <a:off x="548640" y="1435608"/>
            <a:ext cx="11094415" cy="1051560"/>
          </a:xfrm>
          <a:prstGeom prst="roundRect">
            <a:avLst>
              <a:gd name="adj" fmla="val 8000"/>
            </a:avLst>
          </a:prstGeom>
          <a:solidFill>
            <a:srgbClr val="2327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1691640"/>
            <a:ext cx="10180015" cy="548640"/>
          </a:xfrm>
          <a:prstGeom prst="rect">
            <a:avLst/>
          </a:prstGeom>
          <a:noFill/>
        </p:spPr>
        <p:txBody>
          <a:bodyPr wrap="none" lIns="0" rIns="0" tIns="0" bIns="0">
            <a:spAutoFit/>
          </a:bodyPr>
          <a:lstStyle/>
          <a:p>
            <a:r>
              <a:rPr sz="2800" b="0" i="0">
                <a:solidFill>
                  <a:srgbClr val="7F8C98"/>
                </a:solidFill>
                <a:latin typeface="Consolas"/>
                <a:ea typeface="Consolas"/>
              </a:rPr>
              <a:t>&lt;p style="</a:t>
            </a:r>
            <a:r>
              <a:rPr sz="2800" b="0" i="0">
                <a:solidFill>
                  <a:srgbClr val="E5C07B"/>
                </a:solidFill>
                <a:latin typeface="Consolas"/>
                <a:ea typeface="Consolas"/>
              </a:rPr>
              <a:t>color</a:t>
            </a:r>
            <a:r>
              <a:rPr sz="2800" b="0" i="0">
                <a:solidFill>
                  <a:srgbClr val="7F8C98"/>
                </a:solidFill>
                <a:latin typeface="Consolas"/>
                <a:ea typeface="Consolas"/>
              </a:rPr>
              <a:t>: </a:t>
            </a:r>
            <a:r>
              <a:rPr sz="2800" b="0" i="0">
                <a:solidFill>
                  <a:srgbClr val="98C379"/>
                </a:solidFill>
                <a:latin typeface="Consolas"/>
                <a:ea typeface="Consolas"/>
              </a:rPr>
              <a:t>blue</a:t>
            </a:r>
            <a:r>
              <a:rPr sz="2800" b="0" i="0">
                <a:solidFill>
                  <a:srgbClr val="7F8C98"/>
                </a:solidFill>
                <a:latin typeface="Consolas"/>
                <a:ea typeface="Consolas"/>
              </a:rPr>
              <a:t>; </a:t>
            </a:r>
            <a:r>
              <a:rPr sz="2800" b="0" i="0">
                <a:solidFill>
                  <a:srgbClr val="E5C07B"/>
                </a:solidFill>
                <a:latin typeface="Consolas"/>
                <a:ea typeface="Consolas"/>
              </a:rPr>
              <a:t>font-size</a:t>
            </a:r>
            <a:r>
              <a:rPr sz="2800" b="0" i="0">
                <a:solidFill>
                  <a:srgbClr val="7F8C98"/>
                </a:solidFill>
                <a:latin typeface="Consolas"/>
                <a:ea typeface="Consolas"/>
              </a:rPr>
              <a:t>: </a:t>
            </a:r>
            <a:r>
              <a:rPr sz="2800" b="0" i="0">
                <a:solidFill>
                  <a:srgbClr val="98C379"/>
                </a:solidFill>
                <a:latin typeface="Consolas"/>
                <a:ea typeface="Consolas"/>
              </a:rPr>
              <a:t>18px</a:t>
            </a:r>
            <a:r>
              <a:rPr sz="2800" b="0" i="0">
                <a:solidFill>
                  <a:srgbClr val="7F8C98"/>
                </a:solidFill>
                <a:latin typeface="Consolas"/>
                <a:ea typeface="Consolas"/>
              </a:rPr>
              <a:t>;"&gt;</a:t>
            </a:r>
          </a:p>
        </p:txBody>
      </p:sp>
      <p:sp>
        <p:nvSpPr>
          <p:cNvPr id="8" name="Rounded Rectangle 7"/>
          <p:cNvSpPr/>
          <p:nvPr/>
        </p:nvSpPr>
        <p:spPr>
          <a:xfrm>
            <a:off x="868680" y="2807208"/>
            <a:ext cx="2407843" cy="1371600"/>
          </a:xfrm>
          <a:prstGeom prst="roundRect">
            <a:avLst>
              <a:gd name="adj" fmla="val 8000"/>
            </a:avLst>
          </a:prstGeom>
          <a:solidFill>
            <a:srgbClr val="F0F5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069848" y="3063240"/>
            <a:ext cx="91440" cy="365760"/>
          </a:xfrm>
          <a:prstGeom prst="rect">
            <a:avLst/>
          </a:prstGeom>
          <a:solidFill>
            <a:srgbClr val="E5C0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280160" y="3035808"/>
            <a:ext cx="1722043" cy="329184"/>
          </a:xfrm>
          <a:prstGeom prst="rect">
            <a:avLst/>
          </a:prstGeom>
          <a:noFill/>
        </p:spPr>
        <p:txBody>
          <a:bodyPr wrap="square" anchor="t" lIns="0" rIns="0" tIns="0" bIns="0">
            <a:spAutoFit/>
          </a:bodyPr>
          <a:lstStyle/>
          <a:p>
            <a:pPr algn="l">
              <a:lnSpc>
                <a:spcPct val="110000"/>
              </a:lnSpc>
              <a:spcAft>
                <a:spcPts val="400"/>
              </a:spcAft>
            </a:pPr>
            <a:r>
              <a:rPr sz="1400" b="1" i="0">
                <a:solidFill>
                  <a:srgbClr val="0E3F8C"/>
                </a:solidFill>
                <a:latin typeface="Calibri"/>
                <a:ea typeface="Calibri"/>
              </a:rPr>
              <a:t>Property</a:t>
            </a:r>
          </a:p>
        </p:txBody>
      </p:sp>
      <p:sp>
        <p:nvSpPr>
          <p:cNvPr id="11" name="TextBox 10"/>
          <p:cNvSpPr txBox="1"/>
          <p:nvPr/>
        </p:nvSpPr>
        <p:spPr>
          <a:xfrm>
            <a:off x="1280160" y="3401568"/>
            <a:ext cx="1722043" cy="640080"/>
          </a:xfrm>
          <a:prstGeom prst="rect">
            <a:avLst/>
          </a:prstGeom>
          <a:noFill/>
        </p:spPr>
        <p:txBody>
          <a:bodyPr wrap="square" anchor="t" lIns="0" rIns="0" tIns="0" bIns="0">
            <a:spAutoFit/>
          </a:bodyPr>
          <a:lstStyle/>
          <a:p>
            <a:pPr algn="l">
              <a:lnSpc>
                <a:spcPct val="115000"/>
              </a:lnSpc>
              <a:spcAft>
                <a:spcPts val="400"/>
              </a:spcAft>
            </a:pPr>
            <a:r>
              <a:rPr sz="1100" b="0" i="0">
                <a:solidFill>
                  <a:srgbClr val="4A5568"/>
                </a:solidFill>
                <a:latin typeface="Calibri"/>
                <a:ea typeface="Calibri"/>
              </a:rPr>
              <a:t>color — what to change</a:t>
            </a:r>
          </a:p>
        </p:txBody>
      </p:sp>
      <p:sp>
        <p:nvSpPr>
          <p:cNvPr id="12" name="Rounded Rectangle 11"/>
          <p:cNvSpPr/>
          <p:nvPr/>
        </p:nvSpPr>
        <p:spPr>
          <a:xfrm>
            <a:off x="3688003" y="2807208"/>
            <a:ext cx="2407843" cy="1371600"/>
          </a:xfrm>
          <a:prstGeom prst="roundRect">
            <a:avLst>
              <a:gd name="adj" fmla="val 8000"/>
            </a:avLst>
          </a:prstGeom>
          <a:solidFill>
            <a:srgbClr val="F0F5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889171" y="3063240"/>
            <a:ext cx="91440" cy="365760"/>
          </a:xfrm>
          <a:prstGeom prst="rect">
            <a:avLst/>
          </a:prstGeom>
          <a:solidFill>
            <a:srgbClr val="98C3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099483" y="3035808"/>
            <a:ext cx="1722043" cy="329184"/>
          </a:xfrm>
          <a:prstGeom prst="rect">
            <a:avLst/>
          </a:prstGeom>
          <a:noFill/>
        </p:spPr>
        <p:txBody>
          <a:bodyPr wrap="square" anchor="t" lIns="0" rIns="0" tIns="0" bIns="0">
            <a:spAutoFit/>
          </a:bodyPr>
          <a:lstStyle/>
          <a:p>
            <a:pPr algn="l">
              <a:lnSpc>
                <a:spcPct val="110000"/>
              </a:lnSpc>
              <a:spcAft>
                <a:spcPts val="400"/>
              </a:spcAft>
            </a:pPr>
            <a:r>
              <a:rPr sz="1400" b="1" i="0">
                <a:solidFill>
                  <a:srgbClr val="0E3F8C"/>
                </a:solidFill>
                <a:latin typeface="Calibri"/>
                <a:ea typeface="Calibri"/>
              </a:rPr>
              <a:t>Value</a:t>
            </a:r>
          </a:p>
        </p:txBody>
      </p:sp>
      <p:sp>
        <p:nvSpPr>
          <p:cNvPr id="15" name="TextBox 14"/>
          <p:cNvSpPr txBox="1"/>
          <p:nvPr/>
        </p:nvSpPr>
        <p:spPr>
          <a:xfrm>
            <a:off x="4099483" y="3401568"/>
            <a:ext cx="1722043" cy="640080"/>
          </a:xfrm>
          <a:prstGeom prst="rect">
            <a:avLst/>
          </a:prstGeom>
          <a:noFill/>
        </p:spPr>
        <p:txBody>
          <a:bodyPr wrap="square" anchor="t" lIns="0" rIns="0" tIns="0" bIns="0">
            <a:spAutoFit/>
          </a:bodyPr>
          <a:lstStyle/>
          <a:p>
            <a:pPr algn="l">
              <a:lnSpc>
                <a:spcPct val="115000"/>
              </a:lnSpc>
              <a:spcAft>
                <a:spcPts val="400"/>
              </a:spcAft>
            </a:pPr>
            <a:r>
              <a:rPr sz="1100" b="0" i="0">
                <a:solidFill>
                  <a:srgbClr val="4A5568"/>
                </a:solidFill>
                <a:latin typeface="Calibri"/>
                <a:ea typeface="Calibri"/>
              </a:rPr>
              <a:t>blue — what to set it to</a:t>
            </a:r>
          </a:p>
        </p:txBody>
      </p:sp>
      <p:sp>
        <p:nvSpPr>
          <p:cNvPr id="16" name="Rounded Rectangle 15"/>
          <p:cNvSpPr/>
          <p:nvPr/>
        </p:nvSpPr>
        <p:spPr>
          <a:xfrm>
            <a:off x="6507327" y="2807208"/>
            <a:ext cx="2407843" cy="1371600"/>
          </a:xfrm>
          <a:prstGeom prst="roundRect">
            <a:avLst>
              <a:gd name="adj" fmla="val 8000"/>
            </a:avLst>
          </a:prstGeom>
          <a:solidFill>
            <a:srgbClr val="F0F5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708495" y="3063240"/>
            <a:ext cx="91440" cy="365760"/>
          </a:xfrm>
          <a:prstGeom prst="rect">
            <a:avLst/>
          </a:prstGeom>
          <a:solidFill>
            <a:srgbClr val="61AF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918807" y="3035808"/>
            <a:ext cx="1722043" cy="329184"/>
          </a:xfrm>
          <a:prstGeom prst="rect">
            <a:avLst/>
          </a:prstGeom>
          <a:noFill/>
        </p:spPr>
        <p:txBody>
          <a:bodyPr wrap="square" anchor="t" lIns="0" rIns="0" tIns="0" bIns="0">
            <a:spAutoFit/>
          </a:bodyPr>
          <a:lstStyle/>
          <a:p>
            <a:pPr algn="l">
              <a:lnSpc>
                <a:spcPct val="110000"/>
              </a:lnSpc>
              <a:spcAft>
                <a:spcPts val="400"/>
              </a:spcAft>
            </a:pPr>
            <a:r>
              <a:rPr sz="1400" b="1" i="0">
                <a:solidFill>
                  <a:srgbClr val="0E3F8C"/>
                </a:solidFill>
                <a:latin typeface="Calibri"/>
                <a:ea typeface="Calibri"/>
              </a:rPr>
              <a:t>Declaration</a:t>
            </a:r>
          </a:p>
        </p:txBody>
      </p:sp>
      <p:sp>
        <p:nvSpPr>
          <p:cNvPr id="19" name="TextBox 18"/>
          <p:cNvSpPr txBox="1"/>
          <p:nvPr/>
        </p:nvSpPr>
        <p:spPr>
          <a:xfrm>
            <a:off x="6918807" y="3401568"/>
            <a:ext cx="1722043" cy="640080"/>
          </a:xfrm>
          <a:prstGeom prst="rect">
            <a:avLst/>
          </a:prstGeom>
          <a:noFill/>
        </p:spPr>
        <p:txBody>
          <a:bodyPr wrap="square" anchor="t" lIns="0" rIns="0" tIns="0" bIns="0">
            <a:spAutoFit/>
          </a:bodyPr>
          <a:lstStyle/>
          <a:p>
            <a:pPr algn="l">
              <a:lnSpc>
                <a:spcPct val="115000"/>
              </a:lnSpc>
              <a:spcAft>
                <a:spcPts val="400"/>
              </a:spcAft>
            </a:pPr>
            <a:r>
              <a:rPr sz="1100" b="0" i="0">
                <a:solidFill>
                  <a:srgbClr val="4A5568"/>
                </a:solidFill>
                <a:latin typeface="Calibri"/>
                <a:ea typeface="Calibri"/>
              </a:rPr>
              <a:t>color: blue; — a complete pair</a:t>
            </a:r>
          </a:p>
        </p:txBody>
      </p:sp>
      <p:sp>
        <p:nvSpPr>
          <p:cNvPr id="20" name="Rounded Rectangle 19"/>
          <p:cNvSpPr/>
          <p:nvPr/>
        </p:nvSpPr>
        <p:spPr>
          <a:xfrm>
            <a:off x="9326651" y="2807208"/>
            <a:ext cx="2407843" cy="1371600"/>
          </a:xfrm>
          <a:prstGeom prst="roundRect">
            <a:avLst>
              <a:gd name="adj" fmla="val 8000"/>
            </a:avLst>
          </a:prstGeom>
          <a:solidFill>
            <a:srgbClr val="F0F5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9527819" y="3063240"/>
            <a:ext cx="91440" cy="365760"/>
          </a:xfrm>
          <a:prstGeom prst="rect">
            <a:avLst/>
          </a:prstGeom>
          <a:solidFill>
            <a:srgbClr val="7F8C9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738131" y="3035808"/>
            <a:ext cx="1722043" cy="329184"/>
          </a:xfrm>
          <a:prstGeom prst="rect">
            <a:avLst/>
          </a:prstGeom>
          <a:noFill/>
        </p:spPr>
        <p:txBody>
          <a:bodyPr wrap="square" anchor="t" lIns="0" rIns="0" tIns="0" bIns="0">
            <a:spAutoFit/>
          </a:bodyPr>
          <a:lstStyle/>
          <a:p>
            <a:pPr algn="l">
              <a:lnSpc>
                <a:spcPct val="110000"/>
              </a:lnSpc>
              <a:spcAft>
                <a:spcPts val="400"/>
              </a:spcAft>
            </a:pPr>
            <a:r>
              <a:rPr sz="1400" b="1" i="0">
                <a:solidFill>
                  <a:srgbClr val="0E3F8C"/>
                </a:solidFill>
                <a:latin typeface="Calibri"/>
                <a:ea typeface="Calibri"/>
              </a:rPr>
              <a:t>Separator</a:t>
            </a:r>
          </a:p>
        </p:txBody>
      </p:sp>
      <p:sp>
        <p:nvSpPr>
          <p:cNvPr id="23" name="TextBox 22"/>
          <p:cNvSpPr txBox="1"/>
          <p:nvPr/>
        </p:nvSpPr>
        <p:spPr>
          <a:xfrm>
            <a:off x="9738131" y="3401568"/>
            <a:ext cx="1722043" cy="640080"/>
          </a:xfrm>
          <a:prstGeom prst="rect">
            <a:avLst/>
          </a:prstGeom>
          <a:noFill/>
        </p:spPr>
        <p:txBody>
          <a:bodyPr wrap="square" anchor="t" lIns="0" rIns="0" tIns="0" bIns="0">
            <a:spAutoFit/>
          </a:bodyPr>
          <a:lstStyle/>
          <a:p>
            <a:pPr algn="l">
              <a:lnSpc>
                <a:spcPct val="115000"/>
              </a:lnSpc>
              <a:spcAft>
                <a:spcPts val="400"/>
              </a:spcAft>
            </a:pPr>
            <a:r>
              <a:rPr sz="1100" b="0" i="0">
                <a:solidFill>
                  <a:srgbClr val="4A5568"/>
                </a:solidFill>
                <a:latin typeface="Calibri"/>
                <a:ea typeface="Calibri"/>
              </a:rPr>
              <a:t>; — joins the declarations</a:t>
            </a:r>
          </a:p>
        </p:txBody>
      </p:sp>
      <p:sp>
        <p:nvSpPr>
          <p:cNvPr id="24" name="Rounded Rectangle 23"/>
          <p:cNvSpPr/>
          <p:nvPr/>
        </p:nvSpPr>
        <p:spPr>
          <a:xfrm>
            <a:off x="548640" y="5852159"/>
            <a:ext cx="11094415" cy="475488"/>
          </a:xfrm>
          <a:prstGeom prst="roundRect">
            <a:avLst>
              <a:gd name="adj" fmla="val 10000"/>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14400" y="5961888"/>
            <a:ext cx="10362895" cy="310896"/>
          </a:xfrm>
          <a:prstGeom prst="rect">
            <a:avLst/>
          </a:prstGeom>
          <a:noFill/>
        </p:spPr>
        <p:txBody>
          <a:bodyPr wrap="square" anchor="t" lIns="0" rIns="0" tIns="0" bIns="0">
            <a:spAutoFit/>
          </a:bodyPr>
          <a:lstStyle/>
          <a:p>
            <a:pPr algn="l">
              <a:lnSpc>
                <a:spcPct val="110000"/>
              </a:lnSpc>
              <a:spcAft>
                <a:spcPts val="400"/>
              </a:spcAft>
            </a:pPr>
            <a:r>
              <a:rPr sz="1400" b="1" i="0">
                <a:solidFill>
                  <a:srgbClr val="FFFFFF"/>
                </a:solidFill>
                <a:latin typeface="Calibri"/>
                <a:ea typeface="Calibri"/>
              </a:rPr>
              <a:t>Learn this one pattern and you can already style a whole page — by hand.</a:t>
            </a:r>
          </a:p>
        </p:txBody>
      </p:sp>
      <p:sp>
        <p:nvSpPr>
          <p:cNvPr id="26" name="Rounded Rectangle 25"/>
          <p:cNvSpPr/>
          <p:nvPr/>
        </p:nvSpPr>
        <p:spPr>
          <a:xfrm>
            <a:off x="548640" y="4370832"/>
            <a:ext cx="3931920" cy="384048"/>
          </a:xfrm>
          <a:prstGeom prst="roundRect">
            <a:avLst>
              <a:gd name="adj" fmla="val 10000"/>
            </a:avLst>
          </a:prstGeom>
          <a:solidFill>
            <a:srgbClr val="F0F5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49808" y="4370832"/>
            <a:ext cx="3529584" cy="384048"/>
          </a:xfrm>
          <a:prstGeom prst="rect">
            <a:avLst/>
          </a:prstGeom>
          <a:noFill/>
        </p:spPr>
        <p:txBody>
          <a:bodyPr wrap="square" anchor="ctr" lIns="0" rIns="0" tIns="0" bIns="0">
            <a:spAutoFit/>
          </a:bodyPr>
          <a:lstStyle/>
          <a:p>
            <a:pPr algn="l">
              <a:lnSpc>
                <a:spcPct val="110000"/>
              </a:lnSpc>
              <a:spcAft>
                <a:spcPts val="400"/>
              </a:spcAft>
            </a:pPr>
            <a:r>
              <a:rPr sz="1100" b="1" i="0">
                <a:solidFill>
                  <a:srgbClr val="4A5568"/>
                </a:solidFill>
                <a:latin typeface="Calibri"/>
                <a:ea typeface="Calibri"/>
              </a:rPr>
              <a:t>open in editor →  </a:t>
            </a:r>
            <a:r>
              <a:rPr sz="1100" b="1" i="0">
                <a:solidFill>
                  <a:srgbClr val="1E4FA8"/>
                </a:solidFill>
                <a:latin typeface="Calibri"/>
                <a:ea typeface="Calibri"/>
                <a:hlinkClick r:id="rId2"/>
                <a:extLst>
                  <a:ext uri="{A12FA001-AC4F-418D-AE19-62706E023703}">
                    <ahyp:hlinkClr xmlns:ahyp="http://schemas.microsoft.com/office/drawing/2018/hyperlinkcolor" val="tx"/>
                  </a:ext>
                </a:extLst>
              </a:rPr>
              <a:t>css-styling/showcase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6858000"/>
          </a:xfrm>
          <a:prstGeom prst="rect">
            <a:avLst/>
          </a:prstGeom>
          <a:solidFill>
            <a:srgbClr val="1E4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143000"/>
            <a:ext cx="3840480" cy="1828800"/>
          </a:xfrm>
          <a:prstGeom prst="rect">
            <a:avLst/>
          </a:prstGeom>
          <a:noFill/>
        </p:spPr>
        <p:txBody>
          <a:bodyPr wrap="square" anchor="t" lIns="0" rIns="0" tIns="0" bIns="0">
            <a:spAutoFit/>
          </a:bodyPr>
          <a:lstStyle/>
          <a:p>
            <a:pPr algn="l">
              <a:lnSpc>
                <a:spcPct val="110000"/>
              </a:lnSpc>
              <a:spcAft>
                <a:spcPts val="400"/>
              </a:spcAft>
            </a:pPr>
            <a:r>
              <a:rPr sz="9200" b="1" i="0">
                <a:solidFill>
                  <a:srgbClr val="9DC0EE"/>
                </a:solidFill>
                <a:latin typeface="Calibri"/>
                <a:ea typeface="Calibri"/>
              </a:rPr>
              <a:t>02</a:t>
            </a:r>
          </a:p>
        </p:txBody>
      </p:sp>
      <p:sp>
        <p:nvSpPr>
          <p:cNvPr id="5" name="TextBox 4"/>
          <p:cNvSpPr txBox="1"/>
          <p:nvPr/>
        </p:nvSpPr>
        <p:spPr>
          <a:xfrm>
            <a:off x="685800" y="3063240"/>
            <a:ext cx="10607040" cy="822960"/>
          </a:xfrm>
          <a:prstGeom prst="rect">
            <a:avLst/>
          </a:prstGeom>
          <a:noFill/>
        </p:spPr>
        <p:txBody>
          <a:bodyPr wrap="square" anchor="t" lIns="0" rIns="0" tIns="0" bIns="0">
            <a:spAutoFit/>
          </a:bodyPr>
          <a:lstStyle/>
          <a:p>
            <a:pPr algn="l">
              <a:lnSpc>
                <a:spcPct val="110000"/>
              </a:lnSpc>
              <a:spcAft>
                <a:spcPts val="400"/>
              </a:spcAft>
            </a:pPr>
            <a:r>
              <a:rPr sz="3800" b="1" i="0">
                <a:solidFill>
                  <a:srgbClr val="FFFFFF"/>
                </a:solidFill>
                <a:latin typeface="Calibri"/>
                <a:ea typeface="Calibri"/>
              </a:rPr>
              <a:t>Colour</a:t>
            </a:r>
          </a:p>
        </p:txBody>
      </p:sp>
      <p:sp>
        <p:nvSpPr>
          <p:cNvPr id="6" name="Rectangle 5"/>
          <p:cNvSpPr/>
          <p:nvPr/>
        </p:nvSpPr>
        <p:spPr>
          <a:xfrm>
            <a:off x="713232" y="3977639"/>
            <a:ext cx="822960" cy="54864"/>
          </a:xfrm>
          <a:prstGeom prst="rect">
            <a:avLst/>
          </a:prstGeom>
          <a:solidFill>
            <a:srgbClr val="1E4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13232" y="4251960"/>
            <a:ext cx="10058400" cy="1645920"/>
          </a:xfrm>
          <a:prstGeom prst="rect">
            <a:avLst/>
          </a:prstGeom>
          <a:noFill/>
        </p:spPr>
        <p:txBody>
          <a:bodyPr wrap="square" lIns="0" rIns="0" tIns="0" bIns="0">
            <a:normAutofit/>
          </a:bodyPr>
          <a:lstStyle/>
          <a:p>
            <a:pPr marL="256032" indent="-237744">
              <a:lnSpc>
                <a:spcPct val="112000"/>
              </a:lnSpc>
              <a:spcAft>
                <a:spcPts val="1000"/>
              </a:spcAft>
              <a:buClr>
                <a:srgbClr val="1E4FA8"/>
              </a:buClr>
              <a:buSzPct val="90000"/>
              <a:buFont typeface="Arial"/>
              <a:buChar char="▪"/>
            </a:pPr>
            <a:r>
              <a:rPr sz="1600" b="0" i="0">
                <a:solidFill>
                  <a:srgbClr val="B9CDEE"/>
                </a:solidFill>
                <a:latin typeface="Calibri"/>
                <a:ea typeface="Calibri"/>
              </a:rPr>
              <a:t>Four ways to write one colour</a:t>
            </a:r>
          </a:p>
          <a:p>
            <a:pPr marL="256032" indent="-237744">
              <a:lnSpc>
                <a:spcPct val="112000"/>
              </a:lnSpc>
              <a:spcAft>
                <a:spcPts val="1000"/>
              </a:spcAft>
              <a:buClr>
                <a:srgbClr val="1E4FA8"/>
              </a:buClr>
              <a:buSzPct val="90000"/>
              <a:buFont typeface="Arial"/>
              <a:buChar char="▪"/>
            </a:pPr>
            <a:r>
              <a:rPr sz="1600" b="0" i="0">
                <a:solidFill>
                  <a:srgbClr val="B9CDEE"/>
                </a:solidFill>
                <a:latin typeface="Calibri"/>
                <a:ea typeface="Calibri"/>
              </a:rPr>
              <a:t>148 named colours, and a palette</a:t>
            </a:r>
          </a:p>
          <a:p>
            <a:pPr marL="256032" indent="-237744">
              <a:lnSpc>
                <a:spcPct val="112000"/>
              </a:lnSpc>
              <a:spcAft>
                <a:spcPts val="1000"/>
              </a:spcAft>
              <a:buClr>
                <a:srgbClr val="1E4FA8"/>
              </a:buClr>
              <a:buSzPct val="90000"/>
              <a:buFont typeface="Arial"/>
              <a:buChar char="▪"/>
            </a:pPr>
            <a:r>
              <a:rPr sz="1600" b="0" i="0">
                <a:solidFill>
                  <a:srgbClr val="B9CDEE"/>
                </a:solidFill>
                <a:latin typeface="Calibri"/>
                <a:ea typeface="Calibri"/>
              </a:rPr>
              <a:t>Text colour vs background, and transparency</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66928"/>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6979615" cy="365760"/>
          </a:xfrm>
          <a:prstGeom prst="rect">
            <a:avLst/>
          </a:prstGeom>
          <a:noFill/>
        </p:spPr>
        <p:txBody>
          <a:bodyPr wrap="square" anchor="ctr" lIns="0" rIns="0" tIns="0" bIns="0">
            <a:spAutoFit/>
          </a:bodyPr>
          <a:lstStyle/>
          <a:p>
            <a:pPr algn="l">
              <a:lnSpc>
                <a:spcPct val="110000"/>
              </a:lnSpc>
              <a:spcAft>
                <a:spcPts val="400"/>
              </a:spcAft>
            </a:pPr>
            <a:r>
              <a:rPr sz="2100" b="1" i="0">
                <a:solidFill>
                  <a:srgbClr val="FFFFFF"/>
                </a:solidFill>
                <a:latin typeface="Calibri"/>
                <a:ea typeface="Calibri"/>
              </a:rPr>
              <a:t>Colour — Four Ways to Write It</a:t>
            </a:r>
          </a:p>
        </p:txBody>
      </p:sp>
      <p:sp>
        <p:nvSpPr>
          <p:cNvPr id="4" name="TextBox 3"/>
          <p:cNvSpPr txBox="1"/>
          <p:nvPr/>
        </p:nvSpPr>
        <p:spPr>
          <a:xfrm>
            <a:off x="7436815" y="109728"/>
            <a:ext cx="4206240" cy="365760"/>
          </a:xfrm>
          <a:prstGeom prst="rect">
            <a:avLst/>
          </a:prstGeom>
          <a:noFill/>
        </p:spPr>
        <p:txBody>
          <a:bodyPr wrap="square" anchor="ctr" lIns="0" rIns="0" tIns="0" bIns="0">
            <a:spAutoFit/>
          </a:bodyPr>
          <a:lstStyle/>
          <a:p>
            <a:pPr algn="r">
              <a:lnSpc>
                <a:spcPct val="110000"/>
              </a:lnSpc>
              <a:spcAft>
                <a:spcPts val="400"/>
              </a:spcAft>
            </a:pPr>
            <a:r>
              <a:rPr sz="1100" b="1" i="0">
                <a:solidFill>
                  <a:srgbClr val="B9CDEE"/>
                </a:solidFill>
                <a:latin typeface="Calibri"/>
                <a:ea typeface="Calibri"/>
              </a:rPr>
              <a:t>COMP3421 · Colour</a:t>
            </a:r>
          </a:p>
        </p:txBody>
      </p:sp>
      <p:sp>
        <p:nvSpPr>
          <p:cNvPr id="5" name="TextBox 4"/>
          <p:cNvSpPr txBox="1"/>
          <p:nvPr/>
        </p:nvSpPr>
        <p:spPr>
          <a:xfrm>
            <a:off x="548640" y="978408"/>
            <a:ext cx="4602175" cy="4937760"/>
          </a:xfrm>
          <a:prstGeom prst="rect">
            <a:avLst/>
          </a:prstGeom>
          <a:noFill/>
        </p:spPr>
        <p:txBody>
          <a:bodyPr wrap="square" lIns="0" rIns="0" tIns="0" bIns="0">
            <a:normAutofit/>
          </a:bodyPr>
          <a:lstStyle/>
          <a:p>
            <a:pPr marL="274320" indent="-237744">
              <a:lnSpc>
                <a:spcPct val="112000"/>
              </a:lnSpc>
              <a:spcAft>
                <a:spcPts val="1000"/>
              </a:spcAft>
              <a:buClr>
                <a:srgbClr val="1E4FA8"/>
              </a:buClr>
              <a:buSzPct val="90000"/>
              <a:buFont typeface="Arial"/>
              <a:buChar char="▪"/>
            </a:pPr>
            <a:r>
              <a:rPr sz="1550" b="1" i="0">
                <a:solidFill>
                  <a:srgbClr val="1A2230"/>
                </a:solidFill>
                <a:latin typeface="Calibri"/>
                <a:ea typeface="Calibri"/>
              </a:rPr>
              <a:t>Named</a:t>
            </a:r>
            <a:br/>
            <a:r>
              <a:rPr sz="1350" b="0" i="0">
                <a:solidFill>
                  <a:srgbClr val="4A5568"/>
                </a:solidFill>
                <a:latin typeface="Calibri"/>
                <a:ea typeface="Calibri"/>
              </a:rPr>
              <a:t>red, blue, tomato — 148 words, but limited.</a:t>
            </a:r>
          </a:p>
          <a:p>
            <a:pPr marL="274320" indent="-237744">
              <a:lnSpc>
                <a:spcPct val="112000"/>
              </a:lnSpc>
              <a:spcAft>
                <a:spcPts val="1000"/>
              </a:spcAft>
              <a:buClr>
                <a:srgbClr val="1E4FA8"/>
              </a:buClr>
              <a:buSzPct val="90000"/>
              <a:buFont typeface="Arial"/>
              <a:buChar char="▪"/>
            </a:pPr>
            <a:r>
              <a:rPr sz="1550" b="1" i="0">
                <a:solidFill>
                  <a:srgbClr val="1A2230"/>
                </a:solidFill>
                <a:latin typeface="Calibri"/>
                <a:ea typeface="Calibri"/>
              </a:rPr>
              <a:t>Hex  #RRGGBB</a:t>
            </a:r>
            <a:br/>
            <a:r>
              <a:rPr sz="1350" b="0" i="0">
                <a:solidFill>
                  <a:srgbClr val="4A5568"/>
                </a:solidFill>
                <a:latin typeface="Calibri"/>
                <a:ea typeface="Calibri"/>
              </a:rPr>
              <a:t>#1E4FA8 — two hex digits per channel.</a:t>
            </a:r>
          </a:p>
          <a:p>
            <a:pPr marL="274320" indent="-237744">
              <a:lnSpc>
                <a:spcPct val="112000"/>
              </a:lnSpc>
              <a:spcAft>
                <a:spcPts val="1000"/>
              </a:spcAft>
              <a:buClr>
                <a:srgbClr val="1E4FA8"/>
              </a:buClr>
              <a:buSzPct val="90000"/>
              <a:buFont typeface="Arial"/>
              <a:buChar char="▪"/>
            </a:pPr>
            <a:r>
              <a:rPr sz="1550" b="1" i="0">
                <a:solidFill>
                  <a:srgbClr val="1A2230"/>
                </a:solidFill>
                <a:latin typeface="Calibri"/>
                <a:ea typeface="Calibri"/>
              </a:rPr>
              <a:t>RGB / RGBA</a:t>
            </a:r>
            <a:br/>
            <a:r>
              <a:rPr sz="1350" b="0" i="0">
                <a:solidFill>
                  <a:srgbClr val="4A5568"/>
                </a:solidFill>
                <a:latin typeface="Calibri"/>
                <a:ea typeface="Calibri"/>
              </a:rPr>
              <a:t>rgb(30,79,168) — with alpha for transparency.</a:t>
            </a:r>
          </a:p>
          <a:p>
            <a:pPr marL="274320" indent="-237744">
              <a:lnSpc>
                <a:spcPct val="112000"/>
              </a:lnSpc>
              <a:spcAft>
                <a:spcPts val="1000"/>
              </a:spcAft>
              <a:buClr>
                <a:srgbClr val="1E4FA8"/>
              </a:buClr>
              <a:buSzPct val="90000"/>
              <a:buFont typeface="Arial"/>
              <a:buChar char="▪"/>
            </a:pPr>
            <a:r>
              <a:rPr sz="1550" b="1" i="0">
                <a:solidFill>
                  <a:srgbClr val="1A2230"/>
                </a:solidFill>
                <a:latin typeface="Calibri"/>
                <a:ea typeface="Calibri"/>
              </a:rPr>
              <a:t>HSL</a:t>
            </a:r>
            <a:br/>
            <a:r>
              <a:rPr sz="1350" b="0" i="0">
                <a:solidFill>
                  <a:srgbClr val="4A5568"/>
                </a:solidFill>
                <a:latin typeface="Calibri"/>
                <a:ea typeface="Calibri"/>
              </a:rPr>
              <a:t>hsl(218,70%,39%) — hue, saturation, lightness.</a:t>
            </a:r>
          </a:p>
        </p:txBody>
      </p:sp>
      <p:sp>
        <p:nvSpPr>
          <p:cNvPr id="6" name="Rounded Rectangle 5"/>
          <p:cNvSpPr/>
          <p:nvPr/>
        </p:nvSpPr>
        <p:spPr>
          <a:xfrm>
            <a:off x="5836615" y="978408"/>
            <a:ext cx="5806440" cy="3703320"/>
          </a:xfrm>
          <a:prstGeom prst="roundRect">
            <a:avLst>
              <a:gd name="adj" fmla="val 5000"/>
            </a:avLst>
          </a:prstGeom>
          <a:solidFill>
            <a:srgbClr val="2327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129223" y="1133856"/>
            <a:ext cx="5257800" cy="292608"/>
          </a:xfrm>
          <a:prstGeom prst="rect">
            <a:avLst/>
          </a:prstGeom>
          <a:noFill/>
        </p:spPr>
        <p:txBody>
          <a:bodyPr wrap="square" anchor="t" lIns="0" rIns="0" tIns="0" bIns="0">
            <a:spAutoFit/>
          </a:bodyPr>
          <a:lstStyle/>
          <a:p>
            <a:pPr algn="l">
              <a:lnSpc>
                <a:spcPct val="110000"/>
              </a:lnSpc>
              <a:spcAft>
                <a:spcPts val="400"/>
              </a:spcAft>
            </a:pPr>
            <a:r>
              <a:rPr sz="1100" b="1" i="0">
                <a:solidFill>
                  <a:srgbClr val="7F8C98"/>
                </a:solidFill>
                <a:latin typeface="Calibri"/>
                <a:ea typeface="Calibri"/>
              </a:rPr>
              <a:t>LOOK INSIDE — CODE</a:t>
            </a:r>
          </a:p>
        </p:txBody>
      </p:sp>
      <p:sp>
        <p:nvSpPr>
          <p:cNvPr id="8" name="TextBox 7"/>
          <p:cNvSpPr txBox="1"/>
          <p:nvPr/>
        </p:nvSpPr>
        <p:spPr>
          <a:xfrm>
            <a:off x="6129223" y="1463040"/>
            <a:ext cx="5221224" cy="3108960"/>
          </a:xfrm>
          <a:prstGeom prst="rect">
            <a:avLst/>
          </a:prstGeom>
          <a:noFill/>
        </p:spPr>
        <p:txBody>
          <a:bodyPr wrap="none" lIns="0" rIns="0" tIns="0" bIns="0">
            <a:spAutoFit/>
          </a:bodyPr>
          <a:lstStyle/>
          <a:p>
            <a:pPr>
              <a:spcAft>
                <a:spcPts val="350"/>
              </a:spcAft>
            </a:pPr>
            <a:r>
              <a:rPr sz="1300" b="0" i="0">
                <a:solidFill>
                  <a:srgbClr val="61AFEF"/>
                </a:solidFill>
                <a:latin typeface="Consolas"/>
                <a:ea typeface="Consolas"/>
              </a:rPr>
              <a:t>&lt;p style="color: red;"&gt;</a:t>
            </a:r>
          </a:p>
          <a:p>
            <a:pPr>
              <a:spcAft>
                <a:spcPts val="350"/>
              </a:spcAft>
            </a:pPr>
            <a:r>
              <a:rPr sz="1300" b="0" i="0">
                <a:solidFill>
                  <a:srgbClr val="98C379"/>
                </a:solidFill>
                <a:latin typeface="Consolas"/>
                <a:ea typeface="Consolas"/>
              </a:rPr>
              <a:t>&lt;p style="color: #1E4FA8;"&gt;</a:t>
            </a:r>
          </a:p>
          <a:p>
            <a:pPr>
              <a:spcAft>
                <a:spcPts val="350"/>
              </a:spcAft>
            </a:pPr>
            <a:r>
              <a:rPr sz="1300" b="0" i="0">
                <a:solidFill>
                  <a:srgbClr val="E5C07B"/>
                </a:solidFill>
                <a:latin typeface="Consolas"/>
                <a:ea typeface="Consolas"/>
              </a:rPr>
              <a:t>&lt;p style="color: rgb(30, 79, 168);"&gt;</a:t>
            </a:r>
          </a:p>
          <a:p>
            <a:pPr>
              <a:spcAft>
                <a:spcPts val="350"/>
              </a:spcAft>
            </a:pPr>
            <a:r>
              <a:rPr sz="1300" b="0" i="0">
                <a:solidFill>
                  <a:srgbClr val="C678DD"/>
                </a:solidFill>
                <a:latin typeface="Consolas"/>
                <a:ea typeface="Consolas"/>
              </a:rPr>
              <a:t>&lt;p style="color: rgba(30, 79, 168, 0.5);"&gt;</a:t>
            </a:r>
          </a:p>
          <a:p>
            <a:pPr>
              <a:spcAft>
                <a:spcPts val="350"/>
              </a:spcAft>
            </a:pPr>
            <a:r>
              <a:rPr sz="1300" b="0" i="0">
                <a:solidFill>
                  <a:srgbClr val="98C379"/>
                </a:solidFill>
                <a:latin typeface="Consolas"/>
                <a:ea typeface="Consolas"/>
              </a:rPr>
              <a:t>&lt;p style="color: hsl(218, 70%, 39%);"&gt;</a:t>
            </a:r>
          </a:p>
          <a:p>
            <a:pPr>
              <a:spcAft>
                <a:spcPts val="350"/>
              </a:spcAft>
            </a:pPr>
            <a:r>
              <a:rPr sz="1300" b="0" i="0">
                <a:solidFill>
                  <a:srgbClr val="7F8C98"/>
                </a:solidFill>
                <a:latin typeface="Consolas"/>
                <a:ea typeface="Consolas"/>
              </a:rPr>
              <a:t/>
            </a:r>
          </a:p>
          <a:p>
            <a:pPr>
              <a:spcAft>
                <a:spcPts val="350"/>
              </a:spcAft>
            </a:pPr>
            <a:r>
              <a:rPr sz="1300" b="0" i="0">
                <a:solidFill>
                  <a:srgbClr val="7F8C98"/>
                </a:solidFill>
                <a:latin typeface="Consolas"/>
                <a:ea typeface="Consolas"/>
              </a:rPr>
              <a:t>&lt;!-- all four spell the same colour --&gt;</a:t>
            </a:r>
          </a:p>
        </p:txBody>
      </p:sp>
      <p:sp>
        <p:nvSpPr>
          <p:cNvPr id="9" name="Rounded Rectangle 8"/>
          <p:cNvSpPr/>
          <p:nvPr/>
        </p:nvSpPr>
        <p:spPr>
          <a:xfrm>
            <a:off x="5836615" y="4800600"/>
            <a:ext cx="5806440" cy="475488"/>
          </a:xfrm>
          <a:prstGeom prst="roundRect">
            <a:avLst>
              <a:gd name="adj" fmla="val 10000"/>
            </a:avLst>
          </a:prstGeom>
          <a:solidFill>
            <a:srgbClr val="F0F5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092647" y="4919472"/>
            <a:ext cx="5294375" cy="274320"/>
          </a:xfrm>
          <a:prstGeom prst="rect">
            <a:avLst/>
          </a:prstGeom>
          <a:noFill/>
        </p:spPr>
        <p:txBody>
          <a:bodyPr wrap="square" anchor="t" lIns="0" rIns="0" tIns="0" bIns="0">
            <a:spAutoFit/>
          </a:bodyPr>
          <a:lstStyle/>
          <a:p>
            <a:pPr algn="l">
              <a:lnSpc>
                <a:spcPct val="110000"/>
              </a:lnSpc>
              <a:spcAft>
                <a:spcPts val="400"/>
              </a:spcAft>
            </a:pPr>
            <a:r>
              <a:rPr sz="1050" b="1" i="0">
                <a:solidFill>
                  <a:srgbClr val="0E3F8C"/>
                </a:solidFill>
                <a:latin typeface="Calibri"/>
                <a:ea typeface="Calibri"/>
              </a:rPr>
              <a:t>open in editor →  </a:t>
            </a:r>
            <a:r>
              <a:rPr sz="1050" b="0" i="0">
                <a:solidFill>
                  <a:srgbClr val="3D7BD9"/>
                </a:solidFill>
                <a:latin typeface="Consolas"/>
                <a:ea typeface="Consolas"/>
                <a:hlinkClick r:id="rId2"/>
                <a:extLst>
                  <a:ext uri="{A12FA001-AC4F-418D-AE19-62706E023703}">
                    <ahyp:hlinkClr xmlns:ahyp="http://schemas.microsoft.com/office/drawing/2018/hyperlinkcolor" val="tx"/>
                  </a:ext>
                </a:extLst>
              </a:rPr>
              <a:t>editor.html?example=css-styling/colors</a:t>
            </a:r>
          </a:p>
        </p:txBody>
      </p:sp>
      <p:sp>
        <p:nvSpPr>
          <p:cNvPr id="11" name="Rounded Rectangle 10"/>
          <p:cNvSpPr/>
          <p:nvPr/>
        </p:nvSpPr>
        <p:spPr>
          <a:xfrm>
            <a:off x="548640" y="5943600"/>
            <a:ext cx="11094415" cy="475488"/>
          </a:xfrm>
          <a:prstGeom prst="roundRect">
            <a:avLst>
              <a:gd name="adj" fmla="val 10000"/>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04672" y="5943600"/>
            <a:ext cx="10591495" cy="475488"/>
          </a:xfrm>
          <a:prstGeom prst="rect">
            <a:avLst/>
          </a:prstGeom>
          <a:noFill/>
        </p:spPr>
        <p:txBody>
          <a:bodyPr wrap="square" anchor="ctr" lIns="0" rIns="0" tIns="0" bIns="0">
            <a:spAutoFit/>
          </a:bodyPr>
          <a:lstStyle/>
          <a:p>
            <a:pPr algn="l">
              <a:lnSpc>
                <a:spcPct val="110000"/>
              </a:lnSpc>
              <a:spcAft>
                <a:spcPts val="400"/>
              </a:spcAft>
            </a:pPr>
            <a:r>
              <a:rPr sz="1400" b="1" i="0">
                <a:solidFill>
                  <a:srgbClr val="FFFFFF"/>
                </a:solidFill>
                <a:latin typeface="Calibri"/>
                <a:ea typeface="Calibri"/>
              </a:rPr>
              <a:t>blue  =  #0000FF  =  rgb(0,0,255)  =  hsl(240,100%,50%)</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66928"/>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6979615" cy="365760"/>
          </a:xfrm>
          <a:prstGeom prst="rect">
            <a:avLst/>
          </a:prstGeom>
          <a:noFill/>
        </p:spPr>
        <p:txBody>
          <a:bodyPr wrap="square" anchor="ctr" lIns="0" rIns="0" tIns="0" bIns="0">
            <a:spAutoFit/>
          </a:bodyPr>
          <a:lstStyle/>
          <a:p>
            <a:pPr algn="l">
              <a:lnSpc>
                <a:spcPct val="110000"/>
              </a:lnSpc>
              <a:spcAft>
                <a:spcPts val="400"/>
              </a:spcAft>
            </a:pPr>
            <a:r>
              <a:rPr sz="2100" b="1" i="0">
                <a:solidFill>
                  <a:srgbClr val="FFFFFF"/>
                </a:solidFill>
                <a:latin typeface="Calibri"/>
                <a:ea typeface="Calibri"/>
              </a:rPr>
              <a:t>One Colour, Four Notations</a:t>
            </a:r>
          </a:p>
        </p:txBody>
      </p:sp>
      <p:sp>
        <p:nvSpPr>
          <p:cNvPr id="4" name="TextBox 3"/>
          <p:cNvSpPr txBox="1"/>
          <p:nvPr/>
        </p:nvSpPr>
        <p:spPr>
          <a:xfrm>
            <a:off x="7436815" y="109728"/>
            <a:ext cx="4206240" cy="365760"/>
          </a:xfrm>
          <a:prstGeom prst="rect">
            <a:avLst/>
          </a:prstGeom>
          <a:noFill/>
        </p:spPr>
        <p:txBody>
          <a:bodyPr wrap="square" anchor="ctr" lIns="0" rIns="0" tIns="0" bIns="0">
            <a:spAutoFit/>
          </a:bodyPr>
          <a:lstStyle/>
          <a:p>
            <a:pPr algn="r">
              <a:lnSpc>
                <a:spcPct val="110000"/>
              </a:lnSpc>
              <a:spcAft>
                <a:spcPts val="400"/>
              </a:spcAft>
            </a:pPr>
            <a:r>
              <a:rPr sz="1100" b="1" i="0">
                <a:solidFill>
                  <a:srgbClr val="B9CDEE"/>
                </a:solidFill>
                <a:latin typeface="Calibri"/>
                <a:ea typeface="Calibri"/>
              </a:rPr>
              <a:t>COMP3421 · Colour</a:t>
            </a:r>
          </a:p>
        </p:txBody>
      </p:sp>
      <p:pic>
        <p:nvPicPr>
          <p:cNvPr id="5" name="Picture 4" descr="img_ct_hex.png"/>
          <p:cNvPicPr>
            <a:picLocks noChangeAspect="1"/>
          </p:cNvPicPr>
          <p:nvPr/>
        </p:nvPicPr>
        <p:blipFill>
          <a:blip r:embed="rId2"/>
          <a:stretch>
            <a:fillRect/>
          </a:stretch>
        </p:blipFill>
        <p:spPr>
          <a:xfrm>
            <a:off x="548639" y="932688"/>
            <a:ext cx="11094415" cy="2820614"/>
          </a:xfrm>
          <a:prstGeom prst="rect">
            <a:avLst/>
          </a:prstGeom>
        </p:spPr>
      </p:pic>
      <p:sp>
        <p:nvSpPr>
          <p:cNvPr id="6" name="TextBox 5"/>
          <p:cNvSpPr txBox="1"/>
          <p:nvPr/>
        </p:nvSpPr>
        <p:spPr>
          <a:xfrm>
            <a:off x="548640" y="3954470"/>
            <a:ext cx="10820095" cy="1568505"/>
          </a:xfrm>
          <a:prstGeom prst="rect">
            <a:avLst/>
          </a:prstGeom>
          <a:noFill/>
        </p:spPr>
        <p:txBody>
          <a:bodyPr wrap="square" lIns="0" rIns="0" tIns="0" bIns="0">
            <a:normAutofit/>
          </a:bodyPr>
          <a:lstStyle/>
          <a:p>
            <a:pPr marL="274320" indent="-237744">
              <a:lnSpc>
                <a:spcPct val="112000"/>
              </a:lnSpc>
              <a:spcAft>
                <a:spcPts val="900"/>
              </a:spcAft>
              <a:buClr>
                <a:srgbClr val="1E4FA8"/>
              </a:buClr>
              <a:buSzPct val="90000"/>
              <a:buFont typeface="Arial"/>
              <a:buChar char="▪"/>
            </a:pPr>
            <a:r>
              <a:rPr sz="1600" b="1" i="0">
                <a:solidFill>
                  <a:srgbClr val="1A2230"/>
                </a:solidFill>
                <a:latin typeface="Calibri"/>
                <a:ea typeface="Calibri"/>
              </a:rPr>
              <a:t>Hex and rgb() are the same number</a:t>
            </a:r>
            <a:br/>
            <a:r>
              <a:rPr sz="1350" b="0" i="0">
                <a:solidFill>
                  <a:srgbClr val="4A5568"/>
                </a:solidFill>
                <a:latin typeface="Calibri"/>
                <a:ea typeface="Calibri"/>
              </a:rPr>
              <a:t>Two hex digits per channel, 00–FF — or the same </a:t>
            </a:r>
            <a:r>
              <a:rPr sz="1350" b="0" i="0">
                <a:solidFill>
                  <a:srgbClr val="B8860B"/>
                </a:solidFill>
                <a:latin typeface="Consolas"/>
                <a:ea typeface="Consolas"/>
              </a:rPr>
              <a:t>value</a:t>
            </a:r>
            <a:r>
              <a:rPr sz="1350" b="0" i="0">
                <a:solidFill>
                  <a:srgbClr val="4A5568"/>
                </a:solidFill>
                <a:latin typeface="Calibri"/>
                <a:ea typeface="Calibri"/>
              </a:rPr>
              <a:t> in decimal, 0–255.</a:t>
            </a:r>
          </a:p>
          <a:p>
            <a:pPr marL="274320" indent="-237744">
              <a:lnSpc>
                <a:spcPct val="112000"/>
              </a:lnSpc>
              <a:spcAft>
                <a:spcPts val="900"/>
              </a:spcAft>
              <a:buClr>
                <a:srgbClr val="1E4FA8"/>
              </a:buClr>
              <a:buSzPct val="90000"/>
              <a:buFont typeface="Arial"/>
              <a:buChar char="▪"/>
            </a:pPr>
            <a:r>
              <a:rPr sz="1600" b="1" i="0">
                <a:solidFill>
                  <a:srgbClr val="1A2230"/>
                </a:solidFill>
                <a:latin typeface="Calibri"/>
                <a:ea typeface="Calibri"/>
              </a:rPr>
              <a:t>hsl() is the one for designing</a:t>
            </a:r>
            <a:br/>
            <a:r>
              <a:rPr sz="1350" b="0" i="0">
                <a:solidFill>
                  <a:srgbClr val="4A5568"/>
                </a:solidFill>
                <a:latin typeface="Calibri"/>
                <a:ea typeface="Calibri"/>
              </a:rPr>
              <a:t>Hue, saturation and lightness, so a tint or a shade is a single edit instead of a recalculation.</a:t>
            </a:r>
          </a:p>
          <a:p>
            <a:pPr marL="274320" indent="-237744">
              <a:lnSpc>
                <a:spcPct val="112000"/>
              </a:lnSpc>
              <a:spcAft>
                <a:spcPts val="900"/>
              </a:spcAft>
              <a:buClr>
                <a:srgbClr val="1E4FA8"/>
              </a:buClr>
              <a:buSzPct val="90000"/>
              <a:buFont typeface="Arial"/>
              <a:buChar char="▪"/>
            </a:pPr>
            <a:r>
              <a:rPr sz="1600" b="1" i="0">
                <a:solidFill>
                  <a:srgbClr val="1A2230"/>
                </a:solidFill>
                <a:latin typeface="Calibri"/>
                <a:ea typeface="Calibri"/>
              </a:rPr>
              <a:t>Named colours are for prototypes</a:t>
            </a:r>
            <a:br/>
            <a:r>
              <a:rPr sz="1350" b="0" i="0">
                <a:solidFill>
                  <a:srgbClr val="4A5568"/>
                </a:solidFill>
                <a:latin typeface="Calibri"/>
                <a:ea typeface="Calibri"/>
              </a:rPr>
              <a:t>The list is short and fixed, and several names share a </a:t>
            </a:r>
            <a:r>
              <a:rPr sz="1350" b="0" i="0">
                <a:solidFill>
                  <a:srgbClr val="B8860B"/>
                </a:solidFill>
                <a:latin typeface="Consolas"/>
                <a:ea typeface="Consolas"/>
              </a:rPr>
              <a:t>value</a:t>
            </a:r>
            <a:r>
              <a:rPr sz="1350" b="0" i="0">
                <a:solidFill>
                  <a:srgbClr val="4A5568"/>
                </a:solidFill>
                <a:latin typeface="Calibri"/>
                <a:ea typeface="Calibri"/>
              </a:rPr>
              <a:t> — most colours you want have no </a:t>
            </a:r>
            <a:r>
              <a:rPr sz="1350" b="0" i="0">
                <a:solidFill>
                  <a:srgbClr val="B8860B"/>
                </a:solidFill>
                <a:latin typeface="Consolas"/>
                <a:ea typeface="Consolas"/>
              </a:rPr>
              <a:t>name</a:t>
            </a:r>
            <a:r>
              <a:rPr sz="1350" b="0" i="0">
                <a:solidFill>
                  <a:srgbClr val="4A5568"/>
                </a:solidFill>
                <a:latin typeface="Calibri"/>
                <a:ea typeface="Calibri"/>
              </a:rPr>
              <a:t>.</a:t>
            </a:r>
          </a:p>
        </p:txBody>
      </p:sp>
      <p:sp>
        <p:nvSpPr>
          <p:cNvPr id="7" name="Rounded Rectangle 6"/>
          <p:cNvSpPr/>
          <p:nvPr/>
        </p:nvSpPr>
        <p:spPr>
          <a:xfrm>
            <a:off x="548640" y="5577840"/>
            <a:ext cx="11094415" cy="713232"/>
          </a:xfrm>
          <a:prstGeom prst="roundRect">
            <a:avLst>
              <a:gd name="adj" fmla="val 8000"/>
            </a:avLst>
          </a:prstGeom>
          <a:solidFill>
            <a:srgbClr val="1A22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5696712"/>
            <a:ext cx="10454335" cy="256032"/>
          </a:xfrm>
          <a:prstGeom prst="rect">
            <a:avLst/>
          </a:prstGeom>
          <a:noFill/>
        </p:spPr>
        <p:txBody>
          <a:bodyPr wrap="square" anchor="t" lIns="0" rIns="0" tIns="0" bIns="0">
            <a:spAutoFit/>
          </a:bodyPr>
          <a:lstStyle/>
          <a:p>
            <a:pPr algn="l">
              <a:lnSpc>
                <a:spcPct val="110000"/>
              </a:lnSpc>
              <a:spcAft>
                <a:spcPts val="400"/>
              </a:spcAft>
            </a:pPr>
            <a:r>
              <a:rPr sz="1100" b="1" i="0">
                <a:solidFill>
                  <a:srgbClr val="9DC0EE"/>
                </a:solidFill>
                <a:latin typeface="Calibri"/>
                <a:ea typeface="Calibri"/>
              </a:rPr>
              <a:t>follow along  →   </a:t>
            </a:r>
            <a:r>
              <a:rPr sz="1100" b="1" i="0">
                <a:solidFill>
                  <a:srgbClr val="61AFEF"/>
                </a:solidFill>
                <a:latin typeface="Calibri"/>
                <a:ea typeface="Calibri"/>
                <a:hlinkClick r:id="rId3"/>
                <a:extLst>
                  <a:ext uri="{A12FA001-AC4F-418D-AE19-62706E023703}">
                    <ahyp:hlinkClr xmlns:ahyp="http://schemas.microsoft.com/office/drawing/2018/hyperlinkcolor" val="tx"/>
                  </a:ext>
                </a:extLst>
              </a:rPr>
              <a:t>↗ editor.html?example=css-styling/colors</a:t>
            </a:r>
          </a:p>
        </p:txBody>
      </p:sp>
      <p:sp>
        <p:nvSpPr>
          <p:cNvPr id="9" name="TextBox 8"/>
          <p:cNvSpPr txBox="1"/>
          <p:nvPr/>
        </p:nvSpPr>
        <p:spPr>
          <a:xfrm>
            <a:off x="868680" y="5961888"/>
            <a:ext cx="10454335" cy="274320"/>
          </a:xfrm>
          <a:prstGeom prst="rect">
            <a:avLst/>
          </a:prstGeom>
          <a:noFill/>
        </p:spPr>
        <p:txBody>
          <a:bodyPr wrap="square" anchor="t" lIns="0" rIns="0" tIns="0" bIns="0">
            <a:spAutoFit/>
          </a:bodyPr>
          <a:lstStyle/>
          <a:p>
            <a:pPr algn="l">
              <a:lnSpc>
                <a:spcPct val="110000"/>
              </a:lnSpc>
              <a:spcAft>
                <a:spcPts val="400"/>
              </a:spcAft>
            </a:pPr>
            <a:r>
              <a:rPr sz="1350" b="0" i="0">
                <a:solidFill>
                  <a:srgbClr val="98C379"/>
                </a:solidFill>
                <a:latin typeface="Consolas"/>
                <a:ea typeface="Consolas"/>
              </a:rPr>
              <a:t>#1E4FA8 · rgb() · hsl() · rgba()</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66928"/>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6979615" cy="365760"/>
          </a:xfrm>
          <a:prstGeom prst="rect">
            <a:avLst/>
          </a:prstGeom>
          <a:noFill/>
        </p:spPr>
        <p:txBody>
          <a:bodyPr wrap="square" anchor="ctr" lIns="0" rIns="0" tIns="0" bIns="0">
            <a:spAutoFit/>
          </a:bodyPr>
          <a:lstStyle/>
          <a:p>
            <a:pPr algn="l">
              <a:lnSpc>
                <a:spcPct val="110000"/>
              </a:lnSpc>
              <a:spcAft>
                <a:spcPts val="400"/>
              </a:spcAft>
            </a:pPr>
            <a:r>
              <a:rPr sz="2100" b="1" i="0">
                <a:solidFill>
                  <a:srgbClr val="FFFFFF"/>
                </a:solidFill>
                <a:latin typeface="Calibri"/>
                <a:ea typeface="Calibri"/>
              </a:rPr>
              <a:t>Rules Worth Remembering</a:t>
            </a:r>
          </a:p>
        </p:txBody>
      </p:sp>
      <p:sp>
        <p:nvSpPr>
          <p:cNvPr id="4" name="TextBox 3"/>
          <p:cNvSpPr txBox="1"/>
          <p:nvPr/>
        </p:nvSpPr>
        <p:spPr>
          <a:xfrm>
            <a:off x="7436815" y="109728"/>
            <a:ext cx="4206240" cy="365760"/>
          </a:xfrm>
          <a:prstGeom prst="rect">
            <a:avLst/>
          </a:prstGeom>
          <a:noFill/>
        </p:spPr>
        <p:txBody>
          <a:bodyPr wrap="square" anchor="ctr" lIns="0" rIns="0" tIns="0" bIns="0">
            <a:spAutoFit/>
          </a:bodyPr>
          <a:lstStyle/>
          <a:p>
            <a:pPr algn="r">
              <a:lnSpc>
                <a:spcPct val="110000"/>
              </a:lnSpc>
              <a:spcAft>
                <a:spcPts val="400"/>
              </a:spcAft>
            </a:pPr>
            <a:r>
              <a:rPr sz="1100" b="1" i="0">
                <a:solidFill>
                  <a:srgbClr val="B9CDEE"/>
                </a:solidFill>
                <a:latin typeface="Calibri"/>
                <a:ea typeface="Calibri"/>
              </a:rPr>
              <a:t>COMP3421 · Colour</a:t>
            </a:r>
          </a:p>
        </p:txBody>
      </p:sp>
      <p:sp>
        <p:nvSpPr>
          <p:cNvPr id="5" name="TextBox 4"/>
          <p:cNvSpPr txBox="1"/>
          <p:nvPr/>
        </p:nvSpPr>
        <p:spPr>
          <a:xfrm>
            <a:off x="548640" y="932688"/>
            <a:ext cx="10820095" cy="4553712"/>
          </a:xfrm>
          <a:prstGeom prst="rect">
            <a:avLst/>
          </a:prstGeom>
          <a:noFill/>
        </p:spPr>
        <p:txBody>
          <a:bodyPr wrap="square" lIns="0" rIns="0" tIns="0" bIns="0">
            <a:normAutofit/>
          </a:bodyPr>
          <a:lstStyle/>
          <a:p>
            <a:pPr marL="256032" indent="-237744">
              <a:lnSpc>
                <a:spcPct val="112000"/>
              </a:lnSpc>
              <a:spcAft>
                <a:spcPts val="700"/>
              </a:spcAft>
              <a:buClr>
                <a:srgbClr val="1E4FA8"/>
              </a:buClr>
              <a:buSzPct val="90000"/>
              <a:buFont typeface="Arial"/>
              <a:buChar char="▪"/>
            </a:pPr>
            <a:r>
              <a:rPr sz="1700" b="1" i="0">
                <a:solidFill>
                  <a:srgbClr val="1A2230"/>
                </a:solidFill>
                <a:latin typeface="Calibri"/>
                <a:ea typeface="Calibri"/>
              </a:rPr>
              <a:t>Reach for hsl() when you are designing</a:t>
            </a:r>
            <a:br/>
            <a:r>
              <a:rPr sz="1500" b="0" i="0">
                <a:solidFill>
                  <a:srgbClr val="4A5568"/>
                </a:solidFill>
                <a:latin typeface="Calibri"/>
                <a:ea typeface="Calibri"/>
              </a:rPr>
              <a:t>Changing lightness is one number, so a tint or shade is a single edit. Reach for hex when copying from a design tool.</a:t>
            </a:r>
          </a:p>
          <a:p>
            <a:pPr marL="256032" indent="-237744">
              <a:lnSpc>
                <a:spcPct val="112000"/>
              </a:lnSpc>
              <a:spcAft>
                <a:spcPts val="700"/>
              </a:spcAft>
              <a:buClr>
                <a:srgbClr val="1E4FA8"/>
              </a:buClr>
              <a:buSzPct val="90000"/>
              <a:buFont typeface="Arial"/>
              <a:buChar char="▪"/>
            </a:pPr>
            <a:r>
              <a:rPr sz="1700" b="1" i="0">
                <a:solidFill>
                  <a:srgbClr val="1A2230"/>
                </a:solidFill>
                <a:latin typeface="Calibri"/>
                <a:ea typeface="Calibri"/>
              </a:rPr>
              <a:t>Named colours are for prototypes</a:t>
            </a:r>
            <a:br/>
            <a:r>
              <a:rPr sz="1500" b="0" i="0">
                <a:solidFill>
                  <a:srgbClr val="4A5568"/>
                </a:solidFill>
                <a:latin typeface="Calibri"/>
                <a:ea typeface="Calibri"/>
              </a:rPr>
              <a:t>They read clearly in a quick test, but the palette is arbitrary — several names share a </a:t>
            </a:r>
            <a:r>
              <a:rPr sz="1500" b="0" i="0">
                <a:solidFill>
                  <a:srgbClr val="B8860B"/>
                </a:solidFill>
                <a:latin typeface="Consolas"/>
                <a:ea typeface="Consolas"/>
              </a:rPr>
              <a:t>value</a:t>
            </a:r>
            <a:r>
              <a:rPr sz="1500" b="0" i="0">
                <a:solidFill>
                  <a:srgbClr val="4A5568"/>
                </a:solidFill>
                <a:latin typeface="Calibri"/>
                <a:ea typeface="Calibri"/>
              </a:rPr>
              <a:t>, and half of them fail contrast on white.</a:t>
            </a:r>
          </a:p>
          <a:p>
            <a:pPr marL="256032" indent="-237744">
              <a:lnSpc>
                <a:spcPct val="112000"/>
              </a:lnSpc>
              <a:spcAft>
                <a:spcPts val="700"/>
              </a:spcAft>
              <a:buClr>
                <a:srgbClr val="1E4FA8"/>
              </a:buClr>
              <a:buSzPct val="90000"/>
              <a:buFont typeface="Arial"/>
              <a:buChar char="▪"/>
            </a:pPr>
            <a:r>
              <a:rPr sz="1700" b="1" i="0">
                <a:solidFill>
                  <a:srgbClr val="1A2230"/>
                </a:solidFill>
                <a:latin typeface="Calibri"/>
                <a:ea typeface="Calibri"/>
              </a:rPr>
              <a:t>Do not write colour twice</a:t>
            </a:r>
            <a:br/>
            <a:r>
              <a:rPr sz="1500" b="0" i="0">
                <a:solidFill>
                  <a:srgbClr val="4A5568"/>
                </a:solidFill>
                <a:latin typeface="Calibri"/>
                <a:ea typeface="Calibri"/>
              </a:rPr>
              <a:t>The same hex pasted into twenty rules drifts apart the moment you rebrand. Define it once as a CSS variable, then use the variable.</a:t>
            </a:r>
          </a:p>
          <a:p>
            <a:pPr marL="256032" indent="-237744">
              <a:lnSpc>
                <a:spcPct val="112000"/>
              </a:lnSpc>
              <a:spcAft>
                <a:spcPts val="700"/>
              </a:spcAft>
              <a:buClr>
                <a:srgbClr val="1E4FA8"/>
              </a:buClr>
              <a:buSzPct val="90000"/>
              <a:buFont typeface="Arial"/>
              <a:buChar char="▪"/>
            </a:pPr>
            <a:r>
              <a:rPr sz="1700" b="1" i="0">
                <a:solidFill>
                  <a:srgbClr val="1A2230"/>
                </a:solidFill>
                <a:latin typeface="Calibri"/>
                <a:ea typeface="Calibri"/>
              </a:rPr>
              <a:t>Alpha is not a colour</a:t>
            </a:r>
            <a:br/>
            <a:r>
              <a:rPr sz="1500" b="0" i="0">
                <a:solidFill>
                  <a:srgbClr val="4A5568"/>
                </a:solidFill>
                <a:latin typeface="Calibri"/>
                <a:ea typeface="Calibri"/>
              </a:rPr>
              <a:t>rgba() lets the background show through, which is how overlays and scrims work — it is a separate idea from picking the hue.</a:t>
            </a:r>
          </a:p>
        </p:txBody>
      </p:sp>
      <p:sp>
        <p:nvSpPr>
          <p:cNvPr id="6" name="Rounded Rectangle 5"/>
          <p:cNvSpPr/>
          <p:nvPr/>
        </p:nvSpPr>
        <p:spPr>
          <a:xfrm>
            <a:off x="548640" y="5577840"/>
            <a:ext cx="11094415" cy="713232"/>
          </a:xfrm>
          <a:prstGeom prst="roundRect">
            <a:avLst>
              <a:gd name="adj" fmla="val 8000"/>
            </a:avLst>
          </a:prstGeom>
          <a:solidFill>
            <a:srgbClr val="1A22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5696712"/>
            <a:ext cx="10454335" cy="256032"/>
          </a:xfrm>
          <a:prstGeom prst="rect">
            <a:avLst/>
          </a:prstGeom>
          <a:noFill/>
        </p:spPr>
        <p:txBody>
          <a:bodyPr wrap="square" anchor="t" lIns="0" rIns="0" tIns="0" bIns="0">
            <a:spAutoFit/>
          </a:bodyPr>
          <a:lstStyle/>
          <a:p>
            <a:pPr algn="l">
              <a:lnSpc>
                <a:spcPct val="110000"/>
              </a:lnSpc>
              <a:spcAft>
                <a:spcPts val="400"/>
              </a:spcAft>
            </a:pPr>
            <a:r>
              <a:rPr sz="1100" b="1" i="0">
                <a:solidFill>
                  <a:srgbClr val="9DC0EE"/>
                </a:solidFill>
                <a:latin typeface="Calibri"/>
                <a:ea typeface="Calibri"/>
              </a:rPr>
              <a:t>variables  →   </a:t>
            </a:r>
            <a:r>
              <a:rPr sz="1100" b="1" i="0">
                <a:solidFill>
                  <a:srgbClr val="61AFEF"/>
                </a:solidFill>
                <a:latin typeface="Calibri"/>
                <a:ea typeface="Calibri"/>
                <a:hlinkClick r:id="rId2"/>
                <a:extLst>
                  <a:ext uri="{A12FA001-AC4F-418D-AE19-62706E023703}">
                    <ahyp:hlinkClr xmlns:ahyp="http://schemas.microsoft.com/office/drawing/2018/hyperlinkcolor" val="tx"/>
                  </a:ext>
                </a:extLst>
              </a:rPr>
              <a:t>↗ editor.html?example=css-layout/variables</a:t>
            </a:r>
          </a:p>
        </p:txBody>
      </p:sp>
      <p:sp>
        <p:nvSpPr>
          <p:cNvPr id="8" name="TextBox 7"/>
          <p:cNvSpPr txBox="1"/>
          <p:nvPr/>
        </p:nvSpPr>
        <p:spPr>
          <a:xfrm>
            <a:off x="868680" y="5961888"/>
            <a:ext cx="10454335" cy="274320"/>
          </a:xfrm>
          <a:prstGeom prst="rect">
            <a:avLst/>
          </a:prstGeom>
          <a:noFill/>
        </p:spPr>
        <p:txBody>
          <a:bodyPr wrap="square" anchor="t" lIns="0" rIns="0" tIns="0" bIns="0">
            <a:spAutoFit/>
          </a:bodyPr>
          <a:lstStyle/>
          <a:p>
            <a:pPr algn="l">
              <a:lnSpc>
                <a:spcPct val="110000"/>
              </a:lnSpc>
              <a:spcAft>
                <a:spcPts val="400"/>
              </a:spcAft>
            </a:pPr>
            <a:r>
              <a:rPr sz="1350" b="0" i="0">
                <a:solidFill>
                  <a:srgbClr val="98C379"/>
                </a:solidFill>
                <a:latin typeface="Consolas"/>
                <a:ea typeface="Consolas"/>
              </a:rPr>
              <a:t>--brand: #1E4FA8;  color: var(--brand);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66928"/>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6979615" cy="365760"/>
          </a:xfrm>
          <a:prstGeom prst="rect">
            <a:avLst/>
          </a:prstGeom>
          <a:noFill/>
        </p:spPr>
        <p:txBody>
          <a:bodyPr wrap="square" anchor="ctr" lIns="0" rIns="0" tIns="0" bIns="0">
            <a:spAutoFit/>
          </a:bodyPr>
          <a:lstStyle/>
          <a:p>
            <a:pPr algn="l">
              <a:lnSpc>
                <a:spcPct val="110000"/>
              </a:lnSpc>
              <a:spcAft>
                <a:spcPts val="400"/>
              </a:spcAft>
            </a:pPr>
            <a:r>
              <a:rPr sz="2100" b="1" i="0">
                <a:solidFill>
                  <a:srgbClr val="FFFFFF"/>
                </a:solidFill>
                <a:latin typeface="Calibri"/>
                <a:ea typeface="Calibri"/>
              </a:rPr>
              <a:t>Named Colours — 148 Words</a:t>
            </a:r>
          </a:p>
        </p:txBody>
      </p:sp>
      <p:sp>
        <p:nvSpPr>
          <p:cNvPr id="4" name="TextBox 3"/>
          <p:cNvSpPr txBox="1"/>
          <p:nvPr/>
        </p:nvSpPr>
        <p:spPr>
          <a:xfrm>
            <a:off x="7436815" y="109728"/>
            <a:ext cx="4206240" cy="365760"/>
          </a:xfrm>
          <a:prstGeom prst="rect">
            <a:avLst/>
          </a:prstGeom>
          <a:noFill/>
        </p:spPr>
        <p:txBody>
          <a:bodyPr wrap="square" anchor="ctr" lIns="0" rIns="0" tIns="0" bIns="0">
            <a:spAutoFit/>
          </a:bodyPr>
          <a:lstStyle/>
          <a:p>
            <a:pPr algn="r">
              <a:lnSpc>
                <a:spcPct val="110000"/>
              </a:lnSpc>
              <a:spcAft>
                <a:spcPts val="400"/>
              </a:spcAft>
            </a:pPr>
            <a:r>
              <a:rPr sz="1100" b="1" i="0">
                <a:solidFill>
                  <a:srgbClr val="B9CDEE"/>
                </a:solidFill>
                <a:latin typeface="Calibri"/>
                <a:ea typeface="Calibri"/>
              </a:rPr>
              <a:t>COMP3421 · Colour</a:t>
            </a:r>
          </a:p>
        </p:txBody>
      </p:sp>
      <p:sp>
        <p:nvSpPr>
          <p:cNvPr id="5" name="TextBox 4"/>
          <p:cNvSpPr txBox="1"/>
          <p:nvPr/>
        </p:nvSpPr>
        <p:spPr>
          <a:xfrm>
            <a:off x="548640" y="914400"/>
            <a:ext cx="11094415" cy="658368"/>
          </a:xfrm>
          <a:prstGeom prst="rect">
            <a:avLst/>
          </a:prstGeom>
          <a:noFill/>
        </p:spPr>
        <p:txBody>
          <a:bodyPr wrap="square" anchor="t" lIns="0" rIns="0" tIns="0" bIns="0">
            <a:spAutoFit/>
          </a:bodyPr>
          <a:lstStyle/>
          <a:p>
            <a:pPr algn="l">
              <a:lnSpc>
                <a:spcPct val="120000"/>
              </a:lnSpc>
              <a:spcAft>
                <a:spcPts val="400"/>
              </a:spcAft>
            </a:pPr>
            <a:r>
              <a:rPr sz="1400" b="0" i="0">
                <a:solidFill>
                  <a:srgbClr val="4A5568"/>
                </a:solidFill>
                <a:latin typeface="Calibri"/>
                <a:ea typeface="Calibri"/>
              </a:rPr>
              <a:t>A name is just a colour with a fixed value — and the names are not a system. </a:t>
            </a:r>
            <a:r>
              <a:rPr sz="1400" b="0" i="0">
                <a:solidFill>
                  <a:srgbClr val="1A2230"/>
                </a:solidFill>
                <a:latin typeface="Calibri"/>
                <a:ea typeface="Calibri"/>
              </a:rPr>
              <a:t>What colour is peru? Or thistle? </a:t>
            </a:r>
            <a:r>
              <a:rPr sz="1400" b="1" i="0">
                <a:solidFill>
                  <a:srgbClr val="0E3F8C"/>
                </a:solidFill>
                <a:latin typeface="Calibri"/>
                <a:ea typeface="Calibri"/>
              </a:rPr>
              <a:t>darkgray is lighter than gray; brown is a dark red.</a:t>
            </a:r>
          </a:p>
        </p:txBody>
      </p:sp>
      <p:sp>
        <p:nvSpPr>
          <p:cNvPr id="6" name="Rectangle 5"/>
          <p:cNvSpPr/>
          <p:nvPr/>
        </p:nvSpPr>
        <p:spPr>
          <a:xfrm>
            <a:off x="548640" y="1847088"/>
            <a:ext cx="1807159" cy="713232"/>
          </a:xfrm>
          <a:prstGeom prst="rect">
            <a:avLst/>
          </a:prstGeom>
          <a:solidFill>
            <a:srgbClr val="FF63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847088"/>
            <a:ext cx="1807159" cy="713232"/>
          </a:xfrm>
          <a:prstGeom prst="rect">
            <a:avLst/>
          </a:prstGeom>
          <a:noFill/>
        </p:spPr>
        <p:txBody>
          <a:bodyPr wrap="square" anchor="ctr" lIns="0" rIns="0" tIns="0" bIns="0">
            <a:spAutoFit/>
          </a:bodyPr>
          <a:lstStyle/>
          <a:p>
            <a:pPr algn="ctr">
              <a:lnSpc>
                <a:spcPct val="110000"/>
              </a:lnSpc>
              <a:spcAft>
                <a:spcPts val="400"/>
              </a:spcAft>
            </a:pPr>
            <a:r>
              <a:rPr sz="1300" b="1" i="0">
                <a:solidFill>
                  <a:srgbClr val="FFFFFF"/>
                </a:solidFill>
                <a:latin typeface="Consolas"/>
                <a:ea typeface="Consolas"/>
              </a:rPr>
              <a:t>tomato</a:t>
            </a:r>
          </a:p>
        </p:txBody>
      </p:sp>
      <p:sp>
        <p:nvSpPr>
          <p:cNvPr id="8" name="Rectangle 7"/>
          <p:cNvSpPr/>
          <p:nvPr/>
        </p:nvSpPr>
        <p:spPr>
          <a:xfrm>
            <a:off x="2406091" y="1847088"/>
            <a:ext cx="1807159" cy="713232"/>
          </a:xfrm>
          <a:prstGeom prst="rect">
            <a:avLst/>
          </a:prstGeom>
          <a:solidFill>
            <a:srgbClr val="CD85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406091" y="1847088"/>
            <a:ext cx="1807159" cy="713232"/>
          </a:xfrm>
          <a:prstGeom prst="rect">
            <a:avLst/>
          </a:prstGeom>
          <a:noFill/>
        </p:spPr>
        <p:txBody>
          <a:bodyPr wrap="square" anchor="ctr" lIns="0" rIns="0" tIns="0" bIns="0">
            <a:spAutoFit/>
          </a:bodyPr>
          <a:lstStyle/>
          <a:p>
            <a:pPr algn="ctr">
              <a:lnSpc>
                <a:spcPct val="110000"/>
              </a:lnSpc>
              <a:spcAft>
                <a:spcPts val="400"/>
              </a:spcAft>
            </a:pPr>
            <a:r>
              <a:rPr sz="1300" b="1" i="0">
                <a:solidFill>
                  <a:srgbClr val="1A2230"/>
                </a:solidFill>
                <a:latin typeface="Consolas"/>
                <a:ea typeface="Consolas"/>
              </a:rPr>
              <a:t>peru</a:t>
            </a:r>
          </a:p>
        </p:txBody>
      </p:sp>
      <p:sp>
        <p:nvSpPr>
          <p:cNvPr id="10" name="Rectangle 9"/>
          <p:cNvSpPr/>
          <p:nvPr/>
        </p:nvSpPr>
        <p:spPr>
          <a:xfrm>
            <a:off x="4263542" y="1847088"/>
            <a:ext cx="1807159" cy="713232"/>
          </a:xfrm>
          <a:prstGeom prst="rect">
            <a:avLst/>
          </a:prstGeom>
          <a:solidFill>
            <a:srgbClr val="FFEF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263542" y="1847088"/>
            <a:ext cx="1807159" cy="713232"/>
          </a:xfrm>
          <a:prstGeom prst="rect">
            <a:avLst/>
          </a:prstGeom>
          <a:noFill/>
        </p:spPr>
        <p:txBody>
          <a:bodyPr wrap="square" anchor="ctr" lIns="0" rIns="0" tIns="0" bIns="0">
            <a:spAutoFit/>
          </a:bodyPr>
          <a:lstStyle/>
          <a:p>
            <a:pPr algn="ctr">
              <a:lnSpc>
                <a:spcPct val="110000"/>
              </a:lnSpc>
              <a:spcAft>
                <a:spcPts val="400"/>
              </a:spcAft>
            </a:pPr>
            <a:r>
              <a:rPr sz="1300" b="1" i="0">
                <a:solidFill>
                  <a:srgbClr val="1A2230"/>
                </a:solidFill>
                <a:latin typeface="Consolas"/>
                <a:ea typeface="Consolas"/>
              </a:rPr>
              <a:t>papayawhip</a:t>
            </a:r>
          </a:p>
        </p:txBody>
      </p:sp>
      <p:sp>
        <p:nvSpPr>
          <p:cNvPr id="12" name="Rectangle 11"/>
          <p:cNvSpPr/>
          <p:nvPr/>
        </p:nvSpPr>
        <p:spPr>
          <a:xfrm>
            <a:off x="6120993" y="1847088"/>
            <a:ext cx="1807159" cy="713232"/>
          </a:xfrm>
          <a:prstGeom prst="rect">
            <a:avLst/>
          </a:prstGeom>
          <a:solidFill>
            <a:srgbClr val="D8BF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120993" y="1847088"/>
            <a:ext cx="1807159" cy="713232"/>
          </a:xfrm>
          <a:prstGeom prst="rect">
            <a:avLst/>
          </a:prstGeom>
          <a:noFill/>
        </p:spPr>
        <p:txBody>
          <a:bodyPr wrap="square" anchor="ctr" lIns="0" rIns="0" tIns="0" bIns="0">
            <a:spAutoFit/>
          </a:bodyPr>
          <a:lstStyle/>
          <a:p>
            <a:pPr algn="ctr">
              <a:lnSpc>
                <a:spcPct val="110000"/>
              </a:lnSpc>
              <a:spcAft>
                <a:spcPts val="400"/>
              </a:spcAft>
            </a:pPr>
            <a:r>
              <a:rPr sz="1300" b="1" i="0">
                <a:solidFill>
                  <a:srgbClr val="1A2230"/>
                </a:solidFill>
                <a:latin typeface="Consolas"/>
                <a:ea typeface="Consolas"/>
              </a:rPr>
              <a:t>thistle</a:t>
            </a:r>
          </a:p>
        </p:txBody>
      </p:sp>
      <p:sp>
        <p:nvSpPr>
          <p:cNvPr id="14" name="Rectangle 13"/>
          <p:cNvSpPr/>
          <p:nvPr/>
        </p:nvSpPr>
        <p:spPr>
          <a:xfrm>
            <a:off x="7978444" y="1847088"/>
            <a:ext cx="1807159" cy="713232"/>
          </a:xfrm>
          <a:prstGeom prst="rect">
            <a:avLst/>
          </a:prstGeom>
          <a:solidFill>
            <a:srgbClr val="DCDC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978444" y="1847088"/>
            <a:ext cx="1807159" cy="713232"/>
          </a:xfrm>
          <a:prstGeom prst="rect">
            <a:avLst/>
          </a:prstGeom>
          <a:noFill/>
        </p:spPr>
        <p:txBody>
          <a:bodyPr wrap="square" anchor="ctr" lIns="0" rIns="0" tIns="0" bIns="0">
            <a:spAutoFit/>
          </a:bodyPr>
          <a:lstStyle/>
          <a:p>
            <a:pPr algn="ctr">
              <a:lnSpc>
                <a:spcPct val="110000"/>
              </a:lnSpc>
              <a:spcAft>
                <a:spcPts val="400"/>
              </a:spcAft>
            </a:pPr>
            <a:r>
              <a:rPr sz="1300" b="1" i="0">
                <a:solidFill>
                  <a:srgbClr val="1A2230"/>
                </a:solidFill>
                <a:latin typeface="Consolas"/>
                <a:ea typeface="Consolas"/>
              </a:rPr>
              <a:t>gainsboro</a:t>
            </a:r>
          </a:p>
        </p:txBody>
      </p:sp>
      <p:sp>
        <p:nvSpPr>
          <p:cNvPr id="16" name="Rectangle 15"/>
          <p:cNvSpPr/>
          <p:nvPr/>
        </p:nvSpPr>
        <p:spPr>
          <a:xfrm>
            <a:off x="9835896" y="1847088"/>
            <a:ext cx="1807159" cy="713232"/>
          </a:xfrm>
          <a:prstGeom prst="rect">
            <a:avLst/>
          </a:prstGeom>
          <a:solidFill>
            <a:srgbClr val="663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835896" y="1847088"/>
            <a:ext cx="1807159" cy="713232"/>
          </a:xfrm>
          <a:prstGeom prst="rect">
            <a:avLst/>
          </a:prstGeom>
          <a:noFill/>
        </p:spPr>
        <p:txBody>
          <a:bodyPr wrap="square" anchor="ctr" lIns="0" rIns="0" tIns="0" bIns="0">
            <a:spAutoFit/>
          </a:bodyPr>
          <a:lstStyle/>
          <a:p>
            <a:pPr algn="ctr">
              <a:lnSpc>
                <a:spcPct val="110000"/>
              </a:lnSpc>
              <a:spcAft>
                <a:spcPts val="400"/>
              </a:spcAft>
            </a:pPr>
            <a:r>
              <a:rPr sz="1300" b="1" i="0">
                <a:solidFill>
                  <a:srgbClr val="FFFFFF"/>
                </a:solidFill>
                <a:latin typeface="Consolas"/>
                <a:ea typeface="Consolas"/>
              </a:rPr>
              <a:t>rebeccapurple</a:t>
            </a:r>
          </a:p>
        </p:txBody>
      </p:sp>
      <p:sp>
        <p:nvSpPr>
          <p:cNvPr id="18" name="Rectangle 17"/>
          <p:cNvSpPr/>
          <p:nvPr/>
        </p:nvSpPr>
        <p:spPr>
          <a:xfrm>
            <a:off x="548640" y="2798063"/>
            <a:ext cx="1807159" cy="713232"/>
          </a:xfrm>
          <a:prstGeom prst="rect">
            <a:avLst/>
          </a:prstGeom>
          <a:solidFill>
            <a:srgbClr val="00FA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48640" y="2798063"/>
            <a:ext cx="1807159" cy="713232"/>
          </a:xfrm>
          <a:prstGeom prst="rect">
            <a:avLst/>
          </a:prstGeom>
          <a:noFill/>
        </p:spPr>
        <p:txBody>
          <a:bodyPr wrap="square" anchor="ctr" lIns="0" rIns="0" tIns="0" bIns="0">
            <a:spAutoFit/>
          </a:bodyPr>
          <a:lstStyle/>
          <a:p>
            <a:pPr algn="ctr">
              <a:lnSpc>
                <a:spcPct val="110000"/>
              </a:lnSpc>
              <a:spcAft>
                <a:spcPts val="400"/>
              </a:spcAft>
            </a:pPr>
            <a:r>
              <a:rPr sz="1300" b="1" i="0">
                <a:solidFill>
                  <a:srgbClr val="1A2230"/>
                </a:solidFill>
                <a:latin typeface="Consolas"/>
                <a:ea typeface="Consolas"/>
              </a:rPr>
              <a:t>mediumspringgreen</a:t>
            </a:r>
          </a:p>
        </p:txBody>
      </p:sp>
      <p:sp>
        <p:nvSpPr>
          <p:cNvPr id="20" name="Rectangle 19"/>
          <p:cNvSpPr/>
          <p:nvPr/>
        </p:nvSpPr>
        <p:spPr>
          <a:xfrm>
            <a:off x="2406091" y="2798063"/>
            <a:ext cx="1807159" cy="713232"/>
          </a:xfrm>
          <a:prstGeom prst="rect">
            <a:avLst/>
          </a:prstGeom>
          <a:solidFill>
            <a:srgbClr val="F0FF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406091" y="2798063"/>
            <a:ext cx="1807159" cy="713232"/>
          </a:xfrm>
          <a:prstGeom prst="rect">
            <a:avLst/>
          </a:prstGeom>
          <a:noFill/>
        </p:spPr>
        <p:txBody>
          <a:bodyPr wrap="square" anchor="ctr" lIns="0" rIns="0" tIns="0" bIns="0">
            <a:spAutoFit/>
          </a:bodyPr>
          <a:lstStyle/>
          <a:p>
            <a:pPr algn="ctr">
              <a:lnSpc>
                <a:spcPct val="110000"/>
              </a:lnSpc>
              <a:spcAft>
                <a:spcPts val="400"/>
              </a:spcAft>
            </a:pPr>
            <a:r>
              <a:rPr sz="1300" b="1" i="0">
                <a:solidFill>
                  <a:srgbClr val="1A2230"/>
                </a:solidFill>
                <a:latin typeface="Consolas"/>
                <a:ea typeface="Consolas"/>
              </a:rPr>
              <a:t>honeydew</a:t>
            </a:r>
          </a:p>
        </p:txBody>
      </p:sp>
      <p:sp>
        <p:nvSpPr>
          <p:cNvPr id="22" name="Rectangle 21"/>
          <p:cNvSpPr/>
          <p:nvPr/>
        </p:nvSpPr>
        <p:spPr>
          <a:xfrm>
            <a:off x="4263542" y="2798063"/>
            <a:ext cx="1807159" cy="713232"/>
          </a:xfrm>
          <a:prstGeom prst="rect">
            <a:avLst/>
          </a:prstGeom>
          <a:solidFill>
            <a:srgbClr val="FAF0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263542" y="2798063"/>
            <a:ext cx="1807159" cy="713232"/>
          </a:xfrm>
          <a:prstGeom prst="rect">
            <a:avLst/>
          </a:prstGeom>
          <a:noFill/>
        </p:spPr>
        <p:txBody>
          <a:bodyPr wrap="square" anchor="ctr" lIns="0" rIns="0" tIns="0" bIns="0">
            <a:spAutoFit/>
          </a:bodyPr>
          <a:lstStyle/>
          <a:p>
            <a:pPr algn="ctr">
              <a:lnSpc>
                <a:spcPct val="110000"/>
              </a:lnSpc>
              <a:spcAft>
                <a:spcPts val="400"/>
              </a:spcAft>
            </a:pPr>
            <a:r>
              <a:rPr sz="1300" b="1" i="0">
                <a:solidFill>
                  <a:srgbClr val="1A2230"/>
                </a:solidFill>
                <a:latin typeface="Consolas"/>
                <a:ea typeface="Consolas"/>
              </a:rPr>
              <a:t>linen</a:t>
            </a:r>
          </a:p>
        </p:txBody>
      </p:sp>
      <p:sp>
        <p:nvSpPr>
          <p:cNvPr id="24" name="Rectangle 23"/>
          <p:cNvSpPr/>
          <p:nvPr/>
        </p:nvSpPr>
        <p:spPr>
          <a:xfrm>
            <a:off x="6120993" y="2798063"/>
            <a:ext cx="1807159" cy="713232"/>
          </a:xfrm>
          <a:prstGeom prst="rect">
            <a:avLst/>
          </a:prstGeom>
          <a:solidFill>
            <a:srgbClr val="DEB8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120993" y="2798063"/>
            <a:ext cx="1807159" cy="713232"/>
          </a:xfrm>
          <a:prstGeom prst="rect">
            <a:avLst/>
          </a:prstGeom>
          <a:noFill/>
        </p:spPr>
        <p:txBody>
          <a:bodyPr wrap="square" anchor="ctr" lIns="0" rIns="0" tIns="0" bIns="0">
            <a:spAutoFit/>
          </a:bodyPr>
          <a:lstStyle/>
          <a:p>
            <a:pPr algn="ctr">
              <a:lnSpc>
                <a:spcPct val="110000"/>
              </a:lnSpc>
              <a:spcAft>
                <a:spcPts val="400"/>
              </a:spcAft>
            </a:pPr>
            <a:r>
              <a:rPr sz="1300" b="1" i="0">
                <a:solidFill>
                  <a:srgbClr val="1A2230"/>
                </a:solidFill>
                <a:latin typeface="Consolas"/>
                <a:ea typeface="Consolas"/>
              </a:rPr>
              <a:t>burlywood</a:t>
            </a:r>
          </a:p>
        </p:txBody>
      </p:sp>
      <p:sp>
        <p:nvSpPr>
          <p:cNvPr id="26" name="Rectangle 25"/>
          <p:cNvSpPr/>
          <p:nvPr/>
        </p:nvSpPr>
        <p:spPr>
          <a:xfrm>
            <a:off x="7978444" y="2798063"/>
            <a:ext cx="1807159" cy="713232"/>
          </a:xfrm>
          <a:prstGeom prst="rect">
            <a:avLst/>
          </a:prstGeom>
          <a:solidFill>
            <a:srgbClr val="FDF5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978444" y="2798063"/>
            <a:ext cx="1807159" cy="713232"/>
          </a:xfrm>
          <a:prstGeom prst="rect">
            <a:avLst/>
          </a:prstGeom>
          <a:noFill/>
        </p:spPr>
        <p:txBody>
          <a:bodyPr wrap="square" anchor="ctr" lIns="0" rIns="0" tIns="0" bIns="0">
            <a:spAutoFit/>
          </a:bodyPr>
          <a:lstStyle/>
          <a:p>
            <a:pPr algn="ctr">
              <a:lnSpc>
                <a:spcPct val="110000"/>
              </a:lnSpc>
              <a:spcAft>
                <a:spcPts val="400"/>
              </a:spcAft>
            </a:pPr>
            <a:r>
              <a:rPr sz="1300" b="1" i="0">
                <a:solidFill>
                  <a:srgbClr val="1A2230"/>
                </a:solidFill>
                <a:latin typeface="Consolas"/>
                <a:ea typeface="Consolas"/>
              </a:rPr>
              <a:t>oldlace</a:t>
            </a:r>
          </a:p>
        </p:txBody>
      </p:sp>
      <p:sp>
        <p:nvSpPr>
          <p:cNvPr id="28" name="Rectangle 27"/>
          <p:cNvSpPr/>
          <p:nvPr/>
        </p:nvSpPr>
        <p:spPr>
          <a:xfrm>
            <a:off x="9835896" y="2798063"/>
            <a:ext cx="1807159" cy="713232"/>
          </a:xfrm>
          <a:prstGeom prst="rect">
            <a:avLst/>
          </a:prstGeom>
          <a:solidFill>
            <a:srgbClr val="0000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835896" y="2798063"/>
            <a:ext cx="1807159" cy="713232"/>
          </a:xfrm>
          <a:prstGeom prst="rect">
            <a:avLst/>
          </a:prstGeom>
          <a:noFill/>
        </p:spPr>
        <p:txBody>
          <a:bodyPr wrap="square" anchor="ctr" lIns="0" rIns="0" tIns="0" bIns="0">
            <a:spAutoFit/>
          </a:bodyPr>
          <a:lstStyle/>
          <a:p>
            <a:pPr algn="ctr">
              <a:lnSpc>
                <a:spcPct val="110000"/>
              </a:lnSpc>
              <a:spcAft>
                <a:spcPts val="400"/>
              </a:spcAft>
            </a:pPr>
            <a:r>
              <a:rPr sz="1300" b="1" i="0">
                <a:solidFill>
                  <a:srgbClr val="FFFFFF"/>
                </a:solidFill>
                <a:latin typeface="Consolas"/>
                <a:ea typeface="Consolas"/>
              </a:rPr>
              <a:t>navy</a:t>
            </a:r>
          </a:p>
        </p:txBody>
      </p:sp>
      <p:sp>
        <p:nvSpPr>
          <p:cNvPr id="30" name="Rectangle 29"/>
          <p:cNvSpPr/>
          <p:nvPr/>
        </p:nvSpPr>
        <p:spPr>
          <a:xfrm>
            <a:off x="548640" y="3749039"/>
            <a:ext cx="1807159" cy="713232"/>
          </a:xfrm>
          <a:prstGeom prst="rect">
            <a:avLst/>
          </a:prstGeom>
          <a:solidFill>
            <a:srgbClr val="7FF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48640" y="3749039"/>
            <a:ext cx="1807159" cy="713232"/>
          </a:xfrm>
          <a:prstGeom prst="rect">
            <a:avLst/>
          </a:prstGeom>
          <a:noFill/>
        </p:spPr>
        <p:txBody>
          <a:bodyPr wrap="square" anchor="ctr" lIns="0" rIns="0" tIns="0" bIns="0">
            <a:spAutoFit/>
          </a:bodyPr>
          <a:lstStyle/>
          <a:p>
            <a:pPr algn="ctr">
              <a:lnSpc>
                <a:spcPct val="110000"/>
              </a:lnSpc>
              <a:spcAft>
                <a:spcPts val="400"/>
              </a:spcAft>
            </a:pPr>
            <a:r>
              <a:rPr sz="1300" b="1" i="0">
                <a:solidFill>
                  <a:srgbClr val="1A2230"/>
                </a:solidFill>
                <a:latin typeface="Consolas"/>
                <a:ea typeface="Consolas"/>
              </a:rPr>
              <a:t>chartreuse</a:t>
            </a:r>
          </a:p>
        </p:txBody>
      </p:sp>
      <p:sp>
        <p:nvSpPr>
          <p:cNvPr id="32" name="Rectangle 31"/>
          <p:cNvSpPr/>
          <p:nvPr/>
        </p:nvSpPr>
        <p:spPr>
          <a:xfrm>
            <a:off x="2406091" y="3749039"/>
            <a:ext cx="1807159" cy="713232"/>
          </a:xfrm>
          <a:prstGeom prst="rect">
            <a:avLst/>
          </a:prstGeom>
          <a:solidFill>
            <a:srgbClr val="DA70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2406091" y="3749039"/>
            <a:ext cx="1807159" cy="713232"/>
          </a:xfrm>
          <a:prstGeom prst="rect">
            <a:avLst/>
          </a:prstGeom>
          <a:noFill/>
        </p:spPr>
        <p:txBody>
          <a:bodyPr wrap="square" anchor="ctr" lIns="0" rIns="0" tIns="0" bIns="0">
            <a:spAutoFit/>
          </a:bodyPr>
          <a:lstStyle/>
          <a:p>
            <a:pPr algn="ctr">
              <a:lnSpc>
                <a:spcPct val="110000"/>
              </a:lnSpc>
              <a:spcAft>
                <a:spcPts val="400"/>
              </a:spcAft>
            </a:pPr>
            <a:r>
              <a:rPr sz="1300" b="1" i="0">
                <a:solidFill>
                  <a:srgbClr val="1A2230"/>
                </a:solidFill>
                <a:latin typeface="Consolas"/>
                <a:ea typeface="Consolas"/>
              </a:rPr>
              <a:t>orchid</a:t>
            </a:r>
          </a:p>
        </p:txBody>
      </p:sp>
      <p:sp>
        <p:nvSpPr>
          <p:cNvPr id="34" name="Rectangle 33"/>
          <p:cNvSpPr/>
          <p:nvPr/>
        </p:nvSpPr>
        <p:spPr>
          <a:xfrm>
            <a:off x="4263542" y="3749039"/>
            <a:ext cx="1807159" cy="713232"/>
          </a:xfrm>
          <a:prstGeom prst="rect">
            <a:avLst/>
          </a:prstGeom>
          <a:solidFill>
            <a:srgbClr val="FF7F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263542" y="3749039"/>
            <a:ext cx="1807159" cy="713232"/>
          </a:xfrm>
          <a:prstGeom prst="rect">
            <a:avLst/>
          </a:prstGeom>
          <a:noFill/>
        </p:spPr>
        <p:txBody>
          <a:bodyPr wrap="square" anchor="ctr" lIns="0" rIns="0" tIns="0" bIns="0">
            <a:spAutoFit/>
          </a:bodyPr>
          <a:lstStyle/>
          <a:p>
            <a:pPr algn="ctr">
              <a:lnSpc>
                <a:spcPct val="110000"/>
              </a:lnSpc>
              <a:spcAft>
                <a:spcPts val="400"/>
              </a:spcAft>
            </a:pPr>
            <a:r>
              <a:rPr sz="1300" b="1" i="0">
                <a:solidFill>
                  <a:srgbClr val="1A2230"/>
                </a:solidFill>
                <a:latin typeface="Consolas"/>
                <a:ea typeface="Consolas"/>
              </a:rPr>
              <a:t>coral</a:t>
            </a:r>
          </a:p>
        </p:txBody>
      </p:sp>
      <p:sp>
        <p:nvSpPr>
          <p:cNvPr id="36" name="Rectangle 35"/>
          <p:cNvSpPr/>
          <p:nvPr/>
        </p:nvSpPr>
        <p:spPr>
          <a:xfrm>
            <a:off x="6120993" y="3749039"/>
            <a:ext cx="1807159" cy="713232"/>
          </a:xfrm>
          <a:prstGeom prst="rect">
            <a:avLst/>
          </a:prstGeom>
          <a:solidFill>
            <a:srgbClr val="6A5AC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120993" y="3749039"/>
            <a:ext cx="1807159" cy="713232"/>
          </a:xfrm>
          <a:prstGeom prst="rect">
            <a:avLst/>
          </a:prstGeom>
          <a:noFill/>
        </p:spPr>
        <p:txBody>
          <a:bodyPr wrap="square" anchor="ctr" lIns="0" rIns="0" tIns="0" bIns="0">
            <a:spAutoFit/>
          </a:bodyPr>
          <a:lstStyle/>
          <a:p>
            <a:pPr algn="ctr">
              <a:lnSpc>
                <a:spcPct val="110000"/>
              </a:lnSpc>
              <a:spcAft>
                <a:spcPts val="400"/>
              </a:spcAft>
            </a:pPr>
            <a:r>
              <a:rPr sz="1300" b="1" i="0">
                <a:solidFill>
                  <a:srgbClr val="FFFFFF"/>
                </a:solidFill>
                <a:latin typeface="Consolas"/>
                <a:ea typeface="Consolas"/>
              </a:rPr>
              <a:t>slateblue</a:t>
            </a:r>
          </a:p>
        </p:txBody>
      </p:sp>
      <p:sp>
        <p:nvSpPr>
          <p:cNvPr id="38" name="Rectangle 37"/>
          <p:cNvSpPr/>
          <p:nvPr/>
        </p:nvSpPr>
        <p:spPr>
          <a:xfrm>
            <a:off x="7978444" y="3749039"/>
            <a:ext cx="1807159" cy="713232"/>
          </a:xfrm>
          <a:prstGeom prst="rect">
            <a:avLst/>
          </a:prstGeom>
          <a:solidFill>
            <a:srgbClr val="DAA5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7978444" y="3749039"/>
            <a:ext cx="1807159" cy="713232"/>
          </a:xfrm>
          <a:prstGeom prst="rect">
            <a:avLst/>
          </a:prstGeom>
          <a:noFill/>
        </p:spPr>
        <p:txBody>
          <a:bodyPr wrap="square" anchor="ctr" lIns="0" rIns="0" tIns="0" bIns="0">
            <a:spAutoFit/>
          </a:bodyPr>
          <a:lstStyle/>
          <a:p>
            <a:pPr algn="ctr">
              <a:lnSpc>
                <a:spcPct val="110000"/>
              </a:lnSpc>
              <a:spcAft>
                <a:spcPts val="400"/>
              </a:spcAft>
            </a:pPr>
            <a:r>
              <a:rPr sz="1300" b="1" i="0">
                <a:solidFill>
                  <a:srgbClr val="1A2230"/>
                </a:solidFill>
                <a:latin typeface="Consolas"/>
                <a:ea typeface="Consolas"/>
              </a:rPr>
              <a:t>goldenrod</a:t>
            </a:r>
          </a:p>
        </p:txBody>
      </p:sp>
      <p:sp>
        <p:nvSpPr>
          <p:cNvPr id="40" name="Rectangle 39"/>
          <p:cNvSpPr/>
          <p:nvPr/>
        </p:nvSpPr>
        <p:spPr>
          <a:xfrm>
            <a:off x="9835896" y="3749039"/>
            <a:ext cx="1807159" cy="713232"/>
          </a:xfrm>
          <a:prstGeom prst="rect">
            <a:avLst/>
          </a:prstGeom>
          <a:solidFill>
            <a:srgbClr val="FFF5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9835896" y="3749039"/>
            <a:ext cx="1807159" cy="713232"/>
          </a:xfrm>
          <a:prstGeom prst="rect">
            <a:avLst/>
          </a:prstGeom>
          <a:noFill/>
        </p:spPr>
        <p:txBody>
          <a:bodyPr wrap="square" anchor="ctr" lIns="0" rIns="0" tIns="0" bIns="0">
            <a:spAutoFit/>
          </a:bodyPr>
          <a:lstStyle/>
          <a:p>
            <a:pPr algn="ctr">
              <a:lnSpc>
                <a:spcPct val="110000"/>
              </a:lnSpc>
              <a:spcAft>
                <a:spcPts val="400"/>
              </a:spcAft>
            </a:pPr>
            <a:r>
              <a:rPr sz="1300" b="1" i="0">
                <a:solidFill>
                  <a:srgbClr val="1A2230"/>
                </a:solidFill>
                <a:latin typeface="Consolas"/>
                <a:ea typeface="Consolas"/>
              </a:rPr>
              <a:t>seashell</a:t>
            </a:r>
          </a:p>
        </p:txBody>
      </p:sp>
      <p:sp>
        <p:nvSpPr>
          <p:cNvPr id="42" name="TextBox 41"/>
          <p:cNvSpPr txBox="1"/>
          <p:nvPr/>
        </p:nvSpPr>
        <p:spPr>
          <a:xfrm>
            <a:off x="548640" y="4700016"/>
            <a:ext cx="11094415" cy="566928"/>
          </a:xfrm>
          <a:prstGeom prst="rect">
            <a:avLst/>
          </a:prstGeom>
          <a:noFill/>
        </p:spPr>
        <p:txBody>
          <a:bodyPr wrap="square" anchor="t" lIns="0" rIns="0" tIns="0" bIns="0">
            <a:spAutoFit/>
          </a:bodyPr>
          <a:lstStyle/>
          <a:p>
            <a:pPr algn="l">
              <a:lnSpc>
                <a:spcPct val="125000"/>
              </a:lnSpc>
              <a:spcAft>
                <a:spcPts val="400"/>
              </a:spcAft>
            </a:pPr>
            <a:r>
              <a:rPr sz="1400" b="0" i="0">
                <a:solidFill>
                  <a:srgbClr val="4A5568"/>
                </a:solidFill>
                <a:latin typeface="Calibri"/>
                <a:ea typeface="Calibri"/>
              </a:rPr>
              <a:t>148 names, but only 139 colours — aqua is cyan, fuchsia is magenta, and gray is spelled two ways.</a:t>
            </a:r>
          </a:p>
          <a:p>
            <a:pPr algn="l">
              <a:lnSpc>
                <a:spcPct val="125000"/>
              </a:lnSpc>
              <a:spcAft>
                <a:spcPts val="400"/>
              </a:spcAft>
            </a:pPr>
            <a:r>
              <a:rPr sz="1400" b="1" i="0">
                <a:solidFill>
                  <a:srgbClr val="1A2230"/>
                </a:solidFill>
                <a:latin typeface="Calibri"/>
                <a:ea typeface="Calibri"/>
              </a:rPr>
              <a:t>All 148 are laid out as cards, banded by hue, in the examples.</a:t>
            </a:r>
          </a:p>
        </p:txBody>
      </p:sp>
      <p:sp>
        <p:nvSpPr>
          <p:cNvPr id="43" name="Rounded Rectangle 42"/>
          <p:cNvSpPr/>
          <p:nvPr/>
        </p:nvSpPr>
        <p:spPr>
          <a:xfrm>
            <a:off x="548640" y="5852159"/>
            <a:ext cx="11094415" cy="475488"/>
          </a:xfrm>
          <a:prstGeom prst="roundRect">
            <a:avLst>
              <a:gd name="adj" fmla="val 10000"/>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914400" y="5961888"/>
            <a:ext cx="10362895" cy="310896"/>
          </a:xfrm>
          <a:prstGeom prst="rect">
            <a:avLst/>
          </a:prstGeom>
          <a:noFill/>
        </p:spPr>
        <p:txBody>
          <a:bodyPr wrap="square" anchor="t" lIns="0" rIns="0" tIns="0" bIns="0">
            <a:spAutoFit/>
          </a:bodyPr>
          <a:lstStyle/>
          <a:p>
            <a:pPr algn="l">
              <a:lnSpc>
                <a:spcPct val="110000"/>
              </a:lnSpc>
              <a:spcAft>
                <a:spcPts val="400"/>
              </a:spcAft>
            </a:pPr>
            <a:r>
              <a:rPr sz="1400" b="1" i="0">
                <a:solidFill>
                  <a:srgbClr val="FFFFFF"/>
                </a:solidFill>
                <a:latin typeface="Calibri"/>
                <a:ea typeface="Calibri"/>
              </a:rPr>
              <a:t>Named colours, hex values and rgb — all 148 as cards.   </a:t>
            </a:r>
            <a:r>
              <a:rPr sz="1300" b="1" i="0">
                <a:solidFill>
                  <a:srgbClr val="9DC0EE"/>
                </a:solidFill>
                <a:latin typeface="Calibri"/>
                <a:ea typeface="Calibri"/>
                <a:hlinkClick r:id="rId2"/>
                <a:extLst>
                  <a:ext uri="{A12FA001-AC4F-418D-AE19-62706E023703}">
                    <ahyp:hlinkClr xmlns:ahyp="http://schemas.microsoft.com/office/drawing/2018/hyperlinkcolor" val="tx"/>
                  </a:ext>
                </a:extLst>
              </a:rPr>
              <a:t>↗ editor.html?example=css-styling/named-colors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66928"/>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6979615" cy="365760"/>
          </a:xfrm>
          <a:prstGeom prst="rect">
            <a:avLst/>
          </a:prstGeom>
          <a:noFill/>
        </p:spPr>
        <p:txBody>
          <a:bodyPr wrap="square" anchor="ctr" lIns="0" rIns="0" tIns="0" bIns="0">
            <a:spAutoFit/>
          </a:bodyPr>
          <a:lstStyle/>
          <a:p>
            <a:pPr algn="l">
              <a:lnSpc>
                <a:spcPct val="110000"/>
              </a:lnSpc>
              <a:spcAft>
                <a:spcPts val="400"/>
              </a:spcAft>
            </a:pPr>
            <a:r>
              <a:rPr sz="2100" b="1" i="0">
                <a:solidFill>
                  <a:srgbClr val="FFFFFF"/>
                </a:solidFill>
                <a:latin typeface="Calibri"/>
                <a:ea typeface="Calibri"/>
              </a:rPr>
              <a:t>The Course Palette</a:t>
            </a:r>
          </a:p>
        </p:txBody>
      </p:sp>
      <p:sp>
        <p:nvSpPr>
          <p:cNvPr id="4" name="TextBox 3"/>
          <p:cNvSpPr txBox="1"/>
          <p:nvPr/>
        </p:nvSpPr>
        <p:spPr>
          <a:xfrm>
            <a:off x="7436815" y="109728"/>
            <a:ext cx="4206240" cy="365760"/>
          </a:xfrm>
          <a:prstGeom prst="rect">
            <a:avLst/>
          </a:prstGeom>
          <a:noFill/>
        </p:spPr>
        <p:txBody>
          <a:bodyPr wrap="square" anchor="ctr" lIns="0" rIns="0" tIns="0" bIns="0">
            <a:spAutoFit/>
          </a:bodyPr>
          <a:lstStyle/>
          <a:p>
            <a:pPr algn="r">
              <a:lnSpc>
                <a:spcPct val="110000"/>
              </a:lnSpc>
              <a:spcAft>
                <a:spcPts val="400"/>
              </a:spcAft>
            </a:pPr>
            <a:r>
              <a:rPr sz="1100" b="1" i="0">
                <a:solidFill>
                  <a:srgbClr val="B9CDEE"/>
                </a:solidFill>
                <a:latin typeface="Calibri"/>
                <a:ea typeface="Calibri"/>
              </a:rPr>
              <a:t>COMP3421 · Colour</a:t>
            </a:r>
          </a:p>
        </p:txBody>
      </p:sp>
      <p:sp>
        <p:nvSpPr>
          <p:cNvPr id="5" name="TextBox 4"/>
          <p:cNvSpPr txBox="1"/>
          <p:nvPr/>
        </p:nvSpPr>
        <p:spPr>
          <a:xfrm>
            <a:off x="548640" y="914400"/>
            <a:ext cx="11094415" cy="365760"/>
          </a:xfrm>
          <a:prstGeom prst="rect">
            <a:avLst/>
          </a:prstGeom>
          <a:noFill/>
        </p:spPr>
        <p:txBody>
          <a:bodyPr wrap="square" anchor="t" lIns="0" rIns="0" tIns="0" bIns="0">
            <a:spAutoFit/>
          </a:bodyPr>
          <a:lstStyle/>
          <a:p>
            <a:pPr algn="l">
              <a:lnSpc>
                <a:spcPct val="110000"/>
              </a:lnSpc>
              <a:spcAft>
                <a:spcPts val="400"/>
              </a:spcAft>
            </a:pPr>
            <a:r>
              <a:rPr sz="1400" b="0" i="0">
                <a:solidFill>
                  <a:srgbClr val="4A5568"/>
                </a:solidFill>
                <a:latin typeface="Calibri"/>
                <a:ea typeface="Calibri"/>
              </a:rPr>
              <a:t>The exact colours used in these slides — one palette, written as hex.</a:t>
            </a:r>
          </a:p>
        </p:txBody>
      </p:sp>
      <p:sp>
        <p:nvSpPr>
          <p:cNvPr id="6" name="Rounded Rectangle 5"/>
          <p:cNvSpPr/>
          <p:nvPr/>
        </p:nvSpPr>
        <p:spPr>
          <a:xfrm>
            <a:off x="548640" y="1499616"/>
            <a:ext cx="1365460" cy="1554480"/>
          </a:xfrm>
          <a:prstGeom prst="roundRect">
            <a:avLst>
              <a:gd name="adj" fmla="val 6000"/>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3163824"/>
            <a:ext cx="1365460" cy="310896"/>
          </a:xfrm>
          <a:prstGeom prst="rect">
            <a:avLst/>
          </a:prstGeom>
          <a:noFill/>
        </p:spPr>
        <p:txBody>
          <a:bodyPr wrap="square" anchor="t" lIns="0" rIns="0" tIns="0" bIns="0">
            <a:spAutoFit/>
          </a:bodyPr>
          <a:lstStyle/>
          <a:p>
            <a:pPr algn="ctr">
              <a:lnSpc>
                <a:spcPct val="110000"/>
              </a:lnSpc>
              <a:spcAft>
                <a:spcPts val="400"/>
              </a:spcAft>
            </a:pPr>
            <a:r>
              <a:rPr sz="1250" b="1" i="0">
                <a:solidFill>
                  <a:srgbClr val="1A2230"/>
                </a:solidFill>
                <a:latin typeface="Consolas"/>
                <a:ea typeface="Consolas"/>
              </a:rPr>
              <a:t>#0E3F8C</a:t>
            </a:r>
          </a:p>
        </p:txBody>
      </p:sp>
      <p:sp>
        <p:nvSpPr>
          <p:cNvPr id="8" name="TextBox 7"/>
          <p:cNvSpPr txBox="1"/>
          <p:nvPr/>
        </p:nvSpPr>
        <p:spPr>
          <a:xfrm>
            <a:off x="548640" y="3493008"/>
            <a:ext cx="1365460" cy="292608"/>
          </a:xfrm>
          <a:prstGeom prst="rect">
            <a:avLst/>
          </a:prstGeom>
          <a:noFill/>
        </p:spPr>
        <p:txBody>
          <a:bodyPr wrap="square" anchor="t" lIns="0" rIns="0" tIns="0" bIns="0">
            <a:spAutoFit/>
          </a:bodyPr>
          <a:lstStyle/>
          <a:p>
            <a:pPr algn="ctr">
              <a:lnSpc>
                <a:spcPct val="110000"/>
              </a:lnSpc>
              <a:spcAft>
                <a:spcPts val="400"/>
              </a:spcAft>
            </a:pPr>
            <a:r>
              <a:rPr sz="1200" b="0" i="0">
                <a:solidFill>
                  <a:srgbClr val="4A5568"/>
                </a:solidFill>
                <a:latin typeface="Calibri"/>
                <a:ea typeface="Calibri"/>
              </a:rPr>
              <a:t>Navy</a:t>
            </a:r>
          </a:p>
        </p:txBody>
      </p:sp>
      <p:sp>
        <p:nvSpPr>
          <p:cNvPr id="9" name="Rounded Rectangle 8"/>
          <p:cNvSpPr/>
          <p:nvPr/>
        </p:nvSpPr>
        <p:spPr>
          <a:xfrm>
            <a:off x="2170132" y="1499616"/>
            <a:ext cx="1365460" cy="1554480"/>
          </a:xfrm>
          <a:prstGeom prst="roundRect">
            <a:avLst>
              <a:gd name="adj" fmla="val 6000"/>
            </a:avLst>
          </a:prstGeom>
          <a:solidFill>
            <a:srgbClr val="1E4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170132" y="3163824"/>
            <a:ext cx="1365460" cy="310896"/>
          </a:xfrm>
          <a:prstGeom prst="rect">
            <a:avLst/>
          </a:prstGeom>
          <a:noFill/>
        </p:spPr>
        <p:txBody>
          <a:bodyPr wrap="square" anchor="t" lIns="0" rIns="0" tIns="0" bIns="0">
            <a:spAutoFit/>
          </a:bodyPr>
          <a:lstStyle/>
          <a:p>
            <a:pPr algn="ctr">
              <a:lnSpc>
                <a:spcPct val="110000"/>
              </a:lnSpc>
              <a:spcAft>
                <a:spcPts val="400"/>
              </a:spcAft>
            </a:pPr>
            <a:r>
              <a:rPr sz="1250" b="1" i="0">
                <a:solidFill>
                  <a:srgbClr val="1A2230"/>
                </a:solidFill>
                <a:latin typeface="Consolas"/>
                <a:ea typeface="Consolas"/>
              </a:rPr>
              <a:t>#1E4FA8</a:t>
            </a:r>
          </a:p>
        </p:txBody>
      </p:sp>
      <p:sp>
        <p:nvSpPr>
          <p:cNvPr id="11" name="TextBox 10"/>
          <p:cNvSpPr txBox="1"/>
          <p:nvPr/>
        </p:nvSpPr>
        <p:spPr>
          <a:xfrm>
            <a:off x="2170132" y="3493008"/>
            <a:ext cx="1365460" cy="292608"/>
          </a:xfrm>
          <a:prstGeom prst="rect">
            <a:avLst/>
          </a:prstGeom>
          <a:noFill/>
        </p:spPr>
        <p:txBody>
          <a:bodyPr wrap="square" anchor="t" lIns="0" rIns="0" tIns="0" bIns="0">
            <a:spAutoFit/>
          </a:bodyPr>
          <a:lstStyle/>
          <a:p>
            <a:pPr algn="ctr">
              <a:lnSpc>
                <a:spcPct val="110000"/>
              </a:lnSpc>
              <a:spcAft>
                <a:spcPts val="400"/>
              </a:spcAft>
            </a:pPr>
            <a:r>
              <a:rPr sz="1200" b="0" i="0">
                <a:solidFill>
                  <a:srgbClr val="4A5568"/>
                </a:solidFill>
                <a:latin typeface="Calibri"/>
                <a:ea typeface="Calibri"/>
              </a:rPr>
              <a:t>Primary</a:t>
            </a:r>
          </a:p>
        </p:txBody>
      </p:sp>
      <p:sp>
        <p:nvSpPr>
          <p:cNvPr id="12" name="Rounded Rectangle 11"/>
          <p:cNvSpPr/>
          <p:nvPr/>
        </p:nvSpPr>
        <p:spPr>
          <a:xfrm>
            <a:off x="3791624" y="1499616"/>
            <a:ext cx="1365460" cy="1554480"/>
          </a:xfrm>
          <a:prstGeom prst="roundRect">
            <a:avLst>
              <a:gd name="adj" fmla="val 6000"/>
            </a:avLst>
          </a:prstGeom>
          <a:solidFill>
            <a:srgbClr val="3D7B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791624" y="3163824"/>
            <a:ext cx="1365460" cy="310896"/>
          </a:xfrm>
          <a:prstGeom prst="rect">
            <a:avLst/>
          </a:prstGeom>
          <a:noFill/>
        </p:spPr>
        <p:txBody>
          <a:bodyPr wrap="square" anchor="t" lIns="0" rIns="0" tIns="0" bIns="0">
            <a:spAutoFit/>
          </a:bodyPr>
          <a:lstStyle/>
          <a:p>
            <a:pPr algn="ctr">
              <a:lnSpc>
                <a:spcPct val="110000"/>
              </a:lnSpc>
              <a:spcAft>
                <a:spcPts val="400"/>
              </a:spcAft>
            </a:pPr>
            <a:r>
              <a:rPr sz="1250" b="1" i="0">
                <a:solidFill>
                  <a:srgbClr val="1A2230"/>
                </a:solidFill>
                <a:latin typeface="Consolas"/>
                <a:ea typeface="Consolas"/>
              </a:rPr>
              <a:t>#3D7BD9</a:t>
            </a:r>
          </a:p>
        </p:txBody>
      </p:sp>
      <p:sp>
        <p:nvSpPr>
          <p:cNvPr id="14" name="TextBox 13"/>
          <p:cNvSpPr txBox="1"/>
          <p:nvPr/>
        </p:nvSpPr>
        <p:spPr>
          <a:xfrm>
            <a:off x="3791624" y="3493008"/>
            <a:ext cx="1365460" cy="292608"/>
          </a:xfrm>
          <a:prstGeom prst="rect">
            <a:avLst/>
          </a:prstGeom>
          <a:noFill/>
        </p:spPr>
        <p:txBody>
          <a:bodyPr wrap="square" anchor="t" lIns="0" rIns="0" tIns="0" bIns="0">
            <a:spAutoFit/>
          </a:bodyPr>
          <a:lstStyle/>
          <a:p>
            <a:pPr algn="ctr">
              <a:lnSpc>
                <a:spcPct val="110000"/>
              </a:lnSpc>
              <a:spcAft>
                <a:spcPts val="400"/>
              </a:spcAft>
            </a:pPr>
            <a:r>
              <a:rPr sz="1200" b="0" i="0">
                <a:solidFill>
                  <a:srgbClr val="4A5568"/>
                </a:solidFill>
                <a:latin typeface="Calibri"/>
                <a:ea typeface="Calibri"/>
              </a:rPr>
              <a:t>Mid</a:t>
            </a:r>
          </a:p>
        </p:txBody>
      </p:sp>
      <p:sp>
        <p:nvSpPr>
          <p:cNvPr id="15" name="Rounded Rectangle 14"/>
          <p:cNvSpPr/>
          <p:nvPr/>
        </p:nvSpPr>
        <p:spPr>
          <a:xfrm>
            <a:off x="5413117" y="1499616"/>
            <a:ext cx="1365460" cy="1554480"/>
          </a:xfrm>
          <a:prstGeom prst="roundRect">
            <a:avLst>
              <a:gd name="adj" fmla="val 6000"/>
            </a:avLst>
          </a:prstGeom>
          <a:solidFill>
            <a:srgbClr val="9DC0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413117" y="3163824"/>
            <a:ext cx="1365460" cy="310896"/>
          </a:xfrm>
          <a:prstGeom prst="rect">
            <a:avLst/>
          </a:prstGeom>
          <a:noFill/>
        </p:spPr>
        <p:txBody>
          <a:bodyPr wrap="square" anchor="t" lIns="0" rIns="0" tIns="0" bIns="0">
            <a:spAutoFit/>
          </a:bodyPr>
          <a:lstStyle/>
          <a:p>
            <a:pPr algn="ctr">
              <a:lnSpc>
                <a:spcPct val="110000"/>
              </a:lnSpc>
              <a:spcAft>
                <a:spcPts val="400"/>
              </a:spcAft>
            </a:pPr>
            <a:r>
              <a:rPr sz="1250" b="1" i="0">
                <a:solidFill>
                  <a:srgbClr val="1A2230"/>
                </a:solidFill>
                <a:latin typeface="Consolas"/>
                <a:ea typeface="Consolas"/>
              </a:rPr>
              <a:t>#9DC0EE</a:t>
            </a:r>
          </a:p>
        </p:txBody>
      </p:sp>
      <p:sp>
        <p:nvSpPr>
          <p:cNvPr id="17" name="TextBox 16"/>
          <p:cNvSpPr txBox="1"/>
          <p:nvPr/>
        </p:nvSpPr>
        <p:spPr>
          <a:xfrm>
            <a:off x="5413117" y="3493008"/>
            <a:ext cx="1365460" cy="292608"/>
          </a:xfrm>
          <a:prstGeom prst="rect">
            <a:avLst/>
          </a:prstGeom>
          <a:noFill/>
        </p:spPr>
        <p:txBody>
          <a:bodyPr wrap="square" anchor="t" lIns="0" rIns="0" tIns="0" bIns="0">
            <a:spAutoFit/>
          </a:bodyPr>
          <a:lstStyle/>
          <a:p>
            <a:pPr algn="ctr">
              <a:lnSpc>
                <a:spcPct val="110000"/>
              </a:lnSpc>
              <a:spcAft>
                <a:spcPts val="400"/>
              </a:spcAft>
            </a:pPr>
            <a:r>
              <a:rPr sz="1200" b="0" i="0">
                <a:solidFill>
                  <a:srgbClr val="4A5568"/>
                </a:solidFill>
                <a:latin typeface="Calibri"/>
                <a:ea typeface="Calibri"/>
              </a:rPr>
              <a:t>Pale</a:t>
            </a:r>
          </a:p>
        </p:txBody>
      </p:sp>
      <p:sp>
        <p:nvSpPr>
          <p:cNvPr id="18" name="Rounded Rectangle 17"/>
          <p:cNvSpPr/>
          <p:nvPr/>
        </p:nvSpPr>
        <p:spPr>
          <a:xfrm>
            <a:off x="7034609" y="1499616"/>
            <a:ext cx="1365460" cy="1554480"/>
          </a:xfrm>
          <a:prstGeom prst="roundRect">
            <a:avLst>
              <a:gd name="adj" fmla="val 6000"/>
            </a:avLst>
          </a:prstGeom>
          <a:solidFill>
            <a:srgbClr val="B9CD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034609" y="3163824"/>
            <a:ext cx="1365460" cy="310896"/>
          </a:xfrm>
          <a:prstGeom prst="rect">
            <a:avLst/>
          </a:prstGeom>
          <a:noFill/>
        </p:spPr>
        <p:txBody>
          <a:bodyPr wrap="square" anchor="t" lIns="0" rIns="0" tIns="0" bIns="0">
            <a:spAutoFit/>
          </a:bodyPr>
          <a:lstStyle/>
          <a:p>
            <a:pPr algn="ctr">
              <a:lnSpc>
                <a:spcPct val="110000"/>
              </a:lnSpc>
              <a:spcAft>
                <a:spcPts val="400"/>
              </a:spcAft>
            </a:pPr>
            <a:r>
              <a:rPr sz="1250" b="1" i="0">
                <a:solidFill>
                  <a:srgbClr val="1A2230"/>
                </a:solidFill>
                <a:latin typeface="Consolas"/>
                <a:ea typeface="Consolas"/>
              </a:rPr>
              <a:t>#B9CDEE</a:t>
            </a:r>
          </a:p>
        </p:txBody>
      </p:sp>
      <p:sp>
        <p:nvSpPr>
          <p:cNvPr id="20" name="TextBox 19"/>
          <p:cNvSpPr txBox="1"/>
          <p:nvPr/>
        </p:nvSpPr>
        <p:spPr>
          <a:xfrm>
            <a:off x="7034609" y="3493008"/>
            <a:ext cx="1365460" cy="292608"/>
          </a:xfrm>
          <a:prstGeom prst="rect">
            <a:avLst/>
          </a:prstGeom>
          <a:noFill/>
        </p:spPr>
        <p:txBody>
          <a:bodyPr wrap="square" anchor="t" lIns="0" rIns="0" tIns="0" bIns="0">
            <a:spAutoFit/>
          </a:bodyPr>
          <a:lstStyle/>
          <a:p>
            <a:pPr algn="ctr">
              <a:lnSpc>
                <a:spcPct val="110000"/>
              </a:lnSpc>
              <a:spcAft>
                <a:spcPts val="400"/>
              </a:spcAft>
            </a:pPr>
            <a:r>
              <a:rPr sz="1200" b="0" i="0">
                <a:solidFill>
                  <a:srgbClr val="4A5568"/>
                </a:solidFill>
                <a:latin typeface="Calibri"/>
                <a:ea typeface="Calibri"/>
              </a:rPr>
              <a:t>Sky</a:t>
            </a:r>
          </a:p>
        </p:txBody>
      </p:sp>
      <p:sp>
        <p:nvSpPr>
          <p:cNvPr id="21" name="Rounded Rectangle 20"/>
          <p:cNvSpPr/>
          <p:nvPr/>
        </p:nvSpPr>
        <p:spPr>
          <a:xfrm>
            <a:off x="8656102" y="1499616"/>
            <a:ext cx="1365460" cy="1554480"/>
          </a:xfrm>
          <a:prstGeom prst="roundRect">
            <a:avLst>
              <a:gd name="adj" fmla="val 6000"/>
            </a:avLst>
          </a:prstGeom>
          <a:solidFill>
            <a:srgbClr val="FFC1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656102" y="3163824"/>
            <a:ext cx="1365460" cy="310896"/>
          </a:xfrm>
          <a:prstGeom prst="rect">
            <a:avLst/>
          </a:prstGeom>
          <a:noFill/>
        </p:spPr>
        <p:txBody>
          <a:bodyPr wrap="square" anchor="t" lIns="0" rIns="0" tIns="0" bIns="0">
            <a:spAutoFit/>
          </a:bodyPr>
          <a:lstStyle/>
          <a:p>
            <a:pPr algn="ctr">
              <a:lnSpc>
                <a:spcPct val="110000"/>
              </a:lnSpc>
              <a:spcAft>
                <a:spcPts val="400"/>
              </a:spcAft>
            </a:pPr>
            <a:r>
              <a:rPr sz="1250" b="1" i="0">
                <a:solidFill>
                  <a:srgbClr val="1A2230"/>
                </a:solidFill>
                <a:latin typeface="Consolas"/>
                <a:ea typeface="Consolas"/>
              </a:rPr>
              <a:t>#FFC107</a:t>
            </a:r>
          </a:p>
        </p:txBody>
      </p:sp>
      <p:sp>
        <p:nvSpPr>
          <p:cNvPr id="23" name="TextBox 22"/>
          <p:cNvSpPr txBox="1"/>
          <p:nvPr/>
        </p:nvSpPr>
        <p:spPr>
          <a:xfrm>
            <a:off x="8656102" y="3493008"/>
            <a:ext cx="1365460" cy="292608"/>
          </a:xfrm>
          <a:prstGeom prst="rect">
            <a:avLst/>
          </a:prstGeom>
          <a:noFill/>
        </p:spPr>
        <p:txBody>
          <a:bodyPr wrap="square" anchor="t" lIns="0" rIns="0" tIns="0" bIns="0">
            <a:spAutoFit/>
          </a:bodyPr>
          <a:lstStyle/>
          <a:p>
            <a:pPr algn="ctr">
              <a:lnSpc>
                <a:spcPct val="110000"/>
              </a:lnSpc>
              <a:spcAft>
                <a:spcPts val="400"/>
              </a:spcAft>
            </a:pPr>
            <a:r>
              <a:rPr sz="1200" b="0" i="0">
                <a:solidFill>
                  <a:srgbClr val="4A5568"/>
                </a:solidFill>
                <a:latin typeface="Calibri"/>
                <a:ea typeface="Calibri"/>
              </a:rPr>
              <a:t>Gold</a:t>
            </a:r>
          </a:p>
        </p:txBody>
      </p:sp>
      <p:sp>
        <p:nvSpPr>
          <p:cNvPr id="24" name="Rounded Rectangle 23"/>
          <p:cNvSpPr/>
          <p:nvPr/>
        </p:nvSpPr>
        <p:spPr>
          <a:xfrm>
            <a:off x="10277594" y="1499616"/>
            <a:ext cx="1365460" cy="1554480"/>
          </a:xfrm>
          <a:prstGeom prst="roundRect">
            <a:avLst>
              <a:gd name="adj" fmla="val 6000"/>
            </a:avLst>
          </a:prstGeom>
          <a:solidFill>
            <a:srgbClr val="D953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277594" y="3163824"/>
            <a:ext cx="1365460" cy="310896"/>
          </a:xfrm>
          <a:prstGeom prst="rect">
            <a:avLst/>
          </a:prstGeom>
          <a:noFill/>
        </p:spPr>
        <p:txBody>
          <a:bodyPr wrap="square" anchor="t" lIns="0" rIns="0" tIns="0" bIns="0">
            <a:spAutoFit/>
          </a:bodyPr>
          <a:lstStyle/>
          <a:p>
            <a:pPr algn="ctr">
              <a:lnSpc>
                <a:spcPct val="110000"/>
              </a:lnSpc>
              <a:spcAft>
                <a:spcPts val="400"/>
              </a:spcAft>
            </a:pPr>
            <a:r>
              <a:rPr sz="1250" b="1" i="0">
                <a:solidFill>
                  <a:srgbClr val="1A2230"/>
                </a:solidFill>
                <a:latin typeface="Consolas"/>
                <a:ea typeface="Consolas"/>
              </a:rPr>
              <a:t>#D9534F</a:t>
            </a:r>
          </a:p>
        </p:txBody>
      </p:sp>
      <p:sp>
        <p:nvSpPr>
          <p:cNvPr id="26" name="TextBox 25"/>
          <p:cNvSpPr txBox="1"/>
          <p:nvPr/>
        </p:nvSpPr>
        <p:spPr>
          <a:xfrm>
            <a:off x="10277594" y="3493008"/>
            <a:ext cx="1365460" cy="292608"/>
          </a:xfrm>
          <a:prstGeom prst="rect">
            <a:avLst/>
          </a:prstGeom>
          <a:noFill/>
        </p:spPr>
        <p:txBody>
          <a:bodyPr wrap="square" anchor="t" lIns="0" rIns="0" tIns="0" bIns="0">
            <a:spAutoFit/>
          </a:bodyPr>
          <a:lstStyle/>
          <a:p>
            <a:pPr algn="ctr">
              <a:lnSpc>
                <a:spcPct val="110000"/>
              </a:lnSpc>
              <a:spcAft>
                <a:spcPts val="400"/>
              </a:spcAft>
            </a:pPr>
            <a:r>
              <a:rPr sz="1200" b="0" i="0">
                <a:solidFill>
                  <a:srgbClr val="4A5568"/>
                </a:solidFill>
                <a:latin typeface="Calibri"/>
                <a:ea typeface="Calibri"/>
              </a:rPr>
              <a:t>Alert</a:t>
            </a:r>
          </a:p>
        </p:txBody>
      </p:sp>
      <p:sp>
        <p:nvSpPr>
          <p:cNvPr id="27" name="Rounded Rectangle 26"/>
          <p:cNvSpPr/>
          <p:nvPr/>
        </p:nvSpPr>
        <p:spPr>
          <a:xfrm>
            <a:off x="548640" y="4014216"/>
            <a:ext cx="11094415" cy="868680"/>
          </a:xfrm>
          <a:prstGeom prst="roundRect">
            <a:avLst>
              <a:gd name="adj" fmla="val 8000"/>
            </a:avLst>
          </a:prstGeom>
          <a:solidFill>
            <a:srgbClr val="F0F5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4400" y="4224528"/>
            <a:ext cx="10362895" cy="457200"/>
          </a:xfrm>
          <a:prstGeom prst="rect">
            <a:avLst/>
          </a:prstGeom>
          <a:noFill/>
        </p:spPr>
        <p:txBody>
          <a:bodyPr wrap="square" anchor="t" lIns="0" rIns="0" tIns="0" bIns="0">
            <a:spAutoFit/>
          </a:bodyPr>
          <a:lstStyle/>
          <a:p>
            <a:pPr algn="l">
              <a:lnSpc>
                <a:spcPct val="120000"/>
              </a:lnSpc>
              <a:spcAft>
                <a:spcPts val="400"/>
              </a:spcAft>
            </a:pPr>
            <a:r>
              <a:rPr sz="1400" b="0" i="0">
                <a:solidFill>
                  <a:srgbClr val="1A2230"/>
                </a:solidFill>
                <a:latin typeface="Calibri"/>
                <a:ea typeface="Calibri"/>
              </a:rPr>
              <a:t>Pick a palette, write it down, and reuse it — </a:t>
            </a:r>
            <a:r>
              <a:rPr sz="1400" b="1" i="0">
                <a:solidFill>
                  <a:srgbClr val="0E3F8C"/>
                </a:solidFill>
                <a:latin typeface="Calibri"/>
                <a:ea typeface="Calibri"/>
              </a:rPr>
              <a:t>consistent colour is 90% of a clean design.</a:t>
            </a:r>
          </a:p>
        </p:txBody>
      </p:sp>
      <p:sp>
        <p:nvSpPr>
          <p:cNvPr id="29" name="Rounded Rectangle 28"/>
          <p:cNvSpPr/>
          <p:nvPr/>
        </p:nvSpPr>
        <p:spPr>
          <a:xfrm>
            <a:off x="548640" y="5852159"/>
            <a:ext cx="11094415" cy="475488"/>
          </a:xfrm>
          <a:prstGeom prst="roundRect">
            <a:avLst>
              <a:gd name="adj" fmla="val 10000"/>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14400" y="5961888"/>
            <a:ext cx="10362895" cy="310896"/>
          </a:xfrm>
          <a:prstGeom prst="rect">
            <a:avLst/>
          </a:prstGeom>
          <a:noFill/>
        </p:spPr>
        <p:txBody>
          <a:bodyPr wrap="square" anchor="t" lIns="0" rIns="0" tIns="0" bIns="0">
            <a:spAutoFit/>
          </a:bodyPr>
          <a:lstStyle/>
          <a:p>
            <a:pPr algn="l">
              <a:lnSpc>
                <a:spcPct val="110000"/>
              </a:lnSpc>
              <a:spcAft>
                <a:spcPts val="400"/>
              </a:spcAft>
            </a:pPr>
            <a:r>
              <a:rPr sz="1400" b="1" i="0">
                <a:solidFill>
                  <a:srgbClr val="FFFFFF"/>
                </a:solidFill>
                <a:latin typeface="Calibri"/>
                <a:ea typeface="Calibri"/>
              </a:rPr>
              <a:t>Every colour above can be written as hex, rgb() or hsl().   </a:t>
            </a:r>
            <a:r>
              <a:rPr sz="1300" b="1" i="0">
                <a:solidFill>
                  <a:srgbClr val="9DC0EE"/>
                </a:solidFill>
                <a:latin typeface="Calibri"/>
                <a:ea typeface="Calibri"/>
                <a:hlinkClick r:id="rId2"/>
                <a:extLst>
                  <a:ext uri="{A12FA001-AC4F-418D-AE19-62706E023703}">
                    <ahyp:hlinkClr xmlns:ahyp="http://schemas.microsoft.com/office/drawing/2018/hyperlinkcolor" val="tx"/>
                  </a:ext>
                </a:extLst>
              </a:rPr>
              <a:t>↗ editor.html?example=css-styling/colors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66928"/>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6979615" cy="365760"/>
          </a:xfrm>
          <a:prstGeom prst="rect">
            <a:avLst/>
          </a:prstGeom>
          <a:noFill/>
        </p:spPr>
        <p:txBody>
          <a:bodyPr wrap="square" anchor="ctr" lIns="0" rIns="0" tIns="0" bIns="0">
            <a:spAutoFit/>
          </a:bodyPr>
          <a:lstStyle/>
          <a:p>
            <a:pPr algn="l">
              <a:lnSpc>
                <a:spcPct val="110000"/>
              </a:lnSpc>
              <a:spcAft>
                <a:spcPts val="400"/>
              </a:spcAft>
            </a:pPr>
            <a:r>
              <a:rPr sz="2100" b="1" i="0">
                <a:solidFill>
                  <a:srgbClr val="FFFFFF"/>
                </a:solidFill>
                <a:latin typeface="Calibri"/>
                <a:ea typeface="Calibri"/>
              </a:rPr>
              <a:t>color vs background-color</a:t>
            </a:r>
          </a:p>
        </p:txBody>
      </p:sp>
      <p:sp>
        <p:nvSpPr>
          <p:cNvPr id="4" name="TextBox 3"/>
          <p:cNvSpPr txBox="1"/>
          <p:nvPr/>
        </p:nvSpPr>
        <p:spPr>
          <a:xfrm>
            <a:off x="7436815" y="109728"/>
            <a:ext cx="4206240" cy="365760"/>
          </a:xfrm>
          <a:prstGeom prst="rect">
            <a:avLst/>
          </a:prstGeom>
          <a:noFill/>
        </p:spPr>
        <p:txBody>
          <a:bodyPr wrap="square" anchor="ctr" lIns="0" rIns="0" tIns="0" bIns="0">
            <a:spAutoFit/>
          </a:bodyPr>
          <a:lstStyle/>
          <a:p>
            <a:pPr algn="r">
              <a:lnSpc>
                <a:spcPct val="110000"/>
              </a:lnSpc>
              <a:spcAft>
                <a:spcPts val="400"/>
              </a:spcAft>
            </a:pPr>
            <a:r>
              <a:rPr sz="1100" b="1" i="0">
                <a:solidFill>
                  <a:srgbClr val="B9CDEE"/>
                </a:solidFill>
                <a:latin typeface="Calibri"/>
                <a:ea typeface="Calibri"/>
              </a:rPr>
              <a:t>COMP3421 · Colour</a:t>
            </a:r>
          </a:p>
        </p:txBody>
      </p:sp>
      <p:sp>
        <p:nvSpPr>
          <p:cNvPr id="5" name="TextBox 4"/>
          <p:cNvSpPr txBox="1"/>
          <p:nvPr/>
        </p:nvSpPr>
        <p:spPr>
          <a:xfrm>
            <a:off x="548640" y="932688"/>
            <a:ext cx="10820095" cy="4553712"/>
          </a:xfrm>
          <a:prstGeom prst="rect">
            <a:avLst/>
          </a:prstGeom>
          <a:noFill/>
        </p:spPr>
        <p:txBody>
          <a:bodyPr wrap="square" lIns="0" rIns="0" tIns="0" bIns="0">
            <a:normAutofit/>
          </a:bodyPr>
          <a:lstStyle/>
          <a:p>
            <a:pPr marL="256032" indent="-237744">
              <a:lnSpc>
                <a:spcPct val="112000"/>
              </a:lnSpc>
              <a:spcAft>
                <a:spcPts val="700"/>
              </a:spcAft>
              <a:buClr>
                <a:srgbClr val="1E4FA8"/>
              </a:buClr>
              <a:buSzPct val="90000"/>
              <a:buFont typeface="Arial"/>
              <a:buChar char="▪"/>
            </a:pPr>
            <a:r>
              <a:rPr sz="1700" b="1" i="0">
                <a:solidFill>
                  <a:srgbClr val="B8860B"/>
                </a:solidFill>
                <a:latin typeface="Calibri"/>
                <a:ea typeface="Calibri"/>
              </a:rPr>
              <a:t>color</a:t>
            </a:r>
            <a:br/>
            <a:r>
              <a:rPr sz="1500" b="0" i="0">
                <a:solidFill>
                  <a:srgbClr val="4A5568"/>
                </a:solidFill>
                <a:latin typeface="Calibri"/>
                <a:ea typeface="Calibri"/>
              </a:rPr>
              <a:t>The text colour — the foreground.</a:t>
            </a:r>
          </a:p>
          <a:p>
            <a:pPr marL="256032" indent="-237744">
              <a:lnSpc>
                <a:spcPct val="112000"/>
              </a:lnSpc>
              <a:spcAft>
                <a:spcPts val="700"/>
              </a:spcAft>
              <a:buClr>
                <a:srgbClr val="1E4FA8"/>
              </a:buClr>
              <a:buSzPct val="90000"/>
              <a:buFont typeface="Arial"/>
              <a:buChar char="▪"/>
            </a:pPr>
            <a:r>
              <a:rPr sz="1700" b="1" i="0">
                <a:solidFill>
                  <a:srgbClr val="B8860B"/>
                </a:solidFill>
                <a:latin typeface="Calibri"/>
                <a:ea typeface="Calibri"/>
              </a:rPr>
              <a:t>background-color</a:t>
            </a:r>
            <a:br/>
            <a:r>
              <a:rPr sz="1500" b="0" i="0">
                <a:solidFill>
                  <a:srgbClr val="4A5568"/>
                </a:solidFill>
                <a:latin typeface="Calibri"/>
                <a:ea typeface="Calibri"/>
              </a:rPr>
              <a:t>The colour behind the content.</a:t>
            </a:r>
          </a:p>
          <a:p>
            <a:pPr marL="256032" indent="-237744">
              <a:lnSpc>
                <a:spcPct val="112000"/>
              </a:lnSpc>
              <a:spcAft>
                <a:spcPts val="700"/>
              </a:spcAft>
              <a:buClr>
                <a:srgbClr val="1E4FA8"/>
              </a:buClr>
              <a:buSzPct val="90000"/>
              <a:buFont typeface="Arial"/>
              <a:buChar char="▪"/>
            </a:pPr>
            <a:r>
              <a:rPr sz="1700" b="1" i="0">
                <a:solidFill>
                  <a:srgbClr val="1A2230"/>
                </a:solidFill>
                <a:latin typeface="Calibri"/>
                <a:ea typeface="Calibri"/>
              </a:rPr>
              <a:t>Both on the box</a:t>
            </a:r>
            <a:br/>
            <a:r>
              <a:rPr sz="1500" b="0" i="0">
                <a:solidFill>
                  <a:srgbClr val="4A5568"/>
                </a:solidFill>
                <a:latin typeface="Calibri"/>
                <a:ea typeface="Calibri"/>
              </a:rPr>
              <a:t>Text sits on top of the background.</a:t>
            </a:r>
          </a:p>
          <a:p>
            <a:pPr marL="256032" indent="-237744">
              <a:lnSpc>
                <a:spcPct val="112000"/>
              </a:lnSpc>
              <a:spcAft>
                <a:spcPts val="700"/>
              </a:spcAft>
              <a:buClr>
                <a:srgbClr val="1E4FA8"/>
              </a:buClr>
              <a:buSzPct val="90000"/>
              <a:buFont typeface="Arial"/>
              <a:buChar char="▪"/>
            </a:pPr>
            <a:r>
              <a:rPr sz="1700" b="1" i="0">
                <a:solidFill>
                  <a:srgbClr val="1A2230"/>
                </a:solidFill>
                <a:latin typeface="Calibri"/>
                <a:ea typeface="Calibri"/>
              </a:rPr>
              <a:t>Contrast matters</a:t>
            </a:r>
            <a:br/>
            <a:r>
              <a:rPr sz="1500" b="0" i="0">
                <a:solidFill>
                  <a:srgbClr val="4A5568"/>
                </a:solidFill>
                <a:latin typeface="Calibri"/>
                <a:ea typeface="Calibri"/>
              </a:rPr>
              <a:t>Enough difference to stay readable.</a:t>
            </a:r>
          </a:p>
        </p:txBody>
      </p:sp>
      <p:sp>
        <p:nvSpPr>
          <p:cNvPr id="6" name="Rounded Rectangle 5"/>
          <p:cNvSpPr/>
          <p:nvPr/>
        </p:nvSpPr>
        <p:spPr>
          <a:xfrm>
            <a:off x="548640" y="5577840"/>
            <a:ext cx="11094415" cy="713232"/>
          </a:xfrm>
          <a:prstGeom prst="roundRect">
            <a:avLst>
              <a:gd name="adj" fmla="val 8000"/>
            </a:avLst>
          </a:prstGeom>
          <a:solidFill>
            <a:srgbClr val="1A22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5696712"/>
            <a:ext cx="10454335" cy="256032"/>
          </a:xfrm>
          <a:prstGeom prst="rect">
            <a:avLst/>
          </a:prstGeom>
          <a:noFill/>
        </p:spPr>
        <p:txBody>
          <a:bodyPr wrap="square" anchor="t" lIns="0" rIns="0" tIns="0" bIns="0">
            <a:spAutoFit/>
          </a:bodyPr>
          <a:lstStyle/>
          <a:p>
            <a:pPr algn="l">
              <a:lnSpc>
                <a:spcPct val="110000"/>
              </a:lnSpc>
              <a:spcAft>
                <a:spcPts val="400"/>
              </a:spcAft>
            </a:pPr>
            <a:r>
              <a:rPr sz="1100" b="1" i="0">
                <a:solidFill>
                  <a:srgbClr val="9DC0EE"/>
                </a:solidFill>
                <a:latin typeface="Calibri"/>
                <a:ea typeface="Calibri"/>
              </a:rPr>
              <a:t>A heading with text and background colours   </a:t>
            </a:r>
            <a:r>
              <a:rPr sz="1100" b="1" i="0">
                <a:solidFill>
                  <a:srgbClr val="61AFEF"/>
                </a:solidFill>
                <a:latin typeface="Calibri"/>
                <a:ea typeface="Calibri"/>
                <a:hlinkClick r:id="rId2"/>
                <a:extLst>
                  <a:ext uri="{A12FA001-AC4F-418D-AE19-62706E023703}">
                    <ahyp:hlinkClr xmlns:ahyp="http://schemas.microsoft.com/office/drawing/2018/hyperlinkcolor" val="tx"/>
                  </a:ext>
                </a:extLst>
              </a:rPr>
              <a:t>↗ editor.html?example=css-styling/colors</a:t>
            </a:r>
          </a:p>
        </p:txBody>
      </p:sp>
      <p:sp>
        <p:nvSpPr>
          <p:cNvPr id="8" name="TextBox 7"/>
          <p:cNvSpPr txBox="1"/>
          <p:nvPr/>
        </p:nvSpPr>
        <p:spPr>
          <a:xfrm>
            <a:off x="868680" y="5961888"/>
            <a:ext cx="10454335" cy="274320"/>
          </a:xfrm>
          <a:prstGeom prst="rect">
            <a:avLst/>
          </a:prstGeom>
          <a:noFill/>
        </p:spPr>
        <p:txBody>
          <a:bodyPr wrap="square" anchor="t" lIns="0" rIns="0" tIns="0" bIns="0">
            <a:spAutoFit/>
          </a:bodyPr>
          <a:lstStyle/>
          <a:p>
            <a:pPr algn="l">
              <a:lnSpc>
                <a:spcPct val="110000"/>
              </a:lnSpc>
              <a:spcAft>
                <a:spcPts val="400"/>
              </a:spcAft>
            </a:pPr>
            <a:r>
              <a:rPr sz="1350" b="0" i="0">
                <a:solidFill>
                  <a:srgbClr val="98C379"/>
                </a:solidFill>
                <a:latin typeface="Consolas"/>
                <a:ea typeface="Consolas"/>
              </a:rPr>
              <a:t>&lt;h1 style="color: white; background-color: #1E4FA8;"&gt;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66928"/>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6979615" cy="365760"/>
          </a:xfrm>
          <a:prstGeom prst="rect">
            <a:avLst/>
          </a:prstGeom>
          <a:noFill/>
        </p:spPr>
        <p:txBody>
          <a:bodyPr wrap="square" anchor="ctr" lIns="0" rIns="0" tIns="0" bIns="0">
            <a:spAutoFit/>
          </a:bodyPr>
          <a:lstStyle/>
          <a:p>
            <a:pPr algn="l">
              <a:lnSpc>
                <a:spcPct val="110000"/>
              </a:lnSpc>
              <a:spcAft>
                <a:spcPts val="400"/>
              </a:spcAft>
            </a:pPr>
            <a:r>
              <a:rPr sz="2100" b="1" i="0">
                <a:solidFill>
                  <a:srgbClr val="FFFFFF"/>
                </a:solidFill>
                <a:latin typeface="Calibri"/>
                <a:ea typeface="Calibri"/>
              </a:rPr>
              <a:t>Transparency &amp; Overlays</a:t>
            </a:r>
          </a:p>
        </p:txBody>
      </p:sp>
      <p:sp>
        <p:nvSpPr>
          <p:cNvPr id="4" name="TextBox 3"/>
          <p:cNvSpPr txBox="1"/>
          <p:nvPr/>
        </p:nvSpPr>
        <p:spPr>
          <a:xfrm>
            <a:off x="7436815" y="109728"/>
            <a:ext cx="4206240" cy="365760"/>
          </a:xfrm>
          <a:prstGeom prst="rect">
            <a:avLst/>
          </a:prstGeom>
          <a:noFill/>
        </p:spPr>
        <p:txBody>
          <a:bodyPr wrap="square" anchor="ctr" lIns="0" rIns="0" tIns="0" bIns="0">
            <a:spAutoFit/>
          </a:bodyPr>
          <a:lstStyle/>
          <a:p>
            <a:pPr algn="r">
              <a:lnSpc>
                <a:spcPct val="110000"/>
              </a:lnSpc>
              <a:spcAft>
                <a:spcPts val="400"/>
              </a:spcAft>
            </a:pPr>
            <a:r>
              <a:rPr sz="1100" b="1" i="0">
                <a:solidFill>
                  <a:srgbClr val="B9CDEE"/>
                </a:solidFill>
                <a:latin typeface="Calibri"/>
                <a:ea typeface="Calibri"/>
              </a:rPr>
              <a:t>COMP3421 · Colour</a:t>
            </a:r>
          </a:p>
        </p:txBody>
      </p:sp>
      <p:sp>
        <p:nvSpPr>
          <p:cNvPr id="5" name="TextBox 4"/>
          <p:cNvSpPr txBox="1"/>
          <p:nvPr/>
        </p:nvSpPr>
        <p:spPr>
          <a:xfrm>
            <a:off x="548640" y="932688"/>
            <a:ext cx="10820095" cy="4553712"/>
          </a:xfrm>
          <a:prstGeom prst="rect">
            <a:avLst/>
          </a:prstGeom>
          <a:noFill/>
        </p:spPr>
        <p:txBody>
          <a:bodyPr wrap="square" lIns="0" rIns="0" tIns="0" bIns="0">
            <a:normAutofit/>
          </a:bodyPr>
          <a:lstStyle/>
          <a:p>
            <a:pPr marL="256032" indent="-237744">
              <a:lnSpc>
                <a:spcPct val="112000"/>
              </a:lnSpc>
              <a:spcAft>
                <a:spcPts val="700"/>
              </a:spcAft>
              <a:buClr>
                <a:srgbClr val="1E4FA8"/>
              </a:buClr>
              <a:buSzPct val="90000"/>
              <a:buFont typeface="Arial"/>
              <a:buChar char="▪"/>
            </a:pPr>
            <a:r>
              <a:rPr sz="1700" b="1" i="0">
                <a:solidFill>
                  <a:srgbClr val="B8860B"/>
                </a:solidFill>
                <a:latin typeface="Calibri"/>
                <a:ea typeface="Calibri"/>
              </a:rPr>
              <a:t>rgba()</a:t>
            </a:r>
            <a:br/>
            <a:r>
              <a:rPr sz="1500" b="0" i="0">
                <a:solidFill>
                  <a:srgbClr val="4A5568"/>
                </a:solidFill>
                <a:latin typeface="Calibri"/>
                <a:ea typeface="Calibri"/>
              </a:rPr>
              <a:t>The a channel sets opacity — 0 = clear, 1 = solid.</a:t>
            </a:r>
          </a:p>
          <a:p>
            <a:pPr marL="256032" indent="-237744">
              <a:lnSpc>
                <a:spcPct val="112000"/>
              </a:lnSpc>
              <a:spcAft>
                <a:spcPts val="700"/>
              </a:spcAft>
              <a:buClr>
                <a:srgbClr val="1E4FA8"/>
              </a:buClr>
              <a:buSzPct val="90000"/>
              <a:buFont typeface="Arial"/>
              <a:buChar char="▪"/>
            </a:pPr>
            <a:r>
              <a:rPr sz="1700" b="1" i="0">
                <a:solidFill>
                  <a:srgbClr val="B8860B"/>
                </a:solidFill>
                <a:latin typeface="Calibri"/>
                <a:ea typeface="Calibri"/>
              </a:rPr>
              <a:t>opacity</a:t>
            </a:r>
            <a:br/>
            <a:r>
              <a:rPr sz="1500" b="0" i="0">
                <a:solidFill>
                  <a:srgbClr val="4A5568"/>
                </a:solidFill>
                <a:latin typeface="Calibri"/>
                <a:ea typeface="Calibri"/>
              </a:rPr>
              <a:t>Fades the whole element, text included.</a:t>
            </a:r>
          </a:p>
          <a:p>
            <a:pPr marL="256032" indent="-237744">
              <a:lnSpc>
                <a:spcPct val="112000"/>
              </a:lnSpc>
              <a:spcAft>
                <a:spcPts val="700"/>
              </a:spcAft>
              <a:buClr>
                <a:srgbClr val="1E4FA8"/>
              </a:buClr>
              <a:buSzPct val="90000"/>
              <a:buFont typeface="Arial"/>
              <a:buChar char="▪"/>
            </a:pPr>
            <a:r>
              <a:rPr sz="1700" b="1" i="0">
                <a:solidFill>
                  <a:srgbClr val="1A2230"/>
                </a:solidFill>
                <a:latin typeface="Calibri"/>
                <a:ea typeface="Calibri"/>
              </a:rPr>
              <a:t>Overlay</a:t>
            </a:r>
            <a:br/>
            <a:r>
              <a:rPr sz="1500" b="0" i="0">
                <a:solidFill>
                  <a:srgbClr val="4A5568"/>
                </a:solidFill>
                <a:latin typeface="Calibri"/>
                <a:ea typeface="Calibri"/>
              </a:rPr>
              <a:t>A semi-transparent layer over content — a tint, a scrim, a caption.</a:t>
            </a:r>
          </a:p>
          <a:p>
            <a:pPr marL="256032" indent="-237744">
              <a:lnSpc>
                <a:spcPct val="112000"/>
              </a:lnSpc>
              <a:spcAft>
                <a:spcPts val="700"/>
              </a:spcAft>
              <a:buClr>
                <a:srgbClr val="1E4FA8"/>
              </a:buClr>
              <a:buSzPct val="90000"/>
              <a:buFont typeface="Arial"/>
              <a:buChar char="▪"/>
            </a:pPr>
            <a:r>
              <a:rPr sz="1700" b="1" i="0">
                <a:solidFill>
                  <a:srgbClr val="1A2230"/>
                </a:solidFill>
                <a:latin typeface="Calibri"/>
                <a:ea typeface="Calibri"/>
              </a:rPr>
              <a:t>Scrim</a:t>
            </a:r>
            <a:br/>
            <a:r>
              <a:rPr sz="1500" b="0" i="0">
                <a:solidFill>
                  <a:srgbClr val="4A5568"/>
                </a:solidFill>
                <a:latin typeface="Calibri"/>
                <a:ea typeface="Calibri"/>
              </a:rPr>
              <a:t>A full-screen dark layer between the page and a dialog or menu — it dims everything behind, pulls the eye to the dialog, and signals the page is locked until dismissed.</a:t>
            </a:r>
          </a:p>
          <a:p>
            <a:pPr marL="256032" indent="-237744">
              <a:lnSpc>
                <a:spcPct val="112000"/>
              </a:lnSpc>
              <a:spcAft>
                <a:spcPts val="700"/>
              </a:spcAft>
              <a:buClr>
                <a:srgbClr val="1E4FA8"/>
              </a:buClr>
              <a:buSzPct val="90000"/>
              <a:buFont typeface="Arial"/>
              <a:buChar char="▪"/>
            </a:pPr>
            <a:r>
              <a:rPr sz="1700" b="1" i="0">
                <a:solidFill>
                  <a:srgbClr val="1A2230"/>
                </a:solidFill>
                <a:latin typeface="Calibri"/>
                <a:ea typeface="Calibri"/>
              </a:rPr>
              <a:t>Caption</a:t>
            </a:r>
            <a:br/>
            <a:r>
              <a:rPr sz="1500" b="0" i="0">
                <a:solidFill>
                  <a:srgbClr val="4A5568"/>
                </a:solidFill>
                <a:latin typeface="Calibri"/>
                <a:ea typeface="Calibri"/>
              </a:rPr>
              <a:t>Text laid over an image vanishes into a busy or bright photo, so a caption sits on a translucent strip — the strip is what guarantees the words stay readable.</a:t>
            </a:r>
          </a:p>
        </p:txBody>
      </p:sp>
      <p:sp>
        <p:nvSpPr>
          <p:cNvPr id="6" name="Rounded Rectangle 5"/>
          <p:cNvSpPr/>
          <p:nvPr/>
        </p:nvSpPr>
        <p:spPr>
          <a:xfrm>
            <a:off x="548640" y="5577840"/>
            <a:ext cx="11094415" cy="713232"/>
          </a:xfrm>
          <a:prstGeom prst="roundRect">
            <a:avLst>
              <a:gd name="adj" fmla="val 8000"/>
            </a:avLst>
          </a:prstGeom>
          <a:solidFill>
            <a:srgbClr val="1A22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5696712"/>
            <a:ext cx="10454335" cy="256032"/>
          </a:xfrm>
          <a:prstGeom prst="rect">
            <a:avLst/>
          </a:prstGeom>
          <a:noFill/>
        </p:spPr>
        <p:txBody>
          <a:bodyPr wrap="square" anchor="t" lIns="0" rIns="0" tIns="0" bIns="0">
            <a:spAutoFit/>
          </a:bodyPr>
          <a:lstStyle/>
          <a:p>
            <a:pPr algn="l">
              <a:lnSpc>
                <a:spcPct val="110000"/>
              </a:lnSpc>
              <a:spcAft>
                <a:spcPts val="400"/>
              </a:spcAft>
            </a:pPr>
            <a:r>
              <a:rPr sz="1100" b="1" i="0">
                <a:solidFill>
                  <a:srgbClr val="9DC0EE"/>
                </a:solidFill>
                <a:latin typeface="Calibri"/>
                <a:ea typeface="Calibri"/>
              </a:rPr>
              <a:t>A caption overlay on an image   </a:t>
            </a:r>
            <a:r>
              <a:rPr sz="1100" b="1" i="0">
                <a:solidFill>
                  <a:srgbClr val="61AFEF"/>
                </a:solidFill>
                <a:latin typeface="Calibri"/>
                <a:ea typeface="Calibri"/>
                <a:hlinkClick r:id="rId2"/>
                <a:extLst>
                  <a:ext uri="{A12FA001-AC4F-418D-AE19-62706E023703}">
                    <ahyp:hlinkClr xmlns:ahyp="http://schemas.microsoft.com/office/drawing/2018/hyperlinkcolor" val="tx"/>
                  </a:ext>
                </a:extLst>
              </a:rPr>
              <a:t>↗ editor.html?example=css-styling/overlay</a:t>
            </a:r>
          </a:p>
        </p:txBody>
      </p:sp>
      <p:sp>
        <p:nvSpPr>
          <p:cNvPr id="8" name="TextBox 7"/>
          <p:cNvSpPr txBox="1"/>
          <p:nvPr/>
        </p:nvSpPr>
        <p:spPr>
          <a:xfrm>
            <a:off x="868680" y="5961888"/>
            <a:ext cx="10454335" cy="274320"/>
          </a:xfrm>
          <a:prstGeom prst="rect">
            <a:avLst/>
          </a:prstGeom>
          <a:noFill/>
        </p:spPr>
        <p:txBody>
          <a:bodyPr wrap="square" anchor="t" lIns="0" rIns="0" tIns="0" bIns="0">
            <a:spAutoFit/>
          </a:bodyPr>
          <a:lstStyle/>
          <a:p>
            <a:pPr algn="l">
              <a:lnSpc>
                <a:spcPct val="110000"/>
              </a:lnSpc>
              <a:spcAft>
                <a:spcPts val="400"/>
              </a:spcAft>
            </a:pPr>
            <a:r>
              <a:rPr sz="1350" b="0" i="0">
                <a:solidFill>
                  <a:srgbClr val="98C379"/>
                </a:solidFill>
                <a:latin typeface="Consolas"/>
                <a:ea typeface="Consolas"/>
              </a:rPr>
              <a:t>&lt;div style="background: rgba(0, 0, 0, 0.55); color: #fff; padding: 8px;"&gt;Caption&lt;/div&gt;</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6858000"/>
          </a:xfrm>
          <a:prstGeom prst="rect">
            <a:avLst/>
          </a:prstGeom>
          <a:solidFill>
            <a:srgbClr val="1E4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143000"/>
            <a:ext cx="3840480" cy="1828800"/>
          </a:xfrm>
          <a:prstGeom prst="rect">
            <a:avLst/>
          </a:prstGeom>
          <a:noFill/>
        </p:spPr>
        <p:txBody>
          <a:bodyPr wrap="square" anchor="t" lIns="0" rIns="0" tIns="0" bIns="0">
            <a:spAutoFit/>
          </a:bodyPr>
          <a:lstStyle/>
          <a:p>
            <a:pPr algn="l">
              <a:lnSpc>
                <a:spcPct val="110000"/>
              </a:lnSpc>
              <a:spcAft>
                <a:spcPts val="400"/>
              </a:spcAft>
            </a:pPr>
            <a:r>
              <a:rPr sz="9200" b="1" i="0">
                <a:solidFill>
                  <a:srgbClr val="9DC0EE"/>
                </a:solidFill>
                <a:latin typeface="Calibri"/>
                <a:ea typeface="Calibri"/>
              </a:rPr>
              <a:t>03</a:t>
            </a:r>
          </a:p>
        </p:txBody>
      </p:sp>
      <p:sp>
        <p:nvSpPr>
          <p:cNvPr id="5" name="TextBox 4"/>
          <p:cNvSpPr txBox="1"/>
          <p:nvPr/>
        </p:nvSpPr>
        <p:spPr>
          <a:xfrm>
            <a:off x="685800" y="3063240"/>
            <a:ext cx="10607040" cy="822960"/>
          </a:xfrm>
          <a:prstGeom prst="rect">
            <a:avLst/>
          </a:prstGeom>
          <a:noFill/>
        </p:spPr>
        <p:txBody>
          <a:bodyPr wrap="square" anchor="t" lIns="0" rIns="0" tIns="0" bIns="0">
            <a:spAutoFit/>
          </a:bodyPr>
          <a:lstStyle/>
          <a:p>
            <a:pPr algn="l">
              <a:lnSpc>
                <a:spcPct val="110000"/>
              </a:lnSpc>
              <a:spcAft>
                <a:spcPts val="400"/>
              </a:spcAft>
            </a:pPr>
            <a:r>
              <a:rPr sz="3800" b="1" i="0">
                <a:solidFill>
                  <a:srgbClr val="FFFFFF"/>
                </a:solidFill>
                <a:latin typeface="Calibri"/>
                <a:ea typeface="Calibri"/>
              </a:rPr>
              <a:t>Length &amp; Units</a:t>
            </a:r>
          </a:p>
        </p:txBody>
      </p:sp>
      <p:sp>
        <p:nvSpPr>
          <p:cNvPr id="6" name="Rectangle 5"/>
          <p:cNvSpPr/>
          <p:nvPr/>
        </p:nvSpPr>
        <p:spPr>
          <a:xfrm>
            <a:off x="713232" y="3977639"/>
            <a:ext cx="822960" cy="54864"/>
          </a:xfrm>
          <a:prstGeom prst="rect">
            <a:avLst/>
          </a:prstGeom>
          <a:solidFill>
            <a:srgbClr val="1E4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13232" y="4251960"/>
            <a:ext cx="10058400" cy="1645920"/>
          </a:xfrm>
          <a:prstGeom prst="rect">
            <a:avLst/>
          </a:prstGeom>
          <a:noFill/>
        </p:spPr>
        <p:txBody>
          <a:bodyPr wrap="square" lIns="0" rIns="0" tIns="0" bIns="0">
            <a:normAutofit/>
          </a:bodyPr>
          <a:lstStyle/>
          <a:p>
            <a:pPr marL="256032" indent="-237744">
              <a:lnSpc>
                <a:spcPct val="112000"/>
              </a:lnSpc>
              <a:spcAft>
                <a:spcPts val="1000"/>
              </a:spcAft>
              <a:buClr>
                <a:srgbClr val="1E4FA8"/>
              </a:buClr>
              <a:buSzPct val="90000"/>
              <a:buFont typeface="Arial"/>
              <a:buChar char="▪"/>
            </a:pPr>
            <a:r>
              <a:rPr sz="1600" b="0" i="0">
                <a:solidFill>
                  <a:srgbClr val="B9CDEE"/>
                </a:solidFill>
                <a:latin typeface="Calibri"/>
                <a:ea typeface="Calibri"/>
              </a:rPr>
              <a:t>A number plus a unit</a:t>
            </a:r>
          </a:p>
          <a:p>
            <a:pPr marL="256032" indent="-237744">
              <a:lnSpc>
                <a:spcPct val="112000"/>
              </a:lnSpc>
              <a:spcAft>
                <a:spcPts val="1000"/>
              </a:spcAft>
              <a:buClr>
                <a:srgbClr val="1E4FA8"/>
              </a:buClr>
              <a:buSzPct val="90000"/>
              <a:buFont typeface="Arial"/>
              <a:buChar char="▪"/>
            </a:pPr>
            <a:r>
              <a:rPr sz="1600" b="0" i="0">
                <a:solidFill>
                  <a:srgbClr val="B9CDEE"/>
                </a:solidFill>
                <a:latin typeface="Calibri"/>
                <a:ea typeface="Calibri"/>
              </a:rPr>
              <a:t>Absolute vs relative</a:t>
            </a:r>
          </a:p>
          <a:p>
            <a:pPr marL="256032" indent="-237744">
              <a:lnSpc>
                <a:spcPct val="112000"/>
              </a:lnSpc>
              <a:spcAft>
                <a:spcPts val="1000"/>
              </a:spcAft>
              <a:buClr>
                <a:srgbClr val="1E4FA8"/>
              </a:buClr>
              <a:buSzPct val="90000"/>
              <a:buFont typeface="Arial"/>
              <a:buChar char="▪"/>
            </a:pPr>
            <a:r>
              <a:rPr sz="1600" b="0" i="0">
                <a:solidFill>
                  <a:srgbClr val="B9CDEE"/>
                </a:solidFill>
                <a:latin typeface="Calibri"/>
                <a:ea typeface="Calibri"/>
              </a:rPr>
              <a:t>em, rem and the viewport</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66928"/>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6979615" cy="365760"/>
          </a:xfrm>
          <a:prstGeom prst="rect">
            <a:avLst/>
          </a:prstGeom>
          <a:noFill/>
        </p:spPr>
        <p:txBody>
          <a:bodyPr wrap="square" anchor="ctr" lIns="0" rIns="0" tIns="0" bIns="0">
            <a:spAutoFit/>
          </a:bodyPr>
          <a:lstStyle/>
          <a:p>
            <a:pPr algn="l">
              <a:lnSpc>
                <a:spcPct val="110000"/>
              </a:lnSpc>
              <a:spcAft>
                <a:spcPts val="400"/>
              </a:spcAft>
            </a:pPr>
            <a:r>
              <a:rPr sz="2100" b="1" i="0">
                <a:solidFill>
                  <a:srgbClr val="FFFFFF"/>
                </a:solidFill>
                <a:latin typeface="Calibri"/>
                <a:ea typeface="Calibri"/>
              </a:rPr>
              <a:t>Length Units — the idea</a:t>
            </a:r>
          </a:p>
        </p:txBody>
      </p:sp>
      <p:sp>
        <p:nvSpPr>
          <p:cNvPr id="4" name="TextBox 3"/>
          <p:cNvSpPr txBox="1"/>
          <p:nvPr/>
        </p:nvSpPr>
        <p:spPr>
          <a:xfrm>
            <a:off x="7436815" y="109728"/>
            <a:ext cx="4206240" cy="365760"/>
          </a:xfrm>
          <a:prstGeom prst="rect">
            <a:avLst/>
          </a:prstGeom>
          <a:noFill/>
        </p:spPr>
        <p:txBody>
          <a:bodyPr wrap="square" anchor="ctr" lIns="0" rIns="0" tIns="0" bIns="0">
            <a:spAutoFit/>
          </a:bodyPr>
          <a:lstStyle/>
          <a:p>
            <a:pPr algn="r">
              <a:lnSpc>
                <a:spcPct val="110000"/>
              </a:lnSpc>
              <a:spcAft>
                <a:spcPts val="400"/>
              </a:spcAft>
            </a:pPr>
            <a:r>
              <a:rPr sz="1100" b="1" i="0">
                <a:solidFill>
                  <a:srgbClr val="B9CDEE"/>
                </a:solidFill>
                <a:latin typeface="Calibri"/>
                <a:ea typeface="Calibri"/>
              </a:rPr>
              <a:t>COMP3421 · Length &amp; Units</a:t>
            </a:r>
          </a:p>
        </p:txBody>
      </p:sp>
      <p:sp>
        <p:nvSpPr>
          <p:cNvPr id="5" name="TextBox 4"/>
          <p:cNvSpPr txBox="1"/>
          <p:nvPr/>
        </p:nvSpPr>
        <p:spPr>
          <a:xfrm>
            <a:off x="548640" y="932688"/>
            <a:ext cx="10820095" cy="4553712"/>
          </a:xfrm>
          <a:prstGeom prst="rect">
            <a:avLst/>
          </a:prstGeom>
          <a:noFill/>
        </p:spPr>
        <p:txBody>
          <a:bodyPr wrap="square" lIns="0" rIns="0" tIns="0" bIns="0">
            <a:normAutofit/>
          </a:bodyPr>
          <a:lstStyle/>
          <a:p>
            <a:pPr marL="256032" indent="-237744">
              <a:lnSpc>
                <a:spcPct val="112000"/>
              </a:lnSpc>
              <a:spcAft>
                <a:spcPts val="700"/>
              </a:spcAft>
              <a:buClr>
                <a:srgbClr val="1E4FA8"/>
              </a:buClr>
              <a:buSzPct val="90000"/>
              <a:buFont typeface="Arial"/>
              <a:buChar char="▪"/>
            </a:pPr>
            <a:r>
              <a:rPr sz="1700" b="1" i="0">
                <a:solidFill>
                  <a:srgbClr val="1A2230"/>
                </a:solidFill>
                <a:latin typeface="Calibri"/>
                <a:ea typeface="Calibri"/>
              </a:rPr>
              <a:t>A number + a unit</a:t>
            </a:r>
            <a:br/>
            <a:r>
              <a:rPr sz="1500" b="0" i="0">
                <a:solidFill>
                  <a:srgbClr val="4A5568"/>
                </a:solidFill>
                <a:latin typeface="Calibri"/>
                <a:ea typeface="Calibri"/>
              </a:rPr>
              <a:t>10px, 2em, 50% — never a bare number.</a:t>
            </a:r>
          </a:p>
          <a:p>
            <a:pPr marL="256032" indent="-237744">
              <a:lnSpc>
                <a:spcPct val="112000"/>
              </a:lnSpc>
              <a:spcAft>
                <a:spcPts val="700"/>
              </a:spcAft>
              <a:buClr>
                <a:srgbClr val="1E4FA8"/>
              </a:buClr>
              <a:buSzPct val="90000"/>
              <a:buFont typeface="Arial"/>
              <a:buChar char="▪"/>
            </a:pPr>
            <a:r>
              <a:rPr sz="1700" b="1" i="0">
                <a:solidFill>
                  <a:srgbClr val="1A2230"/>
                </a:solidFill>
                <a:latin typeface="Calibri"/>
                <a:ea typeface="Calibri"/>
              </a:rPr>
              <a:t>Where lengths go</a:t>
            </a:r>
            <a:br/>
            <a:r>
              <a:rPr sz="1500" b="0" i="0">
                <a:solidFill>
                  <a:srgbClr val="B8860B"/>
                </a:solidFill>
                <a:latin typeface="Consolas"/>
                <a:ea typeface="Consolas"/>
              </a:rPr>
              <a:t>width</a:t>
            </a:r>
            <a:r>
              <a:rPr sz="1500" b="0" i="0">
                <a:solidFill>
                  <a:srgbClr val="4A5568"/>
                </a:solidFill>
                <a:latin typeface="Calibri"/>
                <a:ea typeface="Calibri"/>
              </a:rPr>
              <a:t>, margin, padding, font-size, border-width…</a:t>
            </a:r>
          </a:p>
          <a:p>
            <a:pPr marL="256032" indent="-237744">
              <a:lnSpc>
                <a:spcPct val="112000"/>
              </a:lnSpc>
              <a:spcAft>
                <a:spcPts val="700"/>
              </a:spcAft>
              <a:buClr>
                <a:srgbClr val="1E4FA8"/>
              </a:buClr>
              <a:buSzPct val="90000"/>
              <a:buFont typeface="Arial"/>
              <a:buChar char="▪"/>
            </a:pPr>
            <a:r>
              <a:rPr sz="1700" b="1" i="0">
                <a:solidFill>
                  <a:srgbClr val="1A2230"/>
                </a:solidFill>
                <a:latin typeface="Calibri"/>
                <a:ea typeface="Calibri"/>
              </a:rPr>
              <a:t>No space allowed</a:t>
            </a:r>
            <a:br/>
            <a:r>
              <a:rPr sz="1500" b="0" i="0">
                <a:solidFill>
                  <a:srgbClr val="4A5568"/>
                </a:solidFill>
                <a:latin typeface="Calibri"/>
                <a:ea typeface="Calibri"/>
              </a:rPr>
              <a:t>18px is right, 18 px is wrong.</a:t>
            </a:r>
          </a:p>
          <a:p>
            <a:pPr marL="256032" indent="-237744">
              <a:lnSpc>
                <a:spcPct val="112000"/>
              </a:lnSpc>
              <a:spcAft>
                <a:spcPts val="700"/>
              </a:spcAft>
              <a:buClr>
                <a:srgbClr val="1E4FA8"/>
              </a:buClr>
              <a:buSzPct val="90000"/>
              <a:buFont typeface="Arial"/>
              <a:buChar char="▪"/>
            </a:pPr>
            <a:r>
              <a:rPr sz="1700" b="1" i="0">
                <a:solidFill>
                  <a:srgbClr val="1A2230"/>
                </a:solidFill>
                <a:latin typeface="Calibri"/>
                <a:ea typeface="Calibri"/>
              </a:rPr>
              <a:t>Zero needs no unit</a:t>
            </a:r>
            <a:br/>
            <a:r>
              <a:rPr sz="1500" b="0" i="0">
                <a:solidFill>
                  <a:srgbClr val="4A5568"/>
                </a:solidFill>
                <a:latin typeface="Calibri"/>
                <a:ea typeface="Calibri"/>
              </a:rPr>
              <a:t>0 is 0 — margin: 0, not 0px.</a:t>
            </a:r>
          </a:p>
        </p:txBody>
      </p:sp>
      <p:sp>
        <p:nvSpPr>
          <p:cNvPr id="6" name="Rounded Rectangle 5"/>
          <p:cNvSpPr/>
          <p:nvPr/>
        </p:nvSpPr>
        <p:spPr>
          <a:xfrm>
            <a:off x="548640" y="5577840"/>
            <a:ext cx="11094415" cy="713232"/>
          </a:xfrm>
          <a:prstGeom prst="roundRect">
            <a:avLst>
              <a:gd name="adj" fmla="val 8000"/>
            </a:avLst>
          </a:prstGeom>
          <a:solidFill>
            <a:srgbClr val="1A22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5696712"/>
            <a:ext cx="10454335" cy="256032"/>
          </a:xfrm>
          <a:prstGeom prst="rect">
            <a:avLst/>
          </a:prstGeom>
          <a:noFill/>
        </p:spPr>
        <p:txBody>
          <a:bodyPr wrap="square" anchor="t" lIns="0" rIns="0" tIns="0" bIns="0">
            <a:spAutoFit/>
          </a:bodyPr>
          <a:lstStyle/>
          <a:p>
            <a:pPr algn="l">
              <a:lnSpc>
                <a:spcPct val="110000"/>
              </a:lnSpc>
              <a:spcAft>
                <a:spcPts val="400"/>
              </a:spcAft>
            </a:pPr>
            <a:r>
              <a:rPr sz="1100" b="1" i="0">
                <a:solidFill>
                  <a:srgbClr val="9DC0EE"/>
                </a:solidFill>
                <a:latin typeface="Calibri"/>
                <a:ea typeface="Calibri"/>
              </a:rPr>
              <a:t>A length = a number followed by a unit   </a:t>
            </a:r>
            <a:r>
              <a:rPr sz="1100" b="1" i="0">
                <a:solidFill>
                  <a:srgbClr val="61AFEF"/>
                </a:solidFill>
                <a:latin typeface="Calibri"/>
                <a:ea typeface="Calibri"/>
                <a:hlinkClick r:id="rId2"/>
                <a:extLst>
                  <a:ext uri="{A12FA001-AC4F-418D-AE19-62706E023703}">
                    <ahyp:hlinkClr xmlns:ahyp="http://schemas.microsoft.com/office/drawing/2018/hyperlinkcolor" val="tx"/>
                  </a:ext>
                </a:extLst>
              </a:rPr>
              <a:t>↗ editor.html?example=css-styling/length-units</a:t>
            </a:r>
          </a:p>
        </p:txBody>
      </p:sp>
      <p:sp>
        <p:nvSpPr>
          <p:cNvPr id="8" name="TextBox 7"/>
          <p:cNvSpPr txBox="1"/>
          <p:nvPr/>
        </p:nvSpPr>
        <p:spPr>
          <a:xfrm>
            <a:off x="868680" y="5961888"/>
            <a:ext cx="10454335" cy="274320"/>
          </a:xfrm>
          <a:prstGeom prst="rect">
            <a:avLst/>
          </a:prstGeom>
          <a:noFill/>
        </p:spPr>
        <p:txBody>
          <a:bodyPr wrap="square" anchor="t" lIns="0" rIns="0" tIns="0" bIns="0">
            <a:spAutoFit/>
          </a:bodyPr>
          <a:lstStyle/>
          <a:p>
            <a:pPr algn="l">
              <a:lnSpc>
                <a:spcPct val="110000"/>
              </a:lnSpc>
              <a:spcAft>
                <a:spcPts val="400"/>
              </a:spcAft>
            </a:pPr>
            <a:r>
              <a:rPr sz="1350" b="0" i="0">
                <a:solidFill>
                  <a:srgbClr val="98C379"/>
                </a:solidFill>
                <a:latin typeface="Consolas"/>
                <a:ea typeface="Consolas"/>
              </a:rPr>
              <a:t>&lt;div style="font-size: 18px; margin: 2em; width: 50%;"&gt;</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66928"/>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6979615" cy="365760"/>
          </a:xfrm>
          <a:prstGeom prst="rect">
            <a:avLst/>
          </a:prstGeom>
          <a:noFill/>
        </p:spPr>
        <p:txBody>
          <a:bodyPr wrap="square" anchor="ctr" lIns="0" rIns="0" tIns="0" bIns="0">
            <a:spAutoFit/>
          </a:bodyPr>
          <a:lstStyle/>
          <a:p>
            <a:pPr algn="l">
              <a:lnSpc>
                <a:spcPct val="110000"/>
              </a:lnSpc>
              <a:spcAft>
                <a:spcPts val="400"/>
              </a:spcAft>
            </a:pPr>
            <a:r>
              <a:rPr sz="2100" b="1" i="0">
                <a:solidFill>
                  <a:srgbClr val="FFFFFF"/>
                </a:solidFill>
                <a:latin typeface="Calibri"/>
                <a:ea typeface="Calibri"/>
              </a:rPr>
              <a:t>Absolute Units</a:t>
            </a:r>
          </a:p>
        </p:txBody>
      </p:sp>
      <p:sp>
        <p:nvSpPr>
          <p:cNvPr id="4" name="TextBox 3"/>
          <p:cNvSpPr txBox="1"/>
          <p:nvPr/>
        </p:nvSpPr>
        <p:spPr>
          <a:xfrm>
            <a:off x="7436815" y="109728"/>
            <a:ext cx="4206240" cy="365760"/>
          </a:xfrm>
          <a:prstGeom prst="rect">
            <a:avLst/>
          </a:prstGeom>
          <a:noFill/>
        </p:spPr>
        <p:txBody>
          <a:bodyPr wrap="square" anchor="ctr" lIns="0" rIns="0" tIns="0" bIns="0">
            <a:spAutoFit/>
          </a:bodyPr>
          <a:lstStyle/>
          <a:p>
            <a:pPr algn="r">
              <a:lnSpc>
                <a:spcPct val="110000"/>
              </a:lnSpc>
              <a:spcAft>
                <a:spcPts val="400"/>
              </a:spcAft>
            </a:pPr>
            <a:r>
              <a:rPr sz="1100" b="1" i="0">
                <a:solidFill>
                  <a:srgbClr val="B9CDEE"/>
                </a:solidFill>
                <a:latin typeface="Calibri"/>
                <a:ea typeface="Calibri"/>
              </a:rPr>
              <a:t>COMP3421 · Length &amp; Units</a:t>
            </a:r>
          </a:p>
        </p:txBody>
      </p:sp>
      <p:sp>
        <p:nvSpPr>
          <p:cNvPr id="5" name="TextBox 4"/>
          <p:cNvSpPr txBox="1"/>
          <p:nvPr/>
        </p:nvSpPr>
        <p:spPr>
          <a:xfrm>
            <a:off x="548640" y="914400"/>
            <a:ext cx="11094415" cy="365760"/>
          </a:xfrm>
          <a:prstGeom prst="rect">
            <a:avLst/>
          </a:prstGeom>
          <a:noFill/>
        </p:spPr>
        <p:txBody>
          <a:bodyPr wrap="square" anchor="t" lIns="0" rIns="0" tIns="0" bIns="0">
            <a:spAutoFit/>
          </a:bodyPr>
          <a:lstStyle/>
          <a:p>
            <a:pPr algn="l">
              <a:lnSpc>
                <a:spcPct val="110000"/>
              </a:lnSpc>
              <a:spcAft>
                <a:spcPts val="400"/>
              </a:spcAft>
            </a:pPr>
            <a:r>
              <a:rPr sz="1400" b="0" i="0">
                <a:solidFill>
                  <a:srgbClr val="4A5568"/>
                </a:solidFill>
                <a:latin typeface="Calibri"/>
                <a:ea typeface="Calibri"/>
              </a:rPr>
              <a:t>Each bar is the real width of </a:t>
            </a:r>
            <a:r>
              <a:rPr sz="1400" b="1" i="0">
                <a:solidFill>
                  <a:srgbClr val="0E3F8C"/>
                </a:solidFill>
                <a:latin typeface="Calibri"/>
                <a:ea typeface="Calibri"/>
              </a:rPr>
              <a:t>10 units</a:t>
            </a:r>
            <a:r>
              <a:rPr sz="1400" b="0" i="0">
                <a:solidFill>
                  <a:srgbClr val="4A5568"/>
                </a:solidFill>
                <a:latin typeface="Calibri"/>
                <a:ea typeface="Calibri"/>
              </a:rPr>
              <a:t> — drawn to scale   (1in = 96px = 2.54cm)</a:t>
            </a:r>
          </a:p>
        </p:txBody>
      </p:sp>
      <p:sp>
        <p:nvSpPr>
          <p:cNvPr id="6" name="TextBox 5"/>
          <p:cNvSpPr txBox="1"/>
          <p:nvPr/>
        </p:nvSpPr>
        <p:spPr>
          <a:xfrm>
            <a:off x="548640" y="1389888"/>
            <a:ext cx="941831" cy="310896"/>
          </a:xfrm>
          <a:prstGeom prst="rect">
            <a:avLst/>
          </a:prstGeom>
          <a:noFill/>
        </p:spPr>
        <p:txBody>
          <a:bodyPr wrap="square" anchor="t" lIns="0" rIns="0" tIns="0" bIns="0">
            <a:spAutoFit/>
          </a:bodyPr>
          <a:lstStyle/>
          <a:p>
            <a:pPr algn="l">
              <a:lnSpc>
                <a:spcPct val="110000"/>
              </a:lnSpc>
              <a:spcAft>
                <a:spcPts val="400"/>
              </a:spcAft>
            </a:pPr>
            <a:r>
              <a:rPr sz="1500" b="1" i="0">
                <a:solidFill>
                  <a:srgbClr val="0E3F8C"/>
                </a:solidFill>
                <a:latin typeface="Consolas"/>
                <a:ea typeface="Consolas"/>
              </a:rPr>
              <a:t>10in</a:t>
            </a:r>
          </a:p>
        </p:txBody>
      </p:sp>
      <p:sp>
        <p:nvSpPr>
          <p:cNvPr id="7" name="TextBox 6"/>
          <p:cNvSpPr txBox="1"/>
          <p:nvPr/>
        </p:nvSpPr>
        <p:spPr>
          <a:xfrm>
            <a:off x="548640" y="1664208"/>
            <a:ext cx="941831" cy="256032"/>
          </a:xfrm>
          <a:prstGeom prst="rect">
            <a:avLst/>
          </a:prstGeom>
          <a:noFill/>
        </p:spPr>
        <p:txBody>
          <a:bodyPr wrap="square" anchor="t" lIns="0" rIns="0" tIns="0" bIns="0">
            <a:spAutoFit/>
          </a:bodyPr>
          <a:lstStyle/>
          <a:p>
            <a:pPr algn="l">
              <a:lnSpc>
                <a:spcPct val="110000"/>
              </a:lnSpc>
              <a:spcAft>
                <a:spcPts val="400"/>
              </a:spcAft>
            </a:pPr>
            <a:r>
              <a:rPr sz="1050" b="0" i="0">
                <a:solidFill>
                  <a:srgbClr val="4A5568"/>
                </a:solidFill>
                <a:latin typeface="Calibri"/>
                <a:ea typeface="Calibri"/>
              </a:rPr>
              <a:t>= 10.00 in</a:t>
            </a:r>
          </a:p>
        </p:txBody>
      </p:sp>
      <p:sp>
        <p:nvSpPr>
          <p:cNvPr id="8" name="Rounded Rectangle 7"/>
          <p:cNvSpPr/>
          <p:nvPr/>
        </p:nvSpPr>
        <p:spPr>
          <a:xfrm>
            <a:off x="1600200" y="1426464"/>
            <a:ext cx="9144000" cy="384048"/>
          </a:xfrm>
          <a:prstGeom prst="roundRect">
            <a:avLst>
              <a:gd name="adj" fmla="val 6000"/>
            </a:avLst>
          </a:prstGeom>
          <a:solidFill>
            <a:srgbClr val="1E4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2139696"/>
            <a:ext cx="941831" cy="310896"/>
          </a:xfrm>
          <a:prstGeom prst="rect">
            <a:avLst/>
          </a:prstGeom>
          <a:noFill/>
        </p:spPr>
        <p:txBody>
          <a:bodyPr wrap="square" anchor="t" lIns="0" rIns="0" tIns="0" bIns="0">
            <a:spAutoFit/>
          </a:bodyPr>
          <a:lstStyle/>
          <a:p>
            <a:pPr algn="l">
              <a:lnSpc>
                <a:spcPct val="110000"/>
              </a:lnSpc>
              <a:spcAft>
                <a:spcPts val="400"/>
              </a:spcAft>
            </a:pPr>
            <a:r>
              <a:rPr sz="1500" b="1" i="0">
                <a:solidFill>
                  <a:srgbClr val="0E3F8C"/>
                </a:solidFill>
                <a:latin typeface="Consolas"/>
                <a:ea typeface="Consolas"/>
              </a:rPr>
              <a:t>10cm</a:t>
            </a:r>
          </a:p>
        </p:txBody>
      </p:sp>
      <p:sp>
        <p:nvSpPr>
          <p:cNvPr id="10" name="TextBox 9"/>
          <p:cNvSpPr txBox="1"/>
          <p:nvPr/>
        </p:nvSpPr>
        <p:spPr>
          <a:xfrm>
            <a:off x="548640" y="2414015"/>
            <a:ext cx="941831" cy="256032"/>
          </a:xfrm>
          <a:prstGeom prst="rect">
            <a:avLst/>
          </a:prstGeom>
          <a:noFill/>
        </p:spPr>
        <p:txBody>
          <a:bodyPr wrap="square" anchor="t" lIns="0" rIns="0" tIns="0" bIns="0">
            <a:spAutoFit/>
          </a:bodyPr>
          <a:lstStyle/>
          <a:p>
            <a:pPr algn="l">
              <a:lnSpc>
                <a:spcPct val="110000"/>
              </a:lnSpc>
              <a:spcAft>
                <a:spcPts val="400"/>
              </a:spcAft>
            </a:pPr>
            <a:r>
              <a:rPr sz="1050" b="0" i="0">
                <a:solidFill>
                  <a:srgbClr val="4A5568"/>
                </a:solidFill>
                <a:latin typeface="Calibri"/>
                <a:ea typeface="Calibri"/>
              </a:rPr>
              <a:t>≈ 3.94 in</a:t>
            </a:r>
          </a:p>
        </p:txBody>
      </p:sp>
      <p:sp>
        <p:nvSpPr>
          <p:cNvPr id="11" name="Rounded Rectangle 10"/>
          <p:cNvSpPr/>
          <p:nvPr/>
        </p:nvSpPr>
        <p:spPr>
          <a:xfrm>
            <a:off x="1600200" y="2176272"/>
            <a:ext cx="3599992" cy="384048"/>
          </a:xfrm>
          <a:prstGeom prst="roundRect">
            <a:avLst>
              <a:gd name="adj" fmla="val 6000"/>
            </a:avLst>
          </a:prstGeom>
          <a:solidFill>
            <a:srgbClr val="1E4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48640" y="2889504"/>
            <a:ext cx="941831" cy="310896"/>
          </a:xfrm>
          <a:prstGeom prst="rect">
            <a:avLst/>
          </a:prstGeom>
          <a:noFill/>
        </p:spPr>
        <p:txBody>
          <a:bodyPr wrap="square" anchor="t" lIns="0" rIns="0" tIns="0" bIns="0">
            <a:spAutoFit/>
          </a:bodyPr>
          <a:lstStyle/>
          <a:p>
            <a:pPr algn="l">
              <a:lnSpc>
                <a:spcPct val="110000"/>
              </a:lnSpc>
              <a:spcAft>
                <a:spcPts val="400"/>
              </a:spcAft>
            </a:pPr>
            <a:r>
              <a:rPr sz="1500" b="1" i="0">
                <a:solidFill>
                  <a:srgbClr val="0E3F8C"/>
                </a:solidFill>
                <a:latin typeface="Consolas"/>
                <a:ea typeface="Consolas"/>
              </a:rPr>
              <a:t>10pc</a:t>
            </a:r>
          </a:p>
        </p:txBody>
      </p:sp>
      <p:sp>
        <p:nvSpPr>
          <p:cNvPr id="13" name="TextBox 12"/>
          <p:cNvSpPr txBox="1"/>
          <p:nvPr/>
        </p:nvSpPr>
        <p:spPr>
          <a:xfrm>
            <a:off x="548640" y="3163824"/>
            <a:ext cx="941831" cy="256032"/>
          </a:xfrm>
          <a:prstGeom prst="rect">
            <a:avLst/>
          </a:prstGeom>
          <a:noFill/>
        </p:spPr>
        <p:txBody>
          <a:bodyPr wrap="square" anchor="t" lIns="0" rIns="0" tIns="0" bIns="0">
            <a:spAutoFit/>
          </a:bodyPr>
          <a:lstStyle/>
          <a:p>
            <a:pPr algn="l">
              <a:lnSpc>
                <a:spcPct val="110000"/>
              </a:lnSpc>
              <a:spcAft>
                <a:spcPts val="400"/>
              </a:spcAft>
            </a:pPr>
            <a:r>
              <a:rPr sz="1050" b="0" i="0">
                <a:solidFill>
                  <a:srgbClr val="4A5568"/>
                </a:solidFill>
                <a:latin typeface="Calibri"/>
                <a:ea typeface="Calibri"/>
              </a:rPr>
              <a:t>≈ 1.67 in</a:t>
            </a:r>
          </a:p>
        </p:txBody>
      </p:sp>
      <p:sp>
        <p:nvSpPr>
          <p:cNvPr id="14" name="Rounded Rectangle 13"/>
          <p:cNvSpPr/>
          <p:nvPr/>
        </p:nvSpPr>
        <p:spPr>
          <a:xfrm>
            <a:off x="1600200" y="2926080"/>
            <a:ext cx="1524030" cy="384048"/>
          </a:xfrm>
          <a:prstGeom prst="roundRect">
            <a:avLst>
              <a:gd name="adj" fmla="val 6000"/>
            </a:avLst>
          </a:prstGeom>
          <a:solidFill>
            <a:srgbClr val="1E4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48640" y="3639312"/>
            <a:ext cx="941831" cy="310896"/>
          </a:xfrm>
          <a:prstGeom prst="rect">
            <a:avLst/>
          </a:prstGeom>
          <a:noFill/>
        </p:spPr>
        <p:txBody>
          <a:bodyPr wrap="square" anchor="t" lIns="0" rIns="0" tIns="0" bIns="0">
            <a:spAutoFit/>
          </a:bodyPr>
          <a:lstStyle/>
          <a:p>
            <a:pPr algn="l">
              <a:lnSpc>
                <a:spcPct val="110000"/>
              </a:lnSpc>
              <a:spcAft>
                <a:spcPts val="400"/>
              </a:spcAft>
            </a:pPr>
            <a:r>
              <a:rPr sz="1500" b="1" i="0">
                <a:solidFill>
                  <a:srgbClr val="0E3F8C"/>
                </a:solidFill>
                <a:latin typeface="Consolas"/>
                <a:ea typeface="Consolas"/>
              </a:rPr>
              <a:t>10mm</a:t>
            </a:r>
          </a:p>
        </p:txBody>
      </p:sp>
      <p:sp>
        <p:nvSpPr>
          <p:cNvPr id="16" name="TextBox 15"/>
          <p:cNvSpPr txBox="1"/>
          <p:nvPr/>
        </p:nvSpPr>
        <p:spPr>
          <a:xfrm>
            <a:off x="548640" y="3913632"/>
            <a:ext cx="941831" cy="256032"/>
          </a:xfrm>
          <a:prstGeom prst="rect">
            <a:avLst/>
          </a:prstGeom>
          <a:noFill/>
        </p:spPr>
        <p:txBody>
          <a:bodyPr wrap="square" anchor="t" lIns="0" rIns="0" tIns="0" bIns="0">
            <a:spAutoFit/>
          </a:bodyPr>
          <a:lstStyle/>
          <a:p>
            <a:pPr algn="l">
              <a:lnSpc>
                <a:spcPct val="110000"/>
              </a:lnSpc>
              <a:spcAft>
                <a:spcPts val="400"/>
              </a:spcAft>
            </a:pPr>
            <a:r>
              <a:rPr sz="1050" b="0" i="0">
                <a:solidFill>
                  <a:srgbClr val="4A5568"/>
                </a:solidFill>
                <a:latin typeface="Calibri"/>
                <a:ea typeface="Calibri"/>
              </a:rPr>
              <a:t>≈ 0.39 in</a:t>
            </a:r>
          </a:p>
        </p:txBody>
      </p:sp>
      <p:sp>
        <p:nvSpPr>
          <p:cNvPr id="17" name="Rounded Rectangle 16"/>
          <p:cNvSpPr/>
          <p:nvPr/>
        </p:nvSpPr>
        <p:spPr>
          <a:xfrm>
            <a:off x="1600200" y="3675887"/>
            <a:ext cx="359999" cy="384048"/>
          </a:xfrm>
          <a:prstGeom prst="roundRect">
            <a:avLst>
              <a:gd name="adj" fmla="val 6000"/>
            </a:avLst>
          </a:prstGeom>
          <a:solidFill>
            <a:srgbClr val="1E4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48640" y="4389120"/>
            <a:ext cx="941831" cy="310896"/>
          </a:xfrm>
          <a:prstGeom prst="rect">
            <a:avLst/>
          </a:prstGeom>
          <a:noFill/>
        </p:spPr>
        <p:txBody>
          <a:bodyPr wrap="square" anchor="t" lIns="0" rIns="0" tIns="0" bIns="0">
            <a:spAutoFit/>
          </a:bodyPr>
          <a:lstStyle/>
          <a:p>
            <a:pPr algn="l">
              <a:lnSpc>
                <a:spcPct val="110000"/>
              </a:lnSpc>
              <a:spcAft>
                <a:spcPts val="400"/>
              </a:spcAft>
            </a:pPr>
            <a:r>
              <a:rPr sz="1500" b="1" i="0">
                <a:solidFill>
                  <a:srgbClr val="0E3F8C"/>
                </a:solidFill>
                <a:latin typeface="Consolas"/>
                <a:ea typeface="Consolas"/>
              </a:rPr>
              <a:t>10pt</a:t>
            </a:r>
          </a:p>
        </p:txBody>
      </p:sp>
      <p:sp>
        <p:nvSpPr>
          <p:cNvPr id="19" name="TextBox 18"/>
          <p:cNvSpPr txBox="1"/>
          <p:nvPr/>
        </p:nvSpPr>
        <p:spPr>
          <a:xfrm>
            <a:off x="548640" y="4663440"/>
            <a:ext cx="941831" cy="256032"/>
          </a:xfrm>
          <a:prstGeom prst="rect">
            <a:avLst/>
          </a:prstGeom>
          <a:noFill/>
        </p:spPr>
        <p:txBody>
          <a:bodyPr wrap="square" anchor="t" lIns="0" rIns="0" tIns="0" bIns="0">
            <a:spAutoFit/>
          </a:bodyPr>
          <a:lstStyle/>
          <a:p>
            <a:pPr algn="l">
              <a:lnSpc>
                <a:spcPct val="110000"/>
              </a:lnSpc>
              <a:spcAft>
                <a:spcPts val="400"/>
              </a:spcAft>
            </a:pPr>
            <a:r>
              <a:rPr sz="1050" b="0" i="0">
                <a:solidFill>
                  <a:srgbClr val="4A5568"/>
                </a:solidFill>
                <a:latin typeface="Calibri"/>
                <a:ea typeface="Calibri"/>
              </a:rPr>
              <a:t>≈ 0.14 in</a:t>
            </a:r>
          </a:p>
        </p:txBody>
      </p:sp>
      <p:sp>
        <p:nvSpPr>
          <p:cNvPr id="20" name="Rounded Rectangle 19"/>
          <p:cNvSpPr/>
          <p:nvPr/>
        </p:nvSpPr>
        <p:spPr>
          <a:xfrm>
            <a:off x="1600200" y="4425696"/>
            <a:ext cx="127010" cy="384048"/>
          </a:xfrm>
          <a:prstGeom prst="roundRect">
            <a:avLst>
              <a:gd name="adj" fmla="val 6000"/>
            </a:avLst>
          </a:prstGeom>
          <a:solidFill>
            <a:srgbClr val="1E4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48640" y="5138927"/>
            <a:ext cx="941831" cy="310896"/>
          </a:xfrm>
          <a:prstGeom prst="rect">
            <a:avLst/>
          </a:prstGeom>
          <a:noFill/>
        </p:spPr>
        <p:txBody>
          <a:bodyPr wrap="square" anchor="t" lIns="0" rIns="0" tIns="0" bIns="0">
            <a:spAutoFit/>
          </a:bodyPr>
          <a:lstStyle/>
          <a:p>
            <a:pPr algn="l">
              <a:lnSpc>
                <a:spcPct val="110000"/>
              </a:lnSpc>
              <a:spcAft>
                <a:spcPts val="400"/>
              </a:spcAft>
            </a:pPr>
            <a:r>
              <a:rPr sz="1500" b="1" i="0">
                <a:solidFill>
                  <a:srgbClr val="0E3F8C"/>
                </a:solidFill>
                <a:latin typeface="Consolas"/>
                <a:ea typeface="Consolas"/>
              </a:rPr>
              <a:t>10px</a:t>
            </a:r>
          </a:p>
        </p:txBody>
      </p:sp>
      <p:sp>
        <p:nvSpPr>
          <p:cNvPr id="22" name="TextBox 21"/>
          <p:cNvSpPr txBox="1"/>
          <p:nvPr/>
        </p:nvSpPr>
        <p:spPr>
          <a:xfrm>
            <a:off x="548640" y="5413247"/>
            <a:ext cx="941831" cy="256032"/>
          </a:xfrm>
          <a:prstGeom prst="rect">
            <a:avLst/>
          </a:prstGeom>
          <a:noFill/>
        </p:spPr>
        <p:txBody>
          <a:bodyPr wrap="square" anchor="t" lIns="0" rIns="0" tIns="0" bIns="0">
            <a:spAutoFit/>
          </a:bodyPr>
          <a:lstStyle/>
          <a:p>
            <a:pPr algn="l">
              <a:lnSpc>
                <a:spcPct val="110000"/>
              </a:lnSpc>
              <a:spcAft>
                <a:spcPts val="400"/>
              </a:spcAft>
            </a:pPr>
            <a:r>
              <a:rPr sz="1050" b="0" i="0">
                <a:solidFill>
                  <a:srgbClr val="4A5568"/>
                </a:solidFill>
                <a:latin typeface="Calibri"/>
                <a:ea typeface="Calibri"/>
              </a:rPr>
              <a:t>≈ 0.10 in</a:t>
            </a:r>
          </a:p>
        </p:txBody>
      </p:sp>
      <p:sp>
        <p:nvSpPr>
          <p:cNvPr id="23" name="Rounded Rectangle 22"/>
          <p:cNvSpPr/>
          <p:nvPr/>
        </p:nvSpPr>
        <p:spPr>
          <a:xfrm>
            <a:off x="1600200" y="5175503"/>
            <a:ext cx="95280" cy="384048"/>
          </a:xfrm>
          <a:prstGeom prst="roundRect">
            <a:avLst>
              <a:gd name="adj" fmla="val 5210"/>
            </a:avLst>
          </a:prstGeom>
          <a:solidFill>
            <a:srgbClr val="1E4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548640" y="5852159"/>
            <a:ext cx="11094415" cy="475488"/>
          </a:xfrm>
          <a:prstGeom prst="roundRect">
            <a:avLst>
              <a:gd name="adj" fmla="val 10000"/>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14400" y="5961888"/>
            <a:ext cx="10362895" cy="310896"/>
          </a:xfrm>
          <a:prstGeom prst="rect">
            <a:avLst/>
          </a:prstGeom>
          <a:noFill/>
        </p:spPr>
        <p:txBody>
          <a:bodyPr wrap="square" anchor="t" lIns="0" rIns="0" tIns="0" bIns="0">
            <a:spAutoFit/>
          </a:bodyPr>
          <a:lstStyle/>
          <a:p>
            <a:pPr algn="l">
              <a:lnSpc>
                <a:spcPct val="110000"/>
              </a:lnSpc>
              <a:spcAft>
                <a:spcPts val="400"/>
              </a:spcAft>
            </a:pPr>
            <a:r>
              <a:rPr sz="1350" b="1" i="0">
                <a:solidFill>
                  <a:srgbClr val="FFFFFF"/>
                </a:solidFill>
                <a:latin typeface="Calibri"/>
                <a:ea typeface="Calibri"/>
              </a:rPr>
              <a:t>Absolute is a name, not a promise — px still varies with screen density.  </a:t>
            </a:r>
            <a:r>
              <a:rPr sz="1250" b="1" i="0">
                <a:solidFill>
                  <a:srgbClr val="9DC0EE"/>
                </a:solidFill>
                <a:latin typeface="Calibri"/>
                <a:ea typeface="Calibri"/>
                <a:hlinkClick r:id="rId2"/>
                <a:extLst>
                  <a:ext uri="{A12FA001-AC4F-418D-AE19-62706E023703}">
                    <ahyp:hlinkClr xmlns:ahyp="http://schemas.microsoft.com/office/drawing/2018/hyperlinkcolor" val="tx"/>
                  </a:ext>
                </a:extLst>
              </a:rPr>
              <a:t>↗ editor.html?example=css-styling/length-units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66928"/>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6979615" cy="365760"/>
          </a:xfrm>
          <a:prstGeom prst="rect">
            <a:avLst/>
          </a:prstGeom>
          <a:noFill/>
        </p:spPr>
        <p:txBody>
          <a:bodyPr wrap="square" anchor="ctr" lIns="0" rIns="0" tIns="0" bIns="0">
            <a:spAutoFit/>
          </a:bodyPr>
          <a:lstStyle/>
          <a:p>
            <a:pPr algn="l">
              <a:lnSpc>
                <a:spcPct val="110000"/>
              </a:lnSpc>
              <a:spcAft>
                <a:spcPts val="400"/>
              </a:spcAft>
            </a:pPr>
            <a:r>
              <a:rPr sz="2100" b="1" i="0">
                <a:solidFill>
                  <a:srgbClr val="FFFFFF"/>
                </a:solidFill>
                <a:latin typeface="Calibri"/>
                <a:ea typeface="Calibri"/>
              </a:rPr>
              <a:t>Relative Units</a:t>
            </a:r>
          </a:p>
        </p:txBody>
      </p:sp>
      <p:sp>
        <p:nvSpPr>
          <p:cNvPr id="4" name="TextBox 3"/>
          <p:cNvSpPr txBox="1"/>
          <p:nvPr/>
        </p:nvSpPr>
        <p:spPr>
          <a:xfrm>
            <a:off x="7436815" y="109728"/>
            <a:ext cx="4206240" cy="365760"/>
          </a:xfrm>
          <a:prstGeom prst="rect">
            <a:avLst/>
          </a:prstGeom>
          <a:noFill/>
        </p:spPr>
        <p:txBody>
          <a:bodyPr wrap="square" anchor="ctr" lIns="0" rIns="0" tIns="0" bIns="0">
            <a:spAutoFit/>
          </a:bodyPr>
          <a:lstStyle/>
          <a:p>
            <a:pPr algn="r">
              <a:lnSpc>
                <a:spcPct val="110000"/>
              </a:lnSpc>
              <a:spcAft>
                <a:spcPts val="400"/>
              </a:spcAft>
            </a:pPr>
            <a:r>
              <a:rPr sz="1100" b="1" i="0">
                <a:solidFill>
                  <a:srgbClr val="B9CDEE"/>
                </a:solidFill>
                <a:latin typeface="Calibri"/>
                <a:ea typeface="Calibri"/>
              </a:rPr>
              <a:t>COMP3421 · Length &amp; Units</a:t>
            </a:r>
          </a:p>
        </p:txBody>
      </p:sp>
      <p:sp>
        <p:nvSpPr>
          <p:cNvPr id="5" name="Rectangle 4"/>
          <p:cNvSpPr/>
          <p:nvPr/>
        </p:nvSpPr>
        <p:spPr>
          <a:xfrm>
            <a:off x="548640" y="932688"/>
            <a:ext cx="2000632" cy="512064"/>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13232" y="932688"/>
            <a:ext cx="1671448" cy="512064"/>
          </a:xfrm>
          <a:prstGeom prst="rect">
            <a:avLst/>
          </a:prstGeom>
          <a:noFill/>
        </p:spPr>
        <p:txBody>
          <a:bodyPr wrap="square" anchor="ctr" lIns="0" rIns="0" tIns="0" bIns="0">
            <a:spAutoFit/>
          </a:bodyPr>
          <a:lstStyle/>
          <a:p>
            <a:pPr algn="l">
              <a:lnSpc>
                <a:spcPct val="110000"/>
              </a:lnSpc>
              <a:spcAft>
                <a:spcPts val="0"/>
              </a:spcAft>
            </a:pPr>
            <a:r>
              <a:rPr sz="1400" b="1" i="0">
                <a:solidFill>
                  <a:srgbClr val="FFFFFF"/>
                </a:solidFill>
                <a:latin typeface="Calibri"/>
                <a:ea typeface="Calibri"/>
              </a:rPr>
              <a:t>Unit</a:t>
            </a:r>
          </a:p>
        </p:txBody>
      </p:sp>
      <p:sp>
        <p:nvSpPr>
          <p:cNvPr id="7" name="Rectangle 6"/>
          <p:cNvSpPr/>
          <p:nvPr/>
        </p:nvSpPr>
        <p:spPr>
          <a:xfrm>
            <a:off x="2549272" y="932688"/>
            <a:ext cx="4546891" cy="512064"/>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713864" y="932688"/>
            <a:ext cx="4217707" cy="512064"/>
          </a:xfrm>
          <a:prstGeom prst="rect">
            <a:avLst/>
          </a:prstGeom>
          <a:noFill/>
        </p:spPr>
        <p:txBody>
          <a:bodyPr wrap="square" anchor="ctr" lIns="0" rIns="0" tIns="0" bIns="0">
            <a:spAutoFit/>
          </a:bodyPr>
          <a:lstStyle/>
          <a:p>
            <a:pPr algn="l">
              <a:lnSpc>
                <a:spcPct val="110000"/>
              </a:lnSpc>
              <a:spcAft>
                <a:spcPts val="0"/>
              </a:spcAft>
            </a:pPr>
            <a:r>
              <a:rPr sz="1400" b="1" i="0">
                <a:solidFill>
                  <a:srgbClr val="FFFFFF"/>
                </a:solidFill>
                <a:latin typeface="Calibri"/>
                <a:ea typeface="Calibri"/>
              </a:rPr>
              <a:t>Relative to</a:t>
            </a:r>
          </a:p>
        </p:txBody>
      </p:sp>
      <p:sp>
        <p:nvSpPr>
          <p:cNvPr id="9" name="Rectangle 8"/>
          <p:cNvSpPr/>
          <p:nvPr/>
        </p:nvSpPr>
        <p:spPr>
          <a:xfrm>
            <a:off x="7096163" y="932688"/>
            <a:ext cx="4546891" cy="512064"/>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260755" y="932688"/>
            <a:ext cx="4217707" cy="512064"/>
          </a:xfrm>
          <a:prstGeom prst="rect">
            <a:avLst/>
          </a:prstGeom>
          <a:noFill/>
        </p:spPr>
        <p:txBody>
          <a:bodyPr wrap="square" anchor="ctr" lIns="0" rIns="0" tIns="0" bIns="0">
            <a:spAutoFit/>
          </a:bodyPr>
          <a:lstStyle/>
          <a:p>
            <a:pPr algn="l">
              <a:lnSpc>
                <a:spcPct val="110000"/>
              </a:lnSpc>
              <a:spcAft>
                <a:spcPts val="0"/>
              </a:spcAft>
            </a:pPr>
            <a:r>
              <a:rPr sz="1400" b="1" i="0">
                <a:solidFill>
                  <a:srgbClr val="FFFFFF"/>
                </a:solidFill>
                <a:latin typeface="Calibri"/>
                <a:ea typeface="Calibri"/>
              </a:rPr>
              <a:t>Typical use</a:t>
            </a:r>
          </a:p>
        </p:txBody>
      </p:sp>
      <p:sp>
        <p:nvSpPr>
          <p:cNvPr id="11" name="Rectangle 10"/>
          <p:cNvSpPr/>
          <p:nvPr/>
        </p:nvSpPr>
        <p:spPr>
          <a:xfrm>
            <a:off x="548640" y="1444752"/>
            <a:ext cx="2000632" cy="566928"/>
          </a:xfrm>
          <a:prstGeom prst="rect">
            <a:avLst/>
          </a:prstGeom>
          <a:solidFill>
            <a:srgbClr val="F0F5FC"/>
          </a:solidFill>
          <a:ln w="12700">
            <a:solidFill>
              <a:srgbClr val="DD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13232" y="1444752"/>
            <a:ext cx="1671448" cy="566928"/>
          </a:xfrm>
          <a:prstGeom prst="rect">
            <a:avLst/>
          </a:prstGeom>
          <a:noFill/>
        </p:spPr>
        <p:txBody>
          <a:bodyPr wrap="square" anchor="ctr" lIns="0" rIns="0" tIns="0" bIns="0">
            <a:spAutoFit/>
          </a:bodyPr>
          <a:lstStyle/>
          <a:p>
            <a:pPr algn="l">
              <a:lnSpc>
                <a:spcPct val="110000"/>
              </a:lnSpc>
              <a:spcAft>
                <a:spcPts val="0"/>
              </a:spcAft>
            </a:pPr>
            <a:r>
              <a:rPr sz="1400" b="1" i="0">
                <a:solidFill>
                  <a:srgbClr val="1A2230"/>
                </a:solidFill>
                <a:latin typeface="Calibri"/>
                <a:ea typeface="Calibri"/>
              </a:rPr>
              <a:t>em</a:t>
            </a:r>
          </a:p>
        </p:txBody>
      </p:sp>
      <p:sp>
        <p:nvSpPr>
          <p:cNvPr id="13" name="Rectangle 12"/>
          <p:cNvSpPr/>
          <p:nvPr/>
        </p:nvSpPr>
        <p:spPr>
          <a:xfrm>
            <a:off x="2549272" y="1444752"/>
            <a:ext cx="4546891" cy="566928"/>
          </a:xfrm>
          <a:prstGeom prst="rect">
            <a:avLst/>
          </a:prstGeom>
          <a:solidFill>
            <a:srgbClr val="F0F5FC"/>
          </a:solidFill>
          <a:ln w="12700">
            <a:solidFill>
              <a:srgbClr val="DD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713864" y="1444752"/>
            <a:ext cx="4217707" cy="566928"/>
          </a:xfrm>
          <a:prstGeom prst="rect">
            <a:avLst/>
          </a:prstGeom>
          <a:noFill/>
        </p:spPr>
        <p:txBody>
          <a:bodyPr wrap="square" anchor="ctr" lIns="0" rIns="0" tIns="0" bIns="0">
            <a:spAutoFit/>
          </a:bodyPr>
          <a:lstStyle/>
          <a:p>
            <a:pPr algn="l">
              <a:lnSpc>
                <a:spcPct val="110000"/>
              </a:lnSpc>
              <a:spcAft>
                <a:spcPts val="0"/>
              </a:spcAft>
            </a:pPr>
            <a:r>
              <a:rPr sz="1400" b="0" i="0">
                <a:solidFill>
                  <a:srgbClr val="1A2230"/>
                </a:solidFill>
                <a:latin typeface="Calibri"/>
                <a:ea typeface="Calibri"/>
              </a:rPr>
              <a:t>the element's own font-size</a:t>
            </a:r>
          </a:p>
        </p:txBody>
      </p:sp>
      <p:sp>
        <p:nvSpPr>
          <p:cNvPr id="15" name="Rectangle 14"/>
          <p:cNvSpPr/>
          <p:nvPr/>
        </p:nvSpPr>
        <p:spPr>
          <a:xfrm>
            <a:off x="7096163" y="1444752"/>
            <a:ext cx="4546891" cy="566928"/>
          </a:xfrm>
          <a:prstGeom prst="rect">
            <a:avLst/>
          </a:prstGeom>
          <a:solidFill>
            <a:srgbClr val="F0F5FC"/>
          </a:solidFill>
          <a:ln w="12700">
            <a:solidFill>
              <a:srgbClr val="DD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260755" y="1444752"/>
            <a:ext cx="4217707" cy="566928"/>
          </a:xfrm>
          <a:prstGeom prst="rect">
            <a:avLst/>
          </a:prstGeom>
          <a:noFill/>
        </p:spPr>
        <p:txBody>
          <a:bodyPr wrap="square" anchor="ctr" lIns="0" rIns="0" tIns="0" bIns="0">
            <a:spAutoFit/>
          </a:bodyPr>
          <a:lstStyle/>
          <a:p>
            <a:pPr algn="l">
              <a:lnSpc>
                <a:spcPct val="110000"/>
              </a:lnSpc>
              <a:spcAft>
                <a:spcPts val="0"/>
              </a:spcAft>
            </a:pPr>
            <a:r>
              <a:rPr sz="1400" b="0" i="0">
                <a:solidFill>
                  <a:srgbClr val="1A2230"/>
                </a:solidFill>
                <a:latin typeface="Calibri"/>
                <a:ea typeface="Calibri"/>
              </a:rPr>
              <a:t>scalable, local text</a:t>
            </a:r>
          </a:p>
        </p:txBody>
      </p:sp>
      <p:sp>
        <p:nvSpPr>
          <p:cNvPr id="17" name="Rectangle 16"/>
          <p:cNvSpPr/>
          <p:nvPr/>
        </p:nvSpPr>
        <p:spPr>
          <a:xfrm>
            <a:off x="548640" y="2011680"/>
            <a:ext cx="2000632" cy="566928"/>
          </a:xfrm>
          <a:prstGeom prst="rect">
            <a:avLst/>
          </a:prstGeom>
          <a:solidFill>
            <a:srgbClr val="FFFFFF"/>
          </a:solidFill>
          <a:ln w="12700">
            <a:solidFill>
              <a:srgbClr val="DD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13232" y="2011680"/>
            <a:ext cx="1671448" cy="566928"/>
          </a:xfrm>
          <a:prstGeom prst="rect">
            <a:avLst/>
          </a:prstGeom>
          <a:noFill/>
        </p:spPr>
        <p:txBody>
          <a:bodyPr wrap="square" anchor="ctr" lIns="0" rIns="0" tIns="0" bIns="0">
            <a:spAutoFit/>
          </a:bodyPr>
          <a:lstStyle/>
          <a:p>
            <a:pPr algn="l">
              <a:lnSpc>
                <a:spcPct val="110000"/>
              </a:lnSpc>
              <a:spcAft>
                <a:spcPts val="0"/>
              </a:spcAft>
            </a:pPr>
            <a:r>
              <a:rPr sz="1400" b="1" i="0">
                <a:solidFill>
                  <a:srgbClr val="1A2230"/>
                </a:solidFill>
                <a:latin typeface="Calibri"/>
                <a:ea typeface="Calibri"/>
              </a:rPr>
              <a:t>rem</a:t>
            </a:r>
          </a:p>
        </p:txBody>
      </p:sp>
      <p:sp>
        <p:nvSpPr>
          <p:cNvPr id="19" name="Rectangle 18"/>
          <p:cNvSpPr/>
          <p:nvPr/>
        </p:nvSpPr>
        <p:spPr>
          <a:xfrm>
            <a:off x="2549272" y="2011680"/>
            <a:ext cx="4546891" cy="566928"/>
          </a:xfrm>
          <a:prstGeom prst="rect">
            <a:avLst/>
          </a:prstGeom>
          <a:solidFill>
            <a:srgbClr val="FFFFFF"/>
          </a:solidFill>
          <a:ln w="12700">
            <a:solidFill>
              <a:srgbClr val="DD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713864" y="2011680"/>
            <a:ext cx="4217707" cy="566928"/>
          </a:xfrm>
          <a:prstGeom prst="rect">
            <a:avLst/>
          </a:prstGeom>
          <a:noFill/>
        </p:spPr>
        <p:txBody>
          <a:bodyPr wrap="square" anchor="ctr" lIns="0" rIns="0" tIns="0" bIns="0">
            <a:spAutoFit/>
          </a:bodyPr>
          <a:lstStyle/>
          <a:p>
            <a:pPr algn="l">
              <a:lnSpc>
                <a:spcPct val="110000"/>
              </a:lnSpc>
              <a:spcAft>
                <a:spcPts val="0"/>
              </a:spcAft>
            </a:pPr>
            <a:r>
              <a:rPr sz="1400" b="0" i="0">
                <a:solidFill>
                  <a:srgbClr val="1A2230"/>
                </a:solidFill>
                <a:latin typeface="Calibri"/>
                <a:ea typeface="Calibri"/>
              </a:rPr>
              <a:t>the root &lt;html&gt; font-size</a:t>
            </a:r>
          </a:p>
        </p:txBody>
      </p:sp>
      <p:sp>
        <p:nvSpPr>
          <p:cNvPr id="21" name="Rectangle 20"/>
          <p:cNvSpPr/>
          <p:nvPr/>
        </p:nvSpPr>
        <p:spPr>
          <a:xfrm>
            <a:off x="7096163" y="2011680"/>
            <a:ext cx="4546891" cy="566928"/>
          </a:xfrm>
          <a:prstGeom prst="rect">
            <a:avLst/>
          </a:prstGeom>
          <a:solidFill>
            <a:srgbClr val="FFFFFF"/>
          </a:solidFill>
          <a:ln w="12700">
            <a:solidFill>
              <a:srgbClr val="DD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260755" y="2011680"/>
            <a:ext cx="4217707" cy="566928"/>
          </a:xfrm>
          <a:prstGeom prst="rect">
            <a:avLst/>
          </a:prstGeom>
          <a:noFill/>
        </p:spPr>
        <p:txBody>
          <a:bodyPr wrap="square" anchor="ctr" lIns="0" rIns="0" tIns="0" bIns="0">
            <a:spAutoFit/>
          </a:bodyPr>
          <a:lstStyle/>
          <a:p>
            <a:pPr algn="l">
              <a:lnSpc>
                <a:spcPct val="110000"/>
              </a:lnSpc>
              <a:spcAft>
                <a:spcPts val="0"/>
              </a:spcAft>
            </a:pPr>
            <a:r>
              <a:rPr sz="1400" b="0" i="0">
                <a:solidFill>
                  <a:srgbClr val="1A2230"/>
                </a:solidFill>
                <a:latin typeface="Calibri"/>
                <a:ea typeface="Calibri"/>
              </a:rPr>
              <a:t>predictable global text</a:t>
            </a:r>
          </a:p>
        </p:txBody>
      </p:sp>
      <p:sp>
        <p:nvSpPr>
          <p:cNvPr id="23" name="Rectangle 22"/>
          <p:cNvSpPr/>
          <p:nvPr/>
        </p:nvSpPr>
        <p:spPr>
          <a:xfrm>
            <a:off x="548640" y="2578608"/>
            <a:ext cx="2000632" cy="566928"/>
          </a:xfrm>
          <a:prstGeom prst="rect">
            <a:avLst/>
          </a:prstGeom>
          <a:solidFill>
            <a:srgbClr val="F0F5FC"/>
          </a:solidFill>
          <a:ln w="12700">
            <a:solidFill>
              <a:srgbClr val="DD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13232" y="2578608"/>
            <a:ext cx="1671448" cy="566928"/>
          </a:xfrm>
          <a:prstGeom prst="rect">
            <a:avLst/>
          </a:prstGeom>
          <a:noFill/>
        </p:spPr>
        <p:txBody>
          <a:bodyPr wrap="square" anchor="ctr" lIns="0" rIns="0" tIns="0" bIns="0">
            <a:spAutoFit/>
          </a:bodyPr>
          <a:lstStyle/>
          <a:p>
            <a:pPr algn="l">
              <a:lnSpc>
                <a:spcPct val="110000"/>
              </a:lnSpc>
              <a:spcAft>
                <a:spcPts val="0"/>
              </a:spcAft>
            </a:pPr>
            <a:r>
              <a:rPr sz="1400" b="1" i="0">
                <a:solidFill>
                  <a:srgbClr val="1A2230"/>
                </a:solidFill>
                <a:latin typeface="Calibri"/>
                <a:ea typeface="Calibri"/>
              </a:rPr>
              <a:t>%</a:t>
            </a:r>
          </a:p>
        </p:txBody>
      </p:sp>
      <p:sp>
        <p:nvSpPr>
          <p:cNvPr id="25" name="Rectangle 24"/>
          <p:cNvSpPr/>
          <p:nvPr/>
        </p:nvSpPr>
        <p:spPr>
          <a:xfrm>
            <a:off x="2549272" y="2578608"/>
            <a:ext cx="4546891" cy="566928"/>
          </a:xfrm>
          <a:prstGeom prst="rect">
            <a:avLst/>
          </a:prstGeom>
          <a:solidFill>
            <a:srgbClr val="F0F5FC"/>
          </a:solidFill>
          <a:ln w="12700">
            <a:solidFill>
              <a:srgbClr val="DD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2713864" y="2578608"/>
            <a:ext cx="4217707" cy="566928"/>
          </a:xfrm>
          <a:prstGeom prst="rect">
            <a:avLst/>
          </a:prstGeom>
          <a:noFill/>
        </p:spPr>
        <p:txBody>
          <a:bodyPr wrap="square" anchor="ctr" lIns="0" rIns="0" tIns="0" bIns="0">
            <a:spAutoFit/>
          </a:bodyPr>
          <a:lstStyle/>
          <a:p>
            <a:pPr algn="l">
              <a:lnSpc>
                <a:spcPct val="110000"/>
              </a:lnSpc>
              <a:spcAft>
                <a:spcPts val="0"/>
              </a:spcAft>
            </a:pPr>
            <a:r>
              <a:rPr sz="1400" b="0" i="0">
                <a:solidFill>
                  <a:srgbClr val="1A2230"/>
                </a:solidFill>
                <a:latin typeface="Calibri"/>
                <a:ea typeface="Calibri"/>
              </a:rPr>
              <a:t>the parent element</a:t>
            </a:r>
          </a:p>
        </p:txBody>
      </p:sp>
      <p:sp>
        <p:nvSpPr>
          <p:cNvPr id="27" name="Rectangle 26"/>
          <p:cNvSpPr/>
          <p:nvPr/>
        </p:nvSpPr>
        <p:spPr>
          <a:xfrm>
            <a:off x="7096163" y="2578608"/>
            <a:ext cx="4546891" cy="566928"/>
          </a:xfrm>
          <a:prstGeom prst="rect">
            <a:avLst/>
          </a:prstGeom>
          <a:solidFill>
            <a:srgbClr val="F0F5FC"/>
          </a:solidFill>
          <a:ln w="12700">
            <a:solidFill>
              <a:srgbClr val="DD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260755" y="2578608"/>
            <a:ext cx="4217707" cy="566928"/>
          </a:xfrm>
          <a:prstGeom prst="rect">
            <a:avLst/>
          </a:prstGeom>
          <a:noFill/>
        </p:spPr>
        <p:txBody>
          <a:bodyPr wrap="square" anchor="ctr" lIns="0" rIns="0" tIns="0" bIns="0">
            <a:spAutoFit/>
          </a:bodyPr>
          <a:lstStyle/>
          <a:p>
            <a:pPr algn="l">
              <a:lnSpc>
                <a:spcPct val="110000"/>
              </a:lnSpc>
              <a:spcAft>
                <a:spcPts val="0"/>
              </a:spcAft>
            </a:pPr>
            <a:r>
              <a:rPr sz="1400" b="0" i="0">
                <a:solidFill>
                  <a:srgbClr val="1A2230"/>
                </a:solidFill>
                <a:latin typeface="Calibri"/>
                <a:ea typeface="Calibri"/>
              </a:rPr>
              <a:t>fluid widths and layout</a:t>
            </a:r>
          </a:p>
        </p:txBody>
      </p:sp>
      <p:sp>
        <p:nvSpPr>
          <p:cNvPr id="29" name="Rectangle 28"/>
          <p:cNvSpPr/>
          <p:nvPr/>
        </p:nvSpPr>
        <p:spPr>
          <a:xfrm>
            <a:off x="548640" y="3145536"/>
            <a:ext cx="2000632" cy="566928"/>
          </a:xfrm>
          <a:prstGeom prst="rect">
            <a:avLst/>
          </a:prstGeom>
          <a:solidFill>
            <a:srgbClr val="FFFFFF"/>
          </a:solidFill>
          <a:ln w="12700">
            <a:solidFill>
              <a:srgbClr val="DD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13232" y="3145536"/>
            <a:ext cx="1671448" cy="566928"/>
          </a:xfrm>
          <a:prstGeom prst="rect">
            <a:avLst/>
          </a:prstGeom>
          <a:noFill/>
        </p:spPr>
        <p:txBody>
          <a:bodyPr wrap="square" anchor="ctr" lIns="0" rIns="0" tIns="0" bIns="0">
            <a:spAutoFit/>
          </a:bodyPr>
          <a:lstStyle/>
          <a:p>
            <a:pPr algn="l">
              <a:lnSpc>
                <a:spcPct val="110000"/>
              </a:lnSpc>
              <a:spcAft>
                <a:spcPts val="0"/>
              </a:spcAft>
            </a:pPr>
            <a:r>
              <a:rPr sz="1400" b="1" i="0">
                <a:solidFill>
                  <a:srgbClr val="1A2230"/>
                </a:solidFill>
                <a:latin typeface="Calibri"/>
                <a:ea typeface="Calibri"/>
              </a:rPr>
              <a:t>vw</a:t>
            </a:r>
          </a:p>
        </p:txBody>
      </p:sp>
      <p:sp>
        <p:nvSpPr>
          <p:cNvPr id="31" name="Rectangle 30"/>
          <p:cNvSpPr/>
          <p:nvPr/>
        </p:nvSpPr>
        <p:spPr>
          <a:xfrm>
            <a:off x="2549272" y="3145536"/>
            <a:ext cx="4546891" cy="566928"/>
          </a:xfrm>
          <a:prstGeom prst="rect">
            <a:avLst/>
          </a:prstGeom>
          <a:solidFill>
            <a:srgbClr val="FFFFFF"/>
          </a:solidFill>
          <a:ln w="12700">
            <a:solidFill>
              <a:srgbClr val="DD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2713864" y="3145536"/>
            <a:ext cx="4217707" cy="566928"/>
          </a:xfrm>
          <a:prstGeom prst="rect">
            <a:avLst/>
          </a:prstGeom>
          <a:noFill/>
        </p:spPr>
        <p:txBody>
          <a:bodyPr wrap="square" anchor="ctr" lIns="0" rIns="0" tIns="0" bIns="0">
            <a:spAutoFit/>
          </a:bodyPr>
          <a:lstStyle/>
          <a:p>
            <a:pPr algn="l">
              <a:lnSpc>
                <a:spcPct val="110000"/>
              </a:lnSpc>
              <a:spcAft>
                <a:spcPts val="0"/>
              </a:spcAft>
            </a:pPr>
            <a:r>
              <a:rPr sz="1400" b="0" i="0">
                <a:solidFill>
                  <a:srgbClr val="1A2230"/>
                </a:solidFill>
                <a:latin typeface="Calibri"/>
                <a:ea typeface="Calibri"/>
              </a:rPr>
              <a:t>1% of the viewport width</a:t>
            </a:r>
          </a:p>
        </p:txBody>
      </p:sp>
      <p:sp>
        <p:nvSpPr>
          <p:cNvPr id="33" name="Rectangle 32"/>
          <p:cNvSpPr/>
          <p:nvPr/>
        </p:nvSpPr>
        <p:spPr>
          <a:xfrm>
            <a:off x="7096163" y="3145536"/>
            <a:ext cx="4546891" cy="566928"/>
          </a:xfrm>
          <a:prstGeom prst="rect">
            <a:avLst/>
          </a:prstGeom>
          <a:solidFill>
            <a:srgbClr val="FFFFFF"/>
          </a:solidFill>
          <a:ln w="12700">
            <a:solidFill>
              <a:srgbClr val="DD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260755" y="3145536"/>
            <a:ext cx="4217707" cy="566928"/>
          </a:xfrm>
          <a:prstGeom prst="rect">
            <a:avLst/>
          </a:prstGeom>
          <a:noFill/>
        </p:spPr>
        <p:txBody>
          <a:bodyPr wrap="square" anchor="ctr" lIns="0" rIns="0" tIns="0" bIns="0">
            <a:spAutoFit/>
          </a:bodyPr>
          <a:lstStyle/>
          <a:p>
            <a:pPr algn="l">
              <a:lnSpc>
                <a:spcPct val="110000"/>
              </a:lnSpc>
              <a:spcAft>
                <a:spcPts val="0"/>
              </a:spcAft>
            </a:pPr>
            <a:r>
              <a:rPr sz="1400" b="0" i="0">
                <a:solidFill>
                  <a:srgbClr val="1A2230"/>
                </a:solidFill>
                <a:latin typeface="Calibri"/>
                <a:ea typeface="Calibri"/>
              </a:rPr>
              <a:t>full-screen sections</a:t>
            </a:r>
          </a:p>
        </p:txBody>
      </p:sp>
      <p:sp>
        <p:nvSpPr>
          <p:cNvPr id="35" name="Rectangle 34"/>
          <p:cNvSpPr/>
          <p:nvPr/>
        </p:nvSpPr>
        <p:spPr>
          <a:xfrm>
            <a:off x="548640" y="3712464"/>
            <a:ext cx="2000632" cy="566928"/>
          </a:xfrm>
          <a:prstGeom prst="rect">
            <a:avLst/>
          </a:prstGeom>
          <a:solidFill>
            <a:srgbClr val="F0F5FC"/>
          </a:solidFill>
          <a:ln w="12700">
            <a:solidFill>
              <a:srgbClr val="DD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13232" y="3712464"/>
            <a:ext cx="1671448" cy="566928"/>
          </a:xfrm>
          <a:prstGeom prst="rect">
            <a:avLst/>
          </a:prstGeom>
          <a:noFill/>
        </p:spPr>
        <p:txBody>
          <a:bodyPr wrap="square" anchor="ctr" lIns="0" rIns="0" tIns="0" bIns="0">
            <a:spAutoFit/>
          </a:bodyPr>
          <a:lstStyle/>
          <a:p>
            <a:pPr algn="l">
              <a:lnSpc>
                <a:spcPct val="110000"/>
              </a:lnSpc>
              <a:spcAft>
                <a:spcPts val="0"/>
              </a:spcAft>
            </a:pPr>
            <a:r>
              <a:rPr sz="1400" b="1" i="0">
                <a:solidFill>
                  <a:srgbClr val="1A2230"/>
                </a:solidFill>
                <a:latin typeface="Calibri"/>
                <a:ea typeface="Calibri"/>
              </a:rPr>
              <a:t>vh</a:t>
            </a:r>
          </a:p>
        </p:txBody>
      </p:sp>
      <p:sp>
        <p:nvSpPr>
          <p:cNvPr id="37" name="Rectangle 36"/>
          <p:cNvSpPr/>
          <p:nvPr/>
        </p:nvSpPr>
        <p:spPr>
          <a:xfrm>
            <a:off x="2549272" y="3712464"/>
            <a:ext cx="4546891" cy="566928"/>
          </a:xfrm>
          <a:prstGeom prst="rect">
            <a:avLst/>
          </a:prstGeom>
          <a:solidFill>
            <a:srgbClr val="F0F5FC"/>
          </a:solidFill>
          <a:ln w="12700">
            <a:solidFill>
              <a:srgbClr val="DD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2713864" y="3712464"/>
            <a:ext cx="4217707" cy="566928"/>
          </a:xfrm>
          <a:prstGeom prst="rect">
            <a:avLst/>
          </a:prstGeom>
          <a:noFill/>
        </p:spPr>
        <p:txBody>
          <a:bodyPr wrap="square" anchor="ctr" lIns="0" rIns="0" tIns="0" bIns="0">
            <a:spAutoFit/>
          </a:bodyPr>
          <a:lstStyle/>
          <a:p>
            <a:pPr algn="l">
              <a:lnSpc>
                <a:spcPct val="110000"/>
              </a:lnSpc>
              <a:spcAft>
                <a:spcPts val="0"/>
              </a:spcAft>
            </a:pPr>
            <a:r>
              <a:rPr sz="1400" b="0" i="0">
                <a:solidFill>
                  <a:srgbClr val="1A2230"/>
                </a:solidFill>
                <a:latin typeface="Calibri"/>
                <a:ea typeface="Calibri"/>
              </a:rPr>
              <a:t>1% of the viewport height</a:t>
            </a:r>
          </a:p>
        </p:txBody>
      </p:sp>
      <p:sp>
        <p:nvSpPr>
          <p:cNvPr id="39" name="Rectangle 38"/>
          <p:cNvSpPr/>
          <p:nvPr/>
        </p:nvSpPr>
        <p:spPr>
          <a:xfrm>
            <a:off x="7096163" y="3712464"/>
            <a:ext cx="4546891" cy="566928"/>
          </a:xfrm>
          <a:prstGeom prst="rect">
            <a:avLst/>
          </a:prstGeom>
          <a:solidFill>
            <a:srgbClr val="F0F5FC"/>
          </a:solidFill>
          <a:ln w="12700">
            <a:solidFill>
              <a:srgbClr val="DD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7260755" y="3712464"/>
            <a:ext cx="4217707" cy="566928"/>
          </a:xfrm>
          <a:prstGeom prst="rect">
            <a:avLst/>
          </a:prstGeom>
          <a:noFill/>
        </p:spPr>
        <p:txBody>
          <a:bodyPr wrap="square" anchor="ctr" lIns="0" rIns="0" tIns="0" bIns="0">
            <a:spAutoFit/>
          </a:bodyPr>
          <a:lstStyle/>
          <a:p>
            <a:pPr algn="l">
              <a:lnSpc>
                <a:spcPct val="110000"/>
              </a:lnSpc>
              <a:spcAft>
                <a:spcPts val="0"/>
              </a:spcAft>
            </a:pPr>
            <a:r>
              <a:rPr sz="1400" b="0" i="0">
                <a:solidFill>
                  <a:srgbClr val="1A2230"/>
                </a:solidFill>
                <a:latin typeface="Calibri"/>
                <a:ea typeface="Calibri"/>
              </a:rPr>
              <a:t>full-height heroes</a:t>
            </a:r>
          </a:p>
        </p:txBody>
      </p:sp>
      <p:sp>
        <p:nvSpPr>
          <p:cNvPr id="41" name="Rounded Rectangle 40"/>
          <p:cNvSpPr/>
          <p:nvPr/>
        </p:nvSpPr>
        <p:spPr>
          <a:xfrm>
            <a:off x="548640" y="4462272"/>
            <a:ext cx="11094415" cy="1051560"/>
          </a:xfrm>
          <a:prstGeom prst="roundRect">
            <a:avLst>
              <a:gd name="adj" fmla="val 8000"/>
            </a:avLst>
          </a:prstGeom>
          <a:solidFill>
            <a:srgbClr val="F0F5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868680" y="4553712"/>
            <a:ext cx="10454335" cy="365760"/>
          </a:xfrm>
          <a:prstGeom prst="rect">
            <a:avLst/>
          </a:prstGeom>
          <a:noFill/>
        </p:spPr>
        <p:txBody>
          <a:bodyPr wrap="square" anchor="t" lIns="0" rIns="0" tIns="0" bIns="0">
            <a:spAutoFit/>
          </a:bodyPr>
          <a:lstStyle/>
          <a:p>
            <a:pPr algn="l">
              <a:lnSpc>
                <a:spcPct val="110000"/>
              </a:lnSpc>
              <a:spcAft>
                <a:spcPts val="400"/>
              </a:spcAft>
            </a:pPr>
            <a:r>
              <a:rPr sz="1450" b="1" i="0">
                <a:solidFill>
                  <a:srgbClr val="0E3F8C"/>
                </a:solidFill>
                <a:latin typeface="Calibri"/>
                <a:ea typeface="Calibri"/>
              </a:rPr>
              <a:t>Relative units scale with their context — the key to responsive design.</a:t>
            </a:r>
          </a:p>
        </p:txBody>
      </p:sp>
      <p:sp>
        <p:nvSpPr>
          <p:cNvPr id="43" name="TextBox 42"/>
          <p:cNvSpPr txBox="1"/>
          <p:nvPr/>
        </p:nvSpPr>
        <p:spPr>
          <a:xfrm>
            <a:off x="868680" y="4937760"/>
            <a:ext cx="10454335" cy="329184"/>
          </a:xfrm>
          <a:prstGeom prst="rect">
            <a:avLst/>
          </a:prstGeom>
          <a:noFill/>
        </p:spPr>
        <p:txBody>
          <a:bodyPr wrap="square" anchor="t" lIns="0" rIns="0" tIns="0" bIns="0">
            <a:spAutoFit/>
          </a:bodyPr>
          <a:lstStyle/>
          <a:p>
            <a:pPr algn="l">
              <a:lnSpc>
                <a:spcPct val="110000"/>
              </a:lnSpc>
              <a:spcAft>
                <a:spcPts val="400"/>
              </a:spcAft>
            </a:pPr>
            <a:r>
              <a:rPr sz="1300" b="1" i="0">
                <a:solidFill>
                  <a:srgbClr val="1E4FA8"/>
                </a:solidFill>
                <a:latin typeface="Calibri"/>
                <a:ea typeface="Calibri"/>
              </a:rPr>
              <a:t>example →  </a:t>
            </a:r>
            <a:r>
              <a:rPr sz="1300" b="0" i="0">
                <a:solidFill>
                  <a:srgbClr val="3D7BD9"/>
                </a:solidFill>
                <a:latin typeface="Consolas"/>
                <a:ea typeface="Consolas"/>
                <a:hlinkClick r:id="rId2"/>
                <a:extLst>
                  <a:ext uri="{A12FA001-AC4F-418D-AE19-62706E023703}">
                    <ahyp:hlinkClr xmlns:ahyp="http://schemas.microsoft.com/office/drawing/2018/hyperlinkcolor" val="tx"/>
                  </a:ext>
                </a:extLst>
              </a:rPr>
              <a:t>editor.html?example=css-styling/length-units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66928"/>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6979615" cy="365760"/>
          </a:xfrm>
          <a:prstGeom prst="rect">
            <a:avLst/>
          </a:prstGeom>
          <a:noFill/>
        </p:spPr>
        <p:txBody>
          <a:bodyPr wrap="square" anchor="ctr" lIns="0" rIns="0" tIns="0" bIns="0">
            <a:spAutoFit/>
          </a:bodyPr>
          <a:lstStyle/>
          <a:p>
            <a:pPr algn="l">
              <a:lnSpc>
                <a:spcPct val="110000"/>
              </a:lnSpc>
              <a:spcAft>
                <a:spcPts val="400"/>
              </a:spcAft>
            </a:pPr>
            <a:r>
              <a:rPr sz="2100" b="1" i="0">
                <a:solidFill>
                  <a:srgbClr val="FFFFFF"/>
                </a:solidFill>
                <a:latin typeface="Calibri"/>
                <a:ea typeface="Calibri"/>
              </a:rPr>
              <a:t>em vs rem</a:t>
            </a:r>
          </a:p>
        </p:txBody>
      </p:sp>
      <p:sp>
        <p:nvSpPr>
          <p:cNvPr id="4" name="TextBox 3"/>
          <p:cNvSpPr txBox="1"/>
          <p:nvPr/>
        </p:nvSpPr>
        <p:spPr>
          <a:xfrm>
            <a:off x="7436815" y="109728"/>
            <a:ext cx="4206240" cy="365760"/>
          </a:xfrm>
          <a:prstGeom prst="rect">
            <a:avLst/>
          </a:prstGeom>
          <a:noFill/>
        </p:spPr>
        <p:txBody>
          <a:bodyPr wrap="square" anchor="ctr" lIns="0" rIns="0" tIns="0" bIns="0">
            <a:spAutoFit/>
          </a:bodyPr>
          <a:lstStyle/>
          <a:p>
            <a:pPr algn="r">
              <a:lnSpc>
                <a:spcPct val="110000"/>
              </a:lnSpc>
              <a:spcAft>
                <a:spcPts val="400"/>
              </a:spcAft>
            </a:pPr>
            <a:r>
              <a:rPr sz="1100" b="1" i="0">
                <a:solidFill>
                  <a:srgbClr val="B9CDEE"/>
                </a:solidFill>
                <a:latin typeface="Calibri"/>
                <a:ea typeface="Calibri"/>
              </a:rPr>
              <a:t>COMP3421 · Length &amp; Units</a:t>
            </a:r>
          </a:p>
        </p:txBody>
      </p:sp>
      <p:sp>
        <p:nvSpPr>
          <p:cNvPr id="5" name="Rounded Rectangle 4"/>
          <p:cNvSpPr/>
          <p:nvPr/>
        </p:nvSpPr>
        <p:spPr>
          <a:xfrm>
            <a:off x="548640" y="932688"/>
            <a:ext cx="5364327" cy="4846320"/>
          </a:xfrm>
          <a:prstGeom prst="roundRect">
            <a:avLst>
              <a:gd name="adj" fmla="val 5000"/>
            </a:avLst>
          </a:prstGeom>
          <a:solidFill>
            <a:srgbClr val="F0F5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41247" y="1152144"/>
            <a:ext cx="4779111" cy="457200"/>
          </a:xfrm>
          <a:prstGeom prst="rect">
            <a:avLst/>
          </a:prstGeom>
          <a:noFill/>
        </p:spPr>
        <p:txBody>
          <a:bodyPr wrap="square" anchor="t" lIns="0" rIns="0" tIns="0" bIns="0">
            <a:spAutoFit/>
          </a:bodyPr>
          <a:lstStyle/>
          <a:p>
            <a:pPr algn="l">
              <a:lnSpc>
                <a:spcPct val="110000"/>
              </a:lnSpc>
              <a:spcAft>
                <a:spcPts val="400"/>
              </a:spcAft>
            </a:pPr>
            <a:r>
              <a:rPr sz="2000" b="1" i="0">
                <a:solidFill>
                  <a:srgbClr val="0E3F8C"/>
                </a:solidFill>
                <a:latin typeface="Calibri"/>
                <a:ea typeface="Calibri"/>
              </a:rPr>
              <a:t>em</a:t>
            </a:r>
          </a:p>
        </p:txBody>
      </p:sp>
      <p:sp>
        <p:nvSpPr>
          <p:cNvPr id="7" name="Rectangle 6"/>
          <p:cNvSpPr/>
          <p:nvPr/>
        </p:nvSpPr>
        <p:spPr>
          <a:xfrm>
            <a:off x="859536" y="1709928"/>
            <a:ext cx="548640" cy="41148"/>
          </a:xfrm>
          <a:prstGeom prst="rect">
            <a:avLst/>
          </a:prstGeom>
          <a:solidFill>
            <a:srgbClr val="1E4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41247" y="1892808"/>
            <a:ext cx="4779111" cy="3703320"/>
          </a:xfrm>
          <a:prstGeom prst="rect">
            <a:avLst/>
          </a:prstGeom>
          <a:noFill/>
        </p:spPr>
        <p:txBody>
          <a:bodyPr wrap="square" lIns="0" rIns="0" tIns="0" bIns="0">
            <a:normAutofit/>
          </a:bodyPr>
          <a:lstStyle/>
          <a:p>
            <a:pPr marL="274320" indent="-237744">
              <a:lnSpc>
                <a:spcPct val="112000"/>
              </a:lnSpc>
              <a:spcAft>
                <a:spcPts val="800"/>
              </a:spcAft>
              <a:buClr>
                <a:srgbClr val="1E4FA8"/>
              </a:buClr>
              <a:buSzPct val="90000"/>
              <a:buFont typeface="Arial"/>
              <a:buChar char="▪"/>
            </a:pPr>
            <a:r>
              <a:rPr sz="1600" b="1" i="0">
                <a:solidFill>
                  <a:srgbClr val="1A2230"/>
                </a:solidFill>
                <a:latin typeface="Calibri"/>
                <a:ea typeface="Calibri"/>
              </a:rPr>
              <a:t>Relative to parent</a:t>
            </a:r>
            <a:br/>
            <a:r>
              <a:rPr sz="1400" b="0" i="0">
                <a:solidFill>
                  <a:srgbClr val="4A5568"/>
                </a:solidFill>
                <a:latin typeface="Calibri"/>
                <a:ea typeface="Calibri"/>
              </a:rPr>
              <a:t>Sized against the parent's font-size.</a:t>
            </a:r>
          </a:p>
          <a:p>
            <a:pPr marL="274320" indent="-237744">
              <a:lnSpc>
                <a:spcPct val="112000"/>
              </a:lnSpc>
              <a:spcAft>
                <a:spcPts val="800"/>
              </a:spcAft>
              <a:buClr>
                <a:srgbClr val="1E4FA8"/>
              </a:buClr>
              <a:buSzPct val="90000"/>
              <a:buFont typeface="Arial"/>
              <a:buChar char="▪"/>
            </a:pPr>
            <a:r>
              <a:rPr sz="1600" b="1" i="0">
                <a:solidFill>
                  <a:srgbClr val="1A2230"/>
                </a:solidFill>
                <a:latin typeface="Calibri"/>
                <a:ea typeface="Calibri"/>
              </a:rPr>
              <a:t>Compounds</a:t>
            </a:r>
            <a:br/>
            <a:r>
              <a:rPr sz="1400" b="0" i="0">
                <a:solidFill>
                  <a:srgbClr val="4A5568"/>
                </a:solidFill>
                <a:latin typeface="Calibri"/>
                <a:ea typeface="Calibri"/>
              </a:rPr>
              <a:t>Nested ems multiply — </a:t>
            </a:r>
            <a:r>
              <a:rPr sz="1400" b="0" i="0">
                <a:solidFill>
                  <a:srgbClr val="B8860B"/>
                </a:solidFill>
                <a:latin typeface="Consolas"/>
                <a:ea typeface="Consolas"/>
              </a:rPr>
              <a:t>sizes</a:t>
            </a:r>
            <a:r>
              <a:rPr sz="1400" b="0" i="0">
                <a:solidFill>
                  <a:srgbClr val="4A5568"/>
                </a:solidFill>
                <a:latin typeface="Calibri"/>
                <a:ea typeface="Calibri"/>
              </a:rPr>
              <a:t> can snowball.</a:t>
            </a:r>
          </a:p>
          <a:p>
            <a:pPr marL="274320" indent="-237744">
              <a:lnSpc>
                <a:spcPct val="112000"/>
              </a:lnSpc>
              <a:spcAft>
                <a:spcPts val="800"/>
              </a:spcAft>
              <a:buClr>
                <a:srgbClr val="1E4FA8"/>
              </a:buClr>
              <a:buSzPct val="90000"/>
              <a:buFont typeface="Arial"/>
              <a:buChar char="▪"/>
            </a:pPr>
            <a:r>
              <a:rPr sz="1600" b="1" i="0">
                <a:solidFill>
                  <a:srgbClr val="1A2230"/>
                </a:solidFill>
                <a:latin typeface="Calibri"/>
                <a:ea typeface="Calibri"/>
              </a:rPr>
              <a:t>Local control</a:t>
            </a:r>
            <a:br/>
            <a:r>
              <a:rPr sz="1400" b="0" i="0">
                <a:solidFill>
                  <a:srgbClr val="4A5568"/>
                </a:solidFill>
                <a:latin typeface="Calibri"/>
                <a:ea typeface="Calibri"/>
              </a:rPr>
              <a:t>Scale a component by scaling its container.</a:t>
            </a:r>
          </a:p>
        </p:txBody>
      </p:sp>
      <p:sp>
        <p:nvSpPr>
          <p:cNvPr id="9" name="Rounded Rectangle 8"/>
          <p:cNvSpPr/>
          <p:nvPr/>
        </p:nvSpPr>
        <p:spPr>
          <a:xfrm>
            <a:off x="6278727" y="932688"/>
            <a:ext cx="5364327" cy="4846320"/>
          </a:xfrm>
          <a:prstGeom prst="roundRect">
            <a:avLst>
              <a:gd name="adj" fmla="val 5000"/>
            </a:avLst>
          </a:prstGeom>
          <a:solidFill>
            <a:srgbClr val="F0F5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71335" y="1152144"/>
            <a:ext cx="4779111" cy="457200"/>
          </a:xfrm>
          <a:prstGeom prst="rect">
            <a:avLst/>
          </a:prstGeom>
          <a:noFill/>
        </p:spPr>
        <p:txBody>
          <a:bodyPr wrap="square" anchor="t" lIns="0" rIns="0" tIns="0" bIns="0">
            <a:spAutoFit/>
          </a:bodyPr>
          <a:lstStyle/>
          <a:p>
            <a:pPr algn="l">
              <a:lnSpc>
                <a:spcPct val="110000"/>
              </a:lnSpc>
              <a:spcAft>
                <a:spcPts val="400"/>
              </a:spcAft>
            </a:pPr>
            <a:r>
              <a:rPr sz="2000" b="1" i="0">
                <a:solidFill>
                  <a:srgbClr val="0E3F8C"/>
                </a:solidFill>
                <a:latin typeface="Calibri"/>
                <a:ea typeface="Calibri"/>
              </a:rPr>
              <a:t>rem</a:t>
            </a:r>
          </a:p>
        </p:txBody>
      </p:sp>
      <p:sp>
        <p:nvSpPr>
          <p:cNvPr id="11" name="Rectangle 10"/>
          <p:cNvSpPr/>
          <p:nvPr/>
        </p:nvSpPr>
        <p:spPr>
          <a:xfrm>
            <a:off x="6589623" y="1709928"/>
            <a:ext cx="548640" cy="41148"/>
          </a:xfrm>
          <a:prstGeom prst="rect">
            <a:avLst/>
          </a:prstGeom>
          <a:solidFill>
            <a:srgbClr val="1E4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71335" y="1892808"/>
            <a:ext cx="4779111" cy="3703320"/>
          </a:xfrm>
          <a:prstGeom prst="rect">
            <a:avLst/>
          </a:prstGeom>
          <a:noFill/>
        </p:spPr>
        <p:txBody>
          <a:bodyPr wrap="square" lIns="0" rIns="0" tIns="0" bIns="0">
            <a:normAutofit/>
          </a:bodyPr>
          <a:lstStyle/>
          <a:p>
            <a:pPr marL="274320" indent="-237744">
              <a:lnSpc>
                <a:spcPct val="112000"/>
              </a:lnSpc>
              <a:spcAft>
                <a:spcPts val="800"/>
              </a:spcAft>
              <a:buClr>
                <a:srgbClr val="1E4FA8"/>
              </a:buClr>
              <a:buSzPct val="90000"/>
              <a:buFont typeface="Arial"/>
              <a:buChar char="▪"/>
            </a:pPr>
            <a:r>
              <a:rPr sz="1600" b="1" i="0">
                <a:solidFill>
                  <a:srgbClr val="1A2230"/>
                </a:solidFill>
                <a:latin typeface="Calibri"/>
                <a:ea typeface="Calibri"/>
              </a:rPr>
              <a:t>Relative to root</a:t>
            </a:r>
            <a:br/>
            <a:r>
              <a:rPr sz="1400" b="0" i="0">
                <a:solidFill>
                  <a:srgbClr val="4A5568"/>
                </a:solidFill>
                <a:latin typeface="Calibri"/>
                <a:ea typeface="Calibri"/>
              </a:rPr>
              <a:t>Sized against </a:t>
            </a:r>
            <a:r>
              <a:rPr sz="1400" b="0" i="0">
                <a:solidFill>
                  <a:srgbClr val="1E4FA8"/>
                </a:solidFill>
                <a:latin typeface="Consolas"/>
                <a:ea typeface="Consolas"/>
              </a:rPr>
              <a:t>&lt;html&gt;</a:t>
            </a:r>
            <a:r>
              <a:rPr sz="1400" b="0" i="0">
                <a:solidFill>
                  <a:srgbClr val="4A5568"/>
                </a:solidFill>
                <a:latin typeface="Calibri"/>
                <a:ea typeface="Calibri"/>
              </a:rPr>
              <a:t>, not the parent.</a:t>
            </a:r>
          </a:p>
          <a:p>
            <a:pPr marL="274320" indent="-237744">
              <a:lnSpc>
                <a:spcPct val="112000"/>
              </a:lnSpc>
              <a:spcAft>
                <a:spcPts val="800"/>
              </a:spcAft>
              <a:buClr>
                <a:srgbClr val="1E4FA8"/>
              </a:buClr>
              <a:buSzPct val="90000"/>
              <a:buFont typeface="Arial"/>
              <a:buChar char="▪"/>
            </a:pPr>
            <a:r>
              <a:rPr sz="1600" b="1" i="0">
                <a:solidFill>
                  <a:srgbClr val="1A2230"/>
                </a:solidFill>
                <a:latin typeface="Calibri"/>
                <a:ea typeface="Calibri"/>
              </a:rPr>
              <a:t>Predictable</a:t>
            </a:r>
            <a:br/>
            <a:r>
              <a:rPr sz="1400" b="0" i="0">
                <a:solidFill>
                  <a:srgbClr val="4A5568"/>
                </a:solidFill>
                <a:latin typeface="Calibri"/>
                <a:ea typeface="Calibri"/>
              </a:rPr>
              <a:t>Same everywhere, no compounding.</a:t>
            </a:r>
          </a:p>
          <a:p>
            <a:pPr marL="274320" indent="-237744">
              <a:lnSpc>
                <a:spcPct val="112000"/>
              </a:lnSpc>
              <a:spcAft>
                <a:spcPts val="800"/>
              </a:spcAft>
              <a:buClr>
                <a:srgbClr val="1E4FA8"/>
              </a:buClr>
              <a:buSzPct val="90000"/>
              <a:buFont typeface="Arial"/>
              <a:buChar char="▪"/>
            </a:pPr>
            <a:r>
              <a:rPr sz="1600" b="1" i="0">
                <a:solidFill>
                  <a:srgbClr val="1A2230"/>
                </a:solidFill>
                <a:latin typeface="Calibri"/>
                <a:ea typeface="Calibri"/>
              </a:rPr>
              <a:t>Global control</a:t>
            </a:r>
            <a:br/>
            <a:r>
              <a:rPr sz="1400" b="0" i="0">
                <a:solidFill>
                  <a:srgbClr val="4A5568"/>
                </a:solidFill>
                <a:latin typeface="Calibri"/>
                <a:ea typeface="Calibri"/>
              </a:rPr>
              <a:t>Bump the root once, everything scales.</a:t>
            </a:r>
          </a:p>
        </p:txBody>
      </p:sp>
      <p:sp>
        <p:nvSpPr>
          <p:cNvPr id="13" name="Rounded Rectangle 12"/>
          <p:cNvSpPr/>
          <p:nvPr/>
        </p:nvSpPr>
        <p:spPr>
          <a:xfrm>
            <a:off x="548640" y="5943600"/>
            <a:ext cx="11094415" cy="475488"/>
          </a:xfrm>
          <a:prstGeom prst="roundRect">
            <a:avLst>
              <a:gd name="adj" fmla="val 10000"/>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4400" y="5961888"/>
            <a:ext cx="10362895" cy="310896"/>
          </a:xfrm>
          <a:prstGeom prst="rect">
            <a:avLst/>
          </a:prstGeom>
          <a:noFill/>
        </p:spPr>
        <p:txBody>
          <a:bodyPr wrap="square" anchor="ctr" lIns="0" rIns="0" tIns="0" bIns="0">
            <a:spAutoFit/>
          </a:bodyPr>
          <a:lstStyle/>
          <a:p>
            <a:pPr algn="l">
              <a:lnSpc>
                <a:spcPct val="110000"/>
              </a:lnSpc>
              <a:spcAft>
                <a:spcPts val="400"/>
              </a:spcAft>
            </a:pPr>
            <a:r>
              <a:rPr sz="1400" b="1" i="0">
                <a:solidFill>
                  <a:srgbClr val="FFFFFF"/>
                </a:solidFill>
                <a:latin typeface="Calibri"/>
                <a:ea typeface="Calibri"/>
              </a:rPr>
              <a:t>rem for predictable text, em for scoped scaling.   </a:t>
            </a:r>
            <a:r>
              <a:rPr sz="1300" b="1" i="0">
                <a:solidFill>
                  <a:srgbClr val="B9CDEE"/>
                </a:solidFill>
                <a:latin typeface="Calibri"/>
                <a:ea typeface="Calibri"/>
              </a:rPr>
              <a:t>example → </a:t>
            </a:r>
            <a:r>
              <a:rPr sz="1300" b="1" i="0">
                <a:solidFill>
                  <a:srgbClr val="FFFFFF"/>
                </a:solidFill>
                <a:latin typeface="Calibri"/>
                <a:ea typeface="Calibri"/>
                <a:hlinkClick r:id="rId2"/>
                <a:extLst>
                  <a:ext uri="{A12FA001-AC4F-418D-AE19-62706E023703}">
                    <ahyp:hlinkClr xmlns:ahyp="http://schemas.microsoft.com/office/drawing/2018/hyperlinkcolor" val="tx"/>
                  </a:ext>
                </a:extLst>
              </a:rPr>
              <a:t>editor.html?example=css-styling/length-units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66928"/>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6979615" cy="365760"/>
          </a:xfrm>
          <a:prstGeom prst="rect">
            <a:avLst/>
          </a:prstGeom>
          <a:noFill/>
        </p:spPr>
        <p:txBody>
          <a:bodyPr wrap="square" anchor="ctr" lIns="0" rIns="0" tIns="0" bIns="0">
            <a:spAutoFit/>
          </a:bodyPr>
          <a:lstStyle/>
          <a:p>
            <a:pPr algn="l">
              <a:lnSpc>
                <a:spcPct val="110000"/>
              </a:lnSpc>
              <a:spcAft>
                <a:spcPts val="400"/>
              </a:spcAft>
            </a:pPr>
            <a:r>
              <a:rPr sz="2100" b="1" i="0">
                <a:solidFill>
                  <a:srgbClr val="FFFFFF"/>
                </a:solidFill>
                <a:latin typeface="Calibri"/>
                <a:ea typeface="Calibri"/>
              </a:rPr>
              <a:t>Viewport Units</a:t>
            </a:r>
          </a:p>
        </p:txBody>
      </p:sp>
      <p:sp>
        <p:nvSpPr>
          <p:cNvPr id="4" name="TextBox 3"/>
          <p:cNvSpPr txBox="1"/>
          <p:nvPr/>
        </p:nvSpPr>
        <p:spPr>
          <a:xfrm>
            <a:off x="7436815" y="109728"/>
            <a:ext cx="4206240" cy="365760"/>
          </a:xfrm>
          <a:prstGeom prst="rect">
            <a:avLst/>
          </a:prstGeom>
          <a:noFill/>
        </p:spPr>
        <p:txBody>
          <a:bodyPr wrap="square" anchor="ctr" lIns="0" rIns="0" tIns="0" bIns="0">
            <a:spAutoFit/>
          </a:bodyPr>
          <a:lstStyle/>
          <a:p>
            <a:pPr algn="r">
              <a:lnSpc>
                <a:spcPct val="110000"/>
              </a:lnSpc>
              <a:spcAft>
                <a:spcPts val="400"/>
              </a:spcAft>
            </a:pPr>
            <a:r>
              <a:rPr sz="1100" b="1" i="0">
                <a:solidFill>
                  <a:srgbClr val="B9CDEE"/>
                </a:solidFill>
                <a:latin typeface="Calibri"/>
                <a:ea typeface="Calibri"/>
              </a:rPr>
              <a:t>COMP3421 · Length &amp; Units</a:t>
            </a:r>
          </a:p>
        </p:txBody>
      </p:sp>
      <p:sp>
        <p:nvSpPr>
          <p:cNvPr id="5" name="TextBox 4"/>
          <p:cNvSpPr txBox="1"/>
          <p:nvPr/>
        </p:nvSpPr>
        <p:spPr>
          <a:xfrm>
            <a:off x="548640" y="932688"/>
            <a:ext cx="10820095" cy="4553712"/>
          </a:xfrm>
          <a:prstGeom prst="rect">
            <a:avLst/>
          </a:prstGeom>
          <a:noFill/>
        </p:spPr>
        <p:txBody>
          <a:bodyPr wrap="square" lIns="0" rIns="0" tIns="0" bIns="0">
            <a:normAutofit/>
          </a:bodyPr>
          <a:lstStyle/>
          <a:p>
            <a:pPr marL="256032" indent="-237744">
              <a:lnSpc>
                <a:spcPct val="112000"/>
              </a:lnSpc>
              <a:spcAft>
                <a:spcPts val="700"/>
              </a:spcAft>
              <a:buClr>
                <a:srgbClr val="1E4FA8"/>
              </a:buClr>
              <a:buSzPct val="90000"/>
              <a:buFont typeface="Arial"/>
              <a:buChar char="▪"/>
            </a:pPr>
            <a:r>
              <a:rPr sz="1700" b="1" i="0">
                <a:solidFill>
                  <a:srgbClr val="1A2230"/>
                </a:solidFill>
                <a:latin typeface="Calibri"/>
                <a:ea typeface="Calibri"/>
              </a:rPr>
              <a:t>vw / vh</a:t>
            </a:r>
            <a:br/>
            <a:r>
              <a:rPr sz="1500" b="0" i="0">
                <a:solidFill>
                  <a:srgbClr val="4A5568"/>
                </a:solidFill>
                <a:latin typeface="Calibri"/>
                <a:ea typeface="Calibri"/>
              </a:rPr>
              <a:t>1% of the viewport's </a:t>
            </a:r>
            <a:r>
              <a:rPr sz="1500" b="0" i="0">
                <a:solidFill>
                  <a:srgbClr val="B8860B"/>
                </a:solidFill>
                <a:latin typeface="Consolas"/>
                <a:ea typeface="Consolas"/>
              </a:rPr>
              <a:t>width</a:t>
            </a:r>
            <a:r>
              <a:rPr sz="1500" b="0" i="0">
                <a:solidFill>
                  <a:srgbClr val="4A5568"/>
                </a:solidFill>
                <a:latin typeface="Calibri"/>
                <a:ea typeface="Calibri"/>
              </a:rPr>
              <a:t> / </a:t>
            </a:r>
            <a:r>
              <a:rPr sz="1500" b="0" i="0">
                <a:solidFill>
                  <a:srgbClr val="B8860B"/>
                </a:solidFill>
                <a:latin typeface="Consolas"/>
                <a:ea typeface="Consolas"/>
              </a:rPr>
              <a:t>height</a:t>
            </a:r>
            <a:r>
              <a:rPr sz="1500" b="0" i="0">
                <a:solidFill>
                  <a:srgbClr val="4A5568"/>
                </a:solidFill>
                <a:latin typeface="Calibri"/>
                <a:ea typeface="Calibri"/>
              </a:rPr>
              <a:t>.</a:t>
            </a:r>
          </a:p>
          <a:p>
            <a:pPr marL="256032" indent="-237744">
              <a:lnSpc>
                <a:spcPct val="112000"/>
              </a:lnSpc>
              <a:spcAft>
                <a:spcPts val="700"/>
              </a:spcAft>
              <a:buClr>
                <a:srgbClr val="1E4FA8"/>
              </a:buClr>
              <a:buSzPct val="90000"/>
              <a:buFont typeface="Arial"/>
              <a:buChar char="▪"/>
            </a:pPr>
            <a:r>
              <a:rPr sz="1700" b="1" i="0">
                <a:solidFill>
                  <a:srgbClr val="1A2230"/>
                </a:solidFill>
                <a:latin typeface="Calibri"/>
                <a:ea typeface="Calibri"/>
              </a:rPr>
              <a:t>100vh</a:t>
            </a:r>
            <a:br/>
            <a:r>
              <a:rPr sz="1500" b="0" i="0">
                <a:solidFill>
                  <a:srgbClr val="4A5568"/>
                </a:solidFill>
                <a:latin typeface="Calibri"/>
                <a:ea typeface="Calibri"/>
              </a:rPr>
              <a:t>Exactly the </a:t>
            </a:r>
            <a:r>
              <a:rPr sz="1500" b="0" i="0">
                <a:solidFill>
                  <a:srgbClr val="B8860B"/>
                </a:solidFill>
                <a:latin typeface="Consolas"/>
                <a:ea typeface="Consolas"/>
              </a:rPr>
              <a:t>height</a:t>
            </a:r>
            <a:r>
              <a:rPr sz="1500" b="0" i="0">
                <a:solidFill>
                  <a:srgbClr val="4A5568"/>
                </a:solidFill>
                <a:latin typeface="Calibri"/>
                <a:ea typeface="Calibri"/>
              </a:rPr>
              <a:t> of the visible screen.</a:t>
            </a:r>
          </a:p>
          <a:p>
            <a:pPr marL="256032" indent="-237744">
              <a:lnSpc>
                <a:spcPct val="112000"/>
              </a:lnSpc>
              <a:spcAft>
                <a:spcPts val="700"/>
              </a:spcAft>
              <a:buClr>
                <a:srgbClr val="1E4FA8"/>
              </a:buClr>
              <a:buSzPct val="90000"/>
              <a:buFont typeface="Arial"/>
              <a:buChar char="▪"/>
            </a:pPr>
            <a:r>
              <a:rPr sz="1700" b="1" i="0">
                <a:solidFill>
                  <a:srgbClr val="1A2230"/>
                </a:solidFill>
                <a:latin typeface="Calibri"/>
                <a:ea typeface="Calibri"/>
              </a:rPr>
              <a:t>Full-screen heroes</a:t>
            </a:r>
            <a:br/>
            <a:r>
              <a:rPr sz="1500" b="0" i="0">
                <a:solidFill>
                  <a:srgbClr val="4A5568"/>
                </a:solidFill>
                <a:latin typeface="Calibri"/>
                <a:ea typeface="Calibri"/>
              </a:rPr>
              <a:t>A section that fills the window.</a:t>
            </a:r>
          </a:p>
          <a:p>
            <a:pPr marL="256032" indent="-237744">
              <a:lnSpc>
                <a:spcPct val="112000"/>
              </a:lnSpc>
              <a:spcAft>
                <a:spcPts val="700"/>
              </a:spcAft>
              <a:buClr>
                <a:srgbClr val="1E4FA8"/>
              </a:buClr>
              <a:buSzPct val="90000"/>
              <a:buFont typeface="Arial"/>
              <a:buChar char="▪"/>
            </a:pPr>
            <a:r>
              <a:rPr sz="1700" b="1" i="0">
                <a:solidFill>
                  <a:srgbClr val="1A2230"/>
                </a:solidFill>
                <a:latin typeface="Calibri"/>
                <a:ea typeface="Calibri"/>
              </a:rPr>
              <a:t>vmin / vmax</a:t>
            </a:r>
            <a:br/>
            <a:r>
              <a:rPr sz="1500" b="0" i="0">
                <a:solidFill>
                  <a:srgbClr val="4A5568"/>
                </a:solidFill>
                <a:latin typeface="Calibri"/>
                <a:ea typeface="Calibri"/>
              </a:rPr>
              <a:t>The smaller / larger of the two dimensions.</a:t>
            </a:r>
          </a:p>
        </p:txBody>
      </p:sp>
      <p:sp>
        <p:nvSpPr>
          <p:cNvPr id="6" name="Rounded Rectangle 5"/>
          <p:cNvSpPr/>
          <p:nvPr/>
        </p:nvSpPr>
        <p:spPr>
          <a:xfrm>
            <a:off x="548640" y="5577840"/>
            <a:ext cx="11094415" cy="713232"/>
          </a:xfrm>
          <a:prstGeom prst="roundRect">
            <a:avLst>
              <a:gd name="adj" fmla="val 8000"/>
            </a:avLst>
          </a:prstGeom>
          <a:solidFill>
            <a:srgbClr val="1A22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5696712"/>
            <a:ext cx="10454335" cy="256032"/>
          </a:xfrm>
          <a:prstGeom prst="rect">
            <a:avLst/>
          </a:prstGeom>
          <a:noFill/>
        </p:spPr>
        <p:txBody>
          <a:bodyPr wrap="square" anchor="t" lIns="0" rIns="0" tIns="0" bIns="0">
            <a:spAutoFit/>
          </a:bodyPr>
          <a:lstStyle/>
          <a:p>
            <a:pPr algn="l">
              <a:lnSpc>
                <a:spcPct val="110000"/>
              </a:lnSpc>
              <a:spcAft>
                <a:spcPts val="400"/>
              </a:spcAft>
            </a:pPr>
            <a:r>
              <a:rPr sz="1100" b="1" i="0">
                <a:solidFill>
                  <a:srgbClr val="9DC0EE"/>
                </a:solidFill>
                <a:latin typeface="Calibri"/>
                <a:ea typeface="Calibri"/>
              </a:rPr>
              <a:t>A section that always fills the screen   </a:t>
            </a:r>
            <a:r>
              <a:rPr sz="1100" b="1" i="0">
                <a:solidFill>
                  <a:srgbClr val="61AFEF"/>
                </a:solidFill>
                <a:latin typeface="Calibri"/>
                <a:ea typeface="Calibri"/>
                <a:hlinkClick r:id="rId2"/>
                <a:extLst>
                  <a:ext uri="{A12FA001-AC4F-418D-AE19-62706E023703}">
                    <ahyp:hlinkClr xmlns:ahyp="http://schemas.microsoft.com/office/drawing/2018/hyperlinkcolor" val="tx"/>
                  </a:ext>
                </a:extLst>
              </a:rPr>
              <a:t>↗ editor.html?example=css-styling/length-units</a:t>
            </a:r>
          </a:p>
        </p:txBody>
      </p:sp>
      <p:sp>
        <p:nvSpPr>
          <p:cNvPr id="8" name="TextBox 7"/>
          <p:cNvSpPr txBox="1"/>
          <p:nvPr/>
        </p:nvSpPr>
        <p:spPr>
          <a:xfrm>
            <a:off x="868680" y="5961888"/>
            <a:ext cx="10454335" cy="274320"/>
          </a:xfrm>
          <a:prstGeom prst="rect">
            <a:avLst/>
          </a:prstGeom>
          <a:noFill/>
        </p:spPr>
        <p:txBody>
          <a:bodyPr wrap="square" anchor="t" lIns="0" rIns="0" tIns="0" bIns="0">
            <a:spAutoFit/>
          </a:bodyPr>
          <a:lstStyle/>
          <a:p>
            <a:pPr algn="l">
              <a:lnSpc>
                <a:spcPct val="110000"/>
              </a:lnSpc>
              <a:spcAft>
                <a:spcPts val="400"/>
              </a:spcAft>
            </a:pPr>
            <a:r>
              <a:rPr sz="1350" b="0" i="0">
                <a:solidFill>
                  <a:srgbClr val="98C379"/>
                </a:solidFill>
                <a:latin typeface="Consolas"/>
                <a:ea typeface="Consolas"/>
              </a:rPr>
              <a:t>&lt;section style="height: 100vh;"&gt;</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6858000"/>
          </a:xfrm>
          <a:prstGeom prst="rect">
            <a:avLst/>
          </a:prstGeom>
          <a:solidFill>
            <a:srgbClr val="1E4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143000"/>
            <a:ext cx="3840480" cy="1828800"/>
          </a:xfrm>
          <a:prstGeom prst="rect">
            <a:avLst/>
          </a:prstGeom>
          <a:noFill/>
        </p:spPr>
        <p:txBody>
          <a:bodyPr wrap="square" anchor="t" lIns="0" rIns="0" tIns="0" bIns="0">
            <a:spAutoFit/>
          </a:bodyPr>
          <a:lstStyle/>
          <a:p>
            <a:pPr algn="l">
              <a:lnSpc>
                <a:spcPct val="110000"/>
              </a:lnSpc>
              <a:spcAft>
                <a:spcPts val="400"/>
              </a:spcAft>
            </a:pPr>
            <a:r>
              <a:rPr sz="9200" b="1" i="0">
                <a:solidFill>
                  <a:srgbClr val="9DC0EE"/>
                </a:solidFill>
                <a:latin typeface="Calibri"/>
                <a:ea typeface="Calibri"/>
              </a:rPr>
              <a:t>04</a:t>
            </a:r>
          </a:p>
        </p:txBody>
      </p:sp>
      <p:sp>
        <p:nvSpPr>
          <p:cNvPr id="5" name="TextBox 4"/>
          <p:cNvSpPr txBox="1"/>
          <p:nvPr/>
        </p:nvSpPr>
        <p:spPr>
          <a:xfrm>
            <a:off x="685800" y="3063240"/>
            <a:ext cx="10607040" cy="822960"/>
          </a:xfrm>
          <a:prstGeom prst="rect">
            <a:avLst/>
          </a:prstGeom>
          <a:noFill/>
        </p:spPr>
        <p:txBody>
          <a:bodyPr wrap="square" anchor="t" lIns="0" rIns="0" tIns="0" bIns="0">
            <a:spAutoFit/>
          </a:bodyPr>
          <a:lstStyle/>
          <a:p>
            <a:pPr algn="l">
              <a:lnSpc>
                <a:spcPct val="110000"/>
              </a:lnSpc>
              <a:spcAft>
                <a:spcPts val="400"/>
              </a:spcAft>
            </a:pPr>
            <a:r>
              <a:rPr sz="3800" b="1" i="0">
                <a:solidFill>
                  <a:srgbClr val="FFFFFF"/>
                </a:solidFill>
                <a:latin typeface="Calibri"/>
                <a:ea typeface="Calibri"/>
              </a:rPr>
              <a:t>Text</a:t>
            </a:r>
          </a:p>
        </p:txBody>
      </p:sp>
      <p:sp>
        <p:nvSpPr>
          <p:cNvPr id="6" name="Rectangle 5"/>
          <p:cNvSpPr/>
          <p:nvPr/>
        </p:nvSpPr>
        <p:spPr>
          <a:xfrm>
            <a:off x="713232" y="3977639"/>
            <a:ext cx="822960" cy="54864"/>
          </a:xfrm>
          <a:prstGeom prst="rect">
            <a:avLst/>
          </a:prstGeom>
          <a:solidFill>
            <a:srgbClr val="1E4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13232" y="4251960"/>
            <a:ext cx="10058400" cy="1645920"/>
          </a:xfrm>
          <a:prstGeom prst="rect">
            <a:avLst/>
          </a:prstGeom>
          <a:noFill/>
        </p:spPr>
        <p:txBody>
          <a:bodyPr wrap="square" lIns="0" rIns="0" tIns="0" bIns="0">
            <a:normAutofit/>
          </a:bodyPr>
          <a:lstStyle/>
          <a:p>
            <a:pPr marL="256032" indent="-237744">
              <a:lnSpc>
                <a:spcPct val="112000"/>
              </a:lnSpc>
              <a:spcAft>
                <a:spcPts val="1000"/>
              </a:spcAft>
              <a:buClr>
                <a:srgbClr val="1E4FA8"/>
              </a:buClr>
              <a:buSzPct val="90000"/>
              <a:buFont typeface="Arial"/>
              <a:buChar char="▪"/>
            </a:pPr>
            <a:r>
              <a:rPr sz="1600" b="0" i="0">
                <a:solidFill>
                  <a:srgbClr val="B9CDEE"/>
                </a:solidFill>
                <a:latin typeface="Calibri"/>
                <a:ea typeface="Calibri"/>
              </a:rPr>
              <a:t>Colour, alignment and decoration</a:t>
            </a:r>
          </a:p>
          <a:p>
            <a:pPr marL="256032" indent="-237744">
              <a:lnSpc>
                <a:spcPct val="112000"/>
              </a:lnSpc>
              <a:spcAft>
                <a:spcPts val="1000"/>
              </a:spcAft>
              <a:buClr>
                <a:srgbClr val="1E4FA8"/>
              </a:buClr>
              <a:buSzPct val="90000"/>
              <a:buFont typeface="Arial"/>
              <a:buChar char="▪"/>
            </a:pPr>
            <a:r>
              <a:rPr sz="1600" b="0" i="0">
                <a:solidFill>
                  <a:srgbClr val="B9CDEE"/>
                </a:solidFill>
                <a:latin typeface="Calibri"/>
                <a:ea typeface="Calibri"/>
              </a:rPr>
              <a:t>Indent, letter-spacing, line-height</a:t>
            </a:r>
          </a:p>
          <a:p>
            <a:pPr marL="256032" indent="-237744">
              <a:lnSpc>
                <a:spcPct val="112000"/>
              </a:lnSpc>
              <a:spcAft>
                <a:spcPts val="1000"/>
              </a:spcAft>
              <a:buClr>
                <a:srgbClr val="1E4FA8"/>
              </a:buClr>
              <a:buSzPct val="90000"/>
              <a:buFont typeface="Arial"/>
              <a:buChar char="▪"/>
            </a:pPr>
            <a:r>
              <a:rPr sz="1600" b="0" i="0">
                <a:solidFill>
                  <a:srgbClr val="B9CDEE"/>
                </a:solidFill>
                <a:latin typeface="Calibri"/>
                <a:ea typeface="Calibri"/>
              </a:rPr>
              <a:t>Direction and shadow</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66928"/>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6979615" cy="365760"/>
          </a:xfrm>
          <a:prstGeom prst="rect">
            <a:avLst/>
          </a:prstGeom>
          <a:noFill/>
        </p:spPr>
        <p:txBody>
          <a:bodyPr wrap="square" anchor="ctr" lIns="0" rIns="0" tIns="0" bIns="0">
            <a:spAutoFit/>
          </a:bodyPr>
          <a:lstStyle/>
          <a:p>
            <a:pPr algn="l">
              <a:lnSpc>
                <a:spcPct val="110000"/>
              </a:lnSpc>
              <a:spcAft>
                <a:spcPts val="400"/>
              </a:spcAft>
            </a:pPr>
            <a:r>
              <a:rPr sz="2100" b="1" i="0">
                <a:solidFill>
                  <a:srgbClr val="FFFFFF"/>
                </a:solidFill>
                <a:latin typeface="Calibri"/>
                <a:ea typeface="Calibri"/>
              </a:rPr>
              <a:t>Text — Colour, Align &amp; Decoration</a:t>
            </a:r>
          </a:p>
        </p:txBody>
      </p:sp>
      <p:sp>
        <p:nvSpPr>
          <p:cNvPr id="4" name="TextBox 3"/>
          <p:cNvSpPr txBox="1"/>
          <p:nvPr/>
        </p:nvSpPr>
        <p:spPr>
          <a:xfrm>
            <a:off x="7436815" y="109728"/>
            <a:ext cx="4206240" cy="365760"/>
          </a:xfrm>
          <a:prstGeom prst="rect">
            <a:avLst/>
          </a:prstGeom>
          <a:noFill/>
        </p:spPr>
        <p:txBody>
          <a:bodyPr wrap="square" anchor="ctr" lIns="0" rIns="0" tIns="0" bIns="0">
            <a:spAutoFit/>
          </a:bodyPr>
          <a:lstStyle/>
          <a:p>
            <a:pPr algn="r">
              <a:lnSpc>
                <a:spcPct val="110000"/>
              </a:lnSpc>
              <a:spcAft>
                <a:spcPts val="400"/>
              </a:spcAft>
            </a:pPr>
            <a:r>
              <a:rPr sz="1100" b="1" i="0">
                <a:solidFill>
                  <a:srgbClr val="B9CDEE"/>
                </a:solidFill>
                <a:latin typeface="Calibri"/>
                <a:ea typeface="Calibri"/>
              </a:rPr>
              <a:t>COMP3421 · Text</a:t>
            </a:r>
          </a:p>
        </p:txBody>
      </p:sp>
      <p:sp>
        <p:nvSpPr>
          <p:cNvPr id="5" name="TextBox 4"/>
          <p:cNvSpPr txBox="1"/>
          <p:nvPr/>
        </p:nvSpPr>
        <p:spPr>
          <a:xfrm>
            <a:off x="548640" y="932688"/>
            <a:ext cx="4462272" cy="4599432"/>
          </a:xfrm>
          <a:prstGeom prst="rect">
            <a:avLst/>
          </a:prstGeom>
          <a:noFill/>
        </p:spPr>
        <p:txBody>
          <a:bodyPr wrap="square" lIns="0" rIns="0" tIns="0" bIns="0">
            <a:normAutofit/>
          </a:bodyPr>
          <a:lstStyle/>
          <a:p>
            <a:pPr marL="256032" indent="-237744">
              <a:lnSpc>
                <a:spcPct val="112000"/>
              </a:lnSpc>
              <a:spcAft>
                <a:spcPts val="1000"/>
              </a:spcAft>
              <a:buClr>
                <a:srgbClr val="1E4FA8"/>
              </a:buClr>
              <a:buSzPct val="90000"/>
              <a:buFont typeface="Arial"/>
              <a:buChar char="▪"/>
            </a:pPr>
            <a:r>
              <a:rPr sz="1600" b="1" i="0">
                <a:solidFill>
                  <a:srgbClr val="B8860B"/>
                </a:solidFill>
                <a:latin typeface="Calibri"/>
                <a:ea typeface="Calibri"/>
              </a:rPr>
              <a:t>color</a:t>
            </a:r>
            <a:br/>
            <a:r>
              <a:rPr sz="1300" b="0" i="0">
                <a:solidFill>
                  <a:srgbClr val="4A5568"/>
                </a:solidFill>
                <a:latin typeface="Calibri"/>
                <a:ea typeface="Calibri"/>
              </a:rPr>
              <a:t>The colour of the text itself.</a:t>
            </a:r>
          </a:p>
          <a:p>
            <a:pPr marL="256032" indent="-237744">
              <a:lnSpc>
                <a:spcPct val="112000"/>
              </a:lnSpc>
              <a:spcAft>
                <a:spcPts val="1000"/>
              </a:spcAft>
              <a:buClr>
                <a:srgbClr val="1E4FA8"/>
              </a:buClr>
              <a:buSzPct val="90000"/>
              <a:buFont typeface="Arial"/>
              <a:buChar char="▪"/>
            </a:pPr>
            <a:r>
              <a:rPr sz="1600" b="1" i="0">
                <a:solidFill>
                  <a:srgbClr val="B8860B"/>
                </a:solidFill>
                <a:latin typeface="Calibri"/>
                <a:ea typeface="Calibri"/>
              </a:rPr>
              <a:t>text-align</a:t>
            </a:r>
            <a:br/>
            <a:r>
              <a:rPr sz="1300" b="0" i="0">
                <a:solidFill>
                  <a:srgbClr val="4A5568"/>
                </a:solidFill>
                <a:latin typeface="Calibri"/>
                <a:ea typeface="Calibri"/>
              </a:rPr>
              <a:t>left, right, center or justify.</a:t>
            </a:r>
          </a:p>
          <a:p>
            <a:pPr marL="256032" indent="-237744">
              <a:lnSpc>
                <a:spcPct val="112000"/>
              </a:lnSpc>
              <a:spcAft>
                <a:spcPts val="1000"/>
              </a:spcAft>
              <a:buClr>
                <a:srgbClr val="1E4FA8"/>
              </a:buClr>
              <a:buSzPct val="90000"/>
              <a:buFont typeface="Arial"/>
              <a:buChar char="▪"/>
            </a:pPr>
            <a:r>
              <a:rPr sz="1600" b="1" i="0">
                <a:solidFill>
                  <a:srgbClr val="B8860B"/>
                </a:solidFill>
                <a:latin typeface="Calibri"/>
                <a:ea typeface="Calibri"/>
              </a:rPr>
              <a:t>text-decoration</a:t>
            </a:r>
            <a:br/>
            <a:r>
              <a:rPr sz="1300" b="0" i="0">
                <a:solidFill>
                  <a:srgbClr val="4A5568"/>
                </a:solidFill>
                <a:latin typeface="Calibri"/>
                <a:ea typeface="Calibri"/>
              </a:rPr>
              <a:t>none, underline, overline, line-through.</a:t>
            </a:r>
          </a:p>
          <a:p>
            <a:pPr marL="256032" indent="-237744">
              <a:lnSpc>
                <a:spcPct val="112000"/>
              </a:lnSpc>
              <a:spcAft>
                <a:spcPts val="1000"/>
              </a:spcAft>
              <a:buClr>
                <a:srgbClr val="1E4FA8"/>
              </a:buClr>
              <a:buSzPct val="90000"/>
              <a:buFont typeface="Arial"/>
              <a:buChar char="▪"/>
            </a:pPr>
            <a:r>
              <a:rPr sz="1600" b="1" i="0">
                <a:solidFill>
                  <a:srgbClr val="B8860B"/>
                </a:solidFill>
                <a:latin typeface="Calibri"/>
                <a:ea typeface="Calibri"/>
              </a:rPr>
              <a:t>text-transform</a:t>
            </a:r>
            <a:br/>
            <a:r>
              <a:rPr sz="1300" b="0" i="0">
                <a:solidFill>
                  <a:srgbClr val="4A5568"/>
                </a:solidFill>
                <a:latin typeface="Calibri"/>
                <a:ea typeface="Calibri"/>
              </a:rPr>
              <a:t>uppercase, lowercase, capitalize.</a:t>
            </a:r>
          </a:p>
        </p:txBody>
      </p:sp>
      <p:sp>
        <p:nvSpPr>
          <p:cNvPr id="6" name="Rounded Rectangle 5"/>
          <p:cNvSpPr/>
          <p:nvPr/>
        </p:nvSpPr>
        <p:spPr>
          <a:xfrm>
            <a:off x="5486400" y="932688"/>
            <a:ext cx="6156655" cy="4599432"/>
          </a:xfrm>
          <a:prstGeom prst="roundRect">
            <a:avLst>
              <a:gd name="adj" fmla="val 5000"/>
            </a:avLst>
          </a:prstGeom>
          <a:solidFill>
            <a:srgbClr val="F0F5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779008" y="1115568"/>
            <a:ext cx="5571439" cy="310896"/>
          </a:xfrm>
          <a:prstGeom prst="rect">
            <a:avLst/>
          </a:prstGeom>
          <a:noFill/>
        </p:spPr>
        <p:txBody>
          <a:bodyPr wrap="square" anchor="t" lIns="0" rIns="0" tIns="0" bIns="0">
            <a:spAutoFit/>
          </a:bodyPr>
          <a:lstStyle/>
          <a:p>
            <a:pPr algn="l">
              <a:lnSpc>
                <a:spcPct val="110000"/>
              </a:lnSpc>
              <a:spcAft>
                <a:spcPts val="400"/>
              </a:spcAft>
            </a:pPr>
            <a:r>
              <a:rPr sz="1150" b="1" i="0">
                <a:solidFill>
                  <a:srgbClr val="1E4FA8"/>
                </a:solidFill>
                <a:latin typeface="Calibri"/>
                <a:ea typeface="Calibri"/>
              </a:rPr>
              <a:t>TRY IT  </a:t>
            </a:r>
            <a:r>
              <a:rPr sz="1100" b="0" i="0">
                <a:solidFill>
                  <a:srgbClr val="4A5568"/>
                </a:solidFill>
                <a:latin typeface="Calibri"/>
                <a:ea typeface="Calibri"/>
              </a:rPr>
              <a:t>what each property does</a:t>
            </a:r>
          </a:p>
        </p:txBody>
      </p:sp>
      <p:sp>
        <p:nvSpPr>
          <p:cNvPr id="8" name="Rectangle 7"/>
          <p:cNvSpPr/>
          <p:nvPr/>
        </p:nvSpPr>
        <p:spPr>
          <a:xfrm>
            <a:off x="5797296" y="1481328"/>
            <a:ext cx="548640" cy="41148"/>
          </a:xfrm>
          <a:prstGeom prst="rect">
            <a:avLst/>
          </a:prstGeom>
          <a:solidFill>
            <a:srgbClr val="1E4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797296" y="1700784"/>
            <a:ext cx="5516575" cy="237744"/>
          </a:xfrm>
          <a:prstGeom prst="rect">
            <a:avLst/>
          </a:prstGeom>
          <a:noFill/>
        </p:spPr>
        <p:txBody>
          <a:bodyPr wrap="square" anchor="t" lIns="0" rIns="0" tIns="0" bIns="0">
            <a:spAutoFit/>
          </a:bodyPr>
          <a:lstStyle/>
          <a:p>
            <a:pPr algn="l">
              <a:lnSpc>
                <a:spcPct val="110000"/>
              </a:lnSpc>
              <a:spcAft>
                <a:spcPts val="400"/>
              </a:spcAft>
            </a:pPr>
            <a:r>
              <a:rPr sz="1050" b="1" i="0">
                <a:solidFill>
                  <a:srgbClr val="B8860B"/>
                </a:solidFill>
                <a:latin typeface="Consolas"/>
                <a:ea typeface="Consolas"/>
              </a:rPr>
              <a:t>color</a:t>
            </a:r>
          </a:p>
        </p:txBody>
      </p:sp>
      <p:sp>
        <p:nvSpPr>
          <p:cNvPr id="10" name="TextBox 9"/>
          <p:cNvSpPr txBox="1"/>
          <p:nvPr/>
        </p:nvSpPr>
        <p:spPr>
          <a:xfrm>
            <a:off x="5797296" y="1956815"/>
            <a:ext cx="5516575" cy="378460"/>
          </a:xfrm>
          <a:prstGeom prst="rect">
            <a:avLst/>
          </a:prstGeom>
          <a:noFill/>
        </p:spPr>
        <p:txBody>
          <a:bodyPr wrap="square" anchor="t" lIns="0" rIns="0" tIns="0" bIns="0">
            <a:spAutoFit/>
          </a:bodyPr>
          <a:lstStyle/>
          <a:p>
            <a:pPr algn="l">
              <a:lnSpc>
                <a:spcPct val="105000"/>
              </a:lnSpc>
              <a:spcAft>
                <a:spcPts val="0"/>
              </a:spcAft>
            </a:pPr>
            <a:r>
              <a:rPr sz="1900" b="1" i="0">
                <a:solidFill>
                  <a:srgbClr val="D9534F"/>
                </a:solidFill>
                <a:latin typeface="Calibri"/>
                <a:ea typeface="Calibri"/>
              </a:rPr>
              <a:t>Red </a:t>
            </a:r>
            <a:r>
              <a:rPr sz="1900" b="1" i="0">
                <a:solidFill>
                  <a:srgbClr val="2E8B57"/>
                </a:solidFill>
                <a:latin typeface="Calibri"/>
                <a:ea typeface="Calibri"/>
              </a:rPr>
              <a:t>Green </a:t>
            </a:r>
            <a:r>
              <a:rPr sz="1900" b="1" i="0">
                <a:solidFill>
                  <a:srgbClr val="1E4FA8"/>
                </a:solidFill>
                <a:latin typeface="Calibri"/>
                <a:ea typeface="Calibri"/>
              </a:rPr>
              <a:t>Blue</a:t>
            </a:r>
          </a:p>
        </p:txBody>
      </p:sp>
      <p:sp>
        <p:nvSpPr>
          <p:cNvPr id="11" name="TextBox 10"/>
          <p:cNvSpPr txBox="1"/>
          <p:nvPr/>
        </p:nvSpPr>
        <p:spPr>
          <a:xfrm>
            <a:off x="5797296" y="2463291"/>
            <a:ext cx="5516575" cy="237744"/>
          </a:xfrm>
          <a:prstGeom prst="rect">
            <a:avLst/>
          </a:prstGeom>
          <a:noFill/>
        </p:spPr>
        <p:txBody>
          <a:bodyPr wrap="square" anchor="t" lIns="0" rIns="0" tIns="0" bIns="0">
            <a:spAutoFit/>
          </a:bodyPr>
          <a:lstStyle/>
          <a:p>
            <a:pPr algn="l">
              <a:lnSpc>
                <a:spcPct val="110000"/>
              </a:lnSpc>
              <a:spcAft>
                <a:spcPts val="400"/>
              </a:spcAft>
            </a:pPr>
            <a:r>
              <a:rPr sz="1050" b="1" i="0">
                <a:solidFill>
                  <a:srgbClr val="B8860B"/>
                </a:solidFill>
                <a:latin typeface="Consolas"/>
                <a:ea typeface="Consolas"/>
              </a:rPr>
              <a:t>text-align</a:t>
            </a:r>
          </a:p>
        </p:txBody>
      </p:sp>
      <p:sp>
        <p:nvSpPr>
          <p:cNvPr id="12" name="TextBox 11"/>
          <p:cNvSpPr txBox="1"/>
          <p:nvPr/>
        </p:nvSpPr>
        <p:spPr>
          <a:xfrm>
            <a:off x="5797296" y="2719323"/>
            <a:ext cx="5516575" cy="353059"/>
          </a:xfrm>
          <a:prstGeom prst="rect">
            <a:avLst/>
          </a:prstGeom>
          <a:noFill/>
        </p:spPr>
        <p:txBody>
          <a:bodyPr wrap="square" anchor="t" lIns="0" rIns="0" tIns="0" bIns="0">
            <a:spAutoFit/>
          </a:bodyPr>
          <a:lstStyle/>
          <a:p>
            <a:pPr algn="ctr">
              <a:lnSpc>
                <a:spcPct val="105000"/>
              </a:lnSpc>
              <a:spcAft>
                <a:spcPts val="0"/>
              </a:spcAft>
            </a:pPr>
            <a:r>
              <a:rPr sz="1700" b="1" i="0">
                <a:solidFill>
                  <a:srgbClr val="1A2230"/>
                </a:solidFill>
                <a:latin typeface="Calibri"/>
                <a:ea typeface="Calibri"/>
              </a:rPr>
              <a:t>This line is centred</a:t>
            </a:r>
          </a:p>
        </p:txBody>
      </p:sp>
      <p:sp>
        <p:nvSpPr>
          <p:cNvPr id="13" name="TextBox 12"/>
          <p:cNvSpPr txBox="1"/>
          <p:nvPr/>
        </p:nvSpPr>
        <p:spPr>
          <a:xfrm>
            <a:off x="5797296" y="3054095"/>
            <a:ext cx="5516575" cy="302260"/>
          </a:xfrm>
          <a:prstGeom prst="rect">
            <a:avLst/>
          </a:prstGeom>
          <a:noFill/>
        </p:spPr>
        <p:txBody>
          <a:bodyPr wrap="square" anchor="t" lIns="0" rIns="0" tIns="0" bIns="0">
            <a:spAutoFit/>
          </a:bodyPr>
          <a:lstStyle/>
          <a:p>
            <a:pPr algn="r">
              <a:lnSpc>
                <a:spcPct val="105000"/>
              </a:lnSpc>
              <a:spcAft>
                <a:spcPts val="0"/>
              </a:spcAft>
            </a:pPr>
            <a:r>
              <a:rPr sz="1300" b="0" i="0">
                <a:solidFill>
                  <a:srgbClr val="4A5568"/>
                </a:solidFill>
                <a:latin typeface="Calibri"/>
                <a:ea typeface="Calibri"/>
              </a:rPr>
              <a:t>pushed to the right</a:t>
            </a:r>
          </a:p>
        </p:txBody>
      </p:sp>
      <p:sp>
        <p:nvSpPr>
          <p:cNvPr id="14" name="TextBox 13"/>
          <p:cNvSpPr txBox="1"/>
          <p:nvPr/>
        </p:nvSpPr>
        <p:spPr>
          <a:xfrm>
            <a:off x="5797296" y="3484371"/>
            <a:ext cx="5516575" cy="237744"/>
          </a:xfrm>
          <a:prstGeom prst="rect">
            <a:avLst/>
          </a:prstGeom>
          <a:noFill/>
        </p:spPr>
        <p:txBody>
          <a:bodyPr wrap="square" anchor="t" lIns="0" rIns="0" tIns="0" bIns="0">
            <a:spAutoFit/>
          </a:bodyPr>
          <a:lstStyle/>
          <a:p>
            <a:pPr algn="l">
              <a:lnSpc>
                <a:spcPct val="110000"/>
              </a:lnSpc>
              <a:spcAft>
                <a:spcPts val="400"/>
              </a:spcAft>
            </a:pPr>
            <a:r>
              <a:rPr sz="1050" b="1" i="0">
                <a:solidFill>
                  <a:srgbClr val="B8860B"/>
                </a:solidFill>
                <a:latin typeface="Consolas"/>
                <a:ea typeface="Consolas"/>
              </a:rPr>
              <a:t>text-decoration</a:t>
            </a:r>
          </a:p>
        </p:txBody>
      </p:sp>
      <p:sp>
        <p:nvSpPr>
          <p:cNvPr id="15" name="TextBox 14"/>
          <p:cNvSpPr txBox="1"/>
          <p:nvPr/>
        </p:nvSpPr>
        <p:spPr>
          <a:xfrm>
            <a:off x="5797296" y="3740404"/>
            <a:ext cx="5516575" cy="353059"/>
          </a:xfrm>
          <a:prstGeom prst="rect">
            <a:avLst/>
          </a:prstGeom>
          <a:noFill/>
        </p:spPr>
        <p:txBody>
          <a:bodyPr wrap="square" anchor="t" lIns="0" rIns="0" tIns="0" bIns="0">
            <a:spAutoFit/>
          </a:bodyPr>
          <a:lstStyle/>
          <a:p>
            <a:pPr algn="l">
              <a:lnSpc>
                <a:spcPct val="105000"/>
              </a:lnSpc>
              <a:spcAft>
                <a:spcPts val="0"/>
              </a:spcAft>
            </a:pPr>
            <a:r>
              <a:rPr sz="1700" b="0" i="0" u="sng">
                <a:solidFill>
                  <a:srgbClr val="1A2230"/>
                </a:solidFill>
                <a:latin typeface="Calibri"/>
                <a:ea typeface="Calibri"/>
              </a:rPr>
              <a:t>underlined</a:t>
            </a:r>
            <a:r>
              <a:rPr sz="1700" b="0" i="0" strike="sngStrike">
                <a:solidFill>
                  <a:srgbClr val="4A5568"/>
                </a:solidFill>
                <a:latin typeface="Calibri"/>
                <a:ea typeface="Calibri"/>
              </a:rPr>
              <a:t>   struck-through</a:t>
            </a:r>
          </a:p>
        </p:txBody>
      </p:sp>
      <p:sp>
        <p:nvSpPr>
          <p:cNvPr id="16" name="TextBox 15"/>
          <p:cNvSpPr txBox="1"/>
          <p:nvPr/>
        </p:nvSpPr>
        <p:spPr>
          <a:xfrm>
            <a:off x="5797296" y="4221480"/>
            <a:ext cx="5516575" cy="237744"/>
          </a:xfrm>
          <a:prstGeom prst="rect">
            <a:avLst/>
          </a:prstGeom>
          <a:noFill/>
        </p:spPr>
        <p:txBody>
          <a:bodyPr wrap="square" anchor="t" lIns="0" rIns="0" tIns="0" bIns="0">
            <a:spAutoFit/>
          </a:bodyPr>
          <a:lstStyle/>
          <a:p>
            <a:pPr algn="l">
              <a:lnSpc>
                <a:spcPct val="110000"/>
              </a:lnSpc>
              <a:spcAft>
                <a:spcPts val="400"/>
              </a:spcAft>
            </a:pPr>
            <a:r>
              <a:rPr sz="1050" b="1" i="0">
                <a:solidFill>
                  <a:srgbClr val="B8860B"/>
                </a:solidFill>
                <a:latin typeface="Consolas"/>
                <a:ea typeface="Consolas"/>
              </a:rPr>
              <a:t>text-transform</a:t>
            </a:r>
          </a:p>
        </p:txBody>
      </p:sp>
      <p:sp>
        <p:nvSpPr>
          <p:cNvPr id="17" name="TextBox 16"/>
          <p:cNvSpPr txBox="1"/>
          <p:nvPr/>
        </p:nvSpPr>
        <p:spPr>
          <a:xfrm>
            <a:off x="5797296" y="4477512"/>
            <a:ext cx="5516575" cy="353059"/>
          </a:xfrm>
          <a:prstGeom prst="rect">
            <a:avLst/>
          </a:prstGeom>
          <a:noFill/>
        </p:spPr>
        <p:txBody>
          <a:bodyPr wrap="square" anchor="t" lIns="0" rIns="0" tIns="0" bIns="0">
            <a:spAutoFit/>
          </a:bodyPr>
          <a:lstStyle/>
          <a:p>
            <a:pPr algn="l">
              <a:lnSpc>
                <a:spcPct val="105000"/>
              </a:lnSpc>
              <a:spcAft>
                <a:spcPts val="0"/>
              </a:spcAft>
            </a:pPr>
            <a:r>
              <a:rPr sz="1700" b="1" i="0">
                <a:solidFill>
                  <a:srgbClr val="0E3F8C"/>
                </a:solidFill>
                <a:latin typeface="Calibri"/>
                <a:ea typeface="Calibri"/>
              </a:rPr>
              <a:t>UPPERCASE</a:t>
            </a:r>
            <a:r>
              <a:rPr sz="1700" b="0" i="0">
                <a:solidFill>
                  <a:srgbClr val="1A2230"/>
                </a:solidFill>
                <a:latin typeface="Calibri"/>
                <a:ea typeface="Calibri"/>
              </a:rPr>
              <a:t>  Capitalize  </a:t>
            </a:r>
            <a:r>
              <a:rPr sz="1700" b="0" i="0">
                <a:solidFill>
                  <a:srgbClr val="4A5568"/>
                </a:solidFill>
                <a:latin typeface="Calibri"/>
                <a:ea typeface="Calibri"/>
              </a:rPr>
              <a:t>lowercase</a:t>
            </a:r>
          </a:p>
        </p:txBody>
      </p:sp>
      <p:sp>
        <p:nvSpPr>
          <p:cNvPr id="18" name="Rounded Rectangle 17"/>
          <p:cNvSpPr/>
          <p:nvPr/>
        </p:nvSpPr>
        <p:spPr>
          <a:xfrm>
            <a:off x="548640" y="5577840"/>
            <a:ext cx="11094415" cy="713232"/>
          </a:xfrm>
          <a:prstGeom prst="roundRect">
            <a:avLst>
              <a:gd name="adj" fmla="val 8000"/>
            </a:avLst>
          </a:prstGeom>
          <a:solidFill>
            <a:srgbClr val="1A22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68680" y="5696712"/>
            <a:ext cx="10454335" cy="256032"/>
          </a:xfrm>
          <a:prstGeom prst="rect">
            <a:avLst/>
          </a:prstGeom>
          <a:noFill/>
        </p:spPr>
        <p:txBody>
          <a:bodyPr wrap="square" anchor="t" lIns="0" rIns="0" tIns="0" bIns="0">
            <a:spAutoFit/>
          </a:bodyPr>
          <a:lstStyle/>
          <a:p>
            <a:pPr algn="l">
              <a:lnSpc>
                <a:spcPct val="110000"/>
              </a:lnSpc>
              <a:spcAft>
                <a:spcPts val="400"/>
              </a:spcAft>
            </a:pPr>
            <a:r>
              <a:rPr sz="1100" b="1" i="0">
                <a:solidFill>
                  <a:srgbClr val="9DC0EE"/>
                </a:solidFill>
                <a:latin typeface="Calibri"/>
                <a:ea typeface="Calibri"/>
              </a:rPr>
              <a:t>Alignment, decoration and case   </a:t>
            </a:r>
            <a:r>
              <a:rPr sz="1100" b="1" i="0">
                <a:solidFill>
                  <a:srgbClr val="61AFEF"/>
                </a:solidFill>
                <a:latin typeface="Calibri"/>
                <a:ea typeface="Calibri"/>
                <a:hlinkClick r:id="rId2"/>
                <a:extLst>
                  <a:ext uri="{A12FA001-AC4F-418D-AE19-62706E023703}">
                    <ahyp:hlinkClr xmlns:ahyp="http://schemas.microsoft.com/office/drawing/2018/hyperlinkcolor" val="tx"/>
                  </a:ext>
                </a:extLst>
              </a:rPr>
              <a:t>↗ editor.html?example=css-styling/text</a:t>
            </a:r>
          </a:p>
        </p:txBody>
      </p:sp>
      <p:sp>
        <p:nvSpPr>
          <p:cNvPr id="20" name="TextBox 19"/>
          <p:cNvSpPr txBox="1"/>
          <p:nvPr/>
        </p:nvSpPr>
        <p:spPr>
          <a:xfrm>
            <a:off x="868680" y="5961888"/>
            <a:ext cx="10454335" cy="274320"/>
          </a:xfrm>
          <a:prstGeom prst="rect">
            <a:avLst/>
          </a:prstGeom>
          <a:noFill/>
        </p:spPr>
        <p:txBody>
          <a:bodyPr wrap="square" anchor="t" lIns="0" rIns="0" tIns="0" bIns="0">
            <a:spAutoFit/>
          </a:bodyPr>
          <a:lstStyle/>
          <a:p>
            <a:pPr algn="l">
              <a:lnSpc>
                <a:spcPct val="110000"/>
              </a:lnSpc>
              <a:spcAft>
                <a:spcPts val="400"/>
              </a:spcAft>
            </a:pPr>
            <a:r>
              <a:rPr sz="1350" b="0" i="0">
                <a:solidFill>
                  <a:srgbClr val="98C379"/>
                </a:solidFill>
                <a:latin typeface="Consolas"/>
                <a:ea typeface="Consolas"/>
              </a:rPr>
              <a:t>&lt;p style="text-align: center; text-decoration: none; text-transform: uppercase;"&gt;</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66928"/>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6979615" cy="365760"/>
          </a:xfrm>
          <a:prstGeom prst="rect">
            <a:avLst/>
          </a:prstGeom>
          <a:noFill/>
        </p:spPr>
        <p:txBody>
          <a:bodyPr wrap="square" anchor="ctr" lIns="0" rIns="0" tIns="0" bIns="0">
            <a:spAutoFit/>
          </a:bodyPr>
          <a:lstStyle/>
          <a:p>
            <a:pPr algn="l">
              <a:lnSpc>
                <a:spcPct val="110000"/>
              </a:lnSpc>
              <a:spcAft>
                <a:spcPts val="400"/>
              </a:spcAft>
            </a:pPr>
            <a:r>
              <a:rPr sz="2100" b="1" i="0">
                <a:solidFill>
                  <a:srgbClr val="FFFFFF"/>
                </a:solidFill>
                <a:latin typeface="Calibri"/>
                <a:ea typeface="Calibri"/>
              </a:rPr>
              <a:t>Text — Spacing</a:t>
            </a:r>
          </a:p>
        </p:txBody>
      </p:sp>
      <p:sp>
        <p:nvSpPr>
          <p:cNvPr id="4" name="TextBox 3"/>
          <p:cNvSpPr txBox="1"/>
          <p:nvPr/>
        </p:nvSpPr>
        <p:spPr>
          <a:xfrm>
            <a:off x="7436815" y="109728"/>
            <a:ext cx="4206240" cy="365760"/>
          </a:xfrm>
          <a:prstGeom prst="rect">
            <a:avLst/>
          </a:prstGeom>
          <a:noFill/>
        </p:spPr>
        <p:txBody>
          <a:bodyPr wrap="square" anchor="ctr" lIns="0" rIns="0" tIns="0" bIns="0">
            <a:spAutoFit/>
          </a:bodyPr>
          <a:lstStyle/>
          <a:p>
            <a:pPr algn="r">
              <a:lnSpc>
                <a:spcPct val="110000"/>
              </a:lnSpc>
              <a:spcAft>
                <a:spcPts val="400"/>
              </a:spcAft>
            </a:pPr>
            <a:r>
              <a:rPr sz="1100" b="1" i="0">
                <a:solidFill>
                  <a:srgbClr val="B9CDEE"/>
                </a:solidFill>
                <a:latin typeface="Calibri"/>
                <a:ea typeface="Calibri"/>
              </a:rPr>
              <a:t>COMP3421 · Text</a:t>
            </a:r>
          </a:p>
        </p:txBody>
      </p:sp>
      <p:sp>
        <p:nvSpPr>
          <p:cNvPr id="5" name="TextBox 4"/>
          <p:cNvSpPr txBox="1"/>
          <p:nvPr/>
        </p:nvSpPr>
        <p:spPr>
          <a:xfrm>
            <a:off x="548640" y="978408"/>
            <a:ext cx="4602175" cy="4937760"/>
          </a:xfrm>
          <a:prstGeom prst="rect">
            <a:avLst/>
          </a:prstGeom>
          <a:noFill/>
        </p:spPr>
        <p:txBody>
          <a:bodyPr wrap="square" lIns="0" rIns="0" tIns="0" bIns="0">
            <a:normAutofit/>
          </a:bodyPr>
          <a:lstStyle/>
          <a:p>
            <a:pPr marL="274320" indent="-237744">
              <a:lnSpc>
                <a:spcPct val="112000"/>
              </a:lnSpc>
              <a:spcAft>
                <a:spcPts val="1000"/>
              </a:spcAft>
              <a:buClr>
                <a:srgbClr val="1E4FA8"/>
              </a:buClr>
              <a:buSzPct val="90000"/>
              <a:buFont typeface="Arial"/>
              <a:buChar char="▪"/>
            </a:pPr>
            <a:r>
              <a:rPr sz="1550" b="1" i="0">
                <a:solidFill>
                  <a:srgbClr val="B8860B"/>
                </a:solidFill>
                <a:latin typeface="Calibri"/>
                <a:ea typeface="Calibri"/>
              </a:rPr>
              <a:t>text-indent</a:t>
            </a:r>
            <a:br/>
            <a:r>
              <a:rPr sz="1350" b="0" i="0">
                <a:solidFill>
                  <a:srgbClr val="4A5568"/>
                </a:solidFill>
                <a:latin typeface="Calibri"/>
                <a:ea typeface="Calibri"/>
              </a:rPr>
              <a:t>Indent the first line of a paragraph.</a:t>
            </a:r>
          </a:p>
          <a:p>
            <a:pPr marL="274320" indent="-237744">
              <a:lnSpc>
                <a:spcPct val="112000"/>
              </a:lnSpc>
              <a:spcAft>
                <a:spcPts val="1000"/>
              </a:spcAft>
              <a:buClr>
                <a:srgbClr val="1E4FA8"/>
              </a:buClr>
              <a:buSzPct val="90000"/>
              <a:buFont typeface="Arial"/>
              <a:buChar char="▪"/>
            </a:pPr>
            <a:r>
              <a:rPr sz="1550" b="1" i="0">
                <a:solidFill>
                  <a:srgbClr val="B8860B"/>
                </a:solidFill>
                <a:latin typeface="Calibri"/>
                <a:ea typeface="Calibri"/>
              </a:rPr>
              <a:t>letter-spacing</a:t>
            </a:r>
            <a:br/>
            <a:r>
              <a:rPr sz="1350" b="0" i="0">
                <a:solidFill>
                  <a:srgbClr val="4A5568"/>
                </a:solidFill>
                <a:latin typeface="Calibri"/>
                <a:ea typeface="Calibri"/>
              </a:rPr>
              <a:t>Space between characters.</a:t>
            </a:r>
          </a:p>
          <a:p>
            <a:pPr marL="274320" indent="-237744">
              <a:lnSpc>
                <a:spcPct val="112000"/>
              </a:lnSpc>
              <a:spcAft>
                <a:spcPts val="1000"/>
              </a:spcAft>
              <a:buClr>
                <a:srgbClr val="1E4FA8"/>
              </a:buClr>
              <a:buSzPct val="90000"/>
              <a:buFont typeface="Arial"/>
              <a:buChar char="▪"/>
            </a:pPr>
            <a:r>
              <a:rPr sz="1550" b="1" i="0">
                <a:solidFill>
                  <a:srgbClr val="B8860B"/>
                </a:solidFill>
                <a:latin typeface="Calibri"/>
                <a:ea typeface="Calibri"/>
              </a:rPr>
              <a:t>word-spacing</a:t>
            </a:r>
            <a:br/>
            <a:r>
              <a:rPr sz="1350" b="0" i="0">
                <a:solidFill>
                  <a:srgbClr val="4A5568"/>
                </a:solidFill>
                <a:latin typeface="Calibri"/>
                <a:ea typeface="Calibri"/>
              </a:rPr>
              <a:t>Space between words.</a:t>
            </a:r>
          </a:p>
          <a:p>
            <a:pPr marL="274320" indent="-237744">
              <a:lnSpc>
                <a:spcPct val="112000"/>
              </a:lnSpc>
              <a:spcAft>
                <a:spcPts val="1000"/>
              </a:spcAft>
              <a:buClr>
                <a:srgbClr val="1E4FA8"/>
              </a:buClr>
              <a:buSzPct val="90000"/>
              <a:buFont typeface="Arial"/>
              <a:buChar char="▪"/>
            </a:pPr>
            <a:r>
              <a:rPr sz="1550" b="1" i="0">
                <a:solidFill>
                  <a:srgbClr val="B8860B"/>
                </a:solidFill>
                <a:latin typeface="Calibri"/>
                <a:ea typeface="Calibri"/>
              </a:rPr>
              <a:t>line-height</a:t>
            </a:r>
            <a:br/>
            <a:r>
              <a:rPr sz="1350" b="0" i="0">
                <a:solidFill>
                  <a:srgbClr val="4A5568"/>
                </a:solidFill>
                <a:latin typeface="Calibri"/>
                <a:ea typeface="Calibri"/>
              </a:rPr>
              <a:t>Space between lines — often unitless.</a:t>
            </a:r>
          </a:p>
        </p:txBody>
      </p:sp>
      <p:sp>
        <p:nvSpPr>
          <p:cNvPr id="6" name="Rounded Rectangle 5"/>
          <p:cNvSpPr/>
          <p:nvPr/>
        </p:nvSpPr>
        <p:spPr>
          <a:xfrm>
            <a:off x="5836615" y="978408"/>
            <a:ext cx="5806440" cy="3703320"/>
          </a:xfrm>
          <a:prstGeom prst="roundRect">
            <a:avLst>
              <a:gd name="adj" fmla="val 5000"/>
            </a:avLst>
          </a:prstGeom>
          <a:solidFill>
            <a:srgbClr val="2327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129223" y="1133856"/>
            <a:ext cx="5257800" cy="292608"/>
          </a:xfrm>
          <a:prstGeom prst="rect">
            <a:avLst/>
          </a:prstGeom>
          <a:noFill/>
        </p:spPr>
        <p:txBody>
          <a:bodyPr wrap="square" anchor="t" lIns="0" rIns="0" tIns="0" bIns="0">
            <a:spAutoFit/>
          </a:bodyPr>
          <a:lstStyle/>
          <a:p>
            <a:pPr algn="l">
              <a:lnSpc>
                <a:spcPct val="110000"/>
              </a:lnSpc>
              <a:spcAft>
                <a:spcPts val="400"/>
              </a:spcAft>
            </a:pPr>
            <a:r>
              <a:rPr sz="1100" b="1" i="0">
                <a:solidFill>
                  <a:srgbClr val="7F8C98"/>
                </a:solidFill>
                <a:latin typeface="Calibri"/>
                <a:ea typeface="Calibri"/>
              </a:rPr>
              <a:t>LOOK INSIDE — CODE</a:t>
            </a:r>
          </a:p>
        </p:txBody>
      </p:sp>
      <p:sp>
        <p:nvSpPr>
          <p:cNvPr id="8" name="TextBox 7"/>
          <p:cNvSpPr txBox="1"/>
          <p:nvPr/>
        </p:nvSpPr>
        <p:spPr>
          <a:xfrm>
            <a:off x="6129223" y="1463040"/>
            <a:ext cx="5221224" cy="3108960"/>
          </a:xfrm>
          <a:prstGeom prst="rect">
            <a:avLst/>
          </a:prstGeom>
          <a:noFill/>
        </p:spPr>
        <p:txBody>
          <a:bodyPr wrap="none" lIns="0" rIns="0" tIns="0" bIns="0">
            <a:spAutoFit/>
          </a:bodyPr>
          <a:lstStyle/>
          <a:p>
            <a:pPr>
              <a:spcAft>
                <a:spcPts val="350"/>
              </a:spcAft>
            </a:pPr>
            <a:r>
              <a:rPr sz="1300" b="0" i="0">
                <a:solidFill>
                  <a:srgbClr val="61AFEF"/>
                </a:solidFill>
                <a:latin typeface="Consolas"/>
                <a:ea typeface="Consolas"/>
              </a:rPr>
              <a:t>&lt;p style="text-indent: 50px;"&gt;</a:t>
            </a:r>
          </a:p>
          <a:p>
            <a:pPr>
              <a:spcAft>
                <a:spcPts val="350"/>
              </a:spcAft>
            </a:pPr>
            <a:r>
              <a:rPr sz="1300" b="0" i="0">
                <a:solidFill>
                  <a:srgbClr val="98C379"/>
                </a:solidFill>
                <a:latin typeface="Consolas"/>
                <a:ea typeface="Consolas"/>
              </a:rPr>
              <a:t>&lt;h1 style="letter-spacing: 3px;"&gt;</a:t>
            </a:r>
          </a:p>
          <a:p>
            <a:pPr>
              <a:spcAft>
                <a:spcPts val="350"/>
              </a:spcAft>
            </a:pPr>
            <a:r>
              <a:rPr sz="1300" b="0" i="0">
                <a:solidFill>
                  <a:srgbClr val="E5C07B"/>
                </a:solidFill>
                <a:latin typeface="Consolas"/>
                <a:ea typeface="Consolas"/>
              </a:rPr>
              <a:t>&lt;p style="word-spacing: 10px;"&gt;</a:t>
            </a:r>
          </a:p>
          <a:p>
            <a:pPr>
              <a:spcAft>
                <a:spcPts val="350"/>
              </a:spcAft>
            </a:pPr>
            <a:r>
              <a:rPr sz="1300" b="0" i="0">
                <a:solidFill>
                  <a:srgbClr val="C678DD"/>
                </a:solidFill>
                <a:latin typeface="Consolas"/>
                <a:ea typeface="Consolas"/>
              </a:rPr>
              <a:t>&lt;p style="line-height: 1.8;"&gt;</a:t>
            </a:r>
          </a:p>
          <a:p>
            <a:pPr>
              <a:spcAft>
                <a:spcPts val="350"/>
              </a:spcAft>
            </a:pPr>
            <a:r>
              <a:rPr sz="1300" b="0" i="0">
                <a:solidFill>
                  <a:srgbClr val="7F8C98"/>
                </a:solidFill>
                <a:latin typeface="Consolas"/>
                <a:ea typeface="Consolas"/>
              </a:rPr>
              <a:t/>
            </a:r>
          </a:p>
          <a:p>
            <a:pPr>
              <a:spcAft>
                <a:spcPts val="350"/>
              </a:spcAft>
            </a:pPr>
            <a:r>
              <a:rPr sz="1300" b="0" i="0">
                <a:solidFill>
                  <a:srgbClr val="7F8C98"/>
                </a:solidFill>
                <a:latin typeface="Consolas"/>
                <a:ea typeface="Consolas"/>
              </a:rPr>
              <a:t>&lt;!-- line-height: 1.8 = 1.8 x the font size --&gt;</a:t>
            </a:r>
          </a:p>
        </p:txBody>
      </p:sp>
      <p:sp>
        <p:nvSpPr>
          <p:cNvPr id="9" name="Rounded Rectangle 8"/>
          <p:cNvSpPr/>
          <p:nvPr/>
        </p:nvSpPr>
        <p:spPr>
          <a:xfrm>
            <a:off x="5836615" y="4800600"/>
            <a:ext cx="5806440" cy="475488"/>
          </a:xfrm>
          <a:prstGeom prst="roundRect">
            <a:avLst>
              <a:gd name="adj" fmla="val 10000"/>
            </a:avLst>
          </a:prstGeom>
          <a:solidFill>
            <a:srgbClr val="F0F5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092647" y="4919472"/>
            <a:ext cx="5294375" cy="274320"/>
          </a:xfrm>
          <a:prstGeom prst="rect">
            <a:avLst/>
          </a:prstGeom>
          <a:noFill/>
        </p:spPr>
        <p:txBody>
          <a:bodyPr wrap="square" anchor="t" lIns="0" rIns="0" tIns="0" bIns="0">
            <a:spAutoFit/>
          </a:bodyPr>
          <a:lstStyle/>
          <a:p>
            <a:pPr algn="l">
              <a:lnSpc>
                <a:spcPct val="110000"/>
              </a:lnSpc>
              <a:spcAft>
                <a:spcPts val="400"/>
              </a:spcAft>
            </a:pPr>
            <a:r>
              <a:rPr sz="1050" b="1" i="0">
                <a:solidFill>
                  <a:srgbClr val="0E3F8C"/>
                </a:solidFill>
                <a:latin typeface="Calibri"/>
                <a:ea typeface="Calibri"/>
              </a:rPr>
              <a:t>open in editor →  </a:t>
            </a:r>
            <a:r>
              <a:rPr sz="1050" b="0" i="0">
                <a:solidFill>
                  <a:srgbClr val="3D7BD9"/>
                </a:solidFill>
                <a:latin typeface="Consolas"/>
                <a:ea typeface="Consolas"/>
                <a:hlinkClick r:id="rId2"/>
                <a:extLst>
                  <a:ext uri="{A12FA001-AC4F-418D-AE19-62706E023703}">
                    <ahyp:hlinkClr xmlns:ahyp="http://schemas.microsoft.com/office/drawing/2018/hyperlinkcolor" val="tx"/>
                  </a:ext>
                </a:extLst>
              </a:rPr>
              <a:t>editor.html?example=css-styling/text</a:t>
            </a:r>
          </a:p>
        </p:txBody>
      </p:sp>
      <p:sp>
        <p:nvSpPr>
          <p:cNvPr id="11" name="Rounded Rectangle 10"/>
          <p:cNvSpPr/>
          <p:nvPr/>
        </p:nvSpPr>
        <p:spPr>
          <a:xfrm>
            <a:off x="548640" y="5943600"/>
            <a:ext cx="11094415" cy="475488"/>
          </a:xfrm>
          <a:prstGeom prst="roundRect">
            <a:avLst>
              <a:gd name="adj" fmla="val 10000"/>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04672" y="5943600"/>
            <a:ext cx="10591495" cy="475488"/>
          </a:xfrm>
          <a:prstGeom prst="rect">
            <a:avLst/>
          </a:prstGeom>
          <a:noFill/>
        </p:spPr>
        <p:txBody>
          <a:bodyPr wrap="square" anchor="ctr" lIns="0" rIns="0" tIns="0" bIns="0">
            <a:spAutoFit/>
          </a:bodyPr>
          <a:lstStyle/>
          <a:p>
            <a:pPr algn="l">
              <a:lnSpc>
                <a:spcPct val="110000"/>
              </a:lnSpc>
              <a:spcAft>
                <a:spcPts val="400"/>
              </a:spcAft>
            </a:pPr>
            <a:r>
              <a:rPr sz="1400" b="1" i="0">
                <a:solidFill>
                  <a:srgbClr val="FFFFFF"/>
                </a:solidFill>
                <a:latin typeface="Calibri"/>
                <a:ea typeface="Calibri"/>
              </a:rPr>
              <a:t>Spacing is typography — it makes text readable or cramped.</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66928"/>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6979615" cy="365760"/>
          </a:xfrm>
          <a:prstGeom prst="rect">
            <a:avLst/>
          </a:prstGeom>
          <a:noFill/>
        </p:spPr>
        <p:txBody>
          <a:bodyPr wrap="square" anchor="ctr" lIns="0" rIns="0" tIns="0" bIns="0">
            <a:spAutoFit/>
          </a:bodyPr>
          <a:lstStyle/>
          <a:p>
            <a:pPr algn="l">
              <a:lnSpc>
                <a:spcPct val="110000"/>
              </a:lnSpc>
              <a:spcAft>
                <a:spcPts val="400"/>
              </a:spcAft>
            </a:pPr>
            <a:r>
              <a:rPr sz="2100" b="1" i="0">
                <a:solidFill>
                  <a:srgbClr val="FFFFFF"/>
                </a:solidFill>
                <a:latin typeface="Calibri"/>
                <a:ea typeface="Calibri"/>
              </a:rPr>
              <a:t>Text — Direction &amp; Shadow</a:t>
            </a:r>
          </a:p>
        </p:txBody>
      </p:sp>
      <p:sp>
        <p:nvSpPr>
          <p:cNvPr id="4" name="TextBox 3"/>
          <p:cNvSpPr txBox="1"/>
          <p:nvPr/>
        </p:nvSpPr>
        <p:spPr>
          <a:xfrm>
            <a:off x="7436815" y="109728"/>
            <a:ext cx="4206240" cy="365760"/>
          </a:xfrm>
          <a:prstGeom prst="rect">
            <a:avLst/>
          </a:prstGeom>
          <a:noFill/>
        </p:spPr>
        <p:txBody>
          <a:bodyPr wrap="square" anchor="ctr" lIns="0" rIns="0" tIns="0" bIns="0">
            <a:spAutoFit/>
          </a:bodyPr>
          <a:lstStyle/>
          <a:p>
            <a:pPr algn="r">
              <a:lnSpc>
                <a:spcPct val="110000"/>
              </a:lnSpc>
              <a:spcAft>
                <a:spcPts val="400"/>
              </a:spcAft>
            </a:pPr>
            <a:r>
              <a:rPr sz="1100" b="1" i="0">
                <a:solidFill>
                  <a:srgbClr val="B9CDEE"/>
                </a:solidFill>
                <a:latin typeface="Calibri"/>
                <a:ea typeface="Calibri"/>
              </a:rPr>
              <a:t>COMP3421 · Text</a:t>
            </a:r>
          </a:p>
        </p:txBody>
      </p:sp>
      <p:sp>
        <p:nvSpPr>
          <p:cNvPr id="5" name="TextBox 4"/>
          <p:cNvSpPr txBox="1"/>
          <p:nvPr/>
        </p:nvSpPr>
        <p:spPr>
          <a:xfrm>
            <a:off x="548640" y="932688"/>
            <a:ext cx="4462272" cy="4599432"/>
          </a:xfrm>
          <a:prstGeom prst="rect">
            <a:avLst/>
          </a:prstGeom>
          <a:noFill/>
        </p:spPr>
        <p:txBody>
          <a:bodyPr wrap="square" lIns="0" rIns="0" tIns="0" bIns="0">
            <a:normAutofit/>
          </a:bodyPr>
          <a:lstStyle/>
          <a:p>
            <a:pPr marL="256032" indent="-237744">
              <a:lnSpc>
                <a:spcPct val="112000"/>
              </a:lnSpc>
              <a:spcAft>
                <a:spcPts val="1000"/>
              </a:spcAft>
              <a:buClr>
                <a:srgbClr val="1E4FA8"/>
              </a:buClr>
              <a:buSzPct val="90000"/>
              <a:buFont typeface="Arial"/>
              <a:buChar char="▪"/>
            </a:pPr>
            <a:r>
              <a:rPr sz="1600" b="1" i="0">
                <a:solidFill>
                  <a:srgbClr val="B8860B"/>
                </a:solidFill>
                <a:latin typeface="Calibri"/>
                <a:ea typeface="Calibri"/>
              </a:rPr>
              <a:t>direction</a:t>
            </a:r>
            <a:br/>
            <a:r>
              <a:rPr sz="1300" b="0" i="0">
                <a:solidFill>
                  <a:srgbClr val="4A5568"/>
                </a:solidFill>
                <a:latin typeface="Calibri"/>
                <a:ea typeface="Calibri"/>
              </a:rPr>
              <a:t>ltr or rtl — left-to-right or right-to-left.</a:t>
            </a:r>
          </a:p>
          <a:p>
            <a:pPr marL="256032" indent="-237744">
              <a:lnSpc>
                <a:spcPct val="112000"/>
              </a:lnSpc>
              <a:spcAft>
                <a:spcPts val="1000"/>
              </a:spcAft>
              <a:buClr>
                <a:srgbClr val="1E4FA8"/>
              </a:buClr>
              <a:buSzPct val="90000"/>
              <a:buFont typeface="Arial"/>
              <a:buChar char="▪"/>
            </a:pPr>
            <a:r>
              <a:rPr sz="1600" b="1" i="0">
                <a:solidFill>
                  <a:srgbClr val="B8860B"/>
                </a:solidFill>
                <a:latin typeface="Calibri"/>
                <a:ea typeface="Calibri"/>
              </a:rPr>
              <a:t>white-space</a:t>
            </a:r>
            <a:br/>
            <a:r>
              <a:rPr sz="1300" b="0" i="0">
                <a:solidFill>
                  <a:srgbClr val="4A5568"/>
                </a:solidFill>
                <a:latin typeface="Calibri"/>
                <a:ea typeface="Calibri"/>
              </a:rPr>
              <a:t>normal, nowrap, pre — how whitespace behaves.</a:t>
            </a:r>
          </a:p>
          <a:p>
            <a:pPr marL="256032" indent="-237744">
              <a:lnSpc>
                <a:spcPct val="112000"/>
              </a:lnSpc>
              <a:spcAft>
                <a:spcPts val="1000"/>
              </a:spcAft>
              <a:buClr>
                <a:srgbClr val="1E4FA8"/>
              </a:buClr>
              <a:buSzPct val="90000"/>
              <a:buFont typeface="Arial"/>
              <a:buChar char="▪"/>
            </a:pPr>
            <a:r>
              <a:rPr sz="1600" b="1" i="0">
                <a:solidFill>
                  <a:srgbClr val="B8860B"/>
                </a:solidFill>
                <a:latin typeface="Calibri"/>
                <a:ea typeface="Calibri"/>
              </a:rPr>
              <a:t>vertical-align</a:t>
            </a:r>
            <a:br/>
            <a:r>
              <a:rPr sz="1300" b="0" i="0">
                <a:solidFill>
                  <a:srgbClr val="4A5568"/>
                </a:solidFill>
                <a:latin typeface="Calibri"/>
                <a:ea typeface="Calibri"/>
              </a:rPr>
              <a:t>baseline, top, middle, bottom — inline alignment.</a:t>
            </a:r>
          </a:p>
          <a:p>
            <a:pPr marL="256032" indent="-237744">
              <a:lnSpc>
                <a:spcPct val="112000"/>
              </a:lnSpc>
              <a:spcAft>
                <a:spcPts val="1000"/>
              </a:spcAft>
              <a:buClr>
                <a:srgbClr val="1E4FA8"/>
              </a:buClr>
              <a:buSzPct val="90000"/>
              <a:buFont typeface="Arial"/>
              <a:buChar char="▪"/>
            </a:pPr>
            <a:r>
              <a:rPr sz="1600" b="1" i="0">
                <a:solidFill>
                  <a:srgbClr val="B8860B"/>
                </a:solidFill>
                <a:latin typeface="Calibri"/>
                <a:ea typeface="Calibri"/>
              </a:rPr>
              <a:t>text-shadow</a:t>
            </a:r>
            <a:br/>
            <a:r>
              <a:rPr sz="1300" b="0" i="0">
                <a:solidFill>
                  <a:srgbClr val="4A5568"/>
                </a:solidFill>
                <a:latin typeface="Calibri"/>
                <a:ea typeface="Calibri"/>
              </a:rPr>
              <a:t>A shadow behind the text.</a:t>
            </a:r>
          </a:p>
        </p:txBody>
      </p:sp>
      <p:sp>
        <p:nvSpPr>
          <p:cNvPr id="6" name="Rounded Rectangle 5"/>
          <p:cNvSpPr/>
          <p:nvPr/>
        </p:nvSpPr>
        <p:spPr>
          <a:xfrm>
            <a:off x="5486400" y="932688"/>
            <a:ext cx="6156655" cy="4599432"/>
          </a:xfrm>
          <a:prstGeom prst="roundRect">
            <a:avLst>
              <a:gd name="adj" fmla="val 5000"/>
            </a:avLst>
          </a:prstGeom>
          <a:solidFill>
            <a:srgbClr val="F0F5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779008" y="1115568"/>
            <a:ext cx="5571439" cy="310896"/>
          </a:xfrm>
          <a:prstGeom prst="rect">
            <a:avLst/>
          </a:prstGeom>
          <a:noFill/>
        </p:spPr>
        <p:txBody>
          <a:bodyPr wrap="square" anchor="t" lIns="0" rIns="0" tIns="0" bIns="0">
            <a:spAutoFit/>
          </a:bodyPr>
          <a:lstStyle/>
          <a:p>
            <a:pPr algn="l">
              <a:lnSpc>
                <a:spcPct val="110000"/>
              </a:lnSpc>
              <a:spcAft>
                <a:spcPts val="400"/>
              </a:spcAft>
            </a:pPr>
            <a:r>
              <a:rPr sz="1150" b="1" i="0">
                <a:solidFill>
                  <a:srgbClr val="1E4FA8"/>
                </a:solidFill>
                <a:latin typeface="Calibri"/>
                <a:ea typeface="Calibri"/>
              </a:rPr>
              <a:t>TRY IT  </a:t>
            </a:r>
            <a:r>
              <a:rPr sz="1100" b="0" i="0">
                <a:solidFill>
                  <a:srgbClr val="4A5568"/>
                </a:solidFill>
                <a:latin typeface="Calibri"/>
                <a:ea typeface="Calibri"/>
              </a:rPr>
              <a:t>what each property does</a:t>
            </a:r>
          </a:p>
        </p:txBody>
      </p:sp>
      <p:sp>
        <p:nvSpPr>
          <p:cNvPr id="8" name="Rectangle 7"/>
          <p:cNvSpPr/>
          <p:nvPr/>
        </p:nvSpPr>
        <p:spPr>
          <a:xfrm>
            <a:off x="5797296" y="1481328"/>
            <a:ext cx="548640" cy="41148"/>
          </a:xfrm>
          <a:prstGeom prst="rect">
            <a:avLst/>
          </a:prstGeom>
          <a:solidFill>
            <a:srgbClr val="1E4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797296" y="1700784"/>
            <a:ext cx="5516575" cy="237744"/>
          </a:xfrm>
          <a:prstGeom prst="rect">
            <a:avLst/>
          </a:prstGeom>
          <a:noFill/>
        </p:spPr>
        <p:txBody>
          <a:bodyPr wrap="square" anchor="t" lIns="0" rIns="0" tIns="0" bIns="0">
            <a:spAutoFit/>
          </a:bodyPr>
          <a:lstStyle/>
          <a:p>
            <a:pPr algn="l">
              <a:lnSpc>
                <a:spcPct val="110000"/>
              </a:lnSpc>
              <a:spcAft>
                <a:spcPts val="400"/>
              </a:spcAft>
            </a:pPr>
            <a:r>
              <a:rPr sz="1050" b="1" i="0">
                <a:solidFill>
                  <a:srgbClr val="B8860B"/>
                </a:solidFill>
                <a:latin typeface="Consolas"/>
                <a:ea typeface="Consolas"/>
              </a:rPr>
              <a:t>direction</a:t>
            </a:r>
          </a:p>
        </p:txBody>
      </p:sp>
      <p:sp>
        <p:nvSpPr>
          <p:cNvPr id="10" name="TextBox 9"/>
          <p:cNvSpPr txBox="1"/>
          <p:nvPr/>
        </p:nvSpPr>
        <p:spPr>
          <a:xfrm>
            <a:off x="5797296" y="1956815"/>
            <a:ext cx="5516575" cy="340359"/>
          </a:xfrm>
          <a:prstGeom prst="rect">
            <a:avLst/>
          </a:prstGeom>
          <a:noFill/>
        </p:spPr>
        <p:txBody>
          <a:bodyPr wrap="square" anchor="t" lIns="0" rIns="0" tIns="0" bIns="0">
            <a:spAutoFit/>
          </a:bodyPr>
          <a:lstStyle/>
          <a:p>
            <a:pPr algn="l">
              <a:lnSpc>
                <a:spcPct val="105000"/>
              </a:lnSpc>
              <a:spcAft>
                <a:spcPts val="0"/>
              </a:spcAft>
            </a:pPr>
            <a:r>
              <a:rPr sz="1600" b="0" i="0">
                <a:solidFill>
                  <a:srgbClr val="1A2230"/>
                </a:solidFill>
                <a:latin typeface="Calibri"/>
                <a:ea typeface="Calibri"/>
              </a:rPr>
              <a:t>Hello World</a:t>
            </a:r>
          </a:p>
        </p:txBody>
      </p:sp>
      <p:sp>
        <p:nvSpPr>
          <p:cNvPr id="11" name="TextBox 10"/>
          <p:cNvSpPr txBox="1"/>
          <p:nvPr/>
        </p:nvSpPr>
        <p:spPr>
          <a:xfrm>
            <a:off x="5797296" y="2278887"/>
            <a:ext cx="5516575" cy="340359"/>
          </a:xfrm>
          <a:prstGeom prst="rect">
            <a:avLst/>
          </a:prstGeom>
          <a:noFill/>
        </p:spPr>
        <p:txBody>
          <a:bodyPr wrap="square" anchor="t" lIns="0" rIns="0" tIns="0" bIns="0">
            <a:spAutoFit/>
          </a:bodyPr>
          <a:lstStyle/>
          <a:p>
            <a:pPr algn="r">
              <a:lnSpc>
                <a:spcPct val="105000"/>
              </a:lnSpc>
              <a:spcAft>
                <a:spcPts val="0"/>
              </a:spcAft>
            </a:pPr>
            <a:r>
              <a:rPr sz="1600" b="1" i="0">
                <a:solidFill>
                  <a:srgbClr val="0E3F8C"/>
                </a:solidFill>
                <a:latin typeface="Calibri"/>
                <a:ea typeface="Calibri"/>
              </a:rPr>
              <a:t>مرحبا بالعالم</a:t>
            </a:r>
          </a:p>
        </p:txBody>
      </p:sp>
      <p:sp>
        <p:nvSpPr>
          <p:cNvPr id="12" name="TextBox 11"/>
          <p:cNvSpPr txBox="1"/>
          <p:nvPr/>
        </p:nvSpPr>
        <p:spPr>
          <a:xfrm>
            <a:off x="5797296" y="2600959"/>
            <a:ext cx="5516575" cy="276860"/>
          </a:xfrm>
          <a:prstGeom prst="rect">
            <a:avLst/>
          </a:prstGeom>
          <a:noFill/>
        </p:spPr>
        <p:txBody>
          <a:bodyPr wrap="square" anchor="t" lIns="0" rIns="0" tIns="0" bIns="0">
            <a:spAutoFit/>
          </a:bodyPr>
          <a:lstStyle/>
          <a:p>
            <a:pPr algn="r">
              <a:lnSpc>
                <a:spcPct val="105000"/>
              </a:lnSpc>
              <a:spcAft>
                <a:spcPts val="0"/>
              </a:spcAft>
            </a:pPr>
            <a:r>
              <a:rPr sz="1100" b="0" i="0">
                <a:solidFill>
                  <a:srgbClr val="4A5568"/>
                </a:solidFill>
                <a:latin typeface="Calibri"/>
                <a:ea typeface="Calibri"/>
              </a:rPr>
              <a:t>reads right-to-left with direction: rtl</a:t>
            </a:r>
          </a:p>
        </p:txBody>
      </p:sp>
      <p:sp>
        <p:nvSpPr>
          <p:cNvPr id="13" name="TextBox 12"/>
          <p:cNvSpPr txBox="1"/>
          <p:nvPr/>
        </p:nvSpPr>
        <p:spPr>
          <a:xfrm>
            <a:off x="5797296" y="3005835"/>
            <a:ext cx="5516575" cy="237744"/>
          </a:xfrm>
          <a:prstGeom prst="rect">
            <a:avLst/>
          </a:prstGeom>
          <a:noFill/>
        </p:spPr>
        <p:txBody>
          <a:bodyPr wrap="square" anchor="t" lIns="0" rIns="0" tIns="0" bIns="0">
            <a:spAutoFit/>
          </a:bodyPr>
          <a:lstStyle/>
          <a:p>
            <a:pPr algn="l">
              <a:lnSpc>
                <a:spcPct val="110000"/>
              </a:lnSpc>
              <a:spcAft>
                <a:spcPts val="400"/>
              </a:spcAft>
            </a:pPr>
            <a:r>
              <a:rPr sz="1050" b="1" i="0">
                <a:solidFill>
                  <a:srgbClr val="B8860B"/>
                </a:solidFill>
                <a:latin typeface="Consolas"/>
                <a:ea typeface="Consolas"/>
              </a:rPr>
              <a:t>white-space</a:t>
            </a:r>
          </a:p>
        </p:txBody>
      </p:sp>
      <p:sp>
        <p:nvSpPr>
          <p:cNvPr id="14" name="TextBox 13"/>
          <p:cNvSpPr txBox="1"/>
          <p:nvPr/>
        </p:nvSpPr>
        <p:spPr>
          <a:xfrm>
            <a:off x="5797296" y="3261868"/>
            <a:ext cx="5516575" cy="314960"/>
          </a:xfrm>
          <a:prstGeom prst="rect">
            <a:avLst/>
          </a:prstGeom>
          <a:noFill/>
        </p:spPr>
        <p:txBody>
          <a:bodyPr wrap="square" anchor="t" lIns="0" rIns="0" tIns="0" bIns="0">
            <a:spAutoFit/>
          </a:bodyPr>
          <a:lstStyle/>
          <a:p>
            <a:pPr algn="l">
              <a:lnSpc>
                <a:spcPct val="105000"/>
              </a:lnSpc>
              <a:spcAft>
                <a:spcPts val="0"/>
              </a:spcAft>
            </a:pPr>
            <a:r>
              <a:rPr sz="1400" b="0" i="0">
                <a:solidFill>
                  <a:srgbClr val="4A5568"/>
                </a:solidFill>
                <a:latin typeface="Calibri"/>
                <a:ea typeface="Calibri"/>
              </a:rPr>
              <a:t>normal: extra spaces collapse</a:t>
            </a:r>
          </a:p>
        </p:txBody>
      </p:sp>
      <p:sp>
        <p:nvSpPr>
          <p:cNvPr id="15" name="TextBox 14"/>
          <p:cNvSpPr txBox="1"/>
          <p:nvPr/>
        </p:nvSpPr>
        <p:spPr>
          <a:xfrm>
            <a:off x="5797296" y="3558540"/>
            <a:ext cx="5516575" cy="314960"/>
          </a:xfrm>
          <a:prstGeom prst="rect">
            <a:avLst/>
          </a:prstGeom>
          <a:noFill/>
        </p:spPr>
        <p:txBody>
          <a:bodyPr wrap="square" anchor="t" lIns="0" rIns="0" tIns="0" bIns="0">
            <a:spAutoFit/>
          </a:bodyPr>
          <a:lstStyle/>
          <a:p>
            <a:pPr algn="l">
              <a:lnSpc>
                <a:spcPct val="105000"/>
              </a:lnSpc>
              <a:spcAft>
                <a:spcPts val="0"/>
              </a:spcAft>
            </a:pPr>
            <a:r>
              <a:rPr sz="1400" b="0" i="0">
                <a:solidFill>
                  <a:srgbClr val="1A2230"/>
                </a:solidFill>
                <a:latin typeface="Consolas"/>
                <a:ea typeface="Consolas"/>
              </a:rPr>
              <a:t>pre:     extra    spaces stay</a:t>
            </a:r>
          </a:p>
        </p:txBody>
      </p:sp>
      <p:sp>
        <p:nvSpPr>
          <p:cNvPr id="16" name="TextBox 15"/>
          <p:cNvSpPr txBox="1"/>
          <p:nvPr/>
        </p:nvSpPr>
        <p:spPr>
          <a:xfrm>
            <a:off x="5797296" y="4001516"/>
            <a:ext cx="5516575" cy="237744"/>
          </a:xfrm>
          <a:prstGeom prst="rect">
            <a:avLst/>
          </a:prstGeom>
          <a:noFill/>
        </p:spPr>
        <p:txBody>
          <a:bodyPr wrap="square" anchor="t" lIns="0" rIns="0" tIns="0" bIns="0">
            <a:spAutoFit/>
          </a:bodyPr>
          <a:lstStyle/>
          <a:p>
            <a:pPr algn="l">
              <a:lnSpc>
                <a:spcPct val="110000"/>
              </a:lnSpc>
              <a:spcAft>
                <a:spcPts val="400"/>
              </a:spcAft>
            </a:pPr>
            <a:r>
              <a:rPr sz="1050" b="1" i="0">
                <a:solidFill>
                  <a:srgbClr val="B8860B"/>
                </a:solidFill>
                <a:latin typeface="Consolas"/>
                <a:ea typeface="Consolas"/>
              </a:rPr>
              <a:t>vertical-align</a:t>
            </a:r>
          </a:p>
        </p:txBody>
      </p:sp>
      <p:sp>
        <p:nvSpPr>
          <p:cNvPr id="17" name="TextBox 16"/>
          <p:cNvSpPr txBox="1"/>
          <p:nvPr/>
        </p:nvSpPr>
        <p:spPr>
          <a:xfrm>
            <a:off x="5797296" y="4257548"/>
            <a:ext cx="5516575" cy="365759"/>
          </a:xfrm>
          <a:prstGeom prst="rect">
            <a:avLst/>
          </a:prstGeom>
          <a:noFill/>
        </p:spPr>
        <p:txBody>
          <a:bodyPr wrap="square" anchor="t" lIns="0" rIns="0" tIns="0" bIns="0">
            <a:spAutoFit/>
          </a:bodyPr>
          <a:lstStyle/>
          <a:p>
            <a:pPr algn="l">
              <a:lnSpc>
                <a:spcPct val="105000"/>
              </a:lnSpc>
              <a:spcAft>
                <a:spcPts val="0"/>
              </a:spcAft>
            </a:pPr>
            <a:r>
              <a:rPr sz="1800" b="0" i="0">
                <a:solidFill>
                  <a:srgbClr val="1A2230"/>
                </a:solidFill>
                <a:latin typeface="Calibri"/>
                <a:ea typeface="Calibri"/>
              </a:rPr>
              <a:t>x</a:t>
            </a:r>
            <a:r>
              <a:rPr sz="1200" b="0" i="0" baseline="30000">
                <a:solidFill>
                  <a:srgbClr val="D9534F"/>
                </a:solidFill>
                <a:latin typeface="Calibri"/>
                <a:ea typeface="Calibri"/>
              </a:rPr>
              <a:t>2</a:t>
            </a:r>
            <a:r>
              <a:rPr sz="1800" b="0" i="0">
                <a:solidFill>
                  <a:srgbClr val="1A2230"/>
                </a:solidFill>
                <a:latin typeface="Calibri"/>
                <a:ea typeface="Calibri"/>
              </a:rPr>
              <a:t>   H</a:t>
            </a:r>
            <a:r>
              <a:rPr sz="1200" b="0" i="0" baseline="-25000">
                <a:solidFill>
                  <a:srgbClr val="1E4FA8"/>
                </a:solidFill>
                <a:latin typeface="Calibri"/>
                <a:ea typeface="Calibri"/>
              </a:rPr>
              <a:t>2</a:t>
            </a:r>
            <a:r>
              <a:rPr sz="1800" b="0" i="0">
                <a:solidFill>
                  <a:srgbClr val="1A2230"/>
                </a:solidFill>
                <a:latin typeface="Calibri"/>
                <a:ea typeface="Calibri"/>
              </a:rPr>
              <a:t>O</a:t>
            </a:r>
            <a:r>
              <a:rPr sz="1200" b="0" i="0">
                <a:solidFill>
                  <a:srgbClr val="4A5568"/>
                </a:solidFill>
                <a:latin typeface="Calibri"/>
                <a:ea typeface="Calibri"/>
              </a:rPr>
              <a:t>   superscript &amp; subscript</a:t>
            </a:r>
          </a:p>
        </p:txBody>
      </p:sp>
      <p:sp>
        <p:nvSpPr>
          <p:cNvPr id="18" name="TextBox 17"/>
          <p:cNvSpPr txBox="1"/>
          <p:nvPr/>
        </p:nvSpPr>
        <p:spPr>
          <a:xfrm>
            <a:off x="5797296" y="4751324"/>
            <a:ext cx="5516575" cy="237744"/>
          </a:xfrm>
          <a:prstGeom prst="rect">
            <a:avLst/>
          </a:prstGeom>
          <a:noFill/>
        </p:spPr>
        <p:txBody>
          <a:bodyPr wrap="square" anchor="t" lIns="0" rIns="0" tIns="0" bIns="0">
            <a:spAutoFit/>
          </a:bodyPr>
          <a:lstStyle/>
          <a:p>
            <a:pPr algn="l">
              <a:lnSpc>
                <a:spcPct val="110000"/>
              </a:lnSpc>
              <a:spcAft>
                <a:spcPts val="400"/>
              </a:spcAft>
            </a:pPr>
            <a:r>
              <a:rPr sz="1050" b="1" i="0">
                <a:solidFill>
                  <a:srgbClr val="B8860B"/>
                </a:solidFill>
                <a:latin typeface="Consolas"/>
                <a:ea typeface="Consolas"/>
              </a:rPr>
              <a:t>text-shadow</a:t>
            </a:r>
          </a:p>
        </p:txBody>
      </p:sp>
      <p:sp>
        <p:nvSpPr>
          <p:cNvPr id="19" name="TextBox 18"/>
          <p:cNvSpPr txBox="1"/>
          <p:nvPr/>
        </p:nvSpPr>
        <p:spPr>
          <a:xfrm>
            <a:off x="5861304" y="5071364"/>
            <a:ext cx="5516575" cy="365759"/>
          </a:xfrm>
          <a:prstGeom prst="rect">
            <a:avLst/>
          </a:prstGeom>
          <a:noFill/>
        </p:spPr>
        <p:txBody>
          <a:bodyPr wrap="square" anchor="t" lIns="0" rIns="0" tIns="0" bIns="0">
            <a:spAutoFit/>
          </a:bodyPr>
          <a:lstStyle/>
          <a:p>
            <a:pPr algn="l">
              <a:lnSpc>
                <a:spcPct val="105000"/>
              </a:lnSpc>
              <a:spcAft>
                <a:spcPts val="0"/>
              </a:spcAft>
            </a:pPr>
            <a:r>
              <a:rPr sz="1800" b="1" i="0">
                <a:solidFill>
                  <a:srgbClr val="C4CDDC"/>
                </a:solidFill>
                <a:latin typeface="Calibri"/>
                <a:ea typeface="Calibri"/>
              </a:rPr>
              <a:t>A soft shadow behind the text</a:t>
            </a:r>
          </a:p>
        </p:txBody>
      </p:sp>
      <p:sp>
        <p:nvSpPr>
          <p:cNvPr id="20" name="TextBox 19"/>
          <p:cNvSpPr txBox="1"/>
          <p:nvPr/>
        </p:nvSpPr>
        <p:spPr>
          <a:xfrm>
            <a:off x="5797296" y="5007356"/>
            <a:ext cx="5516575" cy="365759"/>
          </a:xfrm>
          <a:prstGeom prst="rect">
            <a:avLst/>
          </a:prstGeom>
          <a:noFill/>
        </p:spPr>
        <p:txBody>
          <a:bodyPr wrap="square" anchor="t" lIns="0" rIns="0" tIns="0" bIns="0">
            <a:spAutoFit/>
          </a:bodyPr>
          <a:lstStyle/>
          <a:p>
            <a:pPr algn="l">
              <a:lnSpc>
                <a:spcPct val="105000"/>
              </a:lnSpc>
              <a:spcAft>
                <a:spcPts val="0"/>
              </a:spcAft>
            </a:pPr>
            <a:r>
              <a:rPr sz="1800" b="1" i="0">
                <a:solidFill>
                  <a:srgbClr val="0E3F8C"/>
                </a:solidFill>
                <a:latin typeface="Calibri"/>
                <a:ea typeface="Calibri"/>
              </a:rPr>
              <a:t>A soft shadow behind the text</a:t>
            </a:r>
          </a:p>
        </p:txBody>
      </p:sp>
      <p:sp>
        <p:nvSpPr>
          <p:cNvPr id="21" name="Rounded Rectangle 20"/>
          <p:cNvSpPr/>
          <p:nvPr/>
        </p:nvSpPr>
        <p:spPr>
          <a:xfrm>
            <a:off x="548640" y="5577840"/>
            <a:ext cx="11094415" cy="713232"/>
          </a:xfrm>
          <a:prstGeom prst="roundRect">
            <a:avLst>
              <a:gd name="adj" fmla="val 8000"/>
            </a:avLst>
          </a:prstGeom>
          <a:solidFill>
            <a:srgbClr val="1A22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68680" y="5696712"/>
            <a:ext cx="10454335" cy="256032"/>
          </a:xfrm>
          <a:prstGeom prst="rect">
            <a:avLst/>
          </a:prstGeom>
          <a:noFill/>
        </p:spPr>
        <p:txBody>
          <a:bodyPr wrap="square" anchor="t" lIns="0" rIns="0" tIns="0" bIns="0">
            <a:spAutoFit/>
          </a:bodyPr>
          <a:lstStyle/>
          <a:p>
            <a:pPr algn="l">
              <a:lnSpc>
                <a:spcPct val="110000"/>
              </a:lnSpc>
              <a:spcAft>
                <a:spcPts val="400"/>
              </a:spcAft>
            </a:pPr>
            <a:r>
              <a:rPr sz="1100" b="1" i="0">
                <a:solidFill>
                  <a:srgbClr val="9DC0EE"/>
                </a:solidFill>
                <a:latin typeface="Calibri"/>
                <a:ea typeface="Calibri"/>
              </a:rPr>
              <a:t>Right-to-left text, with a soft shadow   </a:t>
            </a:r>
            <a:r>
              <a:rPr sz="1100" b="1" i="0">
                <a:solidFill>
                  <a:srgbClr val="61AFEF"/>
                </a:solidFill>
                <a:latin typeface="Calibri"/>
                <a:ea typeface="Calibri"/>
                <a:hlinkClick r:id="rId2"/>
                <a:extLst>
                  <a:ext uri="{A12FA001-AC4F-418D-AE19-62706E023703}">
                    <ahyp:hlinkClr xmlns:ahyp="http://schemas.microsoft.com/office/drawing/2018/hyperlinkcolor" val="tx"/>
                  </a:ext>
                </a:extLst>
              </a:rPr>
              <a:t>↗ editor.html?example=css-styling/text</a:t>
            </a:r>
          </a:p>
        </p:txBody>
      </p:sp>
      <p:sp>
        <p:nvSpPr>
          <p:cNvPr id="23" name="TextBox 22"/>
          <p:cNvSpPr txBox="1"/>
          <p:nvPr/>
        </p:nvSpPr>
        <p:spPr>
          <a:xfrm>
            <a:off x="868680" y="5961888"/>
            <a:ext cx="10454335" cy="274320"/>
          </a:xfrm>
          <a:prstGeom prst="rect">
            <a:avLst/>
          </a:prstGeom>
          <a:noFill/>
        </p:spPr>
        <p:txBody>
          <a:bodyPr wrap="square" anchor="t" lIns="0" rIns="0" tIns="0" bIns="0">
            <a:spAutoFit/>
          </a:bodyPr>
          <a:lstStyle/>
          <a:p>
            <a:pPr algn="l">
              <a:lnSpc>
                <a:spcPct val="110000"/>
              </a:lnSpc>
              <a:spcAft>
                <a:spcPts val="400"/>
              </a:spcAft>
            </a:pPr>
            <a:r>
              <a:rPr sz="1350" b="0" i="0">
                <a:solidFill>
                  <a:srgbClr val="98C379"/>
                </a:solidFill>
                <a:latin typeface="Consolas"/>
                <a:ea typeface="Consolas"/>
              </a:rPr>
              <a:t>&lt;p style="direction: rtl; text-shadow: 1px 1px 2px #999;"&gt;</a:t>
            </a:r>
          </a:p>
        </p:txBody>
      </p:sp>
      <p:pic>
        <p:nvPicPr>
          <p:cNvPr id="24" name="Picture 23" descr="img_text_shadow.png"/>
          <p:cNvPicPr>
            <a:picLocks noChangeAspect="1"/>
          </p:cNvPicPr>
          <p:nvPr/>
        </p:nvPicPr>
        <p:blipFill>
          <a:blip r:embed="rId3"/>
          <a:stretch>
            <a:fillRect/>
          </a:stretch>
        </p:blipFill>
        <p:spPr>
          <a:xfrm>
            <a:off x="594360" y="3703320"/>
            <a:ext cx="3840480" cy="1005840"/>
          </a:xfrm>
          <a:prstGeom prst="rect">
            <a:avLst/>
          </a:prstGeom>
        </p:spPr>
      </p:pic>
      <p:sp>
        <p:nvSpPr>
          <p:cNvPr id="25" name="TextBox 24"/>
          <p:cNvSpPr txBox="1"/>
          <p:nvPr/>
        </p:nvSpPr>
        <p:spPr>
          <a:xfrm>
            <a:off x="594360" y="4773168"/>
            <a:ext cx="4480560" cy="256032"/>
          </a:xfrm>
          <a:prstGeom prst="rect">
            <a:avLst/>
          </a:prstGeom>
          <a:noFill/>
        </p:spPr>
        <p:txBody>
          <a:bodyPr wrap="square" anchor="t" lIns="0" rIns="0" tIns="0" bIns="0">
            <a:spAutoFit/>
          </a:bodyPr>
          <a:lstStyle/>
          <a:p>
            <a:pPr algn="l">
              <a:lnSpc>
                <a:spcPct val="110000"/>
              </a:lnSpc>
              <a:spcAft>
                <a:spcPts val="400"/>
              </a:spcAft>
            </a:pPr>
            <a:r>
              <a:rPr sz="1200" b="0" i="0">
                <a:solidFill>
                  <a:srgbClr val="4A5568"/>
                </a:solidFill>
                <a:latin typeface="Consolas"/>
                <a:ea typeface="Consolas"/>
              </a:rPr>
              <a:t>text-shadow: </a:t>
            </a:r>
            <a:r>
              <a:rPr sz="1200" b="1" i="0">
                <a:solidFill>
                  <a:srgbClr val="1A2230"/>
                </a:solidFill>
                <a:latin typeface="Consolas"/>
                <a:ea typeface="Consolas"/>
              </a:rPr>
              <a:t>4px 4px 8px</a:t>
            </a:r>
            <a:r>
              <a:rPr sz="1200" b="0" i="0">
                <a:solidFill>
                  <a:srgbClr val="4A5568"/>
                </a:solidFill>
                <a:latin typeface="Consolas"/>
                <a:ea typeface="Consolas"/>
              </a:rPr>
              <a:t> rgba(0, 0, 0, 0.4)</a:t>
            </a:r>
          </a:p>
        </p:txBody>
      </p:sp>
      <p:sp>
        <p:nvSpPr>
          <p:cNvPr id="26" name="TextBox 25"/>
          <p:cNvSpPr txBox="1"/>
          <p:nvPr/>
        </p:nvSpPr>
        <p:spPr>
          <a:xfrm>
            <a:off x="594360" y="5065776"/>
            <a:ext cx="4480560" cy="237744"/>
          </a:xfrm>
          <a:prstGeom prst="rect">
            <a:avLst/>
          </a:prstGeom>
          <a:noFill/>
        </p:spPr>
        <p:txBody>
          <a:bodyPr wrap="square" anchor="t" lIns="0" rIns="0" tIns="0" bIns="0">
            <a:spAutoFit/>
          </a:bodyPr>
          <a:lstStyle/>
          <a:p>
            <a:pPr algn="l">
              <a:lnSpc>
                <a:spcPct val="110000"/>
              </a:lnSpc>
              <a:spcAft>
                <a:spcPts val="400"/>
              </a:spcAft>
            </a:pPr>
            <a:r>
              <a:rPr sz="1000" b="0" i="0">
                <a:solidFill>
                  <a:srgbClr val="4A5568"/>
                </a:solidFill>
                <a:latin typeface="Calibri"/>
                <a:ea typeface="Calibri"/>
              </a:rPr>
              <a:t>x-offset · y-offset · blur · colour</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6858000"/>
          </a:xfrm>
          <a:prstGeom prst="rect">
            <a:avLst/>
          </a:prstGeom>
          <a:solidFill>
            <a:srgbClr val="1E4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143000"/>
            <a:ext cx="3840480" cy="1828800"/>
          </a:xfrm>
          <a:prstGeom prst="rect">
            <a:avLst/>
          </a:prstGeom>
          <a:noFill/>
        </p:spPr>
        <p:txBody>
          <a:bodyPr wrap="square" anchor="t" lIns="0" rIns="0" tIns="0" bIns="0">
            <a:spAutoFit/>
          </a:bodyPr>
          <a:lstStyle/>
          <a:p>
            <a:pPr algn="l">
              <a:lnSpc>
                <a:spcPct val="110000"/>
              </a:lnSpc>
              <a:spcAft>
                <a:spcPts val="400"/>
              </a:spcAft>
            </a:pPr>
            <a:r>
              <a:rPr sz="9200" b="1" i="0">
                <a:solidFill>
                  <a:srgbClr val="9DC0EE"/>
                </a:solidFill>
                <a:latin typeface="Calibri"/>
                <a:ea typeface="Calibri"/>
              </a:rPr>
              <a:t>05</a:t>
            </a:r>
          </a:p>
        </p:txBody>
      </p:sp>
      <p:sp>
        <p:nvSpPr>
          <p:cNvPr id="5" name="TextBox 4"/>
          <p:cNvSpPr txBox="1"/>
          <p:nvPr/>
        </p:nvSpPr>
        <p:spPr>
          <a:xfrm>
            <a:off x="685800" y="3063240"/>
            <a:ext cx="10607040" cy="822960"/>
          </a:xfrm>
          <a:prstGeom prst="rect">
            <a:avLst/>
          </a:prstGeom>
          <a:noFill/>
        </p:spPr>
        <p:txBody>
          <a:bodyPr wrap="square" anchor="t" lIns="0" rIns="0" tIns="0" bIns="0">
            <a:spAutoFit/>
          </a:bodyPr>
          <a:lstStyle/>
          <a:p>
            <a:pPr algn="l">
              <a:lnSpc>
                <a:spcPct val="110000"/>
              </a:lnSpc>
              <a:spcAft>
                <a:spcPts val="400"/>
              </a:spcAft>
            </a:pPr>
            <a:r>
              <a:rPr sz="3800" b="1" i="0">
                <a:solidFill>
                  <a:srgbClr val="FFFFFF"/>
                </a:solidFill>
                <a:latin typeface="Calibri"/>
                <a:ea typeface="Calibri"/>
              </a:rPr>
              <a:t>Font</a:t>
            </a:r>
          </a:p>
        </p:txBody>
      </p:sp>
      <p:sp>
        <p:nvSpPr>
          <p:cNvPr id="6" name="Rectangle 5"/>
          <p:cNvSpPr/>
          <p:nvPr/>
        </p:nvSpPr>
        <p:spPr>
          <a:xfrm>
            <a:off x="713232" y="3977639"/>
            <a:ext cx="822960" cy="54864"/>
          </a:xfrm>
          <a:prstGeom prst="rect">
            <a:avLst/>
          </a:prstGeom>
          <a:solidFill>
            <a:srgbClr val="1E4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13232" y="4251960"/>
            <a:ext cx="10058400" cy="1645920"/>
          </a:xfrm>
          <a:prstGeom prst="rect">
            <a:avLst/>
          </a:prstGeom>
          <a:noFill/>
        </p:spPr>
        <p:txBody>
          <a:bodyPr wrap="square" lIns="0" rIns="0" tIns="0" bIns="0">
            <a:normAutofit/>
          </a:bodyPr>
          <a:lstStyle/>
          <a:p>
            <a:pPr marL="256032" indent="-237744">
              <a:lnSpc>
                <a:spcPct val="112000"/>
              </a:lnSpc>
              <a:spcAft>
                <a:spcPts val="1000"/>
              </a:spcAft>
              <a:buClr>
                <a:srgbClr val="1E4FA8"/>
              </a:buClr>
              <a:buSzPct val="90000"/>
              <a:buFont typeface="Arial"/>
              <a:buChar char="▪"/>
            </a:pPr>
            <a:r>
              <a:rPr sz="1600" b="0" i="0">
                <a:solidFill>
                  <a:srgbClr val="B9CDEE"/>
                </a:solidFill>
                <a:latin typeface="Calibri"/>
                <a:ea typeface="Calibri"/>
              </a:rPr>
              <a:t>Family, size, weight, </a:t>
            </a:r>
            <a:r>
              <a:rPr sz="1600" b="0" i="0">
                <a:solidFill>
                  <a:srgbClr val="B8860B"/>
                </a:solidFill>
                <a:latin typeface="Consolas"/>
                <a:ea typeface="Consolas"/>
              </a:rPr>
              <a:t>style</a:t>
            </a:r>
          </a:p>
          <a:p>
            <a:pPr marL="256032" indent="-237744">
              <a:lnSpc>
                <a:spcPct val="112000"/>
              </a:lnSpc>
              <a:spcAft>
                <a:spcPts val="1000"/>
              </a:spcAft>
              <a:buClr>
                <a:srgbClr val="1E4FA8"/>
              </a:buClr>
              <a:buSzPct val="90000"/>
              <a:buFont typeface="Arial"/>
              <a:buChar char="▪"/>
            </a:pPr>
            <a:r>
              <a:rPr sz="1600" b="0" i="0">
                <a:solidFill>
                  <a:srgbClr val="B9CDEE"/>
                </a:solidFill>
                <a:latin typeface="Calibri"/>
                <a:ea typeface="Calibri"/>
              </a:rPr>
              <a:t>Loading a font from the web</a:t>
            </a:r>
          </a:p>
          <a:p>
            <a:pPr marL="256032" indent="-237744">
              <a:lnSpc>
                <a:spcPct val="112000"/>
              </a:lnSpc>
              <a:spcAft>
                <a:spcPts val="1000"/>
              </a:spcAft>
              <a:buClr>
                <a:srgbClr val="1E4FA8"/>
              </a:buClr>
              <a:buSzPct val="90000"/>
              <a:buFont typeface="Arial"/>
              <a:buChar char="▪"/>
            </a:pPr>
            <a:r>
              <a:rPr sz="1600" b="0" i="0">
                <a:solidFill>
                  <a:srgbClr val="B9CDEE"/>
                </a:solidFill>
                <a:latin typeface="Calibri"/>
                <a:ea typeface="Calibri"/>
              </a:rPr>
              <a:t>The font shorthand</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66928"/>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6979615" cy="365760"/>
          </a:xfrm>
          <a:prstGeom prst="rect">
            <a:avLst/>
          </a:prstGeom>
          <a:noFill/>
        </p:spPr>
        <p:txBody>
          <a:bodyPr wrap="square" anchor="ctr" lIns="0" rIns="0" tIns="0" bIns="0">
            <a:spAutoFit/>
          </a:bodyPr>
          <a:lstStyle/>
          <a:p>
            <a:pPr algn="l">
              <a:lnSpc>
                <a:spcPct val="110000"/>
              </a:lnSpc>
              <a:spcAft>
                <a:spcPts val="400"/>
              </a:spcAft>
            </a:pPr>
            <a:r>
              <a:rPr sz="2100" b="1" i="0">
                <a:solidFill>
                  <a:srgbClr val="FFFFFF"/>
                </a:solidFill>
                <a:latin typeface="Calibri"/>
                <a:ea typeface="Calibri"/>
              </a:rPr>
              <a:t>Font Properties</a:t>
            </a:r>
          </a:p>
        </p:txBody>
      </p:sp>
      <p:sp>
        <p:nvSpPr>
          <p:cNvPr id="4" name="TextBox 3"/>
          <p:cNvSpPr txBox="1"/>
          <p:nvPr/>
        </p:nvSpPr>
        <p:spPr>
          <a:xfrm>
            <a:off x="7436815" y="109728"/>
            <a:ext cx="4206240" cy="365760"/>
          </a:xfrm>
          <a:prstGeom prst="rect">
            <a:avLst/>
          </a:prstGeom>
          <a:noFill/>
        </p:spPr>
        <p:txBody>
          <a:bodyPr wrap="square" anchor="ctr" lIns="0" rIns="0" tIns="0" bIns="0">
            <a:spAutoFit/>
          </a:bodyPr>
          <a:lstStyle/>
          <a:p>
            <a:pPr algn="r">
              <a:lnSpc>
                <a:spcPct val="110000"/>
              </a:lnSpc>
              <a:spcAft>
                <a:spcPts val="400"/>
              </a:spcAft>
            </a:pPr>
            <a:r>
              <a:rPr sz="1100" b="1" i="0">
                <a:solidFill>
                  <a:srgbClr val="B9CDEE"/>
                </a:solidFill>
                <a:latin typeface="Calibri"/>
                <a:ea typeface="Calibri"/>
              </a:rPr>
              <a:t>COMP3421 · Font</a:t>
            </a:r>
          </a:p>
        </p:txBody>
      </p:sp>
      <p:sp>
        <p:nvSpPr>
          <p:cNvPr id="5" name="Rectangle 4"/>
          <p:cNvSpPr/>
          <p:nvPr/>
        </p:nvSpPr>
        <p:spPr>
          <a:xfrm>
            <a:off x="548640" y="932688"/>
            <a:ext cx="2364383" cy="512064"/>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13232" y="932688"/>
            <a:ext cx="2035199" cy="512064"/>
          </a:xfrm>
          <a:prstGeom prst="rect">
            <a:avLst/>
          </a:prstGeom>
          <a:noFill/>
        </p:spPr>
        <p:txBody>
          <a:bodyPr wrap="square" anchor="ctr" lIns="0" rIns="0" tIns="0" bIns="0">
            <a:spAutoFit/>
          </a:bodyPr>
          <a:lstStyle/>
          <a:p>
            <a:pPr algn="l">
              <a:lnSpc>
                <a:spcPct val="110000"/>
              </a:lnSpc>
              <a:spcAft>
                <a:spcPts val="0"/>
              </a:spcAft>
            </a:pPr>
            <a:r>
              <a:rPr sz="1300" b="1" i="0">
                <a:solidFill>
                  <a:srgbClr val="FFFFFF"/>
                </a:solidFill>
                <a:latin typeface="Calibri"/>
                <a:ea typeface="Calibri"/>
              </a:rPr>
              <a:t>Property</a:t>
            </a:r>
          </a:p>
        </p:txBody>
      </p:sp>
      <p:sp>
        <p:nvSpPr>
          <p:cNvPr id="7" name="Rectangle 6"/>
          <p:cNvSpPr/>
          <p:nvPr/>
        </p:nvSpPr>
        <p:spPr>
          <a:xfrm>
            <a:off x="2913023" y="932688"/>
            <a:ext cx="4183140" cy="512064"/>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077615" y="932688"/>
            <a:ext cx="3853956" cy="512064"/>
          </a:xfrm>
          <a:prstGeom prst="rect">
            <a:avLst/>
          </a:prstGeom>
          <a:noFill/>
        </p:spPr>
        <p:txBody>
          <a:bodyPr wrap="square" anchor="ctr" lIns="0" rIns="0" tIns="0" bIns="0">
            <a:spAutoFit/>
          </a:bodyPr>
          <a:lstStyle/>
          <a:p>
            <a:pPr algn="l">
              <a:lnSpc>
                <a:spcPct val="110000"/>
              </a:lnSpc>
              <a:spcAft>
                <a:spcPts val="0"/>
              </a:spcAft>
            </a:pPr>
            <a:r>
              <a:rPr sz="1300" b="1" i="0">
                <a:solidFill>
                  <a:srgbClr val="FFFFFF"/>
                </a:solidFill>
                <a:latin typeface="Calibri"/>
                <a:ea typeface="Calibri"/>
              </a:rPr>
              <a:t>What it sets</a:t>
            </a:r>
          </a:p>
        </p:txBody>
      </p:sp>
      <p:sp>
        <p:nvSpPr>
          <p:cNvPr id="9" name="Rectangle 8"/>
          <p:cNvSpPr/>
          <p:nvPr/>
        </p:nvSpPr>
        <p:spPr>
          <a:xfrm>
            <a:off x="7096163" y="932688"/>
            <a:ext cx="4546891" cy="512064"/>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260755" y="932688"/>
            <a:ext cx="4217707" cy="512064"/>
          </a:xfrm>
          <a:prstGeom prst="rect">
            <a:avLst/>
          </a:prstGeom>
          <a:noFill/>
        </p:spPr>
        <p:txBody>
          <a:bodyPr wrap="square" anchor="ctr" lIns="0" rIns="0" tIns="0" bIns="0">
            <a:spAutoFit/>
          </a:bodyPr>
          <a:lstStyle/>
          <a:p>
            <a:pPr algn="l">
              <a:lnSpc>
                <a:spcPct val="110000"/>
              </a:lnSpc>
              <a:spcAft>
                <a:spcPts val="0"/>
              </a:spcAft>
            </a:pPr>
            <a:r>
              <a:rPr sz="1300" b="1" i="0">
                <a:solidFill>
                  <a:srgbClr val="FFFFFF"/>
                </a:solidFill>
                <a:latin typeface="Calibri"/>
                <a:ea typeface="Calibri"/>
              </a:rPr>
              <a:t>Example</a:t>
            </a:r>
          </a:p>
        </p:txBody>
      </p:sp>
      <p:sp>
        <p:nvSpPr>
          <p:cNvPr id="11" name="Rectangle 10"/>
          <p:cNvSpPr/>
          <p:nvPr/>
        </p:nvSpPr>
        <p:spPr>
          <a:xfrm>
            <a:off x="548640" y="1444752"/>
            <a:ext cx="2364383" cy="566928"/>
          </a:xfrm>
          <a:prstGeom prst="rect">
            <a:avLst/>
          </a:prstGeom>
          <a:solidFill>
            <a:srgbClr val="F0F5FC"/>
          </a:solidFill>
          <a:ln w="12700">
            <a:solidFill>
              <a:srgbClr val="DD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13232" y="1444752"/>
            <a:ext cx="2035199" cy="566928"/>
          </a:xfrm>
          <a:prstGeom prst="rect">
            <a:avLst/>
          </a:prstGeom>
          <a:noFill/>
        </p:spPr>
        <p:txBody>
          <a:bodyPr wrap="square" anchor="ctr" lIns="0" rIns="0" tIns="0" bIns="0">
            <a:spAutoFit/>
          </a:bodyPr>
          <a:lstStyle/>
          <a:p>
            <a:pPr algn="l">
              <a:lnSpc>
                <a:spcPct val="110000"/>
              </a:lnSpc>
              <a:spcAft>
                <a:spcPts val="0"/>
              </a:spcAft>
            </a:pPr>
            <a:r>
              <a:rPr sz="1300" b="1" i="0">
                <a:solidFill>
                  <a:srgbClr val="B8860B"/>
                </a:solidFill>
                <a:latin typeface="Calibri"/>
                <a:ea typeface="Calibri"/>
              </a:rPr>
              <a:t>font-family</a:t>
            </a:r>
          </a:p>
        </p:txBody>
      </p:sp>
      <p:sp>
        <p:nvSpPr>
          <p:cNvPr id="13" name="Rectangle 12"/>
          <p:cNvSpPr/>
          <p:nvPr/>
        </p:nvSpPr>
        <p:spPr>
          <a:xfrm>
            <a:off x="2913023" y="1444752"/>
            <a:ext cx="4183140" cy="566928"/>
          </a:xfrm>
          <a:prstGeom prst="rect">
            <a:avLst/>
          </a:prstGeom>
          <a:solidFill>
            <a:srgbClr val="F0F5FC"/>
          </a:solidFill>
          <a:ln w="12700">
            <a:solidFill>
              <a:srgbClr val="DD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077615" y="1444752"/>
            <a:ext cx="3853956" cy="566928"/>
          </a:xfrm>
          <a:prstGeom prst="rect">
            <a:avLst/>
          </a:prstGeom>
          <a:noFill/>
        </p:spPr>
        <p:txBody>
          <a:bodyPr wrap="square" anchor="ctr" lIns="0" rIns="0" tIns="0" bIns="0">
            <a:spAutoFit/>
          </a:bodyPr>
          <a:lstStyle/>
          <a:p>
            <a:pPr algn="l">
              <a:lnSpc>
                <a:spcPct val="110000"/>
              </a:lnSpc>
              <a:spcAft>
                <a:spcPts val="0"/>
              </a:spcAft>
            </a:pPr>
            <a:r>
              <a:rPr sz="1300" b="0" i="0">
                <a:solidFill>
                  <a:srgbClr val="1A2230"/>
                </a:solidFill>
                <a:latin typeface="Calibri"/>
                <a:ea typeface="Calibri"/>
              </a:rPr>
              <a:t>the typeface (with fallbacks)</a:t>
            </a:r>
          </a:p>
        </p:txBody>
      </p:sp>
      <p:sp>
        <p:nvSpPr>
          <p:cNvPr id="15" name="Rectangle 14"/>
          <p:cNvSpPr/>
          <p:nvPr/>
        </p:nvSpPr>
        <p:spPr>
          <a:xfrm>
            <a:off x="7096163" y="1444752"/>
            <a:ext cx="4546891" cy="566928"/>
          </a:xfrm>
          <a:prstGeom prst="rect">
            <a:avLst/>
          </a:prstGeom>
          <a:solidFill>
            <a:srgbClr val="F0F5FC"/>
          </a:solidFill>
          <a:ln w="12700">
            <a:solidFill>
              <a:srgbClr val="DD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260755" y="1444752"/>
            <a:ext cx="4217707" cy="566928"/>
          </a:xfrm>
          <a:prstGeom prst="rect">
            <a:avLst/>
          </a:prstGeom>
          <a:noFill/>
        </p:spPr>
        <p:txBody>
          <a:bodyPr wrap="square" anchor="ctr" lIns="0" rIns="0" tIns="0" bIns="0">
            <a:spAutoFit/>
          </a:bodyPr>
          <a:lstStyle/>
          <a:p>
            <a:pPr algn="l">
              <a:lnSpc>
                <a:spcPct val="110000"/>
              </a:lnSpc>
              <a:spcAft>
                <a:spcPts val="0"/>
              </a:spcAft>
            </a:pPr>
            <a:r>
              <a:rPr sz="1300" b="0" i="0">
                <a:solidFill>
                  <a:srgbClr val="1A2230"/>
                </a:solidFill>
                <a:latin typeface="Calibri"/>
                <a:ea typeface="Calibri"/>
              </a:rPr>
              <a:t>font-family: Georgia, serif;</a:t>
            </a:r>
          </a:p>
        </p:txBody>
      </p:sp>
      <p:sp>
        <p:nvSpPr>
          <p:cNvPr id="17" name="Rectangle 16"/>
          <p:cNvSpPr/>
          <p:nvPr/>
        </p:nvSpPr>
        <p:spPr>
          <a:xfrm>
            <a:off x="548640" y="2011680"/>
            <a:ext cx="2364383" cy="566928"/>
          </a:xfrm>
          <a:prstGeom prst="rect">
            <a:avLst/>
          </a:prstGeom>
          <a:solidFill>
            <a:srgbClr val="FFFFFF"/>
          </a:solidFill>
          <a:ln w="12700">
            <a:solidFill>
              <a:srgbClr val="DD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13232" y="2011680"/>
            <a:ext cx="2035199" cy="566928"/>
          </a:xfrm>
          <a:prstGeom prst="rect">
            <a:avLst/>
          </a:prstGeom>
          <a:noFill/>
        </p:spPr>
        <p:txBody>
          <a:bodyPr wrap="square" anchor="ctr" lIns="0" rIns="0" tIns="0" bIns="0">
            <a:spAutoFit/>
          </a:bodyPr>
          <a:lstStyle/>
          <a:p>
            <a:pPr algn="l">
              <a:lnSpc>
                <a:spcPct val="110000"/>
              </a:lnSpc>
              <a:spcAft>
                <a:spcPts val="0"/>
              </a:spcAft>
            </a:pPr>
            <a:r>
              <a:rPr sz="1300" b="1" i="0">
                <a:solidFill>
                  <a:srgbClr val="B8860B"/>
                </a:solidFill>
                <a:latin typeface="Calibri"/>
                <a:ea typeface="Calibri"/>
              </a:rPr>
              <a:t>font-size</a:t>
            </a:r>
          </a:p>
        </p:txBody>
      </p:sp>
      <p:sp>
        <p:nvSpPr>
          <p:cNvPr id="19" name="Rectangle 18"/>
          <p:cNvSpPr/>
          <p:nvPr/>
        </p:nvSpPr>
        <p:spPr>
          <a:xfrm>
            <a:off x="2913023" y="2011680"/>
            <a:ext cx="4183140" cy="566928"/>
          </a:xfrm>
          <a:prstGeom prst="rect">
            <a:avLst/>
          </a:prstGeom>
          <a:solidFill>
            <a:srgbClr val="FFFFFF"/>
          </a:solidFill>
          <a:ln w="12700">
            <a:solidFill>
              <a:srgbClr val="DD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077615" y="2011680"/>
            <a:ext cx="3853956" cy="566928"/>
          </a:xfrm>
          <a:prstGeom prst="rect">
            <a:avLst/>
          </a:prstGeom>
          <a:noFill/>
        </p:spPr>
        <p:txBody>
          <a:bodyPr wrap="square" anchor="ctr" lIns="0" rIns="0" tIns="0" bIns="0">
            <a:spAutoFit/>
          </a:bodyPr>
          <a:lstStyle/>
          <a:p>
            <a:pPr algn="l">
              <a:lnSpc>
                <a:spcPct val="110000"/>
              </a:lnSpc>
              <a:spcAft>
                <a:spcPts val="0"/>
              </a:spcAft>
            </a:pPr>
            <a:r>
              <a:rPr sz="1300" b="0" i="0">
                <a:solidFill>
                  <a:srgbClr val="1A2230"/>
                </a:solidFill>
                <a:latin typeface="Calibri"/>
                <a:ea typeface="Calibri"/>
              </a:rPr>
              <a:t>the size of the text</a:t>
            </a:r>
          </a:p>
        </p:txBody>
      </p:sp>
      <p:sp>
        <p:nvSpPr>
          <p:cNvPr id="21" name="Rectangle 20"/>
          <p:cNvSpPr/>
          <p:nvPr/>
        </p:nvSpPr>
        <p:spPr>
          <a:xfrm>
            <a:off x="7096163" y="2011680"/>
            <a:ext cx="4546891" cy="566928"/>
          </a:xfrm>
          <a:prstGeom prst="rect">
            <a:avLst/>
          </a:prstGeom>
          <a:solidFill>
            <a:srgbClr val="FFFFFF"/>
          </a:solidFill>
          <a:ln w="12700">
            <a:solidFill>
              <a:srgbClr val="DD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260755" y="2011680"/>
            <a:ext cx="4217707" cy="566928"/>
          </a:xfrm>
          <a:prstGeom prst="rect">
            <a:avLst/>
          </a:prstGeom>
          <a:noFill/>
        </p:spPr>
        <p:txBody>
          <a:bodyPr wrap="square" anchor="ctr" lIns="0" rIns="0" tIns="0" bIns="0">
            <a:spAutoFit/>
          </a:bodyPr>
          <a:lstStyle/>
          <a:p>
            <a:pPr algn="l">
              <a:lnSpc>
                <a:spcPct val="110000"/>
              </a:lnSpc>
              <a:spcAft>
                <a:spcPts val="0"/>
              </a:spcAft>
            </a:pPr>
            <a:r>
              <a:rPr sz="1300" b="0" i="0">
                <a:solidFill>
                  <a:srgbClr val="1A2230"/>
                </a:solidFill>
                <a:latin typeface="Calibri"/>
                <a:ea typeface="Calibri"/>
              </a:rPr>
              <a:t>font-size: 16px;</a:t>
            </a:r>
          </a:p>
        </p:txBody>
      </p:sp>
      <p:sp>
        <p:nvSpPr>
          <p:cNvPr id="23" name="Rectangle 22"/>
          <p:cNvSpPr/>
          <p:nvPr/>
        </p:nvSpPr>
        <p:spPr>
          <a:xfrm>
            <a:off x="548640" y="2578608"/>
            <a:ext cx="2364383" cy="566928"/>
          </a:xfrm>
          <a:prstGeom prst="rect">
            <a:avLst/>
          </a:prstGeom>
          <a:solidFill>
            <a:srgbClr val="F0F5FC"/>
          </a:solidFill>
          <a:ln w="12700">
            <a:solidFill>
              <a:srgbClr val="DD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13232" y="2578608"/>
            <a:ext cx="2035199" cy="566928"/>
          </a:xfrm>
          <a:prstGeom prst="rect">
            <a:avLst/>
          </a:prstGeom>
          <a:noFill/>
        </p:spPr>
        <p:txBody>
          <a:bodyPr wrap="square" anchor="ctr" lIns="0" rIns="0" tIns="0" bIns="0">
            <a:spAutoFit/>
          </a:bodyPr>
          <a:lstStyle/>
          <a:p>
            <a:pPr algn="l">
              <a:lnSpc>
                <a:spcPct val="110000"/>
              </a:lnSpc>
              <a:spcAft>
                <a:spcPts val="0"/>
              </a:spcAft>
            </a:pPr>
            <a:r>
              <a:rPr sz="1300" b="1" i="0">
                <a:solidFill>
                  <a:srgbClr val="B8860B"/>
                </a:solidFill>
                <a:latin typeface="Calibri"/>
                <a:ea typeface="Calibri"/>
              </a:rPr>
              <a:t>font-style</a:t>
            </a:r>
          </a:p>
        </p:txBody>
      </p:sp>
      <p:sp>
        <p:nvSpPr>
          <p:cNvPr id="25" name="Rectangle 24"/>
          <p:cNvSpPr/>
          <p:nvPr/>
        </p:nvSpPr>
        <p:spPr>
          <a:xfrm>
            <a:off x="2913023" y="2578608"/>
            <a:ext cx="4183140" cy="566928"/>
          </a:xfrm>
          <a:prstGeom prst="rect">
            <a:avLst/>
          </a:prstGeom>
          <a:solidFill>
            <a:srgbClr val="F0F5FC"/>
          </a:solidFill>
          <a:ln w="12700">
            <a:solidFill>
              <a:srgbClr val="DD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077615" y="2578608"/>
            <a:ext cx="3853956" cy="566928"/>
          </a:xfrm>
          <a:prstGeom prst="rect">
            <a:avLst/>
          </a:prstGeom>
          <a:noFill/>
        </p:spPr>
        <p:txBody>
          <a:bodyPr wrap="square" anchor="ctr" lIns="0" rIns="0" tIns="0" bIns="0">
            <a:spAutoFit/>
          </a:bodyPr>
          <a:lstStyle/>
          <a:p>
            <a:pPr algn="l">
              <a:lnSpc>
                <a:spcPct val="110000"/>
              </a:lnSpc>
              <a:spcAft>
                <a:spcPts val="0"/>
              </a:spcAft>
            </a:pPr>
            <a:r>
              <a:rPr sz="1300" b="0" i="0">
                <a:solidFill>
                  <a:srgbClr val="1A2230"/>
                </a:solidFill>
                <a:latin typeface="Calibri"/>
                <a:ea typeface="Calibri"/>
              </a:rPr>
              <a:t>italic / normal / oblique</a:t>
            </a:r>
          </a:p>
        </p:txBody>
      </p:sp>
      <p:sp>
        <p:nvSpPr>
          <p:cNvPr id="27" name="Rectangle 26"/>
          <p:cNvSpPr/>
          <p:nvPr/>
        </p:nvSpPr>
        <p:spPr>
          <a:xfrm>
            <a:off x="7096163" y="2578608"/>
            <a:ext cx="4546891" cy="566928"/>
          </a:xfrm>
          <a:prstGeom prst="rect">
            <a:avLst/>
          </a:prstGeom>
          <a:solidFill>
            <a:srgbClr val="F0F5FC"/>
          </a:solidFill>
          <a:ln w="12700">
            <a:solidFill>
              <a:srgbClr val="DD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260755" y="2578608"/>
            <a:ext cx="4217707" cy="566928"/>
          </a:xfrm>
          <a:prstGeom prst="rect">
            <a:avLst/>
          </a:prstGeom>
          <a:noFill/>
        </p:spPr>
        <p:txBody>
          <a:bodyPr wrap="square" anchor="ctr" lIns="0" rIns="0" tIns="0" bIns="0">
            <a:spAutoFit/>
          </a:bodyPr>
          <a:lstStyle/>
          <a:p>
            <a:pPr algn="l">
              <a:lnSpc>
                <a:spcPct val="110000"/>
              </a:lnSpc>
              <a:spcAft>
                <a:spcPts val="0"/>
              </a:spcAft>
            </a:pPr>
            <a:r>
              <a:rPr sz="1300" b="0" i="0">
                <a:solidFill>
                  <a:srgbClr val="1A2230"/>
                </a:solidFill>
                <a:latin typeface="Calibri"/>
                <a:ea typeface="Calibri"/>
              </a:rPr>
              <a:t>font-style: italic;</a:t>
            </a:r>
          </a:p>
        </p:txBody>
      </p:sp>
      <p:sp>
        <p:nvSpPr>
          <p:cNvPr id="29" name="Rectangle 28"/>
          <p:cNvSpPr/>
          <p:nvPr/>
        </p:nvSpPr>
        <p:spPr>
          <a:xfrm>
            <a:off x="548640" y="3145536"/>
            <a:ext cx="2364383" cy="566928"/>
          </a:xfrm>
          <a:prstGeom prst="rect">
            <a:avLst/>
          </a:prstGeom>
          <a:solidFill>
            <a:srgbClr val="FFFFFF"/>
          </a:solidFill>
          <a:ln w="12700">
            <a:solidFill>
              <a:srgbClr val="DD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13232" y="3145536"/>
            <a:ext cx="2035199" cy="566928"/>
          </a:xfrm>
          <a:prstGeom prst="rect">
            <a:avLst/>
          </a:prstGeom>
          <a:noFill/>
        </p:spPr>
        <p:txBody>
          <a:bodyPr wrap="square" anchor="ctr" lIns="0" rIns="0" tIns="0" bIns="0">
            <a:spAutoFit/>
          </a:bodyPr>
          <a:lstStyle/>
          <a:p>
            <a:pPr algn="l">
              <a:lnSpc>
                <a:spcPct val="110000"/>
              </a:lnSpc>
              <a:spcAft>
                <a:spcPts val="0"/>
              </a:spcAft>
            </a:pPr>
            <a:r>
              <a:rPr sz="1300" b="1" i="0">
                <a:solidFill>
                  <a:srgbClr val="B8860B"/>
                </a:solidFill>
                <a:latin typeface="Calibri"/>
                <a:ea typeface="Calibri"/>
              </a:rPr>
              <a:t>font-weight</a:t>
            </a:r>
          </a:p>
        </p:txBody>
      </p:sp>
      <p:sp>
        <p:nvSpPr>
          <p:cNvPr id="31" name="Rectangle 30"/>
          <p:cNvSpPr/>
          <p:nvPr/>
        </p:nvSpPr>
        <p:spPr>
          <a:xfrm>
            <a:off x="2913023" y="3145536"/>
            <a:ext cx="4183140" cy="566928"/>
          </a:xfrm>
          <a:prstGeom prst="rect">
            <a:avLst/>
          </a:prstGeom>
          <a:solidFill>
            <a:srgbClr val="FFFFFF"/>
          </a:solidFill>
          <a:ln w="12700">
            <a:solidFill>
              <a:srgbClr val="DD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077615" y="3145536"/>
            <a:ext cx="3853956" cy="566928"/>
          </a:xfrm>
          <a:prstGeom prst="rect">
            <a:avLst/>
          </a:prstGeom>
          <a:noFill/>
        </p:spPr>
        <p:txBody>
          <a:bodyPr wrap="square" anchor="ctr" lIns="0" rIns="0" tIns="0" bIns="0">
            <a:spAutoFit/>
          </a:bodyPr>
          <a:lstStyle/>
          <a:p>
            <a:pPr algn="l">
              <a:lnSpc>
                <a:spcPct val="110000"/>
              </a:lnSpc>
              <a:spcAft>
                <a:spcPts val="0"/>
              </a:spcAft>
            </a:pPr>
            <a:r>
              <a:rPr sz="1300" b="0" i="0">
                <a:solidFill>
                  <a:srgbClr val="1A2230"/>
                </a:solidFill>
                <a:latin typeface="Calibri"/>
                <a:ea typeface="Calibri"/>
              </a:rPr>
              <a:t>bold / normal / 100–900</a:t>
            </a:r>
          </a:p>
        </p:txBody>
      </p:sp>
      <p:sp>
        <p:nvSpPr>
          <p:cNvPr id="33" name="Rectangle 32"/>
          <p:cNvSpPr/>
          <p:nvPr/>
        </p:nvSpPr>
        <p:spPr>
          <a:xfrm>
            <a:off x="7096163" y="3145536"/>
            <a:ext cx="4546891" cy="566928"/>
          </a:xfrm>
          <a:prstGeom prst="rect">
            <a:avLst/>
          </a:prstGeom>
          <a:solidFill>
            <a:srgbClr val="FFFFFF"/>
          </a:solidFill>
          <a:ln w="12700">
            <a:solidFill>
              <a:srgbClr val="DD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260755" y="3145536"/>
            <a:ext cx="4217707" cy="566928"/>
          </a:xfrm>
          <a:prstGeom prst="rect">
            <a:avLst/>
          </a:prstGeom>
          <a:noFill/>
        </p:spPr>
        <p:txBody>
          <a:bodyPr wrap="square" anchor="ctr" lIns="0" rIns="0" tIns="0" bIns="0">
            <a:spAutoFit/>
          </a:bodyPr>
          <a:lstStyle/>
          <a:p>
            <a:pPr algn="l">
              <a:lnSpc>
                <a:spcPct val="110000"/>
              </a:lnSpc>
              <a:spcAft>
                <a:spcPts val="0"/>
              </a:spcAft>
            </a:pPr>
            <a:r>
              <a:rPr sz="1300" b="0" i="0">
                <a:solidFill>
                  <a:srgbClr val="1A2230"/>
                </a:solidFill>
                <a:latin typeface="Calibri"/>
                <a:ea typeface="Calibri"/>
              </a:rPr>
              <a:t>font-weight: bold;</a:t>
            </a:r>
          </a:p>
        </p:txBody>
      </p:sp>
      <p:sp>
        <p:nvSpPr>
          <p:cNvPr id="35" name="Rectangle 34"/>
          <p:cNvSpPr/>
          <p:nvPr/>
        </p:nvSpPr>
        <p:spPr>
          <a:xfrm>
            <a:off x="548640" y="3712464"/>
            <a:ext cx="2364383" cy="566928"/>
          </a:xfrm>
          <a:prstGeom prst="rect">
            <a:avLst/>
          </a:prstGeom>
          <a:solidFill>
            <a:srgbClr val="F0F5FC"/>
          </a:solidFill>
          <a:ln w="12700">
            <a:solidFill>
              <a:srgbClr val="DD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13232" y="3712464"/>
            <a:ext cx="2035199" cy="566928"/>
          </a:xfrm>
          <a:prstGeom prst="rect">
            <a:avLst/>
          </a:prstGeom>
          <a:noFill/>
        </p:spPr>
        <p:txBody>
          <a:bodyPr wrap="square" anchor="ctr" lIns="0" rIns="0" tIns="0" bIns="0">
            <a:spAutoFit/>
          </a:bodyPr>
          <a:lstStyle/>
          <a:p>
            <a:pPr algn="l">
              <a:lnSpc>
                <a:spcPct val="110000"/>
              </a:lnSpc>
              <a:spcAft>
                <a:spcPts val="0"/>
              </a:spcAft>
            </a:pPr>
            <a:r>
              <a:rPr sz="1300" b="1" i="0">
                <a:solidFill>
                  <a:srgbClr val="B8860B"/>
                </a:solidFill>
                <a:latin typeface="Calibri"/>
                <a:ea typeface="Calibri"/>
              </a:rPr>
              <a:t>font-variant</a:t>
            </a:r>
          </a:p>
        </p:txBody>
      </p:sp>
      <p:sp>
        <p:nvSpPr>
          <p:cNvPr id="37" name="Rectangle 36"/>
          <p:cNvSpPr/>
          <p:nvPr/>
        </p:nvSpPr>
        <p:spPr>
          <a:xfrm>
            <a:off x="2913023" y="3712464"/>
            <a:ext cx="4183140" cy="566928"/>
          </a:xfrm>
          <a:prstGeom prst="rect">
            <a:avLst/>
          </a:prstGeom>
          <a:solidFill>
            <a:srgbClr val="F0F5FC"/>
          </a:solidFill>
          <a:ln w="12700">
            <a:solidFill>
              <a:srgbClr val="DD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3077615" y="3712464"/>
            <a:ext cx="3853956" cy="566928"/>
          </a:xfrm>
          <a:prstGeom prst="rect">
            <a:avLst/>
          </a:prstGeom>
          <a:noFill/>
        </p:spPr>
        <p:txBody>
          <a:bodyPr wrap="square" anchor="ctr" lIns="0" rIns="0" tIns="0" bIns="0">
            <a:spAutoFit/>
          </a:bodyPr>
          <a:lstStyle/>
          <a:p>
            <a:pPr algn="l">
              <a:lnSpc>
                <a:spcPct val="110000"/>
              </a:lnSpc>
              <a:spcAft>
                <a:spcPts val="0"/>
              </a:spcAft>
            </a:pPr>
            <a:r>
              <a:rPr sz="1300" b="0" i="0">
                <a:solidFill>
                  <a:srgbClr val="1A2230"/>
                </a:solidFill>
                <a:latin typeface="Calibri"/>
                <a:ea typeface="Calibri"/>
              </a:rPr>
              <a:t>small-caps or normal</a:t>
            </a:r>
          </a:p>
        </p:txBody>
      </p:sp>
      <p:sp>
        <p:nvSpPr>
          <p:cNvPr id="39" name="Rectangle 38"/>
          <p:cNvSpPr/>
          <p:nvPr/>
        </p:nvSpPr>
        <p:spPr>
          <a:xfrm>
            <a:off x="7096163" y="3712464"/>
            <a:ext cx="4546891" cy="566928"/>
          </a:xfrm>
          <a:prstGeom prst="rect">
            <a:avLst/>
          </a:prstGeom>
          <a:solidFill>
            <a:srgbClr val="F0F5FC"/>
          </a:solidFill>
          <a:ln w="12700">
            <a:solidFill>
              <a:srgbClr val="DD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7260755" y="3712464"/>
            <a:ext cx="4217707" cy="566928"/>
          </a:xfrm>
          <a:prstGeom prst="rect">
            <a:avLst/>
          </a:prstGeom>
          <a:noFill/>
        </p:spPr>
        <p:txBody>
          <a:bodyPr wrap="square" anchor="ctr" lIns="0" rIns="0" tIns="0" bIns="0">
            <a:spAutoFit/>
          </a:bodyPr>
          <a:lstStyle/>
          <a:p>
            <a:pPr algn="l">
              <a:lnSpc>
                <a:spcPct val="110000"/>
              </a:lnSpc>
              <a:spcAft>
                <a:spcPts val="0"/>
              </a:spcAft>
            </a:pPr>
            <a:r>
              <a:rPr sz="1300" b="0" i="0">
                <a:solidFill>
                  <a:srgbClr val="1A2230"/>
                </a:solidFill>
                <a:latin typeface="Calibri"/>
                <a:ea typeface="Calibri"/>
              </a:rPr>
              <a:t>font-variant: small-caps;</a:t>
            </a:r>
          </a:p>
        </p:txBody>
      </p:sp>
      <p:sp>
        <p:nvSpPr>
          <p:cNvPr id="41" name="Rectangle 40"/>
          <p:cNvSpPr/>
          <p:nvPr/>
        </p:nvSpPr>
        <p:spPr>
          <a:xfrm>
            <a:off x="548640" y="4279392"/>
            <a:ext cx="2364383" cy="566928"/>
          </a:xfrm>
          <a:prstGeom prst="rect">
            <a:avLst/>
          </a:prstGeom>
          <a:solidFill>
            <a:srgbClr val="FFFFFF"/>
          </a:solidFill>
          <a:ln w="12700">
            <a:solidFill>
              <a:srgbClr val="DD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13232" y="4279392"/>
            <a:ext cx="2035199" cy="566928"/>
          </a:xfrm>
          <a:prstGeom prst="rect">
            <a:avLst/>
          </a:prstGeom>
          <a:noFill/>
        </p:spPr>
        <p:txBody>
          <a:bodyPr wrap="square" anchor="ctr" lIns="0" rIns="0" tIns="0" bIns="0">
            <a:spAutoFit/>
          </a:bodyPr>
          <a:lstStyle/>
          <a:p>
            <a:pPr algn="l">
              <a:lnSpc>
                <a:spcPct val="110000"/>
              </a:lnSpc>
              <a:spcAft>
                <a:spcPts val="0"/>
              </a:spcAft>
            </a:pPr>
            <a:r>
              <a:rPr sz="1300" b="1" i="0">
                <a:solidFill>
                  <a:srgbClr val="B8860B"/>
                </a:solidFill>
                <a:latin typeface="Calibri"/>
                <a:ea typeface="Calibri"/>
              </a:rPr>
              <a:t>font</a:t>
            </a:r>
          </a:p>
        </p:txBody>
      </p:sp>
      <p:sp>
        <p:nvSpPr>
          <p:cNvPr id="43" name="Rectangle 42"/>
          <p:cNvSpPr/>
          <p:nvPr/>
        </p:nvSpPr>
        <p:spPr>
          <a:xfrm>
            <a:off x="2913023" y="4279392"/>
            <a:ext cx="4183140" cy="566928"/>
          </a:xfrm>
          <a:prstGeom prst="rect">
            <a:avLst/>
          </a:prstGeom>
          <a:solidFill>
            <a:srgbClr val="FFFFFF"/>
          </a:solidFill>
          <a:ln w="12700">
            <a:solidFill>
              <a:srgbClr val="DD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3077615" y="4279392"/>
            <a:ext cx="3853956" cy="566928"/>
          </a:xfrm>
          <a:prstGeom prst="rect">
            <a:avLst/>
          </a:prstGeom>
          <a:noFill/>
        </p:spPr>
        <p:txBody>
          <a:bodyPr wrap="square" anchor="ctr" lIns="0" rIns="0" tIns="0" bIns="0">
            <a:spAutoFit/>
          </a:bodyPr>
          <a:lstStyle/>
          <a:p>
            <a:pPr algn="l">
              <a:lnSpc>
                <a:spcPct val="110000"/>
              </a:lnSpc>
              <a:spcAft>
                <a:spcPts val="0"/>
              </a:spcAft>
            </a:pPr>
            <a:r>
              <a:rPr sz="1300" b="0" i="0">
                <a:solidFill>
                  <a:srgbClr val="1A2230"/>
                </a:solidFill>
                <a:latin typeface="Calibri"/>
                <a:ea typeface="Calibri"/>
              </a:rPr>
              <a:t>all of the above, in one line</a:t>
            </a:r>
          </a:p>
        </p:txBody>
      </p:sp>
      <p:sp>
        <p:nvSpPr>
          <p:cNvPr id="45" name="Rectangle 44"/>
          <p:cNvSpPr/>
          <p:nvPr/>
        </p:nvSpPr>
        <p:spPr>
          <a:xfrm>
            <a:off x="7096163" y="4279392"/>
            <a:ext cx="4546891" cy="566928"/>
          </a:xfrm>
          <a:prstGeom prst="rect">
            <a:avLst/>
          </a:prstGeom>
          <a:solidFill>
            <a:srgbClr val="FFFFFF"/>
          </a:solidFill>
          <a:ln w="12700">
            <a:solidFill>
              <a:srgbClr val="DD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7260755" y="4279392"/>
            <a:ext cx="4217707" cy="566928"/>
          </a:xfrm>
          <a:prstGeom prst="rect">
            <a:avLst/>
          </a:prstGeom>
          <a:noFill/>
        </p:spPr>
        <p:txBody>
          <a:bodyPr wrap="square" anchor="ctr" lIns="0" rIns="0" tIns="0" bIns="0">
            <a:spAutoFit/>
          </a:bodyPr>
          <a:lstStyle/>
          <a:p>
            <a:pPr algn="l">
              <a:lnSpc>
                <a:spcPct val="110000"/>
              </a:lnSpc>
              <a:spcAft>
                <a:spcPts val="0"/>
              </a:spcAft>
            </a:pPr>
            <a:r>
              <a:rPr sz="1300" b="0" i="0">
                <a:solidFill>
                  <a:srgbClr val="1A2230"/>
                </a:solidFill>
                <a:latin typeface="Calibri"/>
                <a:ea typeface="Calibri"/>
              </a:rPr>
              <a:t>font: italic bold 12px Georgia;</a:t>
            </a:r>
          </a:p>
        </p:txBody>
      </p:sp>
      <p:sp>
        <p:nvSpPr>
          <p:cNvPr id="47" name="Rounded Rectangle 46"/>
          <p:cNvSpPr/>
          <p:nvPr/>
        </p:nvSpPr>
        <p:spPr>
          <a:xfrm>
            <a:off x="548640" y="5029200"/>
            <a:ext cx="11094415" cy="1051560"/>
          </a:xfrm>
          <a:prstGeom prst="roundRect">
            <a:avLst>
              <a:gd name="adj" fmla="val 8000"/>
            </a:avLst>
          </a:prstGeom>
          <a:solidFill>
            <a:srgbClr val="F0F5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868680" y="5120640"/>
            <a:ext cx="10454335" cy="365760"/>
          </a:xfrm>
          <a:prstGeom prst="rect">
            <a:avLst/>
          </a:prstGeom>
          <a:noFill/>
        </p:spPr>
        <p:txBody>
          <a:bodyPr wrap="square" anchor="t" lIns="0" rIns="0" tIns="0" bIns="0">
            <a:spAutoFit/>
          </a:bodyPr>
          <a:lstStyle/>
          <a:p>
            <a:pPr algn="l">
              <a:lnSpc>
                <a:spcPct val="110000"/>
              </a:lnSpc>
              <a:spcAft>
                <a:spcPts val="400"/>
              </a:spcAft>
            </a:pPr>
            <a:r>
              <a:rPr sz="1450" b="1" i="0">
                <a:solidFill>
                  <a:srgbClr val="0E3F8C"/>
                </a:solidFill>
                <a:latin typeface="Calibri"/>
                <a:ea typeface="Calibri"/>
              </a:rPr>
              <a:t>Font is a shorthand — it packs style, weight, size and family into one declaration.</a:t>
            </a:r>
          </a:p>
        </p:txBody>
      </p:sp>
      <p:sp>
        <p:nvSpPr>
          <p:cNvPr id="49" name="TextBox 48"/>
          <p:cNvSpPr txBox="1"/>
          <p:nvPr/>
        </p:nvSpPr>
        <p:spPr>
          <a:xfrm>
            <a:off x="868680" y="5504688"/>
            <a:ext cx="10454335" cy="329184"/>
          </a:xfrm>
          <a:prstGeom prst="rect">
            <a:avLst/>
          </a:prstGeom>
          <a:noFill/>
        </p:spPr>
        <p:txBody>
          <a:bodyPr wrap="square" anchor="t" lIns="0" rIns="0" tIns="0" bIns="0">
            <a:spAutoFit/>
          </a:bodyPr>
          <a:lstStyle/>
          <a:p>
            <a:pPr algn="l">
              <a:lnSpc>
                <a:spcPct val="110000"/>
              </a:lnSpc>
              <a:spcAft>
                <a:spcPts val="400"/>
              </a:spcAft>
            </a:pPr>
            <a:r>
              <a:rPr sz="1300" b="1" i="0">
                <a:solidFill>
                  <a:srgbClr val="1E4FA8"/>
                </a:solidFill>
                <a:latin typeface="Calibri"/>
                <a:ea typeface="Calibri"/>
              </a:rPr>
              <a:t>example →  </a:t>
            </a:r>
            <a:r>
              <a:rPr sz="1300" b="0" i="0">
                <a:solidFill>
                  <a:srgbClr val="3D7BD9"/>
                </a:solidFill>
                <a:latin typeface="Consolas"/>
                <a:ea typeface="Consolas"/>
                <a:hlinkClick r:id="rId2"/>
                <a:extLst>
                  <a:ext uri="{A12FA001-AC4F-418D-AE19-62706E023703}">
                    <ahyp:hlinkClr xmlns:ahyp="http://schemas.microsoft.com/office/drawing/2018/hyperlinkcolor" val="tx"/>
                  </a:ext>
                </a:extLst>
              </a:rPr>
              <a:t>editor.html?example=css-styling/font</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66928"/>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6979615" cy="365760"/>
          </a:xfrm>
          <a:prstGeom prst="rect">
            <a:avLst/>
          </a:prstGeom>
          <a:noFill/>
        </p:spPr>
        <p:txBody>
          <a:bodyPr wrap="square" anchor="ctr" lIns="0" rIns="0" tIns="0" bIns="0">
            <a:spAutoFit/>
          </a:bodyPr>
          <a:lstStyle/>
          <a:p>
            <a:pPr algn="l">
              <a:lnSpc>
                <a:spcPct val="110000"/>
              </a:lnSpc>
              <a:spcAft>
                <a:spcPts val="400"/>
              </a:spcAft>
            </a:pPr>
            <a:r>
              <a:rPr sz="2100" b="1" i="0">
                <a:solidFill>
                  <a:srgbClr val="FFFFFF"/>
                </a:solidFill>
                <a:latin typeface="Calibri"/>
                <a:ea typeface="Calibri"/>
              </a:rPr>
              <a:t>font-family</a:t>
            </a:r>
          </a:p>
        </p:txBody>
      </p:sp>
      <p:sp>
        <p:nvSpPr>
          <p:cNvPr id="4" name="TextBox 3"/>
          <p:cNvSpPr txBox="1"/>
          <p:nvPr/>
        </p:nvSpPr>
        <p:spPr>
          <a:xfrm>
            <a:off x="7436815" y="109728"/>
            <a:ext cx="4206240" cy="365760"/>
          </a:xfrm>
          <a:prstGeom prst="rect">
            <a:avLst/>
          </a:prstGeom>
          <a:noFill/>
        </p:spPr>
        <p:txBody>
          <a:bodyPr wrap="square" anchor="ctr" lIns="0" rIns="0" tIns="0" bIns="0">
            <a:spAutoFit/>
          </a:bodyPr>
          <a:lstStyle/>
          <a:p>
            <a:pPr algn="r">
              <a:lnSpc>
                <a:spcPct val="110000"/>
              </a:lnSpc>
              <a:spcAft>
                <a:spcPts val="400"/>
              </a:spcAft>
            </a:pPr>
            <a:r>
              <a:rPr sz="1100" b="1" i="0">
                <a:solidFill>
                  <a:srgbClr val="B9CDEE"/>
                </a:solidFill>
                <a:latin typeface="Calibri"/>
                <a:ea typeface="Calibri"/>
              </a:rPr>
              <a:t>COMP3421 · Font</a:t>
            </a:r>
          </a:p>
        </p:txBody>
      </p:sp>
      <p:sp>
        <p:nvSpPr>
          <p:cNvPr id="5" name="TextBox 4"/>
          <p:cNvSpPr txBox="1"/>
          <p:nvPr/>
        </p:nvSpPr>
        <p:spPr>
          <a:xfrm>
            <a:off x="548640" y="978408"/>
            <a:ext cx="4602175" cy="4937760"/>
          </a:xfrm>
          <a:prstGeom prst="rect">
            <a:avLst/>
          </a:prstGeom>
          <a:noFill/>
        </p:spPr>
        <p:txBody>
          <a:bodyPr wrap="square" lIns="0" rIns="0" tIns="0" bIns="0">
            <a:normAutofit/>
          </a:bodyPr>
          <a:lstStyle/>
          <a:p>
            <a:pPr marL="274320" indent="-237744">
              <a:lnSpc>
                <a:spcPct val="112000"/>
              </a:lnSpc>
              <a:spcAft>
                <a:spcPts val="1000"/>
              </a:spcAft>
              <a:buClr>
                <a:srgbClr val="1E4FA8"/>
              </a:buClr>
              <a:buSzPct val="90000"/>
              <a:buFont typeface="Arial"/>
              <a:buChar char="▪"/>
            </a:pPr>
            <a:r>
              <a:rPr sz="1550" b="1" i="0">
                <a:solidFill>
                  <a:srgbClr val="B8860B"/>
                </a:solidFill>
                <a:latin typeface="Calibri"/>
                <a:ea typeface="Calibri"/>
              </a:rPr>
              <a:t>font-family</a:t>
            </a:r>
            <a:br/>
            <a:r>
              <a:rPr sz="1350" b="0" i="0">
                <a:solidFill>
                  <a:srgbClr val="4A5568"/>
                </a:solidFill>
                <a:latin typeface="Calibri"/>
                <a:ea typeface="Calibri"/>
              </a:rPr>
              <a:t>The typeface for the text.</a:t>
            </a:r>
          </a:p>
          <a:p>
            <a:pPr marL="274320" indent="-237744">
              <a:lnSpc>
                <a:spcPct val="112000"/>
              </a:lnSpc>
              <a:spcAft>
                <a:spcPts val="1000"/>
              </a:spcAft>
              <a:buClr>
                <a:srgbClr val="1E4FA8"/>
              </a:buClr>
              <a:buSzPct val="90000"/>
              <a:buFont typeface="Arial"/>
              <a:buChar char="▪"/>
            </a:pPr>
            <a:r>
              <a:rPr sz="1550" b="1" i="0">
                <a:solidFill>
                  <a:srgbClr val="1A2230"/>
                </a:solidFill>
                <a:latin typeface="Calibri"/>
                <a:ea typeface="Calibri"/>
              </a:rPr>
              <a:t>Fallback stack</a:t>
            </a:r>
            <a:br/>
            <a:r>
              <a:rPr sz="1350" b="0" i="0">
                <a:solidFill>
                  <a:srgbClr val="4A5568"/>
                </a:solidFill>
                <a:latin typeface="Calibri"/>
                <a:ea typeface="Calibri"/>
              </a:rPr>
              <a:t>Several names, tried left to right.</a:t>
            </a:r>
          </a:p>
          <a:p>
            <a:pPr marL="274320" indent="-237744">
              <a:lnSpc>
                <a:spcPct val="112000"/>
              </a:lnSpc>
              <a:spcAft>
                <a:spcPts val="1000"/>
              </a:spcAft>
              <a:buClr>
                <a:srgbClr val="1E4FA8"/>
              </a:buClr>
              <a:buSzPct val="90000"/>
              <a:buFont typeface="Arial"/>
              <a:buChar char="▪"/>
            </a:pPr>
            <a:r>
              <a:rPr sz="1550" b="1" i="0">
                <a:solidFill>
                  <a:srgbClr val="1A2230"/>
                </a:solidFill>
                <a:latin typeface="Calibri"/>
                <a:ea typeface="Calibri"/>
              </a:rPr>
              <a:t>Generic families</a:t>
            </a:r>
            <a:br/>
            <a:r>
              <a:rPr sz="1350" b="0" i="0">
                <a:solidFill>
                  <a:srgbClr val="4A5568"/>
                </a:solidFill>
                <a:latin typeface="Calibri"/>
                <a:ea typeface="Calibri"/>
              </a:rPr>
              <a:t>serif, sans-serif, monospace — the safety net.</a:t>
            </a:r>
          </a:p>
          <a:p>
            <a:pPr marL="274320" indent="-237744">
              <a:lnSpc>
                <a:spcPct val="112000"/>
              </a:lnSpc>
              <a:spcAft>
                <a:spcPts val="1000"/>
              </a:spcAft>
              <a:buClr>
                <a:srgbClr val="1E4FA8"/>
              </a:buClr>
              <a:buSzPct val="90000"/>
              <a:buFont typeface="Arial"/>
              <a:buChar char="▪"/>
            </a:pPr>
            <a:r>
              <a:rPr sz="1550" b="1" i="0">
                <a:solidFill>
                  <a:srgbClr val="1A2230"/>
                </a:solidFill>
                <a:latin typeface="Calibri"/>
                <a:ea typeface="Calibri"/>
              </a:rPr>
              <a:t>Quote multi-word names</a:t>
            </a:r>
            <a:br/>
            <a:r>
              <a:rPr sz="1350" b="0" i="0">
                <a:solidFill>
                  <a:srgbClr val="4A5568"/>
                </a:solidFill>
                <a:latin typeface="Calibri"/>
                <a:ea typeface="Calibri"/>
              </a:rPr>
              <a:t>"Times New Roman" needs quotes.</a:t>
            </a:r>
          </a:p>
        </p:txBody>
      </p:sp>
      <p:sp>
        <p:nvSpPr>
          <p:cNvPr id="6" name="Rounded Rectangle 5"/>
          <p:cNvSpPr/>
          <p:nvPr/>
        </p:nvSpPr>
        <p:spPr>
          <a:xfrm>
            <a:off x="5836615" y="978408"/>
            <a:ext cx="5806440" cy="3703320"/>
          </a:xfrm>
          <a:prstGeom prst="roundRect">
            <a:avLst>
              <a:gd name="adj" fmla="val 5000"/>
            </a:avLst>
          </a:prstGeom>
          <a:solidFill>
            <a:srgbClr val="2327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129223" y="1133856"/>
            <a:ext cx="5257800" cy="292608"/>
          </a:xfrm>
          <a:prstGeom prst="rect">
            <a:avLst/>
          </a:prstGeom>
          <a:noFill/>
        </p:spPr>
        <p:txBody>
          <a:bodyPr wrap="square" anchor="t" lIns="0" rIns="0" tIns="0" bIns="0">
            <a:spAutoFit/>
          </a:bodyPr>
          <a:lstStyle/>
          <a:p>
            <a:pPr algn="l">
              <a:lnSpc>
                <a:spcPct val="110000"/>
              </a:lnSpc>
              <a:spcAft>
                <a:spcPts val="400"/>
              </a:spcAft>
            </a:pPr>
            <a:r>
              <a:rPr sz="1100" b="1" i="0">
                <a:solidFill>
                  <a:srgbClr val="7F8C98"/>
                </a:solidFill>
                <a:latin typeface="Calibri"/>
                <a:ea typeface="Calibri"/>
              </a:rPr>
              <a:t>LOOK INSIDE — CODE</a:t>
            </a:r>
          </a:p>
        </p:txBody>
      </p:sp>
      <p:sp>
        <p:nvSpPr>
          <p:cNvPr id="8" name="TextBox 7"/>
          <p:cNvSpPr txBox="1"/>
          <p:nvPr/>
        </p:nvSpPr>
        <p:spPr>
          <a:xfrm>
            <a:off x="6129223" y="1463040"/>
            <a:ext cx="5221224" cy="3108960"/>
          </a:xfrm>
          <a:prstGeom prst="rect">
            <a:avLst/>
          </a:prstGeom>
          <a:noFill/>
        </p:spPr>
        <p:txBody>
          <a:bodyPr wrap="none" lIns="0" rIns="0" tIns="0" bIns="0">
            <a:spAutoFit/>
          </a:bodyPr>
          <a:lstStyle/>
          <a:p>
            <a:pPr>
              <a:spcAft>
                <a:spcPts val="350"/>
              </a:spcAft>
            </a:pPr>
            <a:r>
              <a:rPr sz="1300" b="0" i="0">
                <a:solidFill>
                  <a:srgbClr val="61AFEF"/>
                </a:solidFill>
                <a:latin typeface="Consolas"/>
                <a:ea typeface="Consolas"/>
              </a:rPr>
              <a:t>&lt;p style="font-family: 'Times New Roman', serif;"&gt;</a:t>
            </a:r>
          </a:p>
          <a:p>
            <a:pPr>
              <a:spcAft>
                <a:spcPts val="350"/>
              </a:spcAft>
            </a:pPr>
            <a:r>
              <a:rPr sz="1300" b="0" i="0">
                <a:solidFill>
                  <a:srgbClr val="98C379"/>
                </a:solidFill>
                <a:latin typeface="Consolas"/>
                <a:ea typeface="Consolas"/>
              </a:rPr>
              <a:t>&lt;h1 style="font-family: Arial, sans-serif;"&gt;</a:t>
            </a:r>
          </a:p>
          <a:p>
            <a:pPr>
              <a:spcAft>
                <a:spcPts val="350"/>
              </a:spcAft>
            </a:pPr>
            <a:r>
              <a:rPr sz="1300" b="0" i="0">
                <a:solidFill>
                  <a:srgbClr val="E5C07B"/>
                </a:solidFill>
                <a:latin typeface="Consolas"/>
                <a:ea typeface="Consolas"/>
              </a:rPr>
              <a:t>&lt;code style="font-family: 'Courier New', monospace;"&gt;</a:t>
            </a:r>
          </a:p>
          <a:p>
            <a:pPr>
              <a:spcAft>
                <a:spcPts val="350"/>
              </a:spcAft>
            </a:pPr>
            <a:r>
              <a:rPr sz="1300" b="0" i="0">
                <a:solidFill>
                  <a:srgbClr val="7F8C98"/>
                </a:solidFill>
                <a:latin typeface="Consolas"/>
                <a:ea typeface="Consolas"/>
              </a:rPr>
              <a:t/>
            </a:r>
          </a:p>
          <a:p>
            <a:pPr>
              <a:spcAft>
                <a:spcPts val="350"/>
              </a:spcAft>
            </a:pPr>
            <a:r>
              <a:rPr sz="1300" b="0" i="0">
                <a:solidFill>
                  <a:srgbClr val="7F8C98"/>
                </a:solidFill>
                <a:latin typeface="Consolas"/>
                <a:ea typeface="Consolas"/>
              </a:rPr>
              <a:t>&lt;!-- browser uses the first font it has --&gt;</a:t>
            </a:r>
          </a:p>
        </p:txBody>
      </p:sp>
      <p:sp>
        <p:nvSpPr>
          <p:cNvPr id="9" name="Rounded Rectangle 8"/>
          <p:cNvSpPr/>
          <p:nvPr/>
        </p:nvSpPr>
        <p:spPr>
          <a:xfrm>
            <a:off x="5836615" y="4800600"/>
            <a:ext cx="5806440" cy="475488"/>
          </a:xfrm>
          <a:prstGeom prst="roundRect">
            <a:avLst>
              <a:gd name="adj" fmla="val 10000"/>
            </a:avLst>
          </a:prstGeom>
          <a:solidFill>
            <a:srgbClr val="F0F5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092647" y="4919472"/>
            <a:ext cx="5294375" cy="274320"/>
          </a:xfrm>
          <a:prstGeom prst="rect">
            <a:avLst/>
          </a:prstGeom>
          <a:noFill/>
        </p:spPr>
        <p:txBody>
          <a:bodyPr wrap="square" anchor="t" lIns="0" rIns="0" tIns="0" bIns="0">
            <a:spAutoFit/>
          </a:bodyPr>
          <a:lstStyle/>
          <a:p>
            <a:pPr algn="l">
              <a:lnSpc>
                <a:spcPct val="110000"/>
              </a:lnSpc>
              <a:spcAft>
                <a:spcPts val="400"/>
              </a:spcAft>
            </a:pPr>
            <a:r>
              <a:rPr sz="1050" b="1" i="0">
                <a:solidFill>
                  <a:srgbClr val="0E3F8C"/>
                </a:solidFill>
                <a:latin typeface="Calibri"/>
                <a:ea typeface="Calibri"/>
              </a:rPr>
              <a:t>open in editor →  </a:t>
            </a:r>
            <a:r>
              <a:rPr sz="1050" b="0" i="0">
                <a:solidFill>
                  <a:srgbClr val="3D7BD9"/>
                </a:solidFill>
                <a:latin typeface="Consolas"/>
                <a:ea typeface="Consolas"/>
                <a:hlinkClick r:id="rId2"/>
                <a:extLst>
                  <a:ext uri="{A12FA001-AC4F-418D-AE19-62706E023703}">
                    <ahyp:hlinkClr xmlns:ahyp="http://schemas.microsoft.com/office/drawing/2018/hyperlinkcolor" val="tx"/>
                  </a:ext>
                </a:extLst>
              </a:rPr>
              <a:t>editor.html?example=css-styling/font</a:t>
            </a:r>
          </a:p>
        </p:txBody>
      </p:sp>
      <p:sp>
        <p:nvSpPr>
          <p:cNvPr id="11" name="Rounded Rectangle 10"/>
          <p:cNvSpPr/>
          <p:nvPr/>
        </p:nvSpPr>
        <p:spPr>
          <a:xfrm>
            <a:off x="548640" y="5943600"/>
            <a:ext cx="11094415" cy="475488"/>
          </a:xfrm>
          <a:prstGeom prst="roundRect">
            <a:avLst>
              <a:gd name="adj" fmla="val 10000"/>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04672" y="5943600"/>
            <a:ext cx="10591495" cy="475488"/>
          </a:xfrm>
          <a:prstGeom prst="rect">
            <a:avLst/>
          </a:prstGeom>
          <a:noFill/>
        </p:spPr>
        <p:txBody>
          <a:bodyPr wrap="square" anchor="ctr" lIns="0" rIns="0" tIns="0" bIns="0">
            <a:spAutoFit/>
          </a:bodyPr>
          <a:lstStyle/>
          <a:p>
            <a:pPr algn="l">
              <a:lnSpc>
                <a:spcPct val="110000"/>
              </a:lnSpc>
              <a:spcAft>
                <a:spcPts val="400"/>
              </a:spcAft>
            </a:pPr>
            <a:r>
              <a:rPr sz="1400" b="1" i="0">
                <a:solidFill>
                  <a:srgbClr val="FFFFFF"/>
                </a:solidFill>
                <a:latin typeface="Calibri"/>
                <a:ea typeface="Calibri"/>
              </a:rPr>
              <a:t>If the first font is missing, the browser falls back to the next — and the next.</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66928"/>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6979615" cy="365760"/>
          </a:xfrm>
          <a:prstGeom prst="rect">
            <a:avLst/>
          </a:prstGeom>
          <a:noFill/>
        </p:spPr>
        <p:txBody>
          <a:bodyPr wrap="square" anchor="ctr" lIns="0" rIns="0" tIns="0" bIns="0">
            <a:spAutoFit/>
          </a:bodyPr>
          <a:lstStyle/>
          <a:p>
            <a:pPr algn="l">
              <a:lnSpc>
                <a:spcPct val="110000"/>
              </a:lnSpc>
              <a:spcAft>
                <a:spcPts val="400"/>
              </a:spcAft>
            </a:pPr>
            <a:r>
              <a:rPr sz="2100" b="1" i="0">
                <a:solidFill>
                  <a:srgbClr val="FFFFFF"/>
                </a:solidFill>
                <a:latin typeface="Calibri"/>
                <a:ea typeface="Calibri"/>
              </a:rPr>
              <a:t>font-size</a:t>
            </a:r>
          </a:p>
        </p:txBody>
      </p:sp>
      <p:sp>
        <p:nvSpPr>
          <p:cNvPr id="4" name="TextBox 3"/>
          <p:cNvSpPr txBox="1"/>
          <p:nvPr/>
        </p:nvSpPr>
        <p:spPr>
          <a:xfrm>
            <a:off x="7436815" y="109728"/>
            <a:ext cx="4206240" cy="365760"/>
          </a:xfrm>
          <a:prstGeom prst="rect">
            <a:avLst/>
          </a:prstGeom>
          <a:noFill/>
        </p:spPr>
        <p:txBody>
          <a:bodyPr wrap="square" anchor="ctr" lIns="0" rIns="0" tIns="0" bIns="0">
            <a:spAutoFit/>
          </a:bodyPr>
          <a:lstStyle/>
          <a:p>
            <a:pPr algn="r">
              <a:lnSpc>
                <a:spcPct val="110000"/>
              </a:lnSpc>
              <a:spcAft>
                <a:spcPts val="400"/>
              </a:spcAft>
            </a:pPr>
            <a:r>
              <a:rPr sz="1100" b="1" i="0">
                <a:solidFill>
                  <a:srgbClr val="B9CDEE"/>
                </a:solidFill>
                <a:latin typeface="Calibri"/>
                <a:ea typeface="Calibri"/>
              </a:rPr>
              <a:t>COMP3421 · Font</a:t>
            </a:r>
          </a:p>
        </p:txBody>
      </p:sp>
      <p:sp>
        <p:nvSpPr>
          <p:cNvPr id="5" name="TextBox 4"/>
          <p:cNvSpPr txBox="1"/>
          <p:nvPr/>
        </p:nvSpPr>
        <p:spPr>
          <a:xfrm>
            <a:off x="548640" y="978408"/>
            <a:ext cx="4602175" cy="4937760"/>
          </a:xfrm>
          <a:prstGeom prst="rect">
            <a:avLst/>
          </a:prstGeom>
          <a:noFill/>
        </p:spPr>
        <p:txBody>
          <a:bodyPr wrap="square" lIns="0" rIns="0" tIns="0" bIns="0">
            <a:normAutofit/>
          </a:bodyPr>
          <a:lstStyle/>
          <a:p>
            <a:pPr marL="274320" indent="-237744">
              <a:lnSpc>
                <a:spcPct val="112000"/>
              </a:lnSpc>
              <a:spcAft>
                <a:spcPts val="1000"/>
              </a:spcAft>
              <a:buClr>
                <a:srgbClr val="1E4FA8"/>
              </a:buClr>
              <a:buSzPct val="90000"/>
              <a:buFont typeface="Arial"/>
              <a:buChar char="▪"/>
            </a:pPr>
            <a:r>
              <a:rPr sz="1550" b="1" i="0">
                <a:solidFill>
                  <a:srgbClr val="1A2230"/>
                </a:solidFill>
                <a:latin typeface="Calibri"/>
                <a:ea typeface="Calibri"/>
              </a:rPr>
              <a:t>Absolute</a:t>
            </a:r>
            <a:br/>
            <a:r>
              <a:rPr sz="1350" b="0" i="0">
                <a:solidFill>
                  <a:srgbClr val="4A5568"/>
                </a:solidFill>
                <a:latin typeface="Calibri"/>
                <a:ea typeface="Calibri"/>
              </a:rPr>
              <a:t>px — a fixed size.</a:t>
            </a:r>
          </a:p>
          <a:p>
            <a:pPr marL="274320" indent="-237744">
              <a:lnSpc>
                <a:spcPct val="112000"/>
              </a:lnSpc>
              <a:spcAft>
                <a:spcPts val="1000"/>
              </a:spcAft>
              <a:buClr>
                <a:srgbClr val="1E4FA8"/>
              </a:buClr>
              <a:buSzPct val="90000"/>
              <a:buFont typeface="Arial"/>
              <a:buChar char="▪"/>
            </a:pPr>
            <a:r>
              <a:rPr sz="1550" b="1" i="0">
                <a:solidFill>
                  <a:srgbClr val="1A2230"/>
                </a:solidFill>
                <a:latin typeface="Calibri"/>
                <a:ea typeface="Calibri"/>
              </a:rPr>
              <a:t>Relative</a:t>
            </a:r>
            <a:br/>
            <a:r>
              <a:rPr sz="1350" b="0" i="0">
                <a:solidFill>
                  <a:srgbClr val="4A5568"/>
                </a:solidFill>
                <a:latin typeface="Calibri"/>
                <a:ea typeface="Calibri"/>
              </a:rPr>
              <a:t>em, rem, % — scale with their context.</a:t>
            </a:r>
          </a:p>
          <a:p>
            <a:pPr marL="274320" indent="-237744">
              <a:lnSpc>
                <a:spcPct val="112000"/>
              </a:lnSpc>
              <a:spcAft>
                <a:spcPts val="1000"/>
              </a:spcAft>
              <a:buClr>
                <a:srgbClr val="1E4FA8"/>
              </a:buClr>
              <a:buSzPct val="90000"/>
              <a:buFont typeface="Arial"/>
              <a:buChar char="▪"/>
            </a:pPr>
            <a:r>
              <a:rPr sz="1550" b="1" i="0">
                <a:solidFill>
                  <a:srgbClr val="1A2230"/>
                </a:solidFill>
                <a:latin typeface="Calibri"/>
                <a:ea typeface="Calibri"/>
              </a:rPr>
              <a:t>The default</a:t>
            </a:r>
            <a:br/>
            <a:r>
              <a:rPr sz="1350" b="0" i="0">
                <a:solidFill>
                  <a:srgbClr val="4A5568"/>
                </a:solidFill>
                <a:latin typeface="Calibri"/>
                <a:ea typeface="Calibri"/>
              </a:rPr>
              <a:t>Browsers use 16px, so 1em = 16px.</a:t>
            </a:r>
          </a:p>
          <a:p>
            <a:pPr marL="274320" indent="-237744">
              <a:lnSpc>
                <a:spcPct val="112000"/>
              </a:lnSpc>
              <a:spcAft>
                <a:spcPts val="1000"/>
              </a:spcAft>
              <a:buClr>
                <a:srgbClr val="1E4FA8"/>
              </a:buClr>
              <a:buSzPct val="90000"/>
              <a:buFont typeface="Arial"/>
              <a:buChar char="▪"/>
            </a:pPr>
            <a:r>
              <a:rPr sz="1550" b="1" i="0">
                <a:solidFill>
                  <a:srgbClr val="1A2230"/>
                </a:solidFill>
                <a:latin typeface="Calibri"/>
                <a:ea typeface="Calibri"/>
              </a:rPr>
              <a:t>vw</a:t>
            </a:r>
            <a:br/>
            <a:r>
              <a:rPr sz="1350" b="0" i="0">
                <a:solidFill>
                  <a:srgbClr val="4A5568"/>
                </a:solidFill>
                <a:latin typeface="Calibri"/>
                <a:ea typeface="Calibri"/>
              </a:rPr>
              <a:t>Even the viewport can size text.</a:t>
            </a:r>
          </a:p>
        </p:txBody>
      </p:sp>
      <p:sp>
        <p:nvSpPr>
          <p:cNvPr id="6" name="Rounded Rectangle 5"/>
          <p:cNvSpPr/>
          <p:nvPr/>
        </p:nvSpPr>
        <p:spPr>
          <a:xfrm>
            <a:off x="5836615" y="978408"/>
            <a:ext cx="5806440" cy="3703320"/>
          </a:xfrm>
          <a:prstGeom prst="roundRect">
            <a:avLst>
              <a:gd name="adj" fmla="val 5000"/>
            </a:avLst>
          </a:prstGeom>
          <a:solidFill>
            <a:srgbClr val="2327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129223" y="1133856"/>
            <a:ext cx="5257800" cy="292608"/>
          </a:xfrm>
          <a:prstGeom prst="rect">
            <a:avLst/>
          </a:prstGeom>
          <a:noFill/>
        </p:spPr>
        <p:txBody>
          <a:bodyPr wrap="square" anchor="t" lIns="0" rIns="0" tIns="0" bIns="0">
            <a:spAutoFit/>
          </a:bodyPr>
          <a:lstStyle/>
          <a:p>
            <a:pPr algn="l">
              <a:lnSpc>
                <a:spcPct val="110000"/>
              </a:lnSpc>
              <a:spcAft>
                <a:spcPts val="400"/>
              </a:spcAft>
            </a:pPr>
            <a:r>
              <a:rPr sz="1100" b="1" i="0">
                <a:solidFill>
                  <a:srgbClr val="7F8C98"/>
                </a:solidFill>
                <a:latin typeface="Calibri"/>
                <a:ea typeface="Calibri"/>
              </a:rPr>
              <a:t>LOOK INSIDE — CODE</a:t>
            </a:r>
          </a:p>
        </p:txBody>
      </p:sp>
      <p:sp>
        <p:nvSpPr>
          <p:cNvPr id="8" name="TextBox 7"/>
          <p:cNvSpPr txBox="1"/>
          <p:nvPr/>
        </p:nvSpPr>
        <p:spPr>
          <a:xfrm>
            <a:off x="6129223" y="1463040"/>
            <a:ext cx="5221224" cy="3108960"/>
          </a:xfrm>
          <a:prstGeom prst="rect">
            <a:avLst/>
          </a:prstGeom>
          <a:noFill/>
        </p:spPr>
        <p:txBody>
          <a:bodyPr wrap="none" lIns="0" rIns="0" tIns="0" bIns="0">
            <a:spAutoFit/>
          </a:bodyPr>
          <a:lstStyle/>
          <a:p>
            <a:pPr>
              <a:spcAft>
                <a:spcPts val="350"/>
              </a:spcAft>
            </a:pPr>
            <a:r>
              <a:rPr sz="1300" b="0" i="0">
                <a:solidFill>
                  <a:srgbClr val="61AFEF"/>
                </a:solidFill>
                <a:latin typeface="Consolas"/>
                <a:ea typeface="Consolas"/>
              </a:rPr>
              <a:t>&lt;p style="font-size: 16px;"&gt;</a:t>
            </a:r>
          </a:p>
          <a:p>
            <a:pPr>
              <a:spcAft>
                <a:spcPts val="350"/>
              </a:spcAft>
            </a:pPr>
            <a:r>
              <a:rPr sz="1300" b="0" i="0">
                <a:solidFill>
                  <a:srgbClr val="98C379"/>
                </a:solidFill>
                <a:latin typeface="Consolas"/>
                <a:ea typeface="Consolas"/>
              </a:rPr>
              <a:t>&lt;h1 style="font-size: 2em;"&gt;</a:t>
            </a:r>
          </a:p>
          <a:p>
            <a:pPr>
              <a:spcAft>
                <a:spcPts val="350"/>
              </a:spcAft>
            </a:pPr>
            <a:r>
              <a:rPr sz="1300" b="0" i="0">
                <a:solidFill>
                  <a:srgbClr val="E5C07B"/>
                </a:solidFill>
                <a:latin typeface="Consolas"/>
                <a:ea typeface="Consolas"/>
              </a:rPr>
              <a:t>&lt;h2 style="font-size: 1.5rem;"&gt;</a:t>
            </a:r>
          </a:p>
          <a:p>
            <a:pPr>
              <a:spcAft>
                <a:spcPts val="350"/>
              </a:spcAft>
            </a:pPr>
            <a:r>
              <a:rPr sz="1300" b="0" i="0">
                <a:solidFill>
                  <a:srgbClr val="C678DD"/>
                </a:solidFill>
                <a:latin typeface="Consolas"/>
                <a:ea typeface="Consolas"/>
              </a:rPr>
              <a:t>&lt;h1 style="font-size: 10vw;"&gt;</a:t>
            </a:r>
          </a:p>
          <a:p>
            <a:pPr>
              <a:spcAft>
                <a:spcPts val="350"/>
              </a:spcAft>
            </a:pPr>
            <a:r>
              <a:rPr sz="1300" b="0" i="0">
                <a:solidFill>
                  <a:srgbClr val="7F8C98"/>
                </a:solidFill>
                <a:latin typeface="Consolas"/>
                <a:ea typeface="Consolas"/>
              </a:rPr>
              <a:t/>
            </a:r>
          </a:p>
          <a:p>
            <a:pPr>
              <a:spcAft>
                <a:spcPts val="350"/>
              </a:spcAft>
            </a:pPr>
            <a:r>
              <a:rPr sz="1300" b="0" i="0">
                <a:solidFill>
                  <a:srgbClr val="7F8C98"/>
                </a:solidFill>
                <a:latin typeface="Consolas"/>
                <a:ea typeface="Consolas"/>
              </a:rPr>
              <a:t>&lt;!-- em and rem keep text scalable for everyone --&gt;</a:t>
            </a:r>
          </a:p>
        </p:txBody>
      </p:sp>
      <p:sp>
        <p:nvSpPr>
          <p:cNvPr id="9" name="Rounded Rectangle 8"/>
          <p:cNvSpPr/>
          <p:nvPr/>
        </p:nvSpPr>
        <p:spPr>
          <a:xfrm>
            <a:off x="5836615" y="4800600"/>
            <a:ext cx="5806440" cy="475488"/>
          </a:xfrm>
          <a:prstGeom prst="roundRect">
            <a:avLst>
              <a:gd name="adj" fmla="val 10000"/>
            </a:avLst>
          </a:prstGeom>
          <a:solidFill>
            <a:srgbClr val="F0F5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092647" y="4919472"/>
            <a:ext cx="5294375" cy="274320"/>
          </a:xfrm>
          <a:prstGeom prst="rect">
            <a:avLst/>
          </a:prstGeom>
          <a:noFill/>
        </p:spPr>
        <p:txBody>
          <a:bodyPr wrap="square" anchor="t" lIns="0" rIns="0" tIns="0" bIns="0">
            <a:spAutoFit/>
          </a:bodyPr>
          <a:lstStyle/>
          <a:p>
            <a:pPr algn="l">
              <a:lnSpc>
                <a:spcPct val="110000"/>
              </a:lnSpc>
              <a:spcAft>
                <a:spcPts val="400"/>
              </a:spcAft>
            </a:pPr>
            <a:r>
              <a:rPr sz="1050" b="1" i="0">
                <a:solidFill>
                  <a:srgbClr val="0E3F8C"/>
                </a:solidFill>
                <a:latin typeface="Calibri"/>
                <a:ea typeface="Calibri"/>
              </a:rPr>
              <a:t>open in editor →  </a:t>
            </a:r>
            <a:r>
              <a:rPr sz="1050" b="0" i="0">
                <a:solidFill>
                  <a:srgbClr val="3D7BD9"/>
                </a:solidFill>
                <a:latin typeface="Consolas"/>
                <a:ea typeface="Consolas"/>
                <a:hlinkClick r:id="rId2"/>
                <a:extLst>
                  <a:ext uri="{A12FA001-AC4F-418D-AE19-62706E023703}">
                    <ahyp:hlinkClr xmlns:ahyp="http://schemas.microsoft.com/office/drawing/2018/hyperlinkcolor" val="tx"/>
                  </a:ext>
                </a:extLst>
              </a:rPr>
              <a:t>editor.html?example=css-styling/font</a:t>
            </a:r>
          </a:p>
        </p:txBody>
      </p:sp>
      <p:sp>
        <p:nvSpPr>
          <p:cNvPr id="11" name="Rounded Rectangle 10"/>
          <p:cNvSpPr/>
          <p:nvPr/>
        </p:nvSpPr>
        <p:spPr>
          <a:xfrm>
            <a:off x="548640" y="5943600"/>
            <a:ext cx="11094415" cy="475488"/>
          </a:xfrm>
          <a:prstGeom prst="roundRect">
            <a:avLst>
              <a:gd name="adj" fmla="val 10000"/>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04672" y="5943600"/>
            <a:ext cx="10591495" cy="475488"/>
          </a:xfrm>
          <a:prstGeom prst="rect">
            <a:avLst/>
          </a:prstGeom>
          <a:noFill/>
        </p:spPr>
        <p:txBody>
          <a:bodyPr wrap="square" anchor="ctr" lIns="0" rIns="0" tIns="0" bIns="0">
            <a:spAutoFit/>
          </a:bodyPr>
          <a:lstStyle/>
          <a:p>
            <a:pPr algn="l">
              <a:lnSpc>
                <a:spcPct val="110000"/>
              </a:lnSpc>
              <a:spcAft>
                <a:spcPts val="400"/>
              </a:spcAft>
            </a:pPr>
            <a:r>
              <a:rPr sz="1400" b="1" i="0">
                <a:solidFill>
                  <a:srgbClr val="FFFFFF"/>
                </a:solidFill>
                <a:latin typeface="Calibri"/>
                <a:ea typeface="Calibri"/>
              </a:rPr>
              <a:t>Relative sizes let users (and their browsers) resize text — an accessibility win.</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66928"/>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6979615" cy="365760"/>
          </a:xfrm>
          <a:prstGeom prst="rect">
            <a:avLst/>
          </a:prstGeom>
          <a:noFill/>
        </p:spPr>
        <p:txBody>
          <a:bodyPr wrap="square" anchor="ctr" lIns="0" rIns="0" tIns="0" bIns="0">
            <a:spAutoFit/>
          </a:bodyPr>
          <a:lstStyle/>
          <a:p>
            <a:pPr algn="l">
              <a:lnSpc>
                <a:spcPct val="110000"/>
              </a:lnSpc>
              <a:spcAft>
                <a:spcPts val="400"/>
              </a:spcAft>
            </a:pPr>
            <a:r>
              <a:rPr sz="2100" b="1" i="0">
                <a:solidFill>
                  <a:srgbClr val="FFFFFF"/>
                </a:solidFill>
                <a:latin typeface="Calibri"/>
                <a:ea typeface="Calibri"/>
              </a:rPr>
              <a:t>font-style, weight &amp; variant</a:t>
            </a:r>
          </a:p>
        </p:txBody>
      </p:sp>
      <p:sp>
        <p:nvSpPr>
          <p:cNvPr id="4" name="TextBox 3"/>
          <p:cNvSpPr txBox="1"/>
          <p:nvPr/>
        </p:nvSpPr>
        <p:spPr>
          <a:xfrm>
            <a:off x="7436815" y="109728"/>
            <a:ext cx="4206240" cy="365760"/>
          </a:xfrm>
          <a:prstGeom prst="rect">
            <a:avLst/>
          </a:prstGeom>
          <a:noFill/>
        </p:spPr>
        <p:txBody>
          <a:bodyPr wrap="square" anchor="ctr" lIns="0" rIns="0" tIns="0" bIns="0">
            <a:spAutoFit/>
          </a:bodyPr>
          <a:lstStyle/>
          <a:p>
            <a:pPr algn="r">
              <a:lnSpc>
                <a:spcPct val="110000"/>
              </a:lnSpc>
              <a:spcAft>
                <a:spcPts val="400"/>
              </a:spcAft>
            </a:pPr>
            <a:r>
              <a:rPr sz="1100" b="1" i="0">
                <a:solidFill>
                  <a:srgbClr val="B9CDEE"/>
                </a:solidFill>
                <a:latin typeface="Calibri"/>
                <a:ea typeface="Calibri"/>
              </a:rPr>
              <a:t>COMP3421 · Font</a:t>
            </a:r>
          </a:p>
        </p:txBody>
      </p:sp>
      <p:sp>
        <p:nvSpPr>
          <p:cNvPr id="5" name="TextBox 4"/>
          <p:cNvSpPr txBox="1"/>
          <p:nvPr/>
        </p:nvSpPr>
        <p:spPr>
          <a:xfrm>
            <a:off x="548640" y="932688"/>
            <a:ext cx="4809744" cy="4599432"/>
          </a:xfrm>
          <a:prstGeom prst="rect">
            <a:avLst/>
          </a:prstGeom>
          <a:noFill/>
        </p:spPr>
        <p:txBody>
          <a:bodyPr wrap="square" lIns="0" rIns="0" tIns="0" bIns="0">
            <a:normAutofit/>
          </a:bodyPr>
          <a:lstStyle/>
          <a:p>
            <a:pPr marL="256032" indent="-237744">
              <a:lnSpc>
                <a:spcPct val="112000"/>
              </a:lnSpc>
              <a:spcAft>
                <a:spcPts val="2200"/>
              </a:spcAft>
              <a:buClr>
                <a:srgbClr val="1E4FA8"/>
              </a:buClr>
              <a:buSzPct val="90000"/>
              <a:buFont typeface="Arial"/>
              <a:buChar char="▪"/>
            </a:pPr>
            <a:r>
              <a:rPr sz="1800" b="1" i="0">
                <a:solidFill>
                  <a:srgbClr val="B8860B"/>
                </a:solidFill>
                <a:latin typeface="Calibri"/>
                <a:ea typeface="Calibri"/>
              </a:rPr>
              <a:t>font-style</a:t>
            </a:r>
            <a:br/>
            <a:r>
              <a:rPr sz="1300" b="0" i="0">
                <a:solidFill>
                  <a:srgbClr val="4A5568"/>
                </a:solidFill>
                <a:latin typeface="Calibri"/>
                <a:ea typeface="Calibri"/>
              </a:rPr>
              <a:t>normal, italic, oblique.</a:t>
            </a:r>
          </a:p>
          <a:p>
            <a:pPr marL="256032" indent="-237744">
              <a:lnSpc>
                <a:spcPct val="112000"/>
              </a:lnSpc>
              <a:spcAft>
                <a:spcPts val="2200"/>
              </a:spcAft>
              <a:buClr>
                <a:srgbClr val="1E4FA8"/>
              </a:buClr>
              <a:buSzPct val="90000"/>
              <a:buFont typeface="Arial"/>
              <a:buChar char="▪"/>
            </a:pPr>
            <a:r>
              <a:rPr sz="1800" b="1" i="0">
                <a:solidFill>
                  <a:srgbClr val="B8860B"/>
                </a:solidFill>
                <a:latin typeface="Calibri"/>
                <a:ea typeface="Calibri"/>
              </a:rPr>
              <a:t>font-weight</a:t>
            </a:r>
            <a:br/>
            <a:r>
              <a:rPr sz="1300" b="0" i="0">
                <a:solidFill>
                  <a:srgbClr val="4A5568"/>
                </a:solidFill>
                <a:latin typeface="Calibri"/>
                <a:ea typeface="Calibri"/>
              </a:rPr>
              <a:t>normal, bold, or a number 100–900.</a:t>
            </a:r>
          </a:p>
          <a:p>
            <a:pPr marL="256032" indent="-237744">
              <a:lnSpc>
                <a:spcPct val="112000"/>
              </a:lnSpc>
              <a:spcAft>
                <a:spcPts val="2200"/>
              </a:spcAft>
              <a:buClr>
                <a:srgbClr val="1E4FA8"/>
              </a:buClr>
              <a:buSzPct val="90000"/>
              <a:buFont typeface="Arial"/>
              <a:buChar char="▪"/>
            </a:pPr>
            <a:r>
              <a:rPr sz="1800" b="1" i="0">
                <a:solidFill>
                  <a:srgbClr val="B8860B"/>
                </a:solidFill>
                <a:latin typeface="Calibri"/>
                <a:ea typeface="Calibri"/>
              </a:rPr>
              <a:t>font-variant</a:t>
            </a:r>
            <a:br/>
            <a:r>
              <a:rPr sz="1300" b="0" i="0">
                <a:solidFill>
                  <a:srgbClr val="4A5568"/>
                </a:solidFill>
                <a:latin typeface="Calibri"/>
                <a:ea typeface="Calibri"/>
              </a:rPr>
              <a:t>small-caps — ALL CAPS at a smaller size.</a:t>
            </a:r>
          </a:p>
          <a:p>
            <a:pPr marL="256032" indent="-237744">
              <a:lnSpc>
                <a:spcPct val="112000"/>
              </a:lnSpc>
              <a:spcAft>
                <a:spcPts val="2200"/>
              </a:spcAft>
              <a:buClr>
                <a:srgbClr val="1E4FA8"/>
              </a:buClr>
              <a:buSzPct val="90000"/>
              <a:buFont typeface="Arial"/>
              <a:buChar char="▪"/>
            </a:pPr>
            <a:r>
              <a:rPr sz="1800" b="1" i="0">
                <a:solidFill>
                  <a:srgbClr val="1A2230"/>
                </a:solidFill>
                <a:latin typeface="Calibri"/>
                <a:ea typeface="Calibri"/>
              </a:rPr>
              <a:t>Combine them</a:t>
            </a:r>
            <a:br/>
            <a:r>
              <a:rPr sz="1300" b="0" i="0">
                <a:solidFill>
                  <a:srgbClr val="4A5568"/>
                </a:solidFill>
                <a:latin typeface="Calibri"/>
                <a:ea typeface="Calibri"/>
              </a:rPr>
              <a:t>Any two or three can sit together.</a:t>
            </a:r>
          </a:p>
        </p:txBody>
      </p:sp>
      <p:sp>
        <p:nvSpPr>
          <p:cNvPr id="6" name="Rounded Rectangle 5"/>
          <p:cNvSpPr/>
          <p:nvPr/>
        </p:nvSpPr>
        <p:spPr>
          <a:xfrm>
            <a:off x="5833872" y="932688"/>
            <a:ext cx="5809183" cy="4599432"/>
          </a:xfrm>
          <a:prstGeom prst="roundRect">
            <a:avLst>
              <a:gd name="adj" fmla="val 5000"/>
            </a:avLst>
          </a:prstGeom>
          <a:solidFill>
            <a:srgbClr val="F0F5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144768" y="1115568"/>
            <a:ext cx="5187391" cy="274320"/>
          </a:xfrm>
          <a:prstGeom prst="rect">
            <a:avLst/>
          </a:prstGeom>
          <a:noFill/>
        </p:spPr>
        <p:txBody>
          <a:bodyPr wrap="square" anchor="t" lIns="0" rIns="0" tIns="0" bIns="0">
            <a:spAutoFit/>
          </a:bodyPr>
          <a:lstStyle/>
          <a:p>
            <a:pPr algn="l">
              <a:lnSpc>
                <a:spcPct val="110000"/>
              </a:lnSpc>
              <a:spcAft>
                <a:spcPts val="400"/>
              </a:spcAft>
            </a:pPr>
            <a:r>
              <a:rPr sz="1150" b="1" i="0">
                <a:solidFill>
                  <a:srgbClr val="1E4FA8"/>
                </a:solidFill>
                <a:latin typeface="Calibri"/>
                <a:ea typeface="Calibri"/>
              </a:rPr>
              <a:t>One element, three properties</a:t>
            </a:r>
            <a:r>
              <a:rPr sz="1100" b="0" i="0">
                <a:solidFill>
                  <a:srgbClr val="4A5568"/>
                </a:solidFill>
                <a:latin typeface="Calibri"/>
                <a:ea typeface="Calibri"/>
              </a:rPr>
              <a:t>   and they combine</a:t>
            </a:r>
          </a:p>
        </p:txBody>
      </p:sp>
      <p:sp>
        <p:nvSpPr>
          <p:cNvPr id="8" name="Rectangle 7"/>
          <p:cNvSpPr/>
          <p:nvPr/>
        </p:nvSpPr>
        <p:spPr>
          <a:xfrm>
            <a:off x="6163055" y="1481328"/>
            <a:ext cx="548640" cy="41148"/>
          </a:xfrm>
          <a:prstGeom prst="rect">
            <a:avLst/>
          </a:prstGeom>
          <a:solidFill>
            <a:srgbClr val="1E4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6144768" y="1645920"/>
            <a:ext cx="5187391" cy="3648456"/>
          </a:xfrm>
          <a:prstGeom prst="roundRect">
            <a:avLst>
              <a:gd name="adj" fmla="val 5000"/>
            </a:avLst>
          </a:prstGeom>
          <a:solidFill>
            <a:srgbClr val="2327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19088" y="1645920"/>
            <a:ext cx="4638751" cy="3648456"/>
          </a:xfrm>
          <a:prstGeom prst="rect">
            <a:avLst/>
          </a:prstGeom>
          <a:noFill/>
        </p:spPr>
        <p:txBody>
          <a:bodyPr wrap="none" anchor="ctr" lIns="0" rIns="0" tIns="0" bIns="0">
            <a:spAutoFit/>
          </a:bodyPr>
          <a:lstStyle/>
          <a:p>
            <a:pPr algn="l">
              <a:lnSpc>
                <a:spcPct val="135000"/>
              </a:lnSpc>
              <a:spcAft>
                <a:spcPts val="900"/>
              </a:spcAft>
            </a:pPr>
            <a:r>
              <a:rPr sz="1600" b="0" i="0">
                <a:solidFill>
                  <a:srgbClr val="61AFEF"/>
                </a:solidFill>
                <a:latin typeface="Consolas"/>
                <a:ea typeface="Consolas"/>
              </a:rPr>
              <a:t>&lt;p </a:t>
            </a:r>
            <a:r>
              <a:rPr sz="1600" b="0" i="0">
                <a:solidFill>
                  <a:srgbClr val="E5C07B"/>
                </a:solidFill>
                <a:latin typeface="Consolas"/>
                <a:ea typeface="Consolas"/>
              </a:rPr>
              <a:t>style="</a:t>
            </a:r>
            <a:r>
              <a:rPr sz="1600" b="0" i="0">
                <a:solidFill>
                  <a:srgbClr val="98C379"/>
                </a:solidFill>
                <a:latin typeface="Consolas"/>
                <a:ea typeface="Consolas"/>
              </a:rPr>
              <a:t>font-style: italic;</a:t>
            </a:r>
          </a:p>
          <a:p>
            <a:pPr algn="l">
              <a:lnSpc>
                <a:spcPct val="135000"/>
              </a:lnSpc>
              <a:spcAft>
                <a:spcPts val="900"/>
              </a:spcAft>
            </a:pPr>
            <a:r>
              <a:rPr sz="1600" b="0" i="0">
                <a:solidFill>
                  <a:srgbClr val="98C379"/>
                </a:solidFill>
                <a:latin typeface="Consolas"/>
                <a:ea typeface="Consolas"/>
              </a:rPr>
              <a:t>          font-weight: 700;</a:t>
            </a:r>
          </a:p>
          <a:p>
            <a:pPr algn="l">
              <a:lnSpc>
                <a:spcPct val="135000"/>
              </a:lnSpc>
              <a:spcAft>
                <a:spcPts val="900"/>
              </a:spcAft>
            </a:pPr>
            <a:r>
              <a:rPr sz="1600" b="0" i="0">
                <a:solidFill>
                  <a:srgbClr val="98C379"/>
                </a:solidFill>
                <a:latin typeface="Consolas"/>
                <a:ea typeface="Consolas"/>
              </a:rPr>
              <a:t>          font-variant: small-caps;</a:t>
            </a:r>
            <a:r>
              <a:rPr sz="1600" b="0" i="0">
                <a:solidFill>
                  <a:srgbClr val="E5C07B"/>
                </a:solidFill>
                <a:latin typeface="Consolas"/>
                <a:ea typeface="Consolas"/>
              </a:rPr>
              <a:t>"&gt;</a:t>
            </a:r>
          </a:p>
          <a:p>
            <a:pPr algn="l">
              <a:lnSpc>
                <a:spcPct val="135000"/>
              </a:lnSpc>
              <a:spcAft>
                <a:spcPts val="900"/>
              </a:spcAft>
            </a:pPr>
            <a:r>
              <a:rPr sz="1600" b="0" i="0">
                <a:solidFill>
                  <a:srgbClr val="61AFEF"/>
                </a:solidFill>
                <a:latin typeface="Consolas"/>
                <a:ea typeface="Consolas"/>
              </a:rPr>
              <a:t>  all three</a:t>
            </a:r>
          </a:p>
          <a:p>
            <a:pPr algn="l">
              <a:lnSpc>
                <a:spcPct val="135000"/>
              </a:lnSpc>
              <a:spcAft>
                <a:spcPts val="900"/>
              </a:spcAft>
            </a:pPr>
            <a:r>
              <a:rPr sz="1600" b="0" i="0">
                <a:solidFill>
                  <a:srgbClr val="61AFEF"/>
                </a:solidFill>
                <a:latin typeface="Consolas"/>
                <a:ea typeface="Consolas"/>
              </a:rPr>
              <a:t>&lt;/p&gt;</a:t>
            </a:r>
          </a:p>
          <a:p>
            <a:pPr algn="l">
              <a:lnSpc>
                <a:spcPct val="135000"/>
              </a:lnSpc>
              <a:spcAft>
                <a:spcPts val="900"/>
              </a:spcAft>
            </a:pPr>
            <a:r>
              <a:rPr sz="1600" b="0" i="0">
                <a:solidFill>
                  <a:srgbClr val="7F8C98"/>
                </a:solidFill>
                <a:latin typeface="Consolas"/>
                <a:ea typeface="Consolas"/>
              </a:rPr>
              <a:t>&lt;!-- any one of the three</a:t>
            </a:r>
          </a:p>
          <a:p>
            <a:pPr algn="l">
              <a:lnSpc>
                <a:spcPct val="135000"/>
              </a:lnSpc>
              <a:spcAft>
                <a:spcPts val="900"/>
              </a:spcAft>
            </a:pPr>
            <a:r>
              <a:rPr sz="1600" b="0" i="0">
                <a:solidFill>
                  <a:srgbClr val="7F8C98"/>
                </a:solidFill>
                <a:latin typeface="Consolas"/>
                <a:ea typeface="Consolas"/>
              </a:rPr>
              <a:t>     can be left out --&gt;</a:t>
            </a:r>
          </a:p>
        </p:txBody>
      </p:sp>
      <p:sp>
        <p:nvSpPr>
          <p:cNvPr id="11" name="Rounded Rectangle 10"/>
          <p:cNvSpPr/>
          <p:nvPr/>
        </p:nvSpPr>
        <p:spPr>
          <a:xfrm>
            <a:off x="548640" y="5577840"/>
            <a:ext cx="11094415" cy="713232"/>
          </a:xfrm>
          <a:prstGeom prst="roundRect">
            <a:avLst>
              <a:gd name="adj" fmla="val 8000"/>
            </a:avLst>
          </a:prstGeom>
          <a:solidFill>
            <a:srgbClr val="1A22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68680" y="5696712"/>
            <a:ext cx="10454335" cy="256032"/>
          </a:xfrm>
          <a:prstGeom prst="rect">
            <a:avLst/>
          </a:prstGeom>
          <a:noFill/>
        </p:spPr>
        <p:txBody>
          <a:bodyPr wrap="square" anchor="t" lIns="0" rIns="0" tIns="0" bIns="0">
            <a:spAutoFit/>
          </a:bodyPr>
          <a:lstStyle/>
          <a:p>
            <a:pPr algn="l">
              <a:lnSpc>
                <a:spcPct val="110000"/>
              </a:lnSpc>
              <a:spcAft>
                <a:spcPts val="400"/>
              </a:spcAft>
            </a:pPr>
            <a:r>
              <a:rPr sz="1100" b="1" i="0">
                <a:solidFill>
                  <a:srgbClr val="9DC0EE"/>
                </a:solidFill>
                <a:latin typeface="Calibri"/>
                <a:ea typeface="Calibri"/>
              </a:rPr>
              <a:t>Bold italic, small-caps heading   </a:t>
            </a:r>
            <a:r>
              <a:rPr sz="1100" b="1" i="0">
                <a:solidFill>
                  <a:srgbClr val="61AFEF"/>
                </a:solidFill>
                <a:latin typeface="Calibri"/>
                <a:ea typeface="Calibri"/>
                <a:hlinkClick r:id="rId2"/>
                <a:extLst>
                  <a:ext uri="{A12FA001-AC4F-418D-AE19-62706E023703}">
                    <ahyp:hlinkClr xmlns:ahyp="http://schemas.microsoft.com/office/drawing/2018/hyperlinkcolor" val="tx"/>
                  </a:ext>
                </a:extLst>
              </a:rPr>
              <a:t>↗ editor.html?example=css-styling/font</a:t>
            </a:r>
          </a:p>
        </p:txBody>
      </p:sp>
      <p:sp>
        <p:nvSpPr>
          <p:cNvPr id="13" name="TextBox 12"/>
          <p:cNvSpPr txBox="1"/>
          <p:nvPr/>
        </p:nvSpPr>
        <p:spPr>
          <a:xfrm>
            <a:off x="868680" y="5961888"/>
            <a:ext cx="10454335" cy="274320"/>
          </a:xfrm>
          <a:prstGeom prst="rect">
            <a:avLst/>
          </a:prstGeom>
          <a:noFill/>
        </p:spPr>
        <p:txBody>
          <a:bodyPr wrap="square" anchor="t" lIns="0" rIns="0" tIns="0" bIns="0">
            <a:spAutoFit/>
          </a:bodyPr>
          <a:lstStyle/>
          <a:p>
            <a:pPr algn="l">
              <a:lnSpc>
                <a:spcPct val="110000"/>
              </a:lnSpc>
              <a:spcAft>
                <a:spcPts val="400"/>
              </a:spcAft>
            </a:pPr>
            <a:r>
              <a:rPr sz="1350" b="0" i="0">
                <a:solidFill>
                  <a:srgbClr val="98C379"/>
                </a:solidFill>
                <a:latin typeface="Consolas"/>
                <a:ea typeface="Consolas"/>
              </a:rPr>
              <a:t>&lt;h1 style="font-weight: bold; font-style: italic; font-variant: small-caps;"&gt;</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66928"/>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6979615" cy="365760"/>
          </a:xfrm>
          <a:prstGeom prst="rect">
            <a:avLst/>
          </a:prstGeom>
          <a:noFill/>
        </p:spPr>
        <p:txBody>
          <a:bodyPr wrap="square" anchor="ctr" lIns="0" rIns="0" tIns="0" bIns="0">
            <a:spAutoFit/>
          </a:bodyPr>
          <a:lstStyle/>
          <a:p>
            <a:pPr algn="l">
              <a:lnSpc>
                <a:spcPct val="110000"/>
              </a:lnSpc>
              <a:spcAft>
                <a:spcPts val="400"/>
              </a:spcAft>
            </a:pPr>
            <a:r>
              <a:rPr sz="2100" b="1" i="0">
                <a:solidFill>
                  <a:srgbClr val="FFFFFF"/>
                </a:solidFill>
                <a:latin typeface="Calibri"/>
                <a:ea typeface="Calibri"/>
              </a:rPr>
              <a:t>The font Shorthand</a:t>
            </a:r>
          </a:p>
        </p:txBody>
      </p:sp>
      <p:sp>
        <p:nvSpPr>
          <p:cNvPr id="4" name="TextBox 3"/>
          <p:cNvSpPr txBox="1"/>
          <p:nvPr/>
        </p:nvSpPr>
        <p:spPr>
          <a:xfrm>
            <a:off x="7436815" y="109728"/>
            <a:ext cx="4206240" cy="365760"/>
          </a:xfrm>
          <a:prstGeom prst="rect">
            <a:avLst/>
          </a:prstGeom>
          <a:noFill/>
        </p:spPr>
        <p:txBody>
          <a:bodyPr wrap="square" anchor="ctr" lIns="0" rIns="0" tIns="0" bIns="0">
            <a:spAutoFit/>
          </a:bodyPr>
          <a:lstStyle/>
          <a:p>
            <a:pPr algn="r">
              <a:lnSpc>
                <a:spcPct val="110000"/>
              </a:lnSpc>
              <a:spcAft>
                <a:spcPts val="400"/>
              </a:spcAft>
            </a:pPr>
            <a:r>
              <a:rPr sz="1100" b="1" i="0">
                <a:solidFill>
                  <a:srgbClr val="B9CDEE"/>
                </a:solidFill>
                <a:latin typeface="Calibri"/>
                <a:ea typeface="Calibri"/>
              </a:rPr>
              <a:t>COMP3421 · Font</a:t>
            </a:r>
          </a:p>
        </p:txBody>
      </p:sp>
      <p:sp>
        <p:nvSpPr>
          <p:cNvPr id="5" name="TextBox 4"/>
          <p:cNvSpPr txBox="1"/>
          <p:nvPr/>
        </p:nvSpPr>
        <p:spPr>
          <a:xfrm>
            <a:off x="548640" y="978408"/>
            <a:ext cx="4602175" cy="4937760"/>
          </a:xfrm>
          <a:prstGeom prst="rect">
            <a:avLst/>
          </a:prstGeom>
          <a:noFill/>
        </p:spPr>
        <p:txBody>
          <a:bodyPr wrap="square" lIns="0" rIns="0" tIns="0" bIns="0">
            <a:normAutofit/>
          </a:bodyPr>
          <a:lstStyle/>
          <a:p>
            <a:pPr marL="274320" indent="-237744">
              <a:lnSpc>
                <a:spcPct val="112000"/>
              </a:lnSpc>
              <a:spcAft>
                <a:spcPts val="1000"/>
              </a:spcAft>
              <a:buClr>
                <a:srgbClr val="1E4FA8"/>
              </a:buClr>
              <a:buSzPct val="90000"/>
              <a:buFont typeface="Arial"/>
              <a:buChar char="▪"/>
            </a:pPr>
            <a:r>
              <a:rPr sz="1550" b="1" i="0">
                <a:solidFill>
                  <a:srgbClr val="B8860B"/>
                </a:solidFill>
                <a:latin typeface="Calibri"/>
                <a:ea typeface="Calibri"/>
              </a:rPr>
              <a:t>font</a:t>
            </a:r>
            <a:br/>
            <a:r>
              <a:rPr sz="1350" b="0" i="0">
                <a:solidFill>
                  <a:srgbClr val="4A5568"/>
                </a:solidFill>
                <a:latin typeface="Calibri"/>
                <a:ea typeface="Calibri"/>
              </a:rPr>
              <a:t>One property, several values.</a:t>
            </a:r>
          </a:p>
          <a:p>
            <a:pPr marL="274320" indent="-237744">
              <a:lnSpc>
                <a:spcPct val="112000"/>
              </a:lnSpc>
              <a:spcAft>
                <a:spcPts val="1000"/>
              </a:spcAft>
              <a:buClr>
                <a:srgbClr val="1E4FA8"/>
              </a:buClr>
              <a:buSzPct val="90000"/>
              <a:buFont typeface="Arial"/>
              <a:buChar char="▪"/>
            </a:pPr>
            <a:r>
              <a:rPr sz="1550" b="1" i="0">
                <a:solidFill>
                  <a:srgbClr val="1A2230"/>
                </a:solidFill>
                <a:latin typeface="Calibri"/>
                <a:ea typeface="Calibri"/>
              </a:rPr>
              <a:t>The order</a:t>
            </a:r>
            <a:br/>
            <a:r>
              <a:rPr sz="1350" b="0" i="0">
                <a:solidFill>
                  <a:srgbClr val="B8860B"/>
                </a:solidFill>
                <a:latin typeface="Consolas"/>
                <a:ea typeface="Consolas"/>
              </a:rPr>
              <a:t>style</a:t>
            </a:r>
            <a:r>
              <a:rPr sz="1350" b="0" i="0">
                <a:solidFill>
                  <a:srgbClr val="4A5568"/>
                </a:solidFill>
                <a:latin typeface="Calibri"/>
                <a:ea typeface="Calibri"/>
              </a:rPr>
              <a:t>, weight, size, family.</a:t>
            </a:r>
          </a:p>
          <a:p>
            <a:pPr marL="274320" indent="-237744">
              <a:lnSpc>
                <a:spcPct val="112000"/>
              </a:lnSpc>
              <a:spcAft>
                <a:spcPts val="1000"/>
              </a:spcAft>
              <a:buClr>
                <a:srgbClr val="1E4FA8"/>
              </a:buClr>
              <a:buSzPct val="90000"/>
              <a:buFont typeface="Arial"/>
              <a:buChar char="▪"/>
            </a:pPr>
            <a:r>
              <a:rPr sz="1550" b="1" i="0">
                <a:solidFill>
                  <a:srgbClr val="1A2230"/>
                </a:solidFill>
                <a:latin typeface="Calibri"/>
                <a:ea typeface="Calibri"/>
              </a:rPr>
              <a:t>Required</a:t>
            </a:r>
            <a:br/>
            <a:r>
              <a:rPr sz="1350" b="0" i="0">
                <a:solidFill>
                  <a:srgbClr val="4A5568"/>
                </a:solidFill>
                <a:latin typeface="Calibri"/>
                <a:ea typeface="Calibri"/>
              </a:rPr>
              <a:t>size and family — the rest are optional.</a:t>
            </a:r>
          </a:p>
          <a:p>
            <a:pPr marL="274320" indent="-237744">
              <a:lnSpc>
                <a:spcPct val="112000"/>
              </a:lnSpc>
              <a:spcAft>
                <a:spcPts val="1000"/>
              </a:spcAft>
              <a:buClr>
                <a:srgbClr val="1E4FA8"/>
              </a:buClr>
              <a:buSzPct val="90000"/>
              <a:buFont typeface="Arial"/>
              <a:buChar char="▪"/>
            </a:pPr>
            <a:r>
              <a:rPr sz="1550" b="1" i="0">
                <a:solidFill>
                  <a:srgbClr val="1A2230"/>
                </a:solidFill>
                <a:latin typeface="Calibri"/>
                <a:ea typeface="Calibri"/>
              </a:rPr>
              <a:t>Compact vs clear</a:t>
            </a:r>
            <a:br/>
            <a:r>
              <a:rPr sz="1350" b="0" i="0">
                <a:solidFill>
                  <a:srgbClr val="4A5568"/>
                </a:solidFill>
                <a:latin typeface="Calibri"/>
                <a:ea typeface="Calibri"/>
              </a:rPr>
              <a:t>Shorthand is terse; longhand is more readable.</a:t>
            </a:r>
          </a:p>
        </p:txBody>
      </p:sp>
      <p:sp>
        <p:nvSpPr>
          <p:cNvPr id="6" name="Rounded Rectangle 5"/>
          <p:cNvSpPr/>
          <p:nvPr/>
        </p:nvSpPr>
        <p:spPr>
          <a:xfrm>
            <a:off x="5836615" y="978408"/>
            <a:ext cx="5806440" cy="3703320"/>
          </a:xfrm>
          <a:prstGeom prst="roundRect">
            <a:avLst>
              <a:gd name="adj" fmla="val 5000"/>
            </a:avLst>
          </a:prstGeom>
          <a:solidFill>
            <a:srgbClr val="2327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129223" y="1133856"/>
            <a:ext cx="5257800" cy="292608"/>
          </a:xfrm>
          <a:prstGeom prst="rect">
            <a:avLst/>
          </a:prstGeom>
          <a:noFill/>
        </p:spPr>
        <p:txBody>
          <a:bodyPr wrap="square" anchor="t" lIns="0" rIns="0" tIns="0" bIns="0">
            <a:spAutoFit/>
          </a:bodyPr>
          <a:lstStyle/>
          <a:p>
            <a:pPr algn="l">
              <a:lnSpc>
                <a:spcPct val="110000"/>
              </a:lnSpc>
              <a:spcAft>
                <a:spcPts val="400"/>
              </a:spcAft>
            </a:pPr>
            <a:r>
              <a:rPr sz="1100" b="1" i="0">
                <a:solidFill>
                  <a:srgbClr val="7F8C98"/>
                </a:solidFill>
                <a:latin typeface="Calibri"/>
                <a:ea typeface="Calibri"/>
              </a:rPr>
              <a:t>LOOK INSIDE — CODE</a:t>
            </a:r>
          </a:p>
        </p:txBody>
      </p:sp>
      <p:sp>
        <p:nvSpPr>
          <p:cNvPr id="8" name="TextBox 7"/>
          <p:cNvSpPr txBox="1"/>
          <p:nvPr/>
        </p:nvSpPr>
        <p:spPr>
          <a:xfrm>
            <a:off x="6129223" y="1463040"/>
            <a:ext cx="5221224" cy="3108960"/>
          </a:xfrm>
          <a:prstGeom prst="rect">
            <a:avLst/>
          </a:prstGeom>
          <a:noFill/>
        </p:spPr>
        <p:txBody>
          <a:bodyPr wrap="none" lIns="0" rIns="0" tIns="0" bIns="0">
            <a:spAutoFit/>
          </a:bodyPr>
          <a:lstStyle/>
          <a:p>
            <a:pPr>
              <a:spcAft>
                <a:spcPts val="350"/>
              </a:spcAft>
            </a:pPr>
            <a:r>
              <a:rPr sz="1300" b="0" i="0">
                <a:solidFill>
                  <a:srgbClr val="61AFEF"/>
                </a:solidFill>
                <a:latin typeface="Consolas"/>
                <a:ea typeface="Consolas"/>
              </a:rPr>
              <a:t>&lt;p style="font: 15px Arial, sans-serif;"&gt;</a:t>
            </a:r>
          </a:p>
          <a:p>
            <a:pPr>
              <a:spcAft>
                <a:spcPts val="350"/>
              </a:spcAft>
            </a:pPr>
            <a:r>
              <a:rPr sz="1300" b="0" i="0">
                <a:solidFill>
                  <a:srgbClr val="98C379"/>
                </a:solidFill>
                <a:latin typeface="Consolas"/>
                <a:ea typeface="Consolas"/>
              </a:rPr>
              <a:t>&lt;p style="font: italic bold 12px Georgia, serif;"&gt;</a:t>
            </a:r>
          </a:p>
          <a:p>
            <a:pPr>
              <a:spcAft>
                <a:spcPts val="350"/>
              </a:spcAft>
            </a:pPr>
            <a:r>
              <a:rPr sz="1300" b="0" i="0">
                <a:solidFill>
                  <a:srgbClr val="7F8C98"/>
                </a:solidFill>
                <a:latin typeface="Consolas"/>
                <a:ea typeface="Consolas"/>
              </a:rPr>
              <a:t/>
            </a:r>
          </a:p>
          <a:p>
            <a:pPr>
              <a:spcAft>
                <a:spcPts val="350"/>
              </a:spcAft>
            </a:pPr>
            <a:r>
              <a:rPr sz="1300" b="0" i="0">
                <a:solidFill>
                  <a:srgbClr val="7F8C98"/>
                </a:solidFill>
                <a:latin typeface="Consolas"/>
                <a:ea typeface="Consolas"/>
              </a:rPr>
              <a:t>&lt;!-- longhand for the same effect --&gt;</a:t>
            </a:r>
          </a:p>
          <a:p>
            <a:pPr>
              <a:spcAft>
                <a:spcPts val="350"/>
              </a:spcAft>
            </a:pPr>
            <a:r>
              <a:rPr sz="1300" b="0" i="0">
                <a:solidFill>
                  <a:srgbClr val="E5C07B"/>
                </a:solidFill>
                <a:latin typeface="Consolas"/>
                <a:ea typeface="Consolas"/>
              </a:rPr>
              <a:t>&lt;p style="font-style: italic;</a:t>
            </a:r>
          </a:p>
          <a:p>
            <a:pPr>
              <a:spcAft>
                <a:spcPts val="350"/>
              </a:spcAft>
            </a:pPr>
            <a:r>
              <a:rPr sz="1300" b="0" i="0">
                <a:solidFill>
                  <a:srgbClr val="E5C07B"/>
                </a:solidFill>
                <a:latin typeface="Consolas"/>
                <a:ea typeface="Consolas"/>
              </a:rPr>
              <a:t>          font-weight: bold;</a:t>
            </a:r>
          </a:p>
          <a:p>
            <a:pPr>
              <a:spcAft>
                <a:spcPts val="350"/>
              </a:spcAft>
            </a:pPr>
            <a:r>
              <a:rPr sz="1300" b="0" i="0">
                <a:solidFill>
                  <a:srgbClr val="E5C07B"/>
                </a:solidFill>
                <a:latin typeface="Consolas"/>
                <a:ea typeface="Consolas"/>
              </a:rPr>
              <a:t>          font-size: 12px;</a:t>
            </a:r>
          </a:p>
          <a:p>
            <a:pPr>
              <a:spcAft>
                <a:spcPts val="350"/>
              </a:spcAft>
            </a:pPr>
            <a:r>
              <a:rPr sz="1300" b="0" i="0">
                <a:solidFill>
                  <a:srgbClr val="E5C07B"/>
                </a:solidFill>
                <a:latin typeface="Consolas"/>
                <a:ea typeface="Consolas"/>
              </a:rPr>
              <a:t>          font-family: Georgia, serif;"&gt;</a:t>
            </a:r>
          </a:p>
        </p:txBody>
      </p:sp>
      <p:sp>
        <p:nvSpPr>
          <p:cNvPr id="9" name="Rounded Rectangle 8"/>
          <p:cNvSpPr/>
          <p:nvPr/>
        </p:nvSpPr>
        <p:spPr>
          <a:xfrm>
            <a:off x="5836615" y="4800600"/>
            <a:ext cx="5806440" cy="475488"/>
          </a:xfrm>
          <a:prstGeom prst="roundRect">
            <a:avLst>
              <a:gd name="adj" fmla="val 10000"/>
            </a:avLst>
          </a:prstGeom>
          <a:solidFill>
            <a:srgbClr val="F0F5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092647" y="4919472"/>
            <a:ext cx="5294375" cy="274320"/>
          </a:xfrm>
          <a:prstGeom prst="rect">
            <a:avLst/>
          </a:prstGeom>
          <a:noFill/>
        </p:spPr>
        <p:txBody>
          <a:bodyPr wrap="square" anchor="t" lIns="0" rIns="0" tIns="0" bIns="0">
            <a:spAutoFit/>
          </a:bodyPr>
          <a:lstStyle/>
          <a:p>
            <a:pPr algn="l">
              <a:lnSpc>
                <a:spcPct val="110000"/>
              </a:lnSpc>
              <a:spcAft>
                <a:spcPts val="400"/>
              </a:spcAft>
            </a:pPr>
            <a:r>
              <a:rPr sz="1050" b="1" i="0">
                <a:solidFill>
                  <a:srgbClr val="0E3F8C"/>
                </a:solidFill>
                <a:latin typeface="Calibri"/>
                <a:ea typeface="Calibri"/>
              </a:rPr>
              <a:t>open in editor →  </a:t>
            </a:r>
            <a:r>
              <a:rPr sz="1050" b="0" i="0">
                <a:solidFill>
                  <a:srgbClr val="3D7BD9"/>
                </a:solidFill>
                <a:latin typeface="Consolas"/>
                <a:ea typeface="Consolas"/>
                <a:hlinkClick r:id="rId2"/>
                <a:extLst>
                  <a:ext uri="{A12FA001-AC4F-418D-AE19-62706E023703}">
                    <ahyp:hlinkClr xmlns:ahyp="http://schemas.microsoft.com/office/drawing/2018/hyperlinkcolor" val="tx"/>
                  </a:ext>
                </a:extLst>
              </a:rPr>
              <a:t>editor.html?example=css-styling/font</a:t>
            </a:r>
          </a:p>
        </p:txBody>
      </p:sp>
      <p:sp>
        <p:nvSpPr>
          <p:cNvPr id="11" name="Rounded Rectangle 10"/>
          <p:cNvSpPr/>
          <p:nvPr/>
        </p:nvSpPr>
        <p:spPr>
          <a:xfrm>
            <a:off x="548640" y="5943600"/>
            <a:ext cx="11094415" cy="475488"/>
          </a:xfrm>
          <a:prstGeom prst="roundRect">
            <a:avLst>
              <a:gd name="adj" fmla="val 10000"/>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04672" y="5943600"/>
            <a:ext cx="10591495" cy="475488"/>
          </a:xfrm>
          <a:prstGeom prst="rect">
            <a:avLst/>
          </a:prstGeom>
          <a:noFill/>
        </p:spPr>
        <p:txBody>
          <a:bodyPr wrap="square" anchor="ctr" lIns="0" rIns="0" tIns="0" bIns="0">
            <a:spAutoFit/>
          </a:bodyPr>
          <a:lstStyle/>
          <a:p>
            <a:pPr algn="l">
              <a:lnSpc>
                <a:spcPct val="110000"/>
              </a:lnSpc>
              <a:spcAft>
                <a:spcPts val="400"/>
              </a:spcAft>
            </a:pPr>
            <a:r>
              <a:rPr sz="1400" b="1" i="0">
                <a:solidFill>
                  <a:srgbClr val="FFFFFF"/>
                </a:solidFill>
                <a:latin typeface="Calibri"/>
                <a:ea typeface="Calibri"/>
              </a:rPr>
              <a:t>Shorthand saves lines; longhand is easier to debug — know both.</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66928"/>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6979615" cy="365760"/>
          </a:xfrm>
          <a:prstGeom prst="rect">
            <a:avLst/>
          </a:prstGeom>
          <a:noFill/>
        </p:spPr>
        <p:txBody>
          <a:bodyPr wrap="square" anchor="ctr" lIns="0" rIns="0" tIns="0" bIns="0">
            <a:spAutoFit/>
          </a:bodyPr>
          <a:lstStyle/>
          <a:p>
            <a:pPr algn="l">
              <a:lnSpc>
                <a:spcPct val="110000"/>
              </a:lnSpc>
              <a:spcAft>
                <a:spcPts val="400"/>
              </a:spcAft>
            </a:pPr>
            <a:r>
              <a:rPr sz="2100" b="1" i="0">
                <a:solidFill>
                  <a:srgbClr val="FFFFFF"/>
                </a:solidFill>
                <a:latin typeface="Calibri"/>
                <a:ea typeface="Calibri"/>
              </a:rPr>
              <a:t>Custom Fonts — @font-face</a:t>
            </a:r>
          </a:p>
        </p:txBody>
      </p:sp>
      <p:sp>
        <p:nvSpPr>
          <p:cNvPr id="4" name="TextBox 3"/>
          <p:cNvSpPr txBox="1"/>
          <p:nvPr/>
        </p:nvSpPr>
        <p:spPr>
          <a:xfrm>
            <a:off x="7436815" y="109728"/>
            <a:ext cx="4206240" cy="365760"/>
          </a:xfrm>
          <a:prstGeom prst="rect">
            <a:avLst/>
          </a:prstGeom>
          <a:noFill/>
        </p:spPr>
        <p:txBody>
          <a:bodyPr wrap="square" anchor="ctr" lIns="0" rIns="0" tIns="0" bIns="0">
            <a:spAutoFit/>
          </a:bodyPr>
          <a:lstStyle/>
          <a:p>
            <a:pPr algn="r">
              <a:lnSpc>
                <a:spcPct val="110000"/>
              </a:lnSpc>
              <a:spcAft>
                <a:spcPts val="400"/>
              </a:spcAft>
            </a:pPr>
            <a:r>
              <a:rPr sz="1100" b="1" i="0">
                <a:solidFill>
                  <a:srgbClr val="B9CDEE"/>
                </a:solidFill>
                <a:latin typeface="Calibri"/>
                <a:ea typeface="Calibri"/>
              </a:rPr>
              <a:t>COMP3421 · Font</a:t>
            </a:r>
          </a:p>
        </p:txBody>
      </p:sp>
      <p:sp>
        <p:nvSpPr>
          <p:cNvPr id="5" name="TextBox 4"/>
          <p:cNvSpPr txBox="1"/>
          <p:nvPr/>
        </p:nvSpPr>
        <p:spPr>
          <a:xfrm>
            <a:off x="548640" y="978408"/>
            <a:ext cx="4602175" cy="4937760"/>
          </a:xfrm>
          <a:prstGeom prst="rect">
            <a:avLst/>
          </a:prstGeom>
          <a:noFill/>
        </p:spPr>
        <p:txBody>
          <a:bodyPr wrap="square" lIns="0" rIns="0" tIns="0" bIns="0">
            <a:normAutofit/>
          </a:bodyPr>
          <a:lstStyle/>
          <a:p>
            <a:pPr marL="274320" indent="-237744">
              <a:lnSpc>
                <a:spcPct val="112000"/>
              </a:lnSpc>
              <a:spcAft>
                <a:spcPts val="1000"/>
              </a:spcAft>
              <a:buClr>
                <a:srgbClr val="1E4FA8"/>
              </a:buClr>
              <a:buSzPct val="90000"/>
              <a:buFont typeface="Arial"/>
              <a:buChar char="▪"/>
            </a:pPr>
            <a:r>
              <a:rPr sz="1550" b="1" i="0">
                <a:solidFill>
                  <a:srgbClr val="1A2230"/>
                </a:solidFill>
                <a:latin typeface="Calibri"/>
                <a:ea typeface="Calibri"/>
              </a:rPr>
              <a:t>@font-face</a:t>
            </a:r>
            <a:br/>
            <a:r>
              <a:rPr sz="1350" b="0" i="0">
                <a:solidFill>
                  <a:srgbClr val="4A5568"/>
                </a:solidFill>
                <a:latin typeface="Calibri"/>
                <a:ea typeface="Calibri"/>
              </a:rPr>
              <a:t>Defines your own font — a file gets a </a:t>
            </a:r>
            <a:r>
              <a:rPr sz="1350" b="0" i="0">
                <a:solidFill>
                  <a:srgbClr val="B8860B"/>
                </a:solidFill>
                <a:latin typeface="Consolas"/>
                <a:ea typeface="Consolas"/>
              </a:rPr>
              <a:t>name</a:t>
            </a:r>
            <a:r>
              <a:rPr sz="1350" b="0" i="0">
                <a:solidFill>
                  <a:srgbClr val="4A5568"/>
                </a:solidFill>
                <a:latin typeface="Calibri"/>
                <a:ea typeface="Calibri"/>
              </a:rPr>
              <a:t>.</a:t>
            </a:r>
          </a:p>
          <a:p>
            <a:pPr marL="274320" indent="-237744">
              <a:lnSpc>
                <a:spcPct val="112000"/>
              </a:lnSpc>
              <a:spcAft>
                <a:spcPts val="1000"/>
              </a:spcAft>
              <a:buClr>
                <a:srgbClr val="1E4FA8"/>
              </a:buClr>
              <a:buSzPct val="90000"/>
              <a:buFont typeface="Arial"/>
              <a:buChar char="▪"/>
            </a:pPr>
            <a:r>
              <a:rPr sz="1550" b="1" i="0">
                <a:solidFill>
                  <a:srgbClr val="1A2230"/>
                </a:solidFill>
                <a:latin typeface="Calibri"/>
                <a:ea typeface="Calibri"/>
              </a:rPr>
              <a:t>font-family</a:t>
            </a:r>
            <a:br/>
            <a:r>
              <a:rPr sz="1350" b="0" i="0">
                <a:solidFill>
                  <a:srgbClr val="4A5568"/>
                </a:solidFill>
                <a:latin typeface="Calibri"/>
                <a:ea typeface="Calibri"/>
              </a:rPr>
              <a:t>The </a:t>
            </a:r>
            <a:r>
              <a:rPr sz="1350" b="0" i="0">
                <a:solidFill>
                  <a:srgbClr val="B8860B"/>
                </a:solidFill>
                <a:latin typeface="Consolas"/>
                <a:ea typeface="Consolas"/>
              </a:rPr>
              <a:t>name</a:t>
            </a:r>
            <a:r>
              <a:rPr sz="1350" b="0" i="0">
                <a:solidFill>
                  <a:srgbClr val="4A5568"/>
                </a:solidFill>
                <a:latin typeface="Calibri"/>
                <a:ea typeface="Calibri"/>
              </a:rPr>
              <a:t> you invent for the font.</a:t>
            </a:r>
          </a:p>
          <a:p>
            <a:pPr marL="274320" indent="-237744">
              <a:lnSpc>
                <a:spcPct val="112000"/>
              </a:lnSpc>
              <a:spcAft>
                <a:spcPts val="1000"/>
              </a:spcAft>
              <a:buClr>
                <a:srgbClr val="1E4FA8"/>
              </a:buClr>
              <a:buSzPct val="90000"/>
              <a:buFont typeface="Arial"/>
              <a:buChar char="▪"/>
            </a:pPr>
            <a:r>
              <a:rPr sz="1550" b="1" i="0">
                <a:solidFill>
                  <a:srgbClr val="B8860B"/>
                </a:solidFill>
                <a:latin typeface="Consolas"/>
                <a:ea typeface="Consolas"/>
              </a:rPr>
              <a:t>src</a:t>
            </a:r>
            <a:r>
              <a:rPr sz="1550" b="1" i="0">
                <a:solidFill>
                  <a:srgbClr val="1A2230"/>
                </a:solidFill>
                <a:latin typeface="Calibri"/>
                <a:ea typeface="Calibri"/>
              </a:rPr>
              <a:t>: url(…)</a:t>
            </a:r>
            <a:br/>
            <a:r>
              <a:rPr sz="1350" b="0" i="0">
                <a:solidFill>
                  <a:srgbClr val="4A5568"/>
                </a:solidFill>
                <a:latin typeface="Calibri"/>
                <a:ea typeface="Calibri"/>
              </a:rPr>
              <a:t>Where the .woff / .ttf file lives on your server.</a:t>
            </a:r>
          </a:p>
          <a:p>
            <a:pPr marL="274320" indent="-237744">
              <a:lnSpc>
                <a:spcPct val="112000"/>
              </a:lnSpc>
              <a:spcAft>
                <a:spcPts val="1000"/>
              </a:spcAft>
              <a:buClr>
                <a:srgbClr val="1E4FA8"/>
              </a:buClr>
              <a:buSzPct val="90000"/>
              <a:buFont typeface="Arial"/>
              <a:buChar char="▪"/>
            </a:pPr>
            <a:r>
              <a:rPr sz="1550" b="1" i="0">
                <a:solidFill>
                  <a:srgbClr val="1A2230"/>
                </a:solidFill>
                <a:latin typeface="Calibri"/>
                <a:ea typeface="Calibri"/>
              </a:rPr>
              <a:t>Fetched on demand</a:t>
            </a:r>
            <a:br/>
            <a:r>
              <a:rPr sz="1350" b="0" i="0">
                <a:solidFill>
                  <a:srgbClr val="4A5568"/>
                </a:solidFill>
                <a:latin typeface="Calibri"/>
                <a:ea typeface="Calibri"/>
              </a:rPr>
              <a:t>The file downloads the first time it is used.</a:t>
            </a:r>
          </a:p>
        </p:txBody>
      </p:sp>
      <p:sp>
        <p:nvSpPr>
          <p:cNvPr id="6" name="Rounded Rectangle 5"/>
          <p:cNvSpPr/>
          <p:nvPr/>
        </p:nvSpPr>
        <p:spPr>
          <a:xfrm>
            <a:off x="5836615" y="978408"/>
            <a:ext cx="5806440" cy="3703320"/>
          </a:xfrm>
          <a:prstGeom prst="roundRect">
            <a:avLst>
              <a:gd name="adj" fmla="val 5000"/>
            </a:avLst>
          </a:prstGeom>
          <a:solidFill>
            <a:srgbClr val="2327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129223" y="1133856"/>
            <a:ext cx="5257800" cy="292608"/>
          </a:xfrm>
          <a:prstGeom prst="rect">
            <a:avLst/>
          </a:prstGeom>
          <a:noFill/>
        </p:spPr>
        <p:txBody>
          <a:bodyPr wrap="square" anchor="t" lIns="0" rIns="0" tIns="0" bIns="0">
            <a:spAutoFit/>
          </a:bodyPr>
          <a:lstStyle/>
          <a:p>
            <a:pPr algn="l">
              <a:lnSpc>
                <a:spcPct val="110000"/>
              </a:lnSpc>
              <a:spcAft>
                <a:spcPts val="400"/>
              </a:spcAft>
            </a:pPr>
            <a:r>
              <a:rPr sz="1100" b="1" i="0">
                <a:solidFill>
                  <a:srgbClr val="7F8C98"/>
                </a:solidFill>
                <a:latin typeface="Calibri"/>
                <a:ea typeface="Calibri"/>
              </a:rPr>
              <a:t>LOOK INSIDE — CODE</a:t>
            </a:r>
          </a:p>
        </p:txBody>
      </p:sp>
      <p:sp>
        <p:nvSpPr>
          <p:cNvPr id="8" name="TextBox 7"/>
          <p:cNvSpPr txBox="1"/>
          <p:nvPr/>
        </p:nvSpPr>
        <p:spPr>
          <a:xfrm>
            <a:off x="6129223" y="1463040"/>
            <a:ext cx="5221224" cy="3108960"/>
          </a:xfrm>
          <a:prstGeom prst="rect">
            <a:avLst/>
          </a:prstGeom>
          <a:noFill/>
        </p:spPr>
        <p:txBody>
          <a:bodyPr wrap="none" lIns="0" rIns="0" tIns="0" bIns="0">
            <a:spAutoFit/>
          </a:bodyPr>
          <a:lstStyle/>
          <a:p>
            <a:pPr>
              <a:spcAft>
                <a:spcPts val="350"/>
              </a:spcAft>
            </a:pPr>
            <a:r>
              <a:rPr sz="1300" b="0" i="0">
                <a:solidFill>
                  <a:srgbClr val="61AFEF"/>
                </a:solidFill>
                <a:latin typeface="Consolas"/>
                <a:ea typeface="Consolas"/>
              </a:rPr>
              <a:t>@font-face {</a:t>
            </a:r>
          </a:p>
          <a:p>
            <a:pPr>
              <a:spcAft>
                <a:spcPts val="350"/>
              </a:spcAft>
            </a:pPr>
            <a:r>
              <a:rPr sz="1300" b="0" i="0">
                <a:solidFill>
                  <a:srgbClr val="98C379"/>
                </a:solidFill>
                <a:latin typeface="Consolas"/>
                <a:ea typeface="Consolas"/>
              </a:rPr>
              <a:t>  font-family: myFirstFont;</a:t>
            </a:r>
          </a:p>
          <a:p>
            <a:pPr>
              <a:spcAft>
                <a:spcPts val="350"/>
              </a:spcAft>
            </a:pPr>
            <a:r>
              <a:rPr sz="1300" b="0" i="0">
                <a:solidFill>
                  <a:srgbClr val="E5C07B"/>
                </a:solidFill>
                <a:latin typeface="Consolas"/>
                <a:ea typeface="Consolas"/>
              </a:rPr>
              <a:t>  src: url(sansation_light.woff);</a:t>
            </a:r>
          </a:p>
          <a:p>
            <a:pPr>
              <a:spcAft>
                <a:spcPts val="350"/>
              </a:spcAft>
            </a:pPr>
            <a:r>
              <a:rPr sz="1300" b="0" i="0">
                <a:solidFill>
                  <a:srgbClr val="61AFEF"/>
                </a:solidFill>
                <a:latin typeface="Consolas"/>
                <a:ea typeface="Consolas"/>
              </a:rPr>
              <a:t>}</a:t>
            </a:r>
          </a:p>
          <a:p>
            <a:pPr>
              <a:spcAft>
                <a:spcPts val="350"/>
              </a:spcAft>
            </a:pPr>
            <a:r>
              <a:rPr sz="1300" b="0" i="0">
                <a:solidFill>
                  <a:srgbClr val="7F8C98"/>
                </a:solidFill>
                <a:latin typeface="Consolas"/>
                <a:ea typeface="Consolas"/>
              </a:rPr>
              <a:t/>
            </a:r>
          </a:p>
          <a:p>
            <a:pPr>
              <a:spcAft>
                <a:spcPts val="350"/>
              </a:spcAft>
            </a:pPr>
            <a:r>
              <a:rPr sz="1300" b="0" i="0">
                <a:solidFill>
                  <a:srgbClr val="98C379"/>
                </a:solidFill>
                <a:latin typeface="Consolas"/>
                <a:ea typeface="Consolas"/>
              </a:rPr>
              <a:t>&lt;h1 style="font-family: 'myFirstFont';"&gt;Hello&lt;/h1&gt;</a:t>
            </a:r>
          </a:p>
          <a:p>
            <a:pPr>
              <a:spcAft>
                <a:spcPts val="350"/>
              </a:spcAft>
            </a:pPr>
            <a:r>
              <a:rPr sz="1300" b="0" i="0">
                <a:solidFill>
                  <a:srgbClr val="7F8C98"/>
                </a:solidFill>
                <a:latin typeface="Consolas"/>
                <a:ea typeface="Consolas"/>
              </a:rPr>
              <a:t/>
            </a:r>
          </a:p>
          <a:p>
            <a:pPr>
              <a:spcAft>
                <a:spcPts val="350"/>
              </a:spcAft>
            </a:pPr>
            <a:r>
              <a:rPr sz="1300" b="0" i="0">
                <a:solidFill>
                  <a:srgbClr val="7F8C98"/>
                </a:solidFill>
                <a:latin typeface="Consolas"/>
                <a:ea typeface="Consolas"/>
              </a:rPr>
              <a:t>&lt;!-- the browser fetches the file once, then caches it --&gt;</a:t>
            </a:r>
          </a:p>
        </p:txBody>
      </p:sp>
      <p:sp>
        <p:nvSpPr>
          <p:cNvPr id="9" name="Rounded Rectangle 8"/>
          <p:cNvSpPr/>
          <p:nvPr/>
        </p:nvSpPr>
        <p:spPr>
          <a:xfrm>
            <a:off x="5836615" y="4800600"/>
            <a:ext cx="5806440" cy="475488"/>
          </a:xfrm>
          <a:prstGeom prst="roundRect">
            <a:avLst>
              <a:gd name="adj" fmla="val 10000"/>
            </a:avLst>
          </a:prstGeom>
          <a:solidFill>
            <a:srgbClr val="F0F5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092647" y="4919472"/>
            <a:ext cx="5294375" cy="274320"/>
          </a:xfrm>
          <a:prstGeom prst="rect">
            <a:avLst/>
          </a:prstGeom>
          <a:noFill/>
        </p:spPr>
        <p:txBody>
          <a:bodyPr wrap="square" anchor="t" lIns="0" rIns="0" tIns="0" bIns="0">
            <a:spAutoFit/>
          </a:bodyPr>
          <a:lstStyle/>
          <a:p>
            <a:pPr algn="l">
              <a:lnSpc>
                <a:spcPct val="110000"/>
              </a:lnSpc>
              <a:spcAft>
                <a:spcPts val="400"/>
              </a:spcAft>
            </a:pPr>
            <a:r>
              <a:rPr sz="1050" b="1" i="0">
                <a:solidFill>
                  <a:srgbClr val="0E3F8C"/>
                </a:solidFill>
                <a:latin typeface="Calibri"/>
                <a:ea typeface="Calibri"/>
              </a:rPr>
              <a:t>open in editor →  </a:t>
            </a:r>
            <a:r>
              <a:rPr sz="1050" b="0" i="0">
                <a:solidFill>
                  <a:srgbClr val="3D7BD9"/>
                </a:solidFill>
                <a:latin typeface="Consolas"/>
                <a:ea typeface="Consolas"/>
                <a:hlinkClick r:id="rId2"/>
                <a:extLst>
                  <a:ext uri="{A12FA001-AC4F-418D-AE19-62706E023703}">
                    <ahyp:hlinkClr xmlns:ahyp="http://schemas.microsoft.com/office/drawing/2018/hyperlinkcolor" val="tx"/>
                  </a:ext>
                </a:extLst>
              </a:rPr>
              <a:t>editor.html?example=css-styling/webfont</a:t>
            </a:r>
          </a:p>
        </p:txBody>
      </p:sp>
      <p:sp>
        <p:nvSpPr>
          <p:cNvPr id="11" name="Rounded Rectangle 10"/>
          <p:cNvSpPr/>
          <p:nvPr/>
        </p:nvSpPr>
        <p:spPr>
          <a:xfrm>
            <a:off x="548640" y="5943600"/>
            <a:ext cx="11094415" cy="475488"/>
          </a:xfrm>
          <a:prstGeom prst="roundRect">
            <a:avLst>
              <a:gd name="adj" fmla="val 10000"/>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04672" y="5943600"/>
            <a:ext cx="10591495" cy="475488"/>
          </a:xfrm>
          <a:prstGeom prst="rect">
            <a:avLst/>
          </a:prstGeom>
          <a:noFill/>
        </p:spPr>
        <p:txBody>
          <a:bodyPr wrap="square" anchor="ctr" lIns="0" rIns="0" tIns="0" bIns="0">
            <a:spAutoFit/>
          </a:bodyPr>
          <a:lstStyle/>
          <a:p>
            <a:pPr algn="l">
              <a:lnSpc>
                <a:spcPct val="110000"/>
              </a:lnSpc>
              <a:spcAft>
                <a:spcPts val="400"/>
              </a:spcAft>
            </a:pPr>
            <a:r>
              <a:rPr sz="1400" b="1" i="0">
                <a:solidFill>
                  <a:srgbClr val="FFFFFF"/>
                </a:solidFill>
                <a:latin typeface="Calibri"/>
                <a:ea typeface="Calibri"/>
              </a:rPr>
              <a:t>Give a font file a name once — then use that name anywhere.</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66928"/>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6979615" cy="365760"/>
          </a:xfrm>
          <a:prstGeom prst="rect">
            <a:avLst/>
          </a:prstGeom>
          <a:noFill/>
        </p:spPr>
        <p:txBody>
          <a:bodyPr wrap="square" anchor="ctr" lIns="0" rIns="0" tIns="0" bIns="0">
            <a:spAutoFit/>
          </a:bodyPr>
          <a:lstStyle/>
          <a:p>
            <a:pPr algn="l">
              <a:lnSpc>
                <a:spcPct val="110000"/>
              </a:lnSpc>
              <a:spcAft>
                <a:spcPts val="400"/>
              </a:spcAft>
            </a:pPr>
            <a:r>
              <a:rPr sz="2100" b="1" i="0">
                <a:solidFill>
                  <a:srgbClr val="FFFFFF"/>
                </a:solidFill>
                <a:latin typeface="Calibri"/>
                <a:ea typeface="Calibri"/>
              </a:rPr>
              <a:t>Web Fonts — Google Fonts</a:t>
            </a:r>
          </a:p>
        </p:txBody>
      </p:sp>
      <p:sp>
        <p:nvSpPr>
          <p:cNvPr id="4" name="TextBox 3"/>
          <p:cNvSpPr txBox="1"/>
          <p:nvPr/>
        </p:nvSpPr>
        <p:spPr>
          <a:xfrm>
            <a:off x="7436815" y="109728"/>
            <a:ext cx="4206240" cy="365760"/>
          </a:xfrm>
          <a:prstGeom prst="rect">
            <a:avLst/>
          </a:prstGeom>
          <a:noFill/>
        </p:spPr>
        <p:txBody>
          <a:bodyPr wrap="square" anchor="ctr" lIns="0" rIns="0" tIns="0" bIns="0">
            <a:spAutoFit/>
          </a:bodyPr>
          <a:lstStyle/>
          <a:p>
            <a:pPr algn="r">
              <a:lnSpc>
                <a:spcPct val="110000"/>
              </a:lnSpc>
              <a:spcAft>
                <a:spcPts val="400"/>
              </a:spcAft>
            </a:pPr>
            <a:r>
              <a:rPr sz="1100" b="1" i="0">
                <a:solidFill>
                  <a:srgbClr val="B9CDEE"/>
                </a:solidFill>
                <a:latin typeface="Calibri"/>
                <a:ea typeface="Calibri"/>
              </a:rPr>
              <a:t>COMP3421 · Font</a:t>
            </a:r>
          </a:p>
        </p:txBody>
      </p:sp>
      <p:sp>
        <p:nvSpPr>
          <p:cNvPr id="5" name="TextBox 4"/>
          <p:cNvSpPr txBox="1"/>
          <p:nvPr/>
        </p:nvSpPr>
        <p:spPr>
          <a:xfrm>
            <a:off x="548640" y="978408"/>
            <a:ext cx="4602175" cy="4937760"/>
          </a:xfrm>
          <a:prstGeom prst="rect">
            <a:avLst/>
          </a:prstGeom>
          <a:noFill/>
        </p:spPr>
        <p:txBody>
          <a:bodyPr wrap="square" lIns="0" rIns="0" tIns="0" bIns="0">
            <a:normAutofit/>
          </a:bodyPr>
          <a:lstStyle/>
          <a:p>
            <a:pPr marL="274320" indent="-237744">
              <a:lnSpc>
                <a:spcPct val="112000"/>
              </a:lnSpc>
              <a:spcAft>
                <a:spcPts val="1000"/>
              </a:spcAft>
              <a:buClr>
                <a:srgbClr val="1E4FA8"/>
              </a:buClr>
              <a:buSzPct val="90000"/>
              <a:buFont typeface="Arial"/>
              <a:buChar char="▪"/>
            </a:pPr>
            <a:r>
              <a:rPr sz="1550" b="1" i="0">
                <a:solidFill>
                  <a:srgbClr val="1A2230"/>
                </a:solidFill>
                <a:latin typeface="Calibri"/>
                <a:ea typeface="Calibri"/>
              </a:rPr>
              <a:t>System fonts only</a:t>
            </a:r>
            <a:br/>
            <a:r>
              <a:rPr sz="1350" b="0" i="0">
                <a:solidFill>
                  <a:srgbClr val="4A5568"/>
                </a:solidFill>
                <a:latin typeface="Calibri"/>
                <a:ea typeface="Calibri"/>
              </a:rPr>
              <a:t>By default you get Arial, Georgia, Times — nothing fancier.</a:t>
            </a:r>
          </a:p>
          <a:p>
            <a:pPr marL="274320" indent="-237744">
              <a:lnSpc>
                <a:spcPct val="112000"/>
              </a:lnSpc>
              <a:spcAft>
                <a:spcPts val="1000"/>
              </a:spcAft>
              <a:buClr>
                <a:srgbClr val="1E4FA8"/>
              </a:buClr>
              <a:buSzPct val="90000"/>
              <a:buFont typeface="Arial"/>
              <a:buChar char="▪"/>
            </a:pPr>
            <a:r>
              <a:rPr sz="1550" b="1" i="0">
                <a:solidFill>
                  <a:srgbClr val="1A2230"/>
                </a:solidFill>
                <a:latin typeface="Calibri"/>
                <a:ea typeface="Calibri"/>
              </a:rPr>
              <a:t>Web fonts</a:t>
            </a:r>
            <a:br/>
            <a:r>
              <a:rPr sz="1350" b="0" i="0">
                <a:solidFill>
                  <a:srgbClr val="4A5568"/>
                </a:solidFill>
                <a:latin typeface="Calibri"/>
                <a:ea typeface="Calibri"/>
              </a:rPr>
              <a:t>Google Fonts is free — it wraps the @font-face rule for you.</a:t>
            </a:r>
          </a:p>
          <a:p>
            <a:pPr marL="274320" indent="-237744">
              <a:lnSpc>
                <a:spcPct val="112000"/>
              </a:lnSpc>
              <a:spcAft>
                <a:spcPts val="1000"/>
              </a:spcAft>
              <a:buClr>
                <a:srgbClr val="1E4FA8"/>
              </a:buClr>
              <a:buSzPct val="90000"/>
              <a:buFont typeface="Arial"/>
              <a:buChar char="▪"/>
            </a:pPr>
            <a:r>
              <a:rPr sz="1550" b="1" i="0">
                <a:solidFill>
                  <a:srgbClr val="1E4FA8"/>
                </a:solidFill>
                <a:latin typeface="Consolas"/>
                <a:ea typeface="Consolas"/>
              </a:rPr>
              <a:t>&lt;link&gt;</a:t>
            </a:r>
            <a:r>
              <a:rPr sz="1550" b="1" i="0">
                <a:solidFill>
                  <a:srgbClr val="1A2230"/>
                </a:solidFill>
                <a:latin typeface="Calibri"/>
                <a:ea typeface="Calibri"/>
              </a:rPr>
              <a:t> it in</a:t>
            </a:r>
            <a:br/>
            <a:r>
              <a:rPr sz="1350" b="0" i="0">
                <a:solidFill>
                  <a:srgbClr val="4A5568"/>
                </a:solidFill>
                <a:latin typeface="Calibri"/>
                <a:ea typeface="Calibri"/>
              </a:rPr>
              <a:t>A </a:t>
            </a:r>
            <a:r>
              <a:rPr sz="1350" b="0" i="0">
                <a:solidFill>
                  <a:srgbClr val="1E4FA8"/>
                </a:solidFill>
                <a:latin typeface="Consolas"/>
                <a:ea typeface="Consolas"/>
              </a:rPr>
              <a:t>&lt;link&gt;</a:t>
            </a:r>
            <a:r>
              <a:rPr sz="1350" b="0" i="0">
                <a:solidFill>
                  <a:srgbClr val="4A5568"/>
                </a:solidFill>
                <a:latin typeface="Calibri"/>
                <a:ea typeface="Calibri"/>
              </a:rPr>
              <a:t> in the </a:t>
            </a:r>
            <a:r>
              <a:rPr sz="1350" b="0" i="0">
                <a:solidFill>
                  <a:srgbClr val="1E4FA8"/>
                </a:solidFill>
                <a:latin typeface="Consolas"/>
                <a:ea typeface="Consolas"/>
              </a:rPr>
              <a:t>&lt;head&gt;</a:t>
            </a:r>
            <a:r>
              <a:rPr sz="1350" b="0" i="0">
                <a:solidFill>
                  <a:srgbClr val="4A5568"/>
                </a:solidFill>
                <a:latin typeface="Calibri"/>
                <a:ea typeface="Calibri"/>
              </a:rPr>
              <a:t> pulls the font definition.</a:t>
            </a:r>
          </a:p>
          <a:p>
            <a:pPr marL="274320" indent="-237744">
              <a:lnSpc>
                <a:spcPct val="112000"/>
              </a:lnSpc>
              <a:spcAft>
                <a:spcPts val="1000"/>
              </a:spcAft>
              <a:buClr>
                <a:srgbClr val="1E4FA8"/>
              </a:buClr>
              <a:buSzPct val="90000"/>
              <a:buFont typeface="Arial"/>
              <a:buChar char="▪"/>
            </a:pPr>
            <a:r>
              <a:rPr sz="1550" b="1" i="0">
                <a:solidFill>
                  <a:srgbClr val="1A2230"/>
                </a:solidFill>
                <a:latin typeface="Calibri"/>
                <a:ea typeface="Calibri"/>
              </a:rPr>
              <a:t>Then font-family</a:t>
            </a:r>
            <a:br/>
            <a:r>
              <a:rPr sz="1350" b="0" i="0">
                <a:solidFill>
                  <a:srgbClr val="4A5568"/>
                </a:solidFill>
                <a:latin typeface="Calibri"/>
                <a:ea typeface="Calibri"/>
              </a:rPr>
              <a:t>Use the font's </a:t>
            </a:r>
            <a:r>
              <a:rPr sz="1350" b="0" i="0">
                <a:solidFill>
                  <a:srgbClr val="B8860B"/>
                </a:solidFill>
                <a:latin typeface="Consolas"/>
                <a:ea typeface="Consolas"/>
              </a:rPr>
              <a:t>name</a:t>
            </a:r>
            <a:r>
              <a:rPr sz="1350" b="0" i="0">
                <a:solidFill>
                  <a:srgbClr val="4A5568"/>
                </a:solidFill>
                <a:latin typeface="Calibri"/>
                <a:ea typeface="Calibri"/>
              </a:rPr>
              <a:t> like any other family.</a:t>
            </a:r>
          </a:p>
        </p:txBody>
      </p:sp>
      <p:sp>
        <p:nvSpPr>
          <p:cNvPr id="6" name="Rounded Rectangle 5"/>
          <p:cNvSpPr/>
          <p:nvPr/>
        </p:nvSpPr>
        <p:spPr>
          <a:xfrm>
            <a:off x="5836615" y="978408"/>
            <a:ext cx="5806440" cy="3703320"/>
          </a:xfrm>
          <a:prstGeom prst="roundRect">
            <a:avLst>
              <a:gd name="adj" fmla="val 5000"/>
            </a:avLst>
          </a:prstGeom>
          <a:solidFill>
            <a:srgbClr val="2327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129223" y="1133856"/>
            <a:ext cx="5257800" cy="292608"/>
          </a:xfrm>
          <a:prstGeom prst="rect">
            <a:avLst/>
          </a:prstGeom>
          <a:noFill/>
        </p:spPr>
        <p:txBody>
          <a:bodyPr wrap="square" anchor="t" lIns="0" rIns="0" tIns="0" bIns="0">
            <a:spAutoFit/>
          </a:bodyPr>
          <a:lstStyle/>
          <a:p>
            <a:pPr algn="l">
              <a:lnSpc>
                <a:spcPct val="110000"/>
              </a:lnSpc>
              <a:spcAft>
                <a:spcPts val="400"/>
              </a:spcAft>
            </a:pPr>
            <a:r>
              <a:rPr sz="1100" b="1" i="0">
                <a:solidFill>
                  <a:srgbClr val="7F8C98"/>
                </a:solidFill>
                <a:latin typeface="Calibri"/>
                <a:ea typeface="Calibri"/>
              </a:rPr>
              <a:t>LOOK INSIDE — CODE</a:t>
            </a:r>
          </a:p>
        </p:txBody>
      </p:sp>
      <p:sp>
        <p:nvSpPr>
          <p:cNvPr id="8" name="TextBox 7"/>
          <p:cNvSpPr txBox="1"/>
          <p:nvPr/>
        </p:nvSpPr>
        <p:spPr>
          <a:xfrm>
            <a:off x="6129223" y="1463040"/>
            <a:ext cx="5221224" cy="3108960"/>
          </a:xfrm>
          <a:prstGeom prst="rect">
            <a:avLst/>
          </a:prstGeom>
          <a:noFill/>
        </p:spPr>
        <p:txBody>
          <a:bodyPr wrap="none" lIns="0" rIns="0" tIns="0" bIns="0">
            <a:spAutoFit/>
          </a:bodyPr>
          <a:lstStyle/>
          <a:p>
            <a:pPr>
              <a:spcAft>
                <a:spcPts val="350"/>
              </a:spcAft>
            </a:pPr>
            <a:r>
              <a:rPr sz="1300" b="0" i="0">
                <a:solidFill>
                  <a:srgbClr val="7F8C98"/>
                </a:solidFill>
                <a:latin typeface="Consolas"/>
                <a:ea typeface="Consolas"/>
              </a:rPr>
              <a:t>&lt;!-- in &lt;head&gt; --&gt;</a:t>
            </a:r>
          </a:p>
          <a:p>
            <a:pPr>
              <a:spcAft>
                <a:spcPts val="350"/>
              </a:spcAft>
            </a:pPr>
            <a:r>
              <a:rPr sz="1300" b="0" i="0">
                <a:solidFill>
                  <a:srgbClr val="61AFEF"/>
                </a:solidFill>
                <a:latin typeface="Consolas"/>
                <a:ea typeface="Consolas"/>
              </a:rPr>
              <a:t>&lt;link href="https://fonts.googleapis.com/css2?family=Roboto&amp;display=swap"</a:t>
            </a:r>
          </a:p>
          <a:p>
            <a:pPr>
              <a:spcAft>
                <a:spcPts val="350"/>
              </a:spcAft>
            </a:pPr>
            <a:r>
              <a:rPr sz="1300" b="0" i="0">
                <a:solidFill>
                  <a:srgbClr val="61AFEF"/>
                </a:solidFill>
                <a:latin typeface="Consolas"/>
                <a:ea typeface="Consolas"/>
              </a:rPr>
              <a:t>      rel="stylesheet"&gt;</a:t>
            </a:r>
          </a:p>
          <a:p>
            <a:pPr>
              <a:spcAft>
                <a:spcPts val="350"/>
              </a:spcAft>
            </a:pPr>
            <a:r>
              <a:rPr sz="1300" b="0" i="0">
                <a:solidFill>
                  <a:srgbClr val="7F8C98"/>
                </a:solidFill>
                <a:latin typeface="Consolas"/>
                <a:ea typeface="Consolas"/>
              </a:rPr>
              <a:t/>
            </a:r>
          </a:p>
          <a:p>
            <a:pPr>
              <a:spcAft>
                <a:spcPts val="350"/>
              </a:spcAft>
            </a:pPr>
            <a:r>
              <a:rPr sz="1300" b="0" i="0">
                <a:solidFill>
                  <a:srgbClr val="7F8C98"/>
                </a:solidFill>
                <a:latin typeface="Consolas"/>
                <a:ea typeface="Consolas"/>
              </a:rPr>
              <a:t>&lt;!-- anywhere in the body --&gt;</a:t>
            </a:r>
          </a:p>
          <a:p>
            <a:pPr>
              <a:spcAft>
                <a:spcPts val="350"/>
              </a:spcAft>
            </a:pPr>
            <a:r>
              <a:rPr sz="1300" b="0" i="0">
                <a:solidFill>
                  <a:srgbClr val="98C379"/>
                </a:solidFill>
                <a:latin typeface="Consolas"/>
                <a:ea typeface="Consolas"/>
              </a:rPr>
              <a:t>&lt;h1 style="font-family: 'Roboto', sans-serif;"&gt;Hello&lt;/h1&gt;</a:t>
            </a:r>
          </a:p>
        </p:txBody>
      </p:sp>
      <p:sp>
        <p:nvSpPr>
          <p:cNvPr id="9" name="Rounded Rectangle 8"/>
          <p:cNvSpPr/>
          <p:nvPr/>
        </p:nvSpPr>
        <p:spPr>
          <a:xfrm>
            <a:off x="5836615" y="4800600"/>
            <a:ext cx="5806440" cy="475488"/>
          </a:xfrm>
          <a:prstGeom prst="roundRect">
            <a:avLst>
              <a:gd name="adj" fmla="val 10000"/>
            </a:avLst>
          </a:prstGeom>
          <a:solidFill>
            <a:srgbClr val="F0F5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092647" y="4919472"/>
            <a:ext cx="5294375" cy="274320"/>
          </a:xfrm>
          <a:prstGeom prst="rect">
            <a:avLst/>
          </a:prstGeom>
          <a:noFill/>
        </p:spPr>
        <p:txBody>
          <a:bodyPr wrap="square" anchor="t" lIns="0" rIns="0" tIns="0" bIns="0">
            <a:spAutoFit/>
          </a:bodyPr>
          <a:lstStyle/>
          <a:p>
            <a:pPr algn="l">
              <a:lnSpc>
                <a:spcPct val="110000"/>
              </a:lnSpc>
              <a:spcAft>
                <a:spcPts val="400"/>
              </a:spcAft>
            </a:pPr>
            <a:r>
              <a:rPr sz="1050" b="1" i="0">
                <a:solidFill>
                  <a:srgbClr val="0E3F8C"/>
                </a:solidFill>
                <a:latin typeface="Calibri"/>
                <a:ea typeface="Calibri"/>
              </a:rPr>
              <a:t>open in editor →  </a:t>
            </a:r>
            <a:r>
              <a:rPr sz="1050" b="0" i="0">
                <a:solidFill>
                  <a:srgbClr val="3D7BD9"/>
                </a:solidFill>
                <a:latin typeface="Consolas"/>
                <a:ea typeface="Consolas"/>
                <a:hlinkClick r:id="rId2"/>
                <a:extLst>
                  <a:ext uri="{A12FA001-AC4F-418D-AE19-62706E023703}">
                    <ahyp:hlinkClr xmlns:ahyp="http://schemas.microsoft.com/office/drawing/2018/hyperlinkcolor" val="tx"/>
                  </a:ext>
                </a:extLst>
              </a:rPr>
              <a:t>editor.html?example=css-styling/webfont</a:t>
            </a:r>
          </a:p>
        </p:txBody>
      </p:sp>
      <p:sp>
        <p:nvSpPr>
          <p:cNvPr id="11" name="Rounded Rectangle 10"/>
          <p:cNvSpPr/>
          <p:nvPr/>
        </p:nvSpPr>
        <p:spPr>
          <a:xfrm>
            <a:off x="548640" y="5943600"/>
            <a:ext cx="11094415" cy="475488"/>
          </a:xfrm>
          <a:prstGeom prst="roundRect">
            <a:avLst>
              <a:gd name="adj" fmla="val 10000"/>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04672" y="5943600"/>
            <a:ext cx="10591495" cy="475488"/>
          </a:xfrm>
          <a:prstGeom prst="rect">
            <a:avLst/>
          </a:prstGeom>
          <a:noFill/>
        </p:spPr>
        <p:txBody>
          <a:bodyPr wrap="square" anchor="ctr" lIns="0" rIns="0" tIns="0" bIns="0">
            <a:spAutoFit/>
          </a:bodyPr>
          <a:lstStyle/>
          <a:p>
            <a:pPr algn="l">
              <a:lnSpc>
                <a:spcPct val="110000"/>
              </a:lnSpc>
              <a:spcAft>
                <a:spcPts val="400"/>
              </a:spcAft>
            </a:pPr>
            <a:r>
              <a:rPr sz="1400" b="1" i="0">
                <a:solidFill>
                  <a:srgbClr val="FFFFFF"/>
                </a:solidFill>
                <a:latin typeface="Calibri"/>
                <a:ea typeface="Calibri"/>
              </a:rPr>
              <a:t>Load it once with &lt;link&gt;, then use it by name with font-family.</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6858000"/>
          </a:xfrm>
          <a:prstGeom prst="rect">
            <a:avLst/>
          </a:prstGeom>
          <a:solidFill>
            <a:srgbClr val="1E4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143000"/>
            <a:ext cx="3840480" cy="1828800"/>
          </a:xfrm>
          <a:prstGeom prst="rect">
            <a:avLst/>
          </a:prstGeom>
          <a:noFill/>
        </p:spPr>
        <p:txBody>
          <a:bodyPr wrap="square" anchor="t" lIns="0" rIns="0" tIns="0" bIns="0">
            <a:spAutoFit/>
          </a:bodyPr>
          <a:lstStyle/>
          <a:p>
            <a:pPr algn="l">
              <a:lnSpc>
                <a:spcPct val="110000"/>
              </a:lnSpc>
              <a:spcAft>
                <a:spcPts val="400"/>
              </a:spcAft>
            </a:pPr>
            <a:r>
              <a:rPr sz="9200" b="1" i="0">
                <a:solidFill>
                  <a:srgbClr val="9DC0EE"/>
                </a:solidFill>
                <a:latin typeface="Calibri"/>
                <a:ea typeface="Calibri"/>
              </a:rPr>
              <a:t>06</a:t>
            </a:r>
          </a:p>
        </p:txBody>
      </p:sp>
      <p:sp>
        <p:nvSpPr>
          <p:cNvPr id="5" name="TextBox 4"/>
          <p:cNvSpPr txBox="1"/>
          <p:nvPr/>
        </p:nvSpPr>
        <p:spPr>
          <a:xfrm>
            <a:off x="685800" y="3063240"/>
            <a:ext cx="10607040" cy="822960"/>
          </a:xfrm>
          <a:prstGeom prst="rect">
            <a:avLst/>
          </a:prstGeom>
          <a:noFill/>
        </p:spPr>
        <p:txBody>
          <a:bodyPr wrap="square" anchor="t" lIns="0" rIns="0" tIns="0" bIns="0">
            <a:spAutoFit/>
          </a:bodyPr>
          <a:lstStyle/>
          <a:p>
            <a:pPr algn="l">
              <a:lnSpc>
                <a:spcPct val="110000"/>
              </a:lnSpc>
              <a:spcAft>
                <a:spcPts val="400"/>
              </a:spcAft>
            </a:pPr>
            <a:r>
              <a:rPr sz="3800" b="1" i="0">
                <a:solidFill>
                  <a:srgbClr val="FFFFFF"/>
                </a:solidFill>
                <a:latin typeface="Calibri"/>
                <a:ea typeface="Calibri"/>
              </a:rPr>
              <a:t>Inheritance</a:t>
            </a:r>
          </a:p>
        </p:txBody>
      </p:sp>
      <p:sp>
        <p:nvSpPr>
          <p:cNvPr id="6" name="Rectangle 5"/>
          <p:cNvSpPr/>
          <p:nvPr/>
        </p:nvSpPr>
        <p:spPr>
          <a:xfrm>
            <a:off x="713232" y="3977639"/>
            <a:ext cx="822960" cy="54864"/>
          </a:xfrm>
          <a:prstGeom prst="rect">
            <a:avLst/>
          </a:prstGeom>
          <a:solidFill>
            <a:srgbClr val="1E4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13232" y="4251960"/>
            <a:ext cx="10058400" cy="1645920"/>
          </a:xfrm>
          <a:prstGeom prst="rect">
            <a:avLst/>
          </a:prstGeom>
          <a:noFill/>
        </p:spPr>
        <p:txBody>
          <a:bodyPr wrap="square" lIns="0" rIns="0" tIns="0" bIns="0">
            <a:normAutofit/>
          </a:bodyPr>
          <a:lstStyle/>
          <a:p>
            <a:pPr marL="256032" indent="-237744">
              <a:lnSpc>
                <a:spcPct val="112000"/>
              </a:lnSpc>
              <a:spcAft>
                <a:spcPts val="1000"/>
              </a:spcAft>
              <a:buClr>
                <a:srgbClr val="1E4FA8"/>
              </a:buClr>
              <a:buSzPct val="90000"/>
              <a:buFont typeface="Arial"/>
              <a:buChar char="▪"/>
            </a:pPr>
            <a:r>
              <a:rPr sz="1600" b="0" i="0">
                <a:solidFill>
                  <a:srgbClr val="B9CDEE"/>
                </a:solidFill>
                <a:latin typeface="Calibri"/>
                <a:ea typeface="Calibri"/>
              </a:rPr>
              <a:t>Text styles flow down</a:t>
            </a:r>
          </a:p>
          <a:p>
            <a:pPr marL="256032" indent="-237744">
              <a:lnSpc>
                <a:spcPct val="112000"/>
              </a:lnSpc>
              <a:spcAft>
                <a:spcPts val="1000"/>
              </a:spcAft>
              <a:buClr>
                <a:srgbClr val="1E4FA8"/>
              </a:buClr>
              <a:buSzPct val="90000"/>
              <a:buFont typeface="Arial"/>
              <a:buChar char="▪"/>
            </a:pPr>
            <a:r>
              <a:rPr sz="1600" b="0" i="0">
                <a:solidFill>
                  <a:srgbClr val="B9CDEE"/>
                </a:solidFill>
                <a:latin typeface="Calibri"/>
                <a:ea typeface="Calibri"/>
              </a:rPr>
              <a:t>Box styles stay put</a:t>
            </a:r>
          </a:p>
          <a:p>
            <a:pPr marL="256032" indent="-237744">
              <a:lnSpc>
                <a:spcPct val="112000"/>
              </a:lnSpc>
              <a:spcAft>
                <a:spcPts val="1000"/>
              </a:spcAft>
              <a:buClr>
                <a:srgbClr val="1E4FA8"/>
              </a:buClr>
              <a:buSzPct val="90000"/>
              <a:buFont typeface="Arial"/>
              <a:buChar char="▪"/>
            </a:pPr>
            <a:r>
              <a:rPr sz="1600" b="0" i="0">
                <a:solidFill>
                  <a:srgbClr val="B9CDEE"/>
                </a:solidFill>
                <a:latin typeface="Calibri"/>
                <a:ea typeface="Calibri"/>
              </a:rPr>
              <a:t>Why one </a:t>
            </a:r>
            <a:r>
              <a:rPr sz="1600" b="0" i="0">
                <a:solidFill>
                  <a:srgbClr val="B8860B"/>
                </a:solidFill>
                <a:latin typeface="Consolas"/>
                <a:ea typeface="Consolas"/>
              </a:rPr>
              <a:t>style</a:t>
            </a:r>
            <a:r>
              <a:rPr sz="1600" b="0" i="0">
                <a:solidFill>
                  <a:srgbClr val="B9CDEE"/>
                </a:solidFill>
                <a:latin typeface="Calibri"/>
                <a:ea typeface="Calibri"/>
              </a:rPr>
              <a:t> colours a whole block</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66928"/>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6979615" cy="365760"/>
          </a:xfrm>
          <a:prstGeom prst="rect">
            <a:avLst/>
          </a:prstGeom>
          <a:noFill/>
        </p:spPr>
        <p:txBody>
          <a:bodyPr wrap="square" anchor="ctr" lIns="0" rIns="0" tIns="0" bIns="0">
            <a:spAutoFit/>
          </a:bodyPr>
          <a:lstStyle/>
          <a:p>
            <a:pPr algn="l">
              <a:lnSpc>
                <a:spcPct val="110000"/>
              </a:lnSpc>
              <a:spcAft>
                <a:spcPts val="400"/>
              </a:spcAft>
            </a:pPr>
            <a:r>
              <a:rPr sz="2100" b="1" i="0">
                <a:solidFill>
                  <a:srgbClr val="FFFFFF"/>
                </a:solidFill>
                <a:latin typeface="Calibri"/>
                <a:ea typeface="Calibri"/>
              </a:rPr>
              <a:t>Inheritance</a:t>
            </a:r>
          </a:p>
        </p:txBody>
      </p:sp>
      <p:sp>
        <p:nvSpPr>
          <p:cNvPr id="4" name="TextBox 3"/>
          <p:cNvSpPr txBox="1"/>
          <p:nvPr/>
        </p:nvSpPr>
        <p:spPr>
          <a:xfrm>
            <a:off x="7436815" y="109728"/>
            <a:ext cx="4206240" cy="365760"/>
          </a:xfrm>
          <a:prstGeom prst="rect">
            <a:avLst/>
          </a:prstGeom>
          <a:noFill/>
        </p:spPr>
        <p:txBody>
          <a:bodyPr wrap="square" anchor="ctr" lIns="0" rIns="0" tIns="0" bIns="0">
            <a:spAutoFit/>
          </a:bodyPr>
          <a:lstStyle/>
          <a:p>
            <a:pPr algn="r">
              <a:lnSpc>
                <a:spcPct val="110000"/>
              </a:lnSpc>
              <a:spcAft>
                <a:spcPts val="400"/>
              </a:spcAft>
            </a:pPr>
            <a:r>
              <a:rPr sz="1100" b="1" i="0">
                <a:solidFill>
                  <a:srgbClr val="B9CDEE"/>
                </a:solidFill>
                <a:latin typeface="Calibri"/>
                <a:ea typeface="Calibri"/>
              </a:rPr>
              <a:t>COMP3421 · Inheritance</a:t>
            </a:r>
          </a:p>
        </p:txBody>
      </p:sp>
      <p:sp>
        <p:nvSpPr>
          <p:cNvPr id="5" name="Rounded Rectangle 4"/>
          <p:cNvSpPr/>
          <p:nvPr/>
        </p:nvSpPr>
        <p:spPr>
          <a:xfrm>
            <a:off x="548640" y="932688"/>
            <a:ext cx="11094415" cy="1335024"/>
          </a:xfrm>
          <a:prstGeom prst="roundRect">
            <a:avLst>
              <a:gd name="adj" fmla="val 6000"/>
            </a:avLst>
          </a:prstGeom>
          <a:solidFill>
            <a:srgbClr val="F0F5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9536" y="1078992"/>
            <a:ext cx="10472623" cy="219456"/>
          </a:xfrm>
          <a:prstGeom prst="rect">
            <a:avLst/>
          </a:prstGeom>
          <a:noFill/>
        </p:spPr>
        <p:txBody>
          <a:bodyPr wrap="square" anchor="t" lIns="0" rIns="0" tIns="0" bIns="0">
            <a:spAutoFit/>
          </a:bodyPr>
          <a:lstStyle/>
          <a:p>
            <a:pPr algn="l">
              <a:lnSpc>
                <a:spcPct val="110000"/>
              </a:lnSpc>
              <a:spcAft>
                <a:spcPts val="400"/>
              </a:spcAft>
            </a:pPr>
            <a:r>
              <a:rPr sz="1000" b="1" i="0">
                <a:solidFill>
                  <a:srgbClr val="1E4FA8"/>
                </a:solidFill>
                <a:latin typeface="Calibri"/>
                <a:ea typeface="Calibri"/>
              </a:rPr>
              <a:t>INHERITANCE</a:t>
            </a:r>
          </a:p>
        </p:txBody>
      </p:sp>
      <p:sp>
        <p:nvSpPr>
          <p:cNvPr id="7" name="TextBox 6"/>
          <p:cNvSpPr txBox="1"/>
          <p:nvPr/>
        </p:nvSpPr>
        <p:spPr>
          <a:xfrm>
            <a:off x="859536" y="1353312"/>
            <a:ext cx="10472623" cy="512064"/>
          </a:xfrm>
          <a:prstGeom prst="rect">
            <a:avLst/>
          </a:prstGeom>
          <a:noFill/>
        </p:spPr>
        <p:txBody>
          <a:bodyPr wrap="square" anchor="t" lIns="0" rIns="0" tIns="0" bIns="0">
            <a:spAutoFit/>
          </a:bodyPr>
          <a:lstStyle/>
          <a:p>
            <a:pPr algn="l">
              <a:lnSpc>
                <a:spcPct val="110000"/>
              </a:lnSpc>
              <a:spcAft>
                <a:spcPts val="400"/>
              </a:spcAft>
            </a:pPr>
            <a:r>
              <a:rPr sz="1700" b="0" i="0">
                <a:solidFill>
                  <a:srgbClr val="1A2230"/>
                </a:solidFill>
                <a:latin typeface="Calibri"/>
                <a:ea typeface="Calibri"/>
              </a:rPr>
              <a:t>A property set on a parent is handed down to its children. A child that sets nothing of its own uses the parent's value.</a:t>
            </a:r>
          </a:p>
        </p:txBody>
      </p:sp>
      <p:sp>
        <p:nvSpPr>
          <p:cNvPr id="8" name="TextBox 7"/>
          <p:cNvSpPr txBox="1"/>
          <p:nvPr/>
        </p:nvSpPr>
        <p:spPr>
          <a:xfrm>
            <a:off x="859536" y="1920240"/>
            <a:ext cx="10472623" cy="237744"/>
          </a:xfrm>
          <a:prstGeom prst="rect">
            <a:avLst/>
          </a:prstGeom>
          <a:noFill/>
        </p:spPr>
        <p:txBody>
          <a:bodyPr wrap="square" anchor="t" lIns="0" rIns="0" tIns="0" bIns="0">
            <a:spAutoFit/>
          </a:bodyPr>
          <a:lstStyle/>
          <a:p>
            <a:pPr algn="l">
              <a:lnSpc>
                <a:spcPct val="110000"/>
              </a:lnSpc>
              <a:spcAft>
                <a:spcPts val="400"/>
              </a:spcAft>
            </a:pPr>
            <a:r>
              <a:rPr sz="1100" b="0" i="0">
                <a:solidFill>
                  <a:srgbClr val="4A5568"/>
                </a:solidFill>
                <a:latin typeface="Consolas"/>
                <a:ea typeface="Consolas"/>
              </a:rPr>
              <a:t>&lt;div style="color: #1E4FA8;"&gt;  &lt;h1&gt;Title&lt;/h1&gt;  &lt;p&gt;All blue.&lt;/p&gt;  &lt;/div&gt;</a:t>
            </a:r>
          </a:p>
        </p:txBody>
      </p:sp>
      <p:sp>
        <p:nvSpPr>
          <p:cNvPr id="9" name="TextBox 8"/>
          <p:cNvSpPr txBox="1"/>
          <p:nvPr/>
        </p:nvSpPr>
        <p:spPr>
          <a:xfrm>
            <a:off x="548640" y="2432304"/>
            <a:ext cx="10820095" cy="2618232"/>
          </a:xfrm>
          <a:prstGeom prst="rect">
            <a:avLst/>
          </a:prstGeom>
          <a:noFill/>
        </p:spPr>
        <p:txBody>
          <a:bodyPr wrap="square" lIns="0" rIns="0" tIns="0" bIns="0">
            <a:normAutofit/>
          </a:bodyPr>
          <a:lstStyle/>
          <a:p>
            <a:pPr marL="256032" indent="-237744">
              <a:lnSpc>
                <a:spcPct val="112000"/>
              </a:lnSpc>
              <a:spcAft>
                <a:spcPts val="3400"/>
              </a:spcAft>
              <a:buClr>
                <a:srgbClr val="1E4FA8"/>
              </a:buClr>
              <a:buSzPct val="90000"/>
              <a:buFont typeface="Arial"/>
              <a:buChar char="▪"/>
            </a:pPr>
            <a:r>
              <a:rPr sz="1800" b="1" i="0">
                <a:solidFill>
                  <a:srgbClr val="1A2230"/>
                </a:solidFill>
                <a:latin typeface="Calibri"/>
                <a:ea typeface="Calibri"/>
              </a:rPr>
              <a:t>Text, font, colour</a:t>
            </a:r>
            <a:br/>
            <a:r>
              <a:rPr sz="1300" b="0" i="0">
                <a:solidFill>
                  <a:srgbClr val="4A5568"/>
                </a:solidFill>
                <a:latin typeface="Calibri"/>
                <a:ea typeface="Calibri"/>
              </a:rPr>
              <a:t>color, font-family, font-size, text-align — these flow down to every descendant.</a:t>
            </a:r>
          </a:p>
          <a:p>
            <a:pPr marL="256032" indent="-237744">
              <a:lnSpc>
                <a:spcPct val="112000"/>
              </a:lnSpc>
              <a:spcAft>
                <a:spcPts val="3400"/>
              </a:spcAft>
              <a:buClr>
                <a:srgbClr val="1E4FA8"/>
              </a:buClr>
              <a:buSzPct val="90000"/>
              <a:buFont typeface="Arial"/>
              <a:buChar char="▪"/>
            </a:pPr>
            <a:r>
              <a:rPr sz="1800" b="1" i="0">
                <a:solidFill>
                  <a:srgbClr val="1A2230"/>
                </a:solidFill>
                <a:latin typeface="Calibri"/>
                <a:ea typeface="Calibri"/>
              </a:rPr>
              <a:t>Until a child overrides it</a:t>
            </a:r>
            <a:br/>
            <a:r>
              <a:rPr sz="1300" b="0" i="0">
                <a:solidFill>
                  <a:srgbClr val="4A5568"/>
                </a:solidFill>
                <a:latin typeface="Calibri"/>
                <a:ea typeface="Calibri"/>
              </a:rPr>
              <a:t>Declare the property on the child and the child's </a:t>
            </a:r>
            <a:r>
              <a:rPr sz="1300" b="0" i="0">
                <a:solidFill>
                  <a:srgbClr val="B8860B"/>
                </a:solidFill>
                <a:latin typeface="Consolas"/>
                <a:ea typeface="Consolas"/>
              </a:rPr>
              <a:t>value</a:t>
            </a:r>
            <a:r>
              <a:rPr sz="1300" b="0" i="0">
                <a:solidFill>
                  <a:srgbClr val="4A5568"/>
                </a:solidFill>
                <a:latin typeface="Calibri"/>
                <a:ea typeface="Calibri"/>
              </a:rPr>
              <a:t> wins — the parent's stops there.</a:t>
            </a:r>
          </a:p>
          <a:p>
            <a:pPr marL="256032" indent="-237744">
              <a:lnSpc>
                <a:spcPct val="112000"/>
              </a:lnSpc>
              <a:spcAft>
                <a:spcPts val="3400"/>
              </a:spcAft>
              <a:buClr>
                <a:srgbClr val="1E4FA8"/>
              </a:buClr>
              <a:buSzPct val="90000"/>
              <a:buFont typeface="Arial"/>
              <a:buChar char="▪"/>
            </a:pPr>
            <a:r>
              <a:rPr sz="1800" b="1" i="0">
                <a:solidFill>
                  <a:srgbClr val="1A2230"/>
                </a:solidFill>
                <a:latin typeface="Calibri"/>
                <a:ea typeface="Calibri"/>
              </a:rPr>
              <a:t>Set it once</a:t>
            </a:r>
            <a:br/>
            <a:r>
              <a:rPr sz="1300" b="0" i="0">
                <a:solidFill>
                  <a:srgbClr val="4A5568"/>
                </a:solidFill>
                <a:latin typeface="Calibri"/>
                <a:ea typeface="Calibri"/>
              </a:rPr>
              <a:t>Put the declaration on the parent and every child inside inherits it.</a:t>
            </a:r>
          </a:p>
        </p:txBody>
      </p:sp>
      <p:sp>
        <p:nvSpPr>
          <p:cNvPr id="10" name="Rounded Rectangle 9"/>
          <p:cNvSpPr/>
          <p:nvPr/>
        </p:nvSpPr>
        <p:spPr>
          <a:xfrm>
            <a:off x="548640" y="5943600"/>
            <a:ext cx="11094415" cy="475488"/>
          </a:xfrm>
          <a:prstGeom prst="roundRect">
            <a:avLst>
              <a:gd name="adj" fmla="val 10000"/>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04672" y="5943600"/>
            <a:ext cx="10591495" cy="475488"/>
          </a:xfrm>
          <a:prstGeom prst="rect">
            <a:avLst/>
          </a:prstGeom>
          <a:noFill/>
        </p:spPr>
        <p:txBody>
          <a:bodyPr wrap="square" anchor="ctr" lIns="0" rIns="0" tIns="0" bIns="0">
            <a:spAutoFit/>
          </a:bodyPr>
          <a:lstStyle/>
          <a:p>
            <a:pPr algn="l">
              <a:lnSpc>
                <a:spcPct val="110000"/>
              </a:lnSpc>
              <a:spcAft>
                <a:spcPts val="400"/>
              </a:spcAft>
            </a:pPr>
            <a:r>
              <a:rPr sz="1400" b="1" i="0">
                <a:solidFill>
                  <a:srgbClr val="FFFFFF"/>
                </a:solidFill>
                <a:latin typeface="Calibri"/>
                <a:ea typeface="Calibri"/>
              </a:rPr>
              <a:t>Note — box properties do not inherit: padding, margin, border, width and background.</a:t>
            </a:r>
          </a:p>
        </p:txBody>
      </p:sp>
      <p:sp>
        <p:nvSpPr>
          <p:cNvPr id="12" name="Rounded Rectangle 11"/>
          <p:cNvSpPr/>
          <p:nvPr/>
        </p:nvSpPr>
        <p:spPr>
          <a:xfrm>
            <a:off x="548640" y="5303520"/>
            <a:ext cx="3931920" cy="384048"/>
          </a:xfrm>
          <a:prstGeom prst="roundRect">
            <a:avLst>
              <a:gd name="adj" fmla="val 10000"/>
            </a:avLst>
          </a:prstGeom>
          <a:solidFill>
            <a:srgbClr val="F0F5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9808" y="5303520"/>
            <a:ext cx="3529584" cy="384048"/>
          </a:xfrm>
          <a:prstGeom prst="rect">
            <a:avLst/>
          </a:prstGeom>
          <a:noFill/>
        </p:spPr>
        <p:txBody>
          <a:bodyPr wrap="square" anchor="ctr" lIns="0" rIns="0" tIns="0" bIns="0">
            <a:spAutoFit/>
          </a:bodyPr>
          <a:lstStyle/>
          <a:p>
            <a:pPr algn="l">
              <a:lnSpc>
                <a:spcPct val="110000"/>
              </a:lnSpc>
              <a:spcAft>
                <a:spcPts val="400"/>
              </a:spcAft>
            </a:pPr>
            <a:r>
              <a:rPr sz="1100" b="1" i="0">
                <a:solidFill>
                  <a:srgbClr val="4A5568"/>
                </a:solidFill>
                <a:latin typeface="Calibri"/>
                <a:ea typeface="Calibri"/>
              </a:rPr>
              <a:t>open in editor →  </a:t>
            </a:r>
            <a:r>
              <a:rPr sz="1100" b="1" i="0">
                <a:solidFill>
                  <a:srgbClr val="1E4FA8"/>
                </a:solidFill>
                <a:latin typeface="Calibri"/>
                <a:ea typeface="Calibri"/>
                <a:hlinkClick r:id="rId2"/>
                <a:extLst>
                  <a:ext uri="{A12FA001-AC4F-418D-AE19-62706E023703}">
                    <ahyp:hlinkClr xmlns:ahyp="http://schemas.microsoft.com/office/drawing/2018/hyperlinkcolor" val="tx"/>
                  </a:ext>
                </a:extLst>
              </a:rPr>
              <a:t>css-cascade/inheritance</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66928"/>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6979615" cy="365760"/>
          </a:xfrm>
          <a:prstGeom prst="rect">
            <a:avLst/>
          </a:prstGeom>
          <a:noFill/>
        </p:spPr>
        <p:txBody>
          <a:bodyPr wrap="square" anchor="ctr" lIns="0" rIns="0" tIns="0" bIns="0">
            <a:spAutoFit/>
          </a:bodyPr>
          <a:lstStyle/>
          <a:p>
            <a:pPr algn="l">
              <a:lnSpc>
                <a:spcPct val="110000"/>
              </a:lnSpc>
              <a:spcAft>
                <a:spcPts val="400"/>
              </a:spcAft>
            </a:pPr>
            <a:r>
              <a:rPr sz="2100" b="1" i="0">
                <a:solidFill>
                  <a:srgbClr val="FFFFFF"/>
                </a:solidFill>
                <a:latin typeface="Calibri"/>
                <a:ea typeface="Calibri"/>
              </a:rPr>
              <a:t>Inheritance — What Flows Down</a:t>
            </a:r>
          </a:p>
        </p:txBody>
      </p:sp>
      <p:sp>
        <p:nvSpPr>
          <p:cNvPr id="4" name="TextBox 3"/>
          <p:cNvSpPr txBox="1"/>
          <p:nvPr/>
        </p:nvSpPr>
        <p:spPr>
          <a:xfrm>
            <a:off x="7436815" y="109728"/>
            <a:ext cx="4206240" cy="365760"/>
          </a:xfrm>
          <a:prstGeom prst="rect">
            <a:avLst/>
          </a:prstGeom>
          <a:noFill/>
        </p:spPr>
        <p:txBody>
          <a:bodyPr wrap="square" anchor="ctr" lIns="0" rIns="0" tIns="0" bIns="0">
            <a:spAutoFit/>
          </a:bodyPr>
          <a:lstStyle/>
          <a:p>
            <a:pPr algn="r">
              <a:lnSpc>
                <a:spcPct val="110000"/>
              </a:lnSpc>
              <a:spcAft>
                <a:spcPts val="400"/>
              </a:spcAft>
            </a:pPr>
            <a:r>
              <a:rPr sz="1100" b="1" i="0">
                <a:solidFill>
                  <a:srgbClr val="B9CDEE"/>
                </a:solidFill>
                <a:latin typeface="Calibri"/>
                <a:ea typeface="Calibri"/>
              </a:rPr>
              <a:t>COMP3421 · Inheritance</a:t>
            </a:r>
          </a:p>
        </p:txBody>
      </p:sp>
      <p:sp>
        <p:nvSpPr>
          <p:cNvPr id="5" name="Rounded Rectangle 4"/>
          <p:cNvSpPr/>
          <p:nvPr/>
        </p:nvSpPr>
        <p:spPr>
          <a:xfrm>
            <a:off x="731520" y="1389888"/>
            <a:ext cx="6675120" cy="2651760"/>
          </a:xfrm>
          <a:prstGeom prst="roundRect">
            <a:avLst>
              <a:gd name="adj" fmla="val 5000"/>
            </a:avLst>
          </a:prstGeom>
          <a:solidFill>
            <a:srgbClr val="F0F5FC"/>
          </a:solidFill>
          <a:ln w="12700">
            <a:solidFill>
              <a:srgbClr val="9DC0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51560" y="1609344"/>
            <a:ext cx="6035040" cy="310896"/>
          </a:xfrm>
          <a:prstGeom prst="rect">
            <a:avLst/>
          </a:prstGeom>
          <a:noFill/>
        </p:spPr>
        <p:txBody>
          <a:bodyPr wrap="square" anchor="t" lIns="0" rIns="0" tIns="0" bIns="0">
            <a:spAutoFit/>
          </a:bodyPr>
          <a:lstStyle/>
          <a:p>
            <a:pPr algn="l">
              <a:lnSpc>
                <a:spcPct val="110000"/>
              </a:lnSpc>
              <a:spcAft>
                <a:spcPts val="400"/>
              </a:spcAft>
            </a:pPr>
            <a:r>
              <a:rPr sz="1250" b="0" i="0">
                <a:solidFill>
                  <a:srgbClr val="4A5568"/>
                </a:solidFill>
                <a:latin typeface="Consolas"/>
                <a:ea typeface="Consolas"/>
              </a:rPr>
              <a:t>&lt;div style="color: red;"&gt;</a:t>
            </a:r>
          </a:p>
        </p:txBody>
      </p:sp>
      <p:sp>
        <p:nvSpPr>
          <p:cNvPr id="7" name="TextBox 6"/>
          <p:cNvSpPr txBox="1"/>
          <p:nvPr/>
        </p:nvSpPr>
        <p:spPr>
          <a:xfrm>
            <a:off x="1051560" y="2103120"/>
            <a:ext cx="6035040" cy="457200"/>
          </a:xfrm>
          <a:prstGeom prst="rect">
            <a:avLst/>
          </a:prstGeom>
          <a:noFill/>
        </p:spPr>
        <p:txBody>
          <a:bodyPr wrap="square" anchor="t" lIns="0" rIns="0" tIns="0" bIns="0">
            <a:spAutoFit/>
          </a:bodyPr>
          <a:lstStyle/>
          <a:p>
            <a:pPr algn="l">
              <a:lnSpc>
                <a:spcPct val="110000"/>
              </a:lnSpc>
              <a:spcAft>
                <a:spcPts val="400"/>
              </a:spcAft>
            </a:pPr>
            <a:r>
              <a:rPr sz="2100" b="1" i="0">
                <a:solidFill>
                  <a:srgbClr val="D9534F"/>
                </a:solidFill>
                <a:latin typeface="Calibri"/>
                <a:ea typeface="Calibri"/>
              </a:rPr>
              <a:t>this heading and paragraph are red</a:t>
            </a:r>
          </a:p>
        </p:txBody>
      </p:sp>
      <p:sp>
        <p:nvSpPr>
          <p:cNvPr id="8" name="TextBox 7"/>
          <p:cNvSpPr txBox="1"/>
          <p:nvPr/>
        </p:nvSpPr>
        <p:spPr>
          <a:xfrm>
            <a:off x="1051560" y="2715768"/>
            <a:ext cx="6035040" cy="1005840"/>
          </a:xfrm>
          <a:prstGeom prst="rect">
            <a:avLst/>
          </a:prstGeom>
          <a:noFill/>
        </p:spPr>
        <p:txBody>
          <a:bodyPr wrap="square" anchor="t" lIns="0" rIns="0" tIns="0" bIns="0">
            <a:spAutoFit/>
          </a:bodyPr>
          <a:lstStyle/>
          <a:p>
            <a:pPr algn="l">
              <a:lnSpc>
                <a:spcPct val="130000"/>
              </a:lnSpc>
              <a:spcAft>
                <a:spcPts val="400"/>
              </a:spcAft>
            </a:pPr>
            <a:r>
              <a:rPr sz="1300" b="0" i="0">
                <a:solidFill>
                  <a:srgbClr val="1A2230"/>
                </a:solidFill>
                <a:latin typeface="Calibri"/>
                <a:ea typeface="Calibri"/>
              </a:rPr>
              <a:t>…only the </a:t>
            </a:r>
            <a:r>
              <a:rPr sz="1300" b="0" i="0">
                <a:solidFill>
                  <a:srgbClr val="4A5568"/>
                </a:solidFill>
                <a:latin typeface="Consolas"/>
                <a:ea typeface="Consolas"/>
              </a:rPr>
              <a:t>&lt;div&gt;</a:t>
            </a:r>
            <a:r>
              <a:rPr sz="1300" b="0" i="0">
                <a:solidFill>
                  <a:srgbClr val="1A2230"/>
                </a:solidFill>
                <a:latin typeface="Calibri"/>
                <a:ea typeface="Calibri"/>
              </a:rPr>
              <a:t> was styled. The </a:t>
            </a:r>
            <a:r>
              <a:rPr sz="1300" b="1" i="0">
                <a:solidFill>
                  <a:srgbClr val="B8860B"/>
                </a:solidFill>
                <a:latin typeface="Calibri"/>
                <a:ea typeface="Calibri"/>
              </a:rPr>
              <a:t>color</a:t>
            </a:r>
            <a:r>
              <a:rPr sz="1300" b="0" i="0">
                <a:solidFill>
                  <a:srgbClr val="1A2230"/>
                </a:solidFill>
                <a:latin typeface="Calibri"/>
                <a:ea typeface="Calibri"/>
              </a:rPr>
              <a:t> flowed down to its children automatically.</a:t>
            </a:r>
          </a:p>
        </p:txBody>
      </p:sp>
      <p:sp>
        <p:nvSpPr>
          <p:cNvPr id="9" name="Rounded Rectangle 8"/>
          <p:cNvSpPr/>
          <p:nvPr/>
        </p:nvSpPr>
        <p:spPr>
          <a:xfrm>
            <a:off x="7726679" y="1389888"/>
            <a:ext cx="3916375" cy="2651760"/>
          </a:xfrm>
          <a:prstGeom prst="roundRect">
            <a:avLst>
              <a:gd name="adj" fmla="val 6000"/>
            </a:avLst>
          </a:prstGeom>
          <a:solidFill>
            <a:srgbClr val="FFFFFF"/>
          </a:solidFill>
          <a:ln w="12700">
            <a:solidFill>
              <a:srgbClr val="DD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001000" y="1627632"/>
            <a:ext cx="3367735" cy="365760"/>
          </a:xfrm>
          <a:prstGeom prst="rect">
            <a:avLst/>
          </a:prstGeom>
          <a:noFill/>
        </p:spPr>
        <p:txBody>
          <a:bodyPr wrap="square" anchor="t" lIns="0" rIns="0" tIns="0" bIns="0">
            <a:spAutoFit/>
          </a:bodyPr>
          <a:lstStyle/>
          <a:p>
            <a:pPr algn="l">
              <a:lnSpc>
                <a:spcPct val="110000"/>
              </a:lnSpc>
              <a:spcAft>
                <a:spcPts val="400"/>
              </a:spcAft>
            </a:pPr>
            <a:r>
              <a:rPr sz="1400" b="1" i="0">
                <a:solidFill>
                  <a:srgbClr val="0E3F8C"/>
                </a:solidFill>
                <a:latin typeface="Calibri"/>
                <a:ea typeface="Calibri"/>
              </a:rPr>
              <a:t>stays on the box</a:t>
            </a:r>
          </a:p>
        </p:txBody>
      </p:sp>
      <p:sp>
        <p:nvSpPr>
          <p:cNvPr id="11" name="TextBox 10"/>
          <p:cNvSpPr txBox="1"/>
          <p:nvPr/>
        </p:nvSpPr>
        <p:spPr>
          <a:xfrm>
            <a:off x="8001000" y="2121408"/>
            <a:ext cx="3367735" cy="1554480"/>
          </a:xfrm>
          <a:prstGeom prst="rect">
            <a:avLst/>
          </a:prstGeom>
          <a:noFill/>
        </p:spPr>
        <p:txBody>
          <a:bodyPr wrap="square" anchor="t" lIns="0" rIns="0" tIns="0" bIns="0">
            <a:spAutoFit/>
          </a:bodyPr>
          <a:lstStyle/>
          <a:p>
            <a:pPr algn="l">
              <a:lnSpc>
                <a:spcPct val="135000"/>
              </a:lnSpc>
              <a:spcAft>
                <a:spcPts val="400"/>
              </a:spcAft>
            </a:pPr>
            <a:r>
              <a:rPr sz="1350" b="1" i="0">
                <a:solidFill>
                  <a:srgbClr val="B8860B"/>
                </a:solidFill>
                <a:latin typeface="Consolas"/>
                <a:ea typeface="Consolas"/>
              </a:rPr>
              <a:t>margin  padding  border</a:t>
            </a:r>
            <a:r>
              <a:rPr sz="1300" b="0" i="0">
                <a:solidFill>
                  <a:srgbClr val="4A5568"/>
                </a:solidFill>
                <a:latin typeface="Calibri"/>
                <a:ea typeface="Calibri"/>
              </a:rPr>
              <a:t> — box styles do not flow down to the children.</a:t>
            </a:r>
          </a:p>
        </p:txBody>
      </p:sp>
      <p:sp>
        <p:nvSpPr>
          <p:cNvPr id="12" name="Rounded Rectangle 11"/>
          <p:cNvSpPr/>
          <p:nvPr/>
        </p:nvSpPr>
        <p:spPr>
          <a:xfrm>
            <a:off x="548640" y="5852159"/>
            <a:ext cx="11094415" cy="475488"/>
          </a:xfrm>
          <a:prstGeom prst="roundRect">
            <a:avLst>
              <a:gd name="adj" fmla="val 10000"/>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14400" y="5961888"/>
            <a:ext cx="10362895" cy="310896"/>
          </a:xfrm>
          <a:prstGeom prst="rect">
            <a:avLst/>
          </a:prstGeom>
          <a:noFill/>
        </p:spPr>
        <p:txBody>
          <a:bodyPr wrap="square" anchor="t" lIns="0" rIns="0" tIns="0" bIns="0">
            <a:spAutoFit/>
          </a:bodyPr>
          <a:lstStyle/>
          <a:p>
            <a:pPr algn="l">
              <a:lnSpc>
                <a:spcPct val="110000"/>
              </a:lnSpc>
              <a:spcAft>
                <a:spcPts val="400"/>
              </a:spcAft>
            </a:pPr>
            <a:r>
              <a:rPr sz="1400" b="1" i="0">
                <a:solidFill>
                  <a:srgbClr val="FFFFFF"/>
                </a:solidFill>
                <a:latin typeface="Calibri"/>
                <a:ea typeface="Calibri"/>
              </a:rPr>
              <a:t>color, font and text-align inherit — margin, padding and border do not.</a:t>
            </a:r>
          </a:p>
        </p:txBody>
      </p:sp>
      <p:sp>
        <p:nvSpPr>
          <p:cNvPr id="14" name="Rounded Rectangle 13"/>
          <p:cNvSpPr/>
          <p:nvPr/>
        </p:nvSpPr>
        <p:spPr>
          <a:xfrm>
            <a:off x="548640" y="4389120"/>
            <a:ext cx="3931920" cy="384048"/>
          </a:xfrm>
          <a:prstGeom prst="roundRect">
            <a:avLst>
              <a:gd name="adj" fmla="val 10000"/>
            </a:avLst>
          </a:prstGeom>
          <a:solidFill>
            <a:srgbClr val="F0F5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49808" y="4389120"/>
            <a:ext cx="3529584" cy="384048"/>
          </a:xfrm>
          <a:prstGeom prst="rect">
            <a:avLst/>
          </a:prstGeom>
          <a:noFill/>
        </p:spPr>
        <p:txBody>
          <a:bodyPr wrap="square" anchor="ctr" lIns="0" rIns="0" tIns="0" bIns="0">
            <a:spAutoFit/>
          </a:bodyPr>
          <a:lstStyle/>
          <a:p>
            <a:pPr algn="l">
              <a:lnSpc>
                <a:spcPct val="110000"/>
              </a:lnSpc>
              <a:spcAft>
                <a:spcPts val="400"/>
              </a:spcAft>
            </a:pPr>
            <a:r>
              <a:rPr sz="1100" b="1" i="0">
                <a:solidFill>
                  <a:srgbClr val="4A5568"/>
                </a:solidFill>
                <a:latin typeface="Calibri"/>
                <a:ea typeface="Calibri"/>
              </a:rPr>
              <a:t>open in editor →  </a:t>
            </a:r>
            <a:r>
              <a:rPr sz="1100" b="1" i="0">
                <a:solidFill>
                  <a:srgbClr val="1E4FA8"/>
                </a:solidFill>
                <a:latin typeface="Calibri"/>
                <a:ea typeface="Calibri"/>
                <a:hlinkClick r:id="rId2"/>
                <a:extLst>
                  <a:ext uri="{A12FA001-AC4F-418D-AE19-62706E023703}">
                    <ahyp:hlinkClr xmlns:ahyp="http://schemas.microsoft.com/office/drawing/2018/hyperlinkcolor" val="tx"/>
                  </a:ext>
                </a:extLst>
              </a:rPr>
              <a:t>css-cascade/inheritance</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66928"/>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6979615" cy="365760"/>
          </a:xfrm>
          <a:prstGeom prst="rect">
            <a:avLst/>
          </a:prstGeom>
          <a:noFill/>
        </p:spPr>
        <p:txBody>
          <a:bodyPr wrap="square" anchor="ctr" lIns="0" rIns="0" tIns="0" bIns="0">
            <a:spAutoFit/>
          </a:bodyPr>
          <a:lstStyle/>
          <a:p>
            <a:pPr algn="l">
              <a:lnSpc>
                <a:spcPct val="110000"/>
              </a:lnSpc>
              <a:spcAft>
                <a:spcPts val="400"/>
              </a:spcAft>
            </a:pPr>
            <a:r>
              <a:rPr sz="2100" b="1" i="0">
                <a:solidFill>
                  <a:srgbClr val="FFFFFF"/>
                </a:solidFill>
                <a:latin typeface="Calibri"/>
                <a:ea typeface="Calibri"/>
              </a:rPr>
              <a:t>Key Takeaways</a:t>
            </a:r>
          </a:p>
        </p:txBody>
      </p:sp>
      <p:sp>
        <p:nvSpPr>
          <p:cNvPr id="4" name="TextBox 3"/>
          <p:cNvSpPr txBox="1"/>
          <p:nvPr/>
        </p:nvSpPr>
        <p:spPr>
          <a:xfrm>
            <a:off x="7436815" y="109728"/>
            <a:ext cx="4206240" cy="365760"/>
          </a:xfrm>
          <a:prstGeom prst="rect">
            <a:avLst/>
          </a:prstGeom>
          <a:noFill/>
        </p:spPr>
        <p:txBody>
          <a:bodyPr wrap="square" anchor="ctr" lIns="0" rIns="0" tIns="0" bIns="0">
            <a:spAutoFit/>
          </a:bodyPr>
          <a:lstStyle/>
          <a:p>
            <a:pPr algn="r">
              <a:lnSpc>
                <a:spcPct val="110000"/>
              </a:lnSpc>
              <a:spcAft>
                <a:spcPts val="400"/>
              </a:spcAft>
            </a:pPr>
            <a:r>
              <a:rPr sz="1100" b="1" i="0">
                <a:solidFill>
                  <a:srgbClr val="B9CDEE"/>
                </a:solidFill>
                <a:latin typeface="Calibri"/>
                <a:ea typeface="Calibri"/>
              </a:rPr>
              <a:t>COMP3421 · Lecture 3</a:t>
            </a:r>
          </a:p>
        </p:txBody>
      </p:sp>
      <p:sp>
        <p:nvSpPr>
          <p:cNvPr id="5" name="TextBox 4"/>
          <p:cNvSpPr txBox="1"/>
          <p:nvPr/>
        </p:nvSpPr>
        <p:spPr>
          <a:xfrm>
            <a:off x="822959" y="1252728"/>
            <a:ext cx="10545775" cy="658368"/>
          </a:xfrm>
          <a:prstGeom prst="rect">
            <a:avLst/>
          </a:prstGeom>
          <a:noFill/>
        </p:spPr>
        <p:txBody>
          <a:bodyPr wrap="square" anchor="t" lIns="0" rIns="0" tIns="0" bIns="0">
            <a:spAutoFit/>
          </a:bodyPr>
          <a:lstStyle/>
          <a:p>
            <a:pPr algn="l">
              <a:lnSpc>
                <a:spcPct val="120000"/>
              </a:lnSpc>
              <a:spcAft>
                <a:spcPts val="400"/>
              </a:spcAft>
            </a:pPr>
            <a:r>
              <a:rPr sz="1800" b="0" i="0">
                <a:solidFill>
                  <a:srgbClr val="1A2230"/>
                </a:solidFill>
                <a:latin typeface="Calibri"/>
                <a:ea typeface="Calibri"/>
              </a:rPr>
              <a:t>A declaration is </a:t>
            </a:r>
            <a:r>
              <a:rPr sz="1800" b="1" i="0">
                <a:solidFill>
                  <a:srgbClr val="1E4FA8"/>
                </a:solidFill>
                <a:latin typeface="Calibri"/>
                <a:ea typeface="Calibri"/>
              </a:rPr>
              <a:t>property: value;</a:t>
            </a:r>
            <a:r>
              <a:rPr sz="1800" b="0" i="0">
                <a:solidFill>
                  <a:srgbClr val="1A2230"/>
                </a:solidFill>
                <a:latin typeface="Calibri"/>
                <a:ea typeface="Calibri"/>
              </a:rPr>
              <a:t> — the one piece of grammar.</a:t>
            </a:r>
          </a:p>
        </p:txBody>
      </p:sp>
      <p:sp>
        <p:nvSpPr>
          <p:cNvPr id="6" name="TextBox 5"/>
          <p:cNvSpPr txBox="1"/>
          <p:nvPr/>
        </p:nvSpPr>
        <p:spPr>
          <a:xfrm>
            <a:off x="822959" y="2057400"/>
            <a:ext cx="10545775" cy="658368"/>
          </a:xfrm>
          <a:prstGeom prst="rect">
            <a:avLst/>
          </a:prstGeom>
          <a:noFill/>
        </p:spPr>
        <p:txBody>
          <a:bodyPr wrap="square" anchor="t" lIns="0" rIns="0" tIns="0" bIns="0">
            <a:spAutoFit/>
          </a:bodyPr>
          <a:lstStyle/>
          <a:p>
            <a:pPr algn="l">
              <a:lnSpc>
                <a:spcPct val="120000"/>
              </a:lnSpc>
              <a:spcAft>
                <a:spcPts val="400"/>
              </a:spcAft>
            </a:pPr>
            <a:r>
              <a:rPr sz="1800" b="0" i="0">
                <a:solidFill>
                  <a:srgbClr val="1A2230"/>
                </a:solidFill>
                <a:latin typeface="Calibri"/>
                <a:ea typeface="Calibri"/>
              </a:rPr>
              <a:t>Colour, units, text and font </a:t>
            </a:r>
            <a:r>
              <a:rPr sz="1800" b="1" i="0">
                <a:solidFill>
                  <a:srgbClr val="1E4FA8"/>
                </a:solidFill>
                <a:latin typeface="Calibri"/>
                <a:ea typeface="Calibri"/>
              </a:rPr>
              <a:t>are the vocabulary</a:t>
            </a:r>
            <a:r>
              <a:rPr sz="1800" b="0" i="0">
                <a:solidFill>
                  <a:srgbClr val="1A2230"/>
                </a:solidFill>
                <a:latin typeface="Calibri"/>
                <a:ea typeface="Calibri"/>
              </a:rPr>
              <a:t> of styling.</a:t>
            </a:r>
          </a:p>
        </p:txBody>
      </p:sp>
      <p:sp>
        <p:nvSpPr>
          <p:cNvPr id="7" name="TextBox 6"/>
          <p:cNvSpPr txBox="1"/>
          <p:nvPr/>
        </p:nvSpPr>
        <p:spPr>
          <a:xfrm>
            <a:off x="822959" y="2862072"/>
            <a:ext cx="10545775" cy="658368"/>
          </a:xfrm>
          <a:prstGeom prst="rect">
            <a:avLst/>
          </a:prstGeom>
          <a:noFill/>
        </p:spPr>
        <p:txBody>
          <a:bodyPr wrap="square" anchor="t" lIns="0" rIns="0" tIns="0" bIns="0">
            <a:spAutoFit/>
          </a:bodyPr>
          <a:lstStyle/>
          <a:p>
            <a:pPr algn="l">
              <a:lnSpc>
                <a:spcPct val="120000"/>
              </a:lnSpc>
              <a:spcAft>
                <a:spcPts val="400"/>
              </a:spcAft>
            </a:pPr>
            <a:r>
              <a:rPr sz="1800" b="0" i="0">
                <a:solidFill>
                  <a:srgbClr val="1A2230"/>
                </a:solidFill>
                <a:latin typeface="Calibri"/>
                <a:ea typeface="Calibri"/>
              </a:rPr>
              <a:t>Four ways to write one colour: </a:t>
            </a:r>
            <a:r>
              <a:rPr sz="1800" b="1" i="0">
                <a:solidFill>
                  <a:srgbClr val="1E4FA8"/>
                </a:solidFill>
                <a:latin typeface="Calibri"/>
                <a:ea typeface="Calibri"/>
              </a:rPr>
              <a:t>named · hex · rgb · hsl</a:t>
            </a:r>
            <a:r>
              <a:rPr sz="1800" b="0" i="0">
                <a:solidFill>
                  <a:srgbClr val="1A2230"/>
                </a:solidFill>
                <a:latin typeface="Calibri"/>
                <a:ea typeface="Calibri"/>
              </a:rPr>
              <a:t>.</a:t>
            </a:r>
          </a:p>
        </p:txBody>
      </p:sp>
      <p:sp>
        <p:nvSpPr>
          <p:cNvPr id="8" name="TextBox 7"/>
          <p:cNvSpPr txBox="1"/>
          <p:nvPr/>
        </p:nvSpPr>
        <p:spPr>
          <a:xfrm>
            <a:off x="822959" y="3666744"/>
            <a:ext cx="10545775" cy="658368"/>
          </a:xfrm>
          <a:prstGeom prst="rect">
            <a:avLst/>
          </a:prstGeom>
          <a:noFill/>
        </p:spPr>
        <p:txBody>
          <a:bodyPr wrap="square" anchor="t" lIns="0" rIns="0" tIns="0" bIns="0">
            <a:spAutoFit/>
          </a:bodyPr>
          <a:lstStyle/>
          <a:p>
            <a:pPr algn="l">
              <a:lnSpc>
                <a:spcPct val="120000"/>
              </a:lnSpc>
              <a:spcAft>
                <a:spcPts val="400"/>
              </a:spcAft>
            </a:pPr>
            <a:r>
              <a:rPr sz="1800" b="0" i="0">
                <a:solidFill>
                  <a:srgbClr val="1A2230"/>
                </a:solidFill>
                <a:latin typeface="Calibri"/>
                <a:ea typeface="Calibri"/>
              </a:rPr>
              <a:t>Text styles </a:t>
            </a:r>
            <a:r>
              <a:rPr sz="1800" b="1" i="0">
                <a:solidFill>
                  <a:srgbClr val="1E4FA8"/>
                </a:solidFill>
                <a:latin typeface="Calibri"/>
                <a:ea typeface="Calibri"/>
              </a:rPr>
              <a:t>inherit</a:t>
            </a:r>
            <a:r>
              <a:rPr sz="1800" b="0" i="0">
                <a:solidFill>
                  <a:srgbClr val="1A2230"/>
                </a:solidFill>
                <a:latin typeface="Calibri"/>
                <a:ea typeface="Calibri"/>
              </a:rPr>
              <a:t> — set them on the parent once.</a:t>
            </a:r>
          </a:p>
        </p:txBody>
      </p:sp>
      <p:sp>
        <p:nvSpPr>
          <p:cNvPr id="9" name="TextBox 8"/>
          <p:cNvSpPr txBox="1"/>
          <p:nvPr/>
        </p:nvSpPr>
        <p:spPr>
          <a:xfrm>
            <a:off x="822959" y="4471416"/>
            <a:ext cx="10545775" cy="658368"/>
          </a:xfrm>
          <a:prstGeom prst="rect">
            <a:avLst/>
          </a:prstGeom>
          <a:noFill/>
        </p:spPr>
        <p:txBody>
          <a:bodyPr wrap="square" anchor="t" lIns="0" rIns="0" tIns="0" bIns="0">
            <a:spAutoFit/>
          </a:bodyPr>
          <a:lstStyle/>
          <a:p>
            <a:pPr algn="l">
              <a:lnSpc>
                <a:spcPct val="120000"/>
              </a:lnSpc>
              <a:spcAft>
                <a:spcPts val="400"/>
              </a:spcAft>
            </a:pPr>
            <a:r>
              <a:rPr sz="1800" b="0" i="0">
                <a:solidFill>
                  <a:srgbClr val="1A2230"/>
                </a:solidFill>
                <a:latin typeface="Calibri"/>
                <a:ea typeface="Calibri"/>
              </a:rPr>
              <a:t>The style attribute </a:t>
            </a:r>
            <a:r>
              <a:rPr sz="1800" b="1" i="0">
                <a:solidFill>
                  <a:srgbClr val="1E4FA8"/>
                </a:solidFill>
                <a:latin typeface="Calibri"/>
                <a:ea typeface="Calibri"/>
              </a:rPr>
              <a:t>styles one element at a time</a:t>
            </a:r>
            <a:r>
              <a:rPr sz="1800" b="0" i="0">
                <a:solidFill>
                  <a:srgbClr val="1A2230"/>
                </a:solidFill>
                <a:latin typeface="Calibri"/>
                <a:ea typeface="Calibri"/>
              </a:rPr>
              <a:t> — that is its limit.</a:t>
            </a:r>
          </a:p>
        </p:txBody>
      </p:sp>
      <p:sp>
        <p:nvSpPr>
          <p:cNvPr id="10" name="Rounded Rectangle 9"/>
          <p:cNvSpPr/>
          <p:nvPr/>
        </p:nvSpPr>
        <p:spPr>
          <a:xfrm>
            <a:off x="548640" y="5760720"/>
            <a:ext cx="11094415" cy="502920"/>
          </a:xfrm>
          <a:prstGeom prst="roundRect">
            <a:avLst>
              <a:gd name="adj" fmla="val 12000"/>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5870448"/>
            <a:ext cx="10362895" cy="329184"/>
          </a:xfrm>
          <a:prstGeom prst="rect">
            <a:avLst/>
          </a:prstGeom>
          <a:noFill/>
        </p:spPr>
        <p:txBody>
          <a:bodyPr wrap="square" anchor="t" lIns="0" rIns="0" tIns="0" bIns="0">
            <a:spAutoFit/>
          </a:bodyPr>
          <a:lstStyle/>
          <a:p>
            <a:pPr algn="l">
              <a:lnSpc>
                <a:spcPct val="110000"/>
              </a:lnSpc>
              <a:spcAft>
                <a:spcPts val="400"/>
              </a:spcAft>
            </a:pPr>
            <a:r>
              <a:rPr sz="1400" b="1" i="0">
                <a:solidFill>
                  <a:srgbClr val="FFFFFF"/>
                </a:solidFill>
                <a:latin typeface="Calibri"/>
                <a:ea typeface="Calibri"/>
              </a:rPr>
              <a:t>Next week: CSS II — selectors, cascade and the box model.</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1554480"/>
            <a:ext cx="9966960" cy="365760"/>
          </a:xfrm>
          <a:prstGeom prst="rect">
            <a:avLst/>
          </a:prstGeom>
          <a:noFill/>
        </p:spPr>
        <p:txBody>
          <a:bodyPr wrap="square" anchor="t" lIns="0" rIns="0" tIns="0" bIns="0">
            <a:spAutoFit/>
          </a:bodyPr>
          <a:lstStyle/>
          <a:p>
            <a:pPr algn="ctr">
              <a:lnSpc>
                <a:spcPct val="110000"/>
              </a:lnSpc>
              <a:spcAft>
                <a:spcPts val="400"/>
              </a:spcAft>
            </a:pPr>
            <a:r>
              <a:rPr sz="1400" b="1" i="0">
                <a:solidFill>
                  <a:srgbClr val="B9CDEE"/>
                </a:solidFill>
                <a:latin typeface="Calibri"/>
                <a:ea typeface="Calibri"/>
              </a:rPr>
              <a:t>COMP3421 · LECTURE 03 · WEEK 3</a:t>
            </a:r>
          </a:p>
        </p:txBody>
      </p:sp>
      <p:sp>
        <p:nvSpPr>
          <p:cNvPr id="4" name="TextBox 3"/>
          <p:cNvSpPr txBox="1"/>
          <p:nvPr/>
        </p:nvSpPr>
        <p:spPr>
          <a:xfrm>
            <a:off x="1097280" y="2103120"/>
            <a:ext cx="9966960" cy="1005840"/>
          </a:xfrm>
          <a:prstGeom prst="rect">
            <a:avLst/>
          </a:prstGeom>
          <a:noFill/>
        </p:spPr>
        <p:txBody>
          <a:bodyPr wrap="square" anchor="t" lIns="0" rIns="0" tIns="0" bIns="0">
            <a:spAutoFit/>
          </a:bodyPr>
          <a:lstStyle/>
          <a:p>
            <a:pPr algn="ctr">
              <a:lnSpc>
                <a:spcPct val="110000"/>
              </a:lnSpc>
              <a:spcAft>
                <a:spcPts val="400"/>
              </a:spcAft>
            </a:pPr>
            <a:r>
              <a:rPr sz="5800" b="1" i="0">
                <a:solidFill>
                  <a:srgbClr val="FFFFFF"/>
                </a:solidFill>
                <a:latin typeface="Calibri"/>
                <a:ea typeface="Calibri"/>
              </a:rPr>
              <a:t>Thank You</a:t>
            </a:r>
          </a:p>
        </p:txBody>
      </p:sp>
      <p:sp>
        <p:nvSpPr>
          <p:cNvPr id="5" name="Rectangle 4"/>
          <p:cNvSpPr/>
          <p:nvPr/>
        </p:nvSpPr>
        <p:spPr>
          <a:xfrm>
            <a:off x="5410047" y="3383280"/>
            <a:ext cx="1371600" cy="64008"/>
          </a:xfrm>
          <a:prstGeom prst="rect">
            <a:avLst/>
          </a:prstGeom>
          <a:solidFill>
            <a:srgbClr val="FFC1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4678527" y="3794760"/>
            <a:ext cx="2834640" cy="566928"/>
          </a:xfrm>
          <a:prstGeom prst="roundRect">
            <a:avLst>
              <a:gd name="adj" fmla="val 50000"/>
            </a:avLst>
          </a:prstGeom>
          <a:solidFill>
            <a:srgbClr val="E8EF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678527" y="3913632"/>
            <a:ext cx="2834640" cy="347472"/>
          </a:xfrm>
          <a:prstGeom prst="rect">
            <a:avLst/>
          </a:prstGeom>
          <a:noFill/>
        </p:spPr>
        <p:txBody>
          <a:bodyPr wrap="square" anchor="t" lIns="0" rIns="0" tIns="0" bIns="0">
            <a:spAutoFit/>
          </a:bodyPr>
          <a:lstStyle/>
          <a:p>
            <a:pPr algn="ctr">
              <a:lnSpc>
                <a:spcPct val="110000"/>
              </a:lnSpc>
              <a:spcAft>
                <a:spcPts val="400"/>
              </a:spcAft>
            </a:pPr>
            <a:r>
              <a:rPr sz="1600" b="1" i="0">
                <a:solidFill>
                  <a:srgbClr val="0E3F8C"/>
                </a:solidFill>
                <a:latin typeface="Calibri"/>
                <a:ea typeface="Calibri"/>
              </a:rPr>
              <a:t>Questions &amp; Discussion</a:t>
            </a:r>
          </a:p>
        </p:txBody>
      </p:sp>
      <p:sp>
        <p:nvSpPr>
          <p:cNvPr id="8" name="TextBox 7"/>
          <p:cNvSpPr txBox="1"/>
          <p:nvPr/>
        </p:nvSpPr>
        <p:spPr>
          <a:xfrm>
            <a:off x="1097280" y="4892040"/>
            <a:ext cx="9966960" cy="365760"/>
          </a:xfrm>
          <a:prstGeom prst="rect">
            <a:avLst/>
          </a:prstGeom>
          <a:noFill/>
        </p:spPr>
        <p:txBody>
          <a:bodyPr wrap="square" anchor="t" lIns="0" rIns="0" tIns="0" bIns="0">
            <a:spAutoFit/>
          </a:bodyPr>
          <a:lstStyle/>
          <a:p>
            <a:pPr algn="ctr">
              <a:lnSpc>
                <a:spcPct val="110000"/>
              </a:lnSpc>
              <a:spcAft>
                <a:spcPts val="400"/>
              </a:spcAft>
            </a:pPr>
            <a:r>
              <a:rPr sz="1450" b="0" i="0">
                <a:solidFill>
                  <a:srgbClr val="B9CDEE"/>
                </a:solidFill>
                <a:latin typeface="Calibri"/>
                <a:ea typeface="Calibri"/>
              </a:rPr>
              <a:t>Prof. Lei Yang · ray.yang@polyu.edu.hk</a:t>
            </a:r>
          </a:p>
        </p:txBody>
      </p:sp>
      <p:sp>
        <p:nvSpPr>
          <p:cNvPr id="9" name="TextBox 8"/>
          <p:cNvSpPr txBox="1"/>
          <p:nvPr/>
        </p:nvSpPr>
        <p:spPr>
          <a:xfrm>
            <a:off x="1097280" y="5303520"/>
            <a:ext cx="9966960" cy="365760"/>
          </a:xfrm>
          <a:prstGeom prst="rect">
            <a:avLst/>
          </a:prstGeom>
          <a:noFill/>
        </p:spPr>
        <p:txBody>
          <a:bodyPr wrap="square" anchor="t" lIns="0" rIns="0" tIns="0" bIns="0">
            <a:spAutoFit/>
          </a:bodyPr>
          <a:lstStyle/>
          <a:p>
            <a:pPr algn="ctr">
              <a:lnSpc>
                <a:spcPct val="110000"/>
              </a:lnSpc>
              <a:spcAft>
                <a:spcPts val="400"/>
              </a:spcAft>
            </a:pPr>
            <a:r>
              <a:rPr sz="1450" b="0" i="0">
                <a:solidFill>
                  <a:srgbClr val="B9CDEE"/>
                </a:solidFill>
                <a:latin typeface="Calibri"/>
                <a:ea typeface="Calibri"/>
              </a:rPr>
              <a:t>Next: Week 4 — CSS II: selectors, cascade &amp; the box model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5B9BD5"/>
      </a:hlink>
      <a:folHlink>
        <a:srgbClr val="5B9BD5"/>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