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7"/>
  </p:normalViewPr>
  <p:slideViewPr>
    <p:cSldViewPr snapToGrid="0" snapToObjects="1">
      <p:cViewPr varScale="1">
        <p:scale>
          <a:sx n="119" d="100"/>
          <a:sy n="119" d="100"/>
        </p:scale>
        <p:origin x="1080"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600" name="Footer Left"/>
          <p:cNvSpPr/>
          <p:nvPr/>
        </p:nvSpPr>
        <p:spPr>
          <a:xfrm>
            <a:off x="548640" y="6473952"/>
            <a:ext cx="8686800" cy="274320"/>
          </a:xfrm>
          <a:prstGeom prst="rect">
            <a:avLst/>
          </a:prstGeom>
        </p:spPr>
        <p:txBody>
          <a:bodyPr wrap="none"/>
          <a:lstStyle/>
          <a:p>
            <a:r>
              <a:rPr lang="en-US" sz="950">
                <a:solidFill>
                  <a:srgbClr val="8B97A8"/>
                </a:solidFill>
              </a:rPr>
              <a:t>COMP3421 Web Application Design and Development · The Hong Kong Polytechnic University · Department of Computing</a:t>
            </a:r>
          </a:p>
        </p:txBody>
      </p:sp>
      <p:sp>
        <p:nvSpPr>
          <p:cNvPr id="601" name="Footer Page"/>
          <p:cNvSpPr/>
          <p:nvPr/>
        </p:nvSpPr>
        <p:spPr>
          <a:xfrm>
            <a:off x="9265615" y="6473952"/>
            <a:ext cx="2377440" cy="274320"/>
          </a:xfrm>
          <a:prstGeom prst="rect">
            <a:avLst/>
          </a:prstGeom>
        </p:spPr>
        <p:txBody>
          <a:bodyPr wrap="none"/>
          <a:lstStyle/>
          <a:p>
            <a:pPr algn="r"/>
            <a:fld id="{F4D77CD5-8215-4385-A4F8-192CC619759E}" type="slidenum">
              <a:rPr lang="en-US" sz="1050" b="1">
                <a:solidFill>
                  <a:srgbClr val="1E4FA8"/>
                </a:solidFill>
              </a:rPr>
              <a:t>‹#›</a:t>
            </a:fld>
            <a:r>
              <a:rPr lang="en-US" sz="950">
                <a:solidFill>
                  <a:srgbClr val="8B97A8"/>
                </a:solidFill>
              </a:rPr>
              <a:t> / 69</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tagsysx.github.io/comp3421/"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tagsysx.github.io/comp3421/editor.html?example=css-styling/showcase"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tagsysx.github.io/comp3421/editor.html?example=css-selectors/selector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tagsysx.github.io/comp3421/editor.html?example=css-cascade/placement"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tagsysx.github.io/comp3421/editor.html?example=css-selectors/selectors"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tagsysx.github.io/comp3421/editor.html?example=css-selectors/hello"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tagsysx.github.io/comp3421/editor.html?example=css-selectors/hello"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tagsysx.github.io/comp3421/editor.html?example=css-selectors/selectors"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tagsysx.github.io/comp3421/editor.html?example=css-selectors/element"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tagsysx.github.io/comp3421/editor.html?example=css-selectors/id"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tagsysx.github.io/comp3421/editor.html?example=css-selectors/class"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tagsysx.github.io/comp3421/editor.html?example=css-selectors/universal"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tagsysx.github.io/comp3421/editor.html?example=css-selectors/selectors"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s://tagsysx.github.io/comp3421/editor.html?example=css-selectors/grouping"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tagsysx.github.io/comp3421/editor.html?example=css-selectors/descendant"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tagsysx.github.io/comp3421/editor.html?example=css-selectors/child"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tagsysx.github.io/comp3421/editor.html?example=css-selectors/adjacent-sibling"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tagsysx.github.io/comp3421/editor.html?example=css-selectors/general-sibling"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tagsysx.github.io/comp3421/editor.html?example=css-selectors/attribute"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tagsysx.github.io/comp3421/editor.html?example=css-selectors/attribute"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tagsysx.github.io/comp3421/editor.html?example=css-selectors/pseudo-class-state"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s://tagsysx.github.io/comp3421/editor.html?example=css-selectors/pseudo-class-structure"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hyperlink" Target="https://tagsysx.github.io/comp3421/editor.html?example=css-selectors/pseudo-element"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tagsysx.github.io/comp3421/editor.html?example=css-selectors/hello"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tagsysx.github.io/comp3421/editor.html?example=css-cascade/cascade"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hyperlink" Target="https://tagsysx.github.io/comp3421/editor.html?example=css-cascade/placement"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hyperlink" Target="https://tagsysx.github.io/comp3421/editor.html?example=css-cascade/cascade"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hyperlink" Target="https://tagsysx.github.io/comp3421/editor.html?example=css-cascade/cascade"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hyperlink" Target="https://tagsysx.github.io/comp3421/editor.html?example=css-layout/every-element-is-a-box"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hyperlink" Target="https://tagsysx.github.io/comp3421/editor.html?example=css-layout/box-model"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https://tagsysx.github.io/comp3421/editor.html?example=css-layout/box-model"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https://tagsysx.github.io/comp3421/editor.html?example=css-layout/box-model"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https://tagsysx.github.io/comp3421/editor.html?example=css-layout/border-style"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hyperlink" Target="https://tagsysx.github.io/comp3421/editor.html?example=css-layout/border-width-colour"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hyperlink" Target="https://tagsysx.github.io/comp3421/editor.html?example=css-layout/border-sides"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hyperlink" Target="https://tagsysx.github.io/comp3421/editor.html?example=css-layout/border-radius"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hyperlink" Target="https://tagsysx.github.io/comp3421/editor.html?example=css-layout/border-radius"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s://9elements.github.io/fancy-border-radius/" TargetMode="External"/><Relationship Id="rId2" Type="http://schemas.openxmlformats.org/officeDocument/2006/relationships/hyperlink" Target="https://tagsysx.github.io/comp3421/editor.html?example=css-layout/border-radius"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https://tagsysx.github.io/comp3421/editor.html?example=css-layout/padding"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hyperlink" Target="https://tagsysx.github.io/comp3421/editor.html?example=css-layout/margin"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hyperlink" Target="https://tagsysx.github.io/comp3421/editor.html?example=css-layout/margin-collapsing"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hyperlink" Target="https://tagsysx.github.io/comp3421/editor.html?example=css-layout/outline"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hyperlink" Target="https://tagsysx.github.io/comp3421/editor.html?example=css-layout/width-height"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hyperlink" Target="https://tagsysx.github.io/comp3421/editor.html?example=css-layout/box-sizing" TargetMode="Externa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hyperlink" Target="https://tagsysx.github.io/comp3421/editor.html?example=css-layout/background-shorthand"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hyperlink" Target="https://tagsysx.github.io/comp3421/editor.html?example=css-layout/background-color"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hyperlink" Target="https://tagsysx.github.io/comp3421/editor.html?example=css-layout/background-image"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hyperlink" Target="https://tagsysx.github.io/comp3421/editor.html?example=css-layout/background-repeat"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hyperlink" Target="https://tagsysx.github.io/comp3421/editor.html?example=css-layout/background-position"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hyperlink" Target="https://tagsysx.github.io/comp3421/editor.html?example=css-layout/background-attachment" TargetMode="Externa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hyperlink" Target="https://tagsysx.github.io/comp3421/editor.html?example=css-layout/background-shorthand"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hyperlink" Target="https://tagsysx.github.io/comp3421/editor.html?example=css-layout/blend-modes" TargetMode="Externa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hyperlink" Target="https://tagsysx.github.io/comp3421/editor.html?example=css-layout/image-sprites"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hyperlink" Target="https://tagsysx.github.io/comp3421/editor.html?example=css-layout/image-sprites"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777240"/>
            <a:ext cx="10972800" cy="731520"/>
          </a:xfrm>
          <a:prstGeom prst="rect">
            <a:avLst/>
          </a:prstGeom>
          <a:noFill/>
        </p:spPr>
        <p:txBody>
          <a:bodyPr wrap="square" lIns="0" tIns="0" rIns="0" bIns="0" anchor="t">
            <a:spAutoFit/>
          </a:bodyPr>
          <a:lstStyle/>
          <a:p>
            <a:pPr algn="l">
              <a:lnSpc>
                <a:spcPct val="110000"/>
              </a:lnSpc>
              <a:spcAft>
                <a:spcPts val="200"/>
              </a:spcAft>
            </a:pPr>
            <a:r>
              <a:rPr sz="1300" b="1" i="0">
                <a:solidFill>
                  <a:srgbClr val="B9CDEE"/>
                </a:solidFill>
                <a:latin typeface="Calibri"/>
                <a:ea typeface="Calibri"/>
              </a:rPr>
              <a:t>THE HONG KONG POLYTECHNIC UNIVERSITY · DEPARTMENT OF COMPUTING</a:t>
            </a:r>
            <a:r>
              <a:rPr sz="1700" b="1" i="0">
                <a:solidFill>
                  <a:srgbClr val="FFFFFF"/>
                </a:solidFill>
                <a:latin typeface="Calibri"/>
                <a:ea typeface="Calibri"/>
              </a:rPr>
              <a:t>
COMP3421 Web Application Design and Development</a:t>
            </a:r>
          </a:p>
        </p:txBody>
      </p:sp>
      <p:sp>
        <p:nvSpPr>
          <p:cNvPr id="5" name="Rounded Rectangle 4"/>
          <p:cNvSpPr/>
          <p:nvPr/>
        </p:nvSpPr>
        <p:spPr>
          <a:xfrm>
            <a:off x="548640" y="1783080"/>
            <a:ext cx="1691640" cy="457200"/>
          </a:xfrm>
          <a:prstGeom prst="roundRect">
            <a:avLst>
              <a:gd name="adj" fmla="val 5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47088"/>
            <a:ext cx="1691640" cy="329184"/>
          </a:xfrm>
          <a:prstGeom prst="rect">
            <a:avLst/>
          </a:prstGeom>
          <a:noFill/>
        </p:spPr>
        <p:txBody>
          <a:bodyPr wrap="square" lIns="0" tIns="0" rIns="0" bIns="0" anchor="t">
            <a:spAutoFit/>
          </a:bodyPr>
          <a:lstStyle/>
          <a:p>
            <a:pPr algn="ctr">
              <a:lnSpc>
                <a:spcPct val="110000"/>
              </a:lnSpc>
              <a:spcAft>
                <a:spcPts val="400"/>
              </a:spcAft>
            </a:pPr>
            <a:r>
              <a:rPr sz="1600" b="1" i="0">
                <a:solidFill>
                  <a:srgbClr val="FFFFFF"/>
                </a:solidFill>
                <a:latin typeface="Calibri"/>
                <a:ea typeface="Calibri"/>
              </a:rPr>
              <a:t>COMP3421</a:t>
            </a:r>
          </a:p>
        </p:txBody>
      </p:sp>
      <p:sp>
        <p:nvSpPr>
          <p:cNvPr id="7" name="TextBox 6"/>
          <p:cNvSpPr txBox="1"/>
          <p:nvPr/>
        </p:nvSpPr>
        <p:spPr>
          <a:xfrm>
            <a:off x="548640" y="2514600"/>
            <a:ext cx="11064240" cy="1463040"/>
          </a:xfrm>
          <a:prstGeom prst="rect">
            <a:avLst/>
          </a:prstGeom>
          <a:noFill/>
        </p:spPr>
        <p:txBody>
          <a:bodyPr wrap="square" lIns="0" tIns="0" rIns="0" bIns="0" anchor="t">
            <a:spAutoFit/>
          </a:bodyPr>
          <a:lstStyle/>
          <a:p>
            <a:pPr algn="l">
              <a:lnSpc>
                <a:spcPct val="105000"/>
              </a:lnSpc>
              <a:spcAft>
                <a:spcPts val="400"/>
              </a:spcAft>
            </a:pPr>
            <a:r>
              <a:rPr sz="4400" b="1" i="0">
                <a:solidFill>
                  <a:srgbClr val="FFFFFF"/>
                </a:solidFill>
                <a:latin typeface="Calibri"/>
                <a:ea typeface="Calibri"/>
              </a:rPr>
              <a:t>CSS II — Selectors, Cascade &amp; Box Model</a:t>
            </a:r>
          </a:p>
        </p:txBody>
      </p:sp>
      <p:sp>
        <p:nvSpPr>
          <p:cNvPr id="8" name="TextBox 7"/>
          <p:cNvSpPr txBox="1"/>
          <p:nvPr/>
        </p:nvSpPr>
        <p:spPr>
          <a:xfrm>
            <a:off x="548640" y="3794760"/>
            <a:ext cx="11064240" cy="822960"/>
          </a:xfrm>
          <a:prstGeom prst="rect">
            <a:avLst/>
          </a:prstGeom>
          <a:noFill/>
        </p:spPr>
        <p:txBody>
          <a:bodyPr wrap="square" lIns="0" tIns="0" rIns="0" bIns="0" anchor="t">
            <a:spAutoFit/>
          </a:bodyPr>
          <a:lstStyle/>
          <a:p>
            <a:pPr algn="l">
              <a:lnSpc>
                <a:spcPct val="125000"/>
              </a:lnSpc>
              <a:spcAft>
                <a:spcPts val="400"/>
              </a:spcAft>
            </a:pPr>
            <a:r>
              <a:rPr sz="1900" b="0" i="0">
                <a:solidFill>
                  <a:srgbClr val="B9CDEE"/>
                </a:solidFill>
                <a:latin typeface="Calibri"/>
                <a:ea typeface="Calibri"/>
              </a:rPr>
              <a:t>How rules target elements, which declaration wins, and what an element's box is made of.</a:t>
            </a:r>
          </a:p>
        </p:txBody>
      </p:sp>
      <p:sp>
        <p:nvSpPr>
          <p:cNvPr id="9" name="TextBox 8"/>
          <p:cNvSpPr txBox="1"/>
          <p:nvPr/>
        </p:nvSpPr>
        <p:spPr>
          <a:xfrm>
            <a:off x="548640" y="4846320"/>
            <a:ext cx="11064240" cy="365760"/>
          </a:xfrm>
          <a:prstGeom prst="rect">
            <a:avLst/>
          </a:prstGeom>
          <a:noFill/>
        </p:spPr>
        <p:txBody>
          <a:bodyPr wrap="square" lIns="0" tIns="0" rIns="0" bIns="0" anchor="t">
            <a:spAutoFit/>
          </a:bodyPr>
          <a:lstStyle/>
          <a:p>
            <a:pPr algn="l">
              <a:lnSpc>
                <a:spcPct val="110000"/>
              </a:lnSpc>
              <a:spcAft>
                <a:spcPts val="400"/>
              </a:spcAft>
            </a:pPr>
            <a:r>
              <a:rPr sz="1400" b="1" i="0">
                <a:solidFill>
                  <a:srgbClr val="FFFFFF"/>
                </a:solidFill>
                <a:latin typeface="Calibri"/>
                <a:ea typeface="Calibri"/>
              </a:rPr>
              <a:t>COMP3421 · LECTURE 04 · WEEK 4</a:t>
            </a:r>
          </a:p>
        </p:txBody>
      </p:sp>
      <p:sp>
        <p:nvSpPr>
          <p:cNvPr id="10" name="TextBox 9"/>
          <p:cNvSpPr txBox="1"/>
          <p:nvPr/>
        </p:nvSpPr>
        <p:spPr>
          <a:xfrm>
            <a:off x="548640" y="5257800"/>
            <a:ext cx="11064240" cy="292608"/>
          </a:xfrm>
          <a:prstGeom prst="rect">
            <a:avLst/>
          </a:prstGeom>
          <a:noFill/>
        </p:spPr>
        <p:txBody>
          <a:bodyPr wrap="square" lIns="0" tIns="0" rIns="0" bIns="0" anchor="t">
            <a:spAutoFit/>
          </a:bodyPr>
          <a:lstStyle/>
          <a:p>
            <a:pPr algn="l">
              <a:lnSpc>
                <a:spcPct val="110000"/>
              </a:lnSpc>
              <a:spcAft>
                <a:spcPts val="400"/>
              </a:spcAft>
            </a:pPr>
            <a:r>
              <a:rPr sz="1300" b="0" i="0">
                <a:solidFill>
                  <a:srgbClr val="B9CDEE"/>
                </a:solidFill>
                <a:latin typeface="Calibri"/>
                <a:ea typeface="Calibri"/>
              </a:rPr>
              <a:t>Lecture 4 · Week 4 · Wed 12:30–14:20 · HHBUG06</a:t>
            </a:r>
          </a:p>
        </p:txBody>
      </p:sp>
      <p:sp>
        <p:nvSpPr>
          <p:cNvPr id="11" name="TextBox 10"/>
          <p:cNvSpPr txBox="1"/>
          <p:nvPr/>
        </p:nvSpPr>
        <p:spPr>
          <a:xfrm>
            <a:off x="548640" y="5605272"/>
            <a:ext cx="11064240" cy="292608"/>
          </a:xfrm>
          <a:prstGeom prst="rect">
            <a:avLst/>
          </a:prstGeom>
          <a:noFill/>
        </p:spPr>
        <p:txBody>
          <a:bodyPr wrap="square" lIns="0" tIns="0" rIns="0" bIns="0" anchor="t">
            <a:spAutoFit/>
          </a:bodyPr>
          <a:lstStyle/>
          <a:p>
            <a:pPr algn="l">
              <a:lnSpc>
                <a:spcPct val="110000"/>
              </a:lnSpc>
              <a:spcAft>
                <a:spcPts val="400"/>
              </a:spcAft>
            </a:pPr>
            <a:r>
              <a:rPr sz="1300" b="0" i="0">
                <a:solidFill>
                  <a:srgbClr val="B9CDEE"/>
                </a:solidFill>
                <a:latin typeface="Calibri"/>
                <a:ea typeface="Calibri"/>
              </a:rPr>
              <a:t>Examples &amp; code:  </a:t>
            </a:r>
            <a:r>
              <a:rPr sz="1300" b="1" i="0">
                <a:solidFill>
                  <a:srgbClr val="FFFFFF"/>
                </a:solidFill>
                <a:latin typeface="Calibri"/>
                <a:ea typeface="Calibri"/>
                <a:hlinkClick r:id="rId2"/>
                <a:extLst>
                  <a:ext uri="{A12FA001-AC4F-418D-AE19-62706E023703}">
                    <ahyp:hlinkClr xmlns:ahyp="http://schemas.microsoft.com/office/drawing/2018/hyperlinkcolor" xmlns="" val="tx"/>
                  </a:ext>
                </a:extLst>
              </a:rPr>
              <a:t>tagsysx.github.io/comp3421/</a:t>
            </a:r>
          </a:p>
        </p:txBody>
      </p:sp>
      <p:sp>
        <p:nvSpPr>
          <p:cNvPr id="12" name="TextBox 11"/>
          <p:cNvSpPr txBox="1"/>
          <p:nvPr/>
        </p:nvSpPr>
        <p:spPr>
          <a:xfrm>
            <a:off x="548640" y="5952744"/>
            <a:ext cx="11064240" cy="292608"/>
          </a:xfrm>
          <a:prstGeom prst="rect">
            <a:avLst/>
          </a:prstGeom>
          <a:noFill/>
        </p:spPr>
        <p:txBody>
          <a:bodyPr wrap="square" lIns="0" tIns="0" rIns="0" bIns="0" anchor="t">
            <a:spAutoFit/>
          </a:bodyPr>
          <a:lstStyle/>
          <a:p>
            <a:pPr algn="l">
              <a:lnSpc>
                <a:spcPct val="110000"/>
              </a:lnSpc>
              <a:spcAft>
                <a:spcPts val="400"/>
              </a:spcAft>
            </a:pPr>
            <a:r>
              <a:rPr sz="1300" b="1" i="0">
                <a:solidFill>
                  <a:srgbClr val="FFFFFF"/>
                </a:solidFill>
                <a:latin typeface="Calibri"/>
                <a:ea typeface="Calibri"/>
              </a:rPr>
              <a:t>Prof. Lei Yang</a:t>
            </a:r>
          </a:p>
        </p:txBody>
      </p:sp>
      <p:sp>
        <p:nvSpPr>
          <p:cNvPr id="13" name="TextBox 12"/>
          <p:cNvSpPr txBox="1"/>
          <p:nvPr/>
        </p:nvSpPr>
        <p:spPr>
          <a:xfrm>
            <a:off x="548640" y="6053328"/>
            <a:ext cx="11064240" cy="274320"/>
          </a:xfrm>
          <a:prstGeom prst="rect">
            <a:avLst/>
          </a:prstGeom>
          <a:noFill/>
        </p:spPr>
        <p:txBody>
          <a:bodyPr wrap="square" lIns="0" tIns="0" rIns="0" bIns="0" anchor="t">
            <a:spAutoFit/>
          </a:bodyPr>
          <a:lstStyle/>
          <a:p>
            <a:pPr algn="r">
              <a:lnSpc>
                <a:spcPct val="110000"/>
              </a:lnSpc>
              <a:spcAft>
                <a:spcPts val="400"/>
              </a:spcAft>
            </a:pPr>
            <a:r>
              <a:rPr sz="1100" b="0" i="0">
                <a:solidFill>
                  <a:srgbClr val="9DC0EE"/>
                </a:solidFill>
                <a:latin typeface="Calibri"/>
                <a:ea typeface="Calibri"/>
              </a:rPr>
              <a:t>version  </a:t>
            </a:r>
            <a:r>
              <a:rPr sz="1100" b="1" i="0">
                <a:solidFill>
                  <a:srgbClr val="FFFFFF"/>
                </a:solidFill>
                <a:latin typeface="Calibri"/>
                <a:ea typeface="Calibri"/>
              </a:rPr>
              <a:t>202609292257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685800"/>
            <a:ext cx="5486400" cy="320040"/>
          </a:xfrm>
          <a:prstGeom prst="rect">
            <a:avLst/>
          </a:prstGeom>
          <a:noFill/>
        </p:spPr>
        <p:txBody>
          <a:bodyPr wrap="square" lIns="0" tIns="0" rIns="0" bIns="0" anchor="t">
            <a:spAutoFit/>
          </a:bodyPr>
          <a:lstStyle/>
          <a:p>
            <a:pPr algn="l">
              <a:lnSpc>
                <a:spcPct val="110000"/>
              </a:lnSpc>
              <a:spcAft>
                <a:spcPts val="400"/>
              </a:spcAft>
            </a:pPr>
            <a:r>
              <a:rPr sz="1200" b="1" i="0">
                <a:solidFill>
                  <a:srgbClr val="1E4FA8"/>
                </a:solidFill>
                <a:latin typeface="Calibri"/>
                <a:ea typeface="Calibri"/>
              </a:rPr>
              <a:t>COMP3421</a:t>
            </a:r>
          </a:p>
        </p:txBody>
      </p:sp>
      <p:sp>
        <p:nvSpPr>
          <p:cNvPr id="3" name="TextBox 2"/>
          <p:cNvSpPr txBox="1"/>
          <p:nvPr/>
        </p:nvSpPr>
        <p:spPr>
          <a:xfrm>
            <a:off x="548640" y="1234440"/>
            <a:ext cx="11094415" cy="822960"/>
          </a:xfrm>
          <a:prstGeom prst="rect">
            <a:avLst/>
          </a:prstGeom>
          <a:noFill/>
        </p:spPr>
        <p:txBody>
          <a:bodyPr wrap="square" lIns="0" tIns="0" rIns="0" bIns="0" anchor="t">
            <a:spAutoFit/>
          </a:bodyPr>
          <a:lstStyle/>
          <a:p>
            <a:pPr algn="l">
              <a:lnSpc>
                <a:spcPct val="110000"/>
              </a:lnSpc>
              <a:spcAft>
                <a:spcPts val="400"/>
              </a:spcAft>
            </a:pPr>
            <a:r>
              <a:rPr sz="3000" b="1" i="0">
                <a:solidFill>
                  <a:srgbClr val="1A2230"/>
                </a:solidFill>
                <a:latin typeface="Calibri"/>
                <a:ea typeface="Calibri"/>
              </a:rPr>
              <a:t>Classroom Recording &amp; Sharing Policy</a:t>
            </a:r>
          </a:p>
        </p:txBody>
      </p:sp>
      <p:sp>
        <p:nvSpPr>
          <p:cNvPr id="4" name="Rectangle 3"/>
          <p:cNvSpPr/>
          <p:nvPr/>
        </p:nvSpPr>
        <p:spPr>
          <a:xfrm>
            <a:off x="548640" y="2331720"/>
            <a:ext cx="1463040"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2880360"/>
            <a:ext cx="9448495" cy="1463040"/>
          </a:xfrm>
          <a:prstGeom prst="rect">
            <a:avLst/>
          </a:prstGeom>
          <a:noFill/>
        </p:spPr>
        <p:txBody>
          <a:bodyPr wrap="square" lIns="0" tIns="0" rIns="0" bIns="0" anchor="t">
            <a:spAutoFit/>
          </a:bodyPr>
          <a:lstStyle/>
          <a:p>
            <a:pPr algn="ctr">
              <a:lnSpc>
                <a:spcPct val="145000"/>
              </a:lnSpc>
              <a:spcAft>
                <a:spcPts val="400"/>
              </a:spcAft>
            </a:pPr>
            <a:r>
              <a:rPr sz="1700" b="0" i="0">
                <a:solidFill>
                  <a:srgbClr val="4A5568"/>
                </a:solidFill>
                <a:latin typeface="Calibri"/>
                <a:ea typeface="Calibri"/>
              </a:rPr>
              <a:t>Please do not photograph, audio/video record, or upload any lecture content to the Internet or social media without prior permission from the instructor. Course materials are provided for personal learning only and should not be redistributed without authorization.</a:t>
            </a:r>
          </a:p>
        </p:txBody>
      </p:sp>
      <p:sp>
        <p:nvSpPr>
          <p:cNvPr id="6" name="Rounded Rectangle 5"/>
          <p:cNvSpPr/>
          <p:nvPr/>
        </p:nvSpPr>
        <p:spPr>
          <a:xfrm>
            <a:off x="548640" y="4892040"/>
            <a:ext cx="11094415" cy="777240"/>
          </a:xfrm>
          <a:prstGeom prst="roundRect">
            <a:avLst>
              <a:gd name="adj" fmla="val 8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892040"/>
            <a:ext cx="10362895" cy="777240"/>
          </a:xfrm>
          <a:prstGeom prst="rect">
            <a:avLst/>
          </a:prstGeom>
          <a:noFill/>
        </p:spPr>
        <p:txBody>
          <a:bodyPr wrap="square" lIns="0" tIns="0" rIns="0" bIns="0" anchor="ctr">
            <a:spAutoFit/>
          </a:bodyPr>
          <a:lstStyle/>
          <a:p>
            <a:pPr algn="ctr">
              <a:lnSpc>
                <a:spcPct val="110000"/>
              </a:lnSpc>
              <a:spcAft>
                <a:spcPts val="400"/>
              </a:spcAft>
            </a:pPr>
            <a:r>
              <a:rPr sz="1700" b="1" i="0">
                <a:solidFill>
                  <a:srgbClr val="FFFFFF"/>
                </a:solidFill>
                <a:latin typeface="Calibri"/>
                <a:ea typeface="Calibri"/>
              </a:rPr>
              <a:t>Do not photograph, record, reproduce, or upload classroom content without permission.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685800"/>
            <a:ext cx="5486400" cy="320040"/>
          </a:xfrm>
          <a:prstGeom prst="rect">
            <a:avLst/>
          </a:prstGeom>
          <a:noFill/>
        </p:spPr>
        <p:txBody>
          <a:bodyPr wrap="square" lIns="0" tIns="0" rIns="0" bIns="0" anchor="t">
            <a:spAutoFit/>
          </a:bodyPr>
          <a:lstStyle/>
          <a:p>
            <a:pPr algn="l">
              <a:lnSpc>
                <a:spcPct val="110000"/>
              </a:lnSpc>
              <a:spcAft>
                <a:spcPts val="400"/>
              </a:spcAft>
            </a:pPr>
            <a:r>
              <a:rPr sz="1200" b="1" i="0">
                <a:solidFill>
                  <a:srgbClr val="1E4FA8"/>
                </a:solidFill>
                <a:latin typeface="Calibri"/>
                <a:ea typeface="Calibri"/>
              </a:rPr>
              <a:t>COMP3421 · LECTURE 04</a:t>
            </a:r>
          </a:p>
        </p:txBody>
      </p:sp>
      <p:sp>
        <p:nvSpPr>
          <p:cNvPr id="3" name="TextBox 2"/>
          <p:cNvSpPr txBox="1"/>
          <p:nvPr/>
        </p:nvSpPr>
        <p:spPr>
          <a:xfrm>
            <a:off x="548640" y="1024128"/>
            <a:ext cx="10972800" cy="731520"/>
          </a:xfrm>
          <a:prstGeom prst="rect">
            <a:avLst/>
          </a:prstGeom>
          <a:noFill/>
        </p:spPr>
        <p:txBody>
          <a:bodyPr wrap="square" lIns="0" tIns="0" rIns="0" bIns="0" anchor="t">
            <a:spAutoFit/>
          </a:bodyPr>
          <a:lstStyle/>
          <a:p>
            <a:pPr algn="l">
              <a:lnSpc>
                <a:spcPct val="110000"/>
              </a:lnSpc>
              <a:spcAft>
                <a:spcPts val="400"/>
              </a:spcAft>
            </a:pPr>
            <a:r>
              <a:rPr sz="4000" b="1" i="0">
                <a:solidFill>
                  <a:srgbClr val="1A2230"/>
                </a:solidFill>
                <a:latin typeface="Calibri"/>
                <a:ea typeface="Calibri"/>
              </a:rPr>
              <a:t>Agenda</a:t>
            </a:r>
          </a:p>
        </p:txBody>
      </p:sp>
      <p:sp>
        <p:nvSpPr>
          <p:cNvPr id="4" name="TextBox 3"/>
          <p:cNvSpPr txBox="1"/>
          <p:nvPr/>
        </p:nvSpPr>
        <p:spPr>
          <a:xfrm>
            <a:off x="594360" y="1874519"/>
            <a:ext cx="10820095" cy="4343400"/>
          </a:xfrm>
          <a:prstGeom prst="rect">
            <a:avLst/>
          </a:prstGeom>
          <a:noFill/>
        </p:spPr>
        <p:txBody>
          <a:bodyPr wrap="square" lIns="0" tIns="0" rIns="0" bIns="0">
            <a:normAutofit/>
          </a:bodyPr>
          <a:lstStyle/>
          <a:p>
            <a:pPr>
              <a:lnSpc>
                <a:spcPct val="110000"/>
              </a:lnSpc>
              <a:spcAft>
                <a:spcPts val="800"/>
              </a:spcAft>
            </a:pPr>
            <a:r>
              <a:rPr sz="2000" b="1" i="0">
                <a:solidFill>
                  <a:srgbClr val="1A2230"/>
                </a:solidFill>
                <a:latin typeface="Calibri"/>
                <a:ea typeface="Calibri"/>
              </a:rPr>
              <a:t>01. Why CSS?</a:t>
            </a:r>
            <a:br/>
            <a:r>
              <a:rPr sz="1350" b="0" i="0">
                <a:solidFill>
                  <a:srgbClr val="4A5568"/>
                </a:solidFill>
                <a:latin typeface="Calibri"/>
                <a:ea typeface="Calibri"/>
              </a:rPr>
              <a:t>Why repeating a </a:t>
            </a:r>
            <a:r>
              <a:rPr sz="1350" b="0" i="0">
                <a:solidFill>
                  <a:srgbClr val="B8860B"/>
                </a:solidFill>
                <a:latin typeface="Consolas"/>
                <a:ea typeface="Consolas"/>
              </a:rPr>
              <a:t>style</a:t>
            </a:r>
            <a:r>
              <a:rPr sz="1350" b="0" i="0">
                <a:solidFill>
                  <a:srgbClr val="4A5568"/>
                </a:solidFill>
                <a:latin typeface="Calibri"/>
                <a:ea typeface="Calibri"/>
              </a:rPr>
              <a:t> does not scale — and the three ways to add CSS.</a:t>
            </a:r>
          </a:p>
          <a:p>
            <a:pPr>
              <a:lnSpc>
                <a:spcPct val="110000"/>
              </a:lnSpc>
              <a:spcAft>
                <a:spcPts val="800"/>
              </a:spcAft>
            </a:pPr>
            <a:r>
              <a:rPr sz="2000" b="1" i="0">
                <a:solidFill>
                  <a:srgbClr val="1A2230"/>
                </a:solidFill>
                <a:latin typeface="Calibri"/>
                <a:ea typeface="Calibri"/>
              </a:rPr>
              <a:t>02. Selectors</a:t>
            </a:r>
            <a:br/>
            <a:r>
              <a:rPr sz="1350" b="0" i="0">
                <a:solidFill>
                  <a:srgbClr val="4A5568"/>
                </a:solidFill>
                <a:latin typeface="Calibri"/>
                <a:ea typeface="Calibri"/>
              </a:rPr>
              <a:t>Finding elements: simple, combinator, attribute, pseudo-class, pseudo-element.</a:t>
            </a:r>
          </a:p>
          <a:p>
            <a:pPr>
              <a:lnSpc>
                <a:spcPct val="110000"/>
              </a:lnSpc>
              <a:spcAft>
                <a:spcPts val="800"/>
              </a:spcAft>
            </a:pPr>
            <a:r>
              <a:rPr sz="2000" b="1" i="0">
                <a:solidFill>
                  <a:srgbClr val="1A2230"/>
                </a:solidFill>
                <a:latin typeface="Calibri"/>
                <a:ea typeface="Calibri"/>
              </a:rPr>
              <a:t>03. The Cascade</a:t>
            </a:r>
            <a:br/>
            <a:r>
              <a:rPr sz="1350" b="0" i="0">
                <a:solidFill>
                  <a:srgbClr val="4A5568"/>
                </a:solidFill>
                <a:latin typeface="Calibri"/>
                <a:ea typeface="Calibri"/>
              </a:rPr>
              <a:t>Which declaration wins — weight, order and !important.</a:t>
            </a:r>
          </a:p>
          <a:p>
            <a:pPr>
              <a:lnSpc>
                <a:spcPct val="110000"/>
              </a:lnSpc>
              <a:spcAft>
                <a:spcPts val="800"/>
              </a:spcAft>
            </a:pPr>
            <a:r>
              <a:rPr sz="2000" b="1" i="0">
                <a:solidFill>
                  <a:srgbClr val="1A2230"/>
                </a:solidFill>
                <a:latin typeface="Calibri"/>
                <a:ea typeface="Calibri"/>
              </a:rPr>
              <a:t>04. The Box Model</a:t>
            </a:r>
            <a:br/>
            <a:r>
              <a:rPr sz="1350" b="0" i="0">
                <a:solidFill>
                  <a:srgbClr val="4A5568"/>
                </a:solidFill>
                <a:latin typeface="Calibri"/>
                <a:ea typeface="Calibri"/>
              </a:rPr>
              <a:t>The box and its layers — content, padding, border, margin, background.</a:t>
            </a:r>
          </a:p>
          <a:p>
            <a:pPr>
              <a:lnSpc>
                <a:spcPct val="110000"/>
              </a:lnSpc>
              <a:spcAft>
                <a:spcPts val="800"/>
              </a:spcAft>
            </a:pPr>
            <a:r>
              <a:rPr sz="2000" b="1" i="0">
                <a:solidFill>
                  <a:srgbClr val="1A2230"/>
                </a:solidFill>
                <a:latin typeface="Calibri"/>
                <a:ea typeface="Calibri"/>
              </a:rPr>
              <a:t>05. Recap</a:t>
            </a:r>
            <a:br/>
            <a:r>
              <a:rPr sz="1350" b="0" i="0">
                <a:solidFill>
                  <a:srgbClr val="4A5568"/>
                </a:solidFill>
                <a:latin typeface="Calibri"/>
                <a:ea typeface="Calibri"/>
              </a:rPr>
              <a:t>Common mistakes, best practices — and what to remember.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143000"/>
            <a:ext cx="3840480" cy="1828800"/>
          </a:xfrm>
          <a:prstGeom prst="rect">
            <a:avLst/>
          </a:prstGeom>
          <a:noFill/>
        </p:spPr>
        <p:txBody>
          <a:bodyPr wrap="square" lIns="0" tIns="0" rIns="0" bIns="0" anchor="t">
            <a:spAutoFit/>
          </a:bodyPr>
          <a:lstStyle/>
          <a:p>
            <a:pPr algn="l">
              <a:lnSpc>
                <a:spcPct val="110000"/>
              </a:lnSpc>
              <a:spcAft>
                <a:spcPts val="400"/>
              </a:spcAft>
            </a:pPr>
            <a:r>
              <a:rPr sz="9200" b="1" i="0">
                <a:solidFill>
                  <a:srgbClr val="9DC0EE"/>
                </a:solidFill>
                <a:latin typeface="Calibri"/>
                <a:ea typeface="Calibri"/>
              </a:rPr>
              <a:t>01</a:t>
            </a:r>
          </a:p>
        </p:txBody>
      </p:sp>
      <p:sp>
        <p:nvSpPr>
          <p:cNvPr id="5" name="TextBox 4"/>
          <p:cNvSpPr txBox="1"/>
          <p:nvPr/>
        </p:nvSpPr>
        <p:spPr>
          <a:xfrm>
            <a:off x="685800" y="3063240"/>
            <a:ext cx="10607040" cy="822960"/>
          </a:xfrm>
          <a:prstGeom prst="rect">
            <a:avLst/>
          </a:prstGeom>
          <a:noFill/>
        </p:spPr>
        <p:txBody>
          <a:bodyPr wrap="square" lIns="0" tIns="0" rIns="0" bIns="0" anchor="t">
            <a:spAutoFit/>
          </a:bodyPr>
          <a:lstStyle/>
          <a:p>
            <a:pPr algn="l">
              <a:lnSpc>
                <a:spcPct val="110000"/>
              </a:lnSpc>
              <a:spcAft>
                <a:spcPts val="400"/>
              </a:spcAft>
            </a:pPr>
            <a:r>
              <a:rPr sz="3800" b="1" i="0">
                <a:solidFill>
                  <a:srgbClr val="FFFFFF"/>
                </a:solidFill>
                <a:latin typeface="Calibri"/>
                <a:ea typeface="Calibri"/>
              </a:rPr>
              <a:t>Why CSS?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4251960"/>
            <a:ext cx="10058400" cy="1645920"/>
          </a:xfrm>
          <a:prstGeom prst="rect">
            <a:avLst/>
          </a:prstGeom>
          <a:noFill/>
        </p:spPr>
        <p:txBody>
          <a:bodyPr wrap="square" lIns="0" tIns="0" r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HTML describes the content — CSS describes how it looks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Repeating a </a:t>
            </a:r>
            <a:r>
              <a:rPr sz="1600" b="0" i="0">
                <a:solidFill>
                  <a:srgbClr val="B8860B"/>
                </a:solidFill>
                <a:latin typeface="Consolas"/>
                <a:ea typeface="Consolas"/>
              </a:rPr>
              <a:t>style</a:t>
            </a:r>
            <a:r>
              <a:rPr sz="1600" b="0" i="0">
                <a:solidFill>
                  <a:srgbClr val="B9CDEE"/>
                </a:solidFill>
                <a:latin typeface="Calibri"/>
                <a:ea typeface="Calibri"/>
              </a:rPr>
              <a:t> on every element does not scale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Three ways to attach CSS: external, internal, inline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The Problem with Inline Styles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Why CSS?</a:t>
            </a:r>
          </a:p>
        </p:txBody>
      </p:sp>
      <p:sp>
        <p:nvSpPr>
          <p:cNvPr id="5" name="TextBox 4"/>
          <p:cNvSpPr txBox="1"/>
          <p:nvPr/>
        </p:nvSpPr>
        <p:spPr>
          <a:xfrm>
            <a:off x="548640" y="932688"/>
            <a:ext cx="4114800" cy="4599432"/>
          </a:xfrm>
          <a:prstGeom prst="rect">
            <a:avLst/>
          </a:prstGeom>
          <a:noFill/>
        </p:spPr>
        <p:txBody>
          <a:bodyPr wrap="square" lIns="0" tIns="0" rIns="0" bIns="0">
            <a:normAutofit/>
          </a:bodyPr>
          <a:lstStyle/>
          <a:p>
            <a:pPr marL="256032" indent="-237744">
              <a:lnSpc>
                <a:spcPct val="112000"/>
              </a:lnSpc>
              <a:spcAft>
                <a:spcPts val="2200"/>
              </a:spcAft>
              <a:buClr>
                <a:srgbClr val="1E4FA8"/>
              </a:buClr>
              <a:buSzPct val="90000"/>
              <a:buFont typeface="Arial"/>
              <a:buChar char="▪"/>
            </a:pPr>
            <a:r>
              <a:rPr sz="1800" b="1" i="0">
                <a:solidFill>
                  <a:srgbClr val="1A2230"/>
                </a:solidFill>
                <a:latin typeface="Calibri"/>
                <a:ea typeface="Calibri"/>
              </a:rPr>
              <a:t>Repeat everything</a:t>
            </a:r>
            <a:br/>
            <a:r>
              <a:rPr sz="1300" b="0" i="0">
                <a:solidFill>
                  <a:srgbClr val="4A5568"/>
                </a:solidFill>
                <a:latin typeface="Calibri"/>
                <a:ea typeface="Calibri"/>
              </a:rPr>
              <a:t>The same </a:t>
            </a:r>
            <a:r>
              <a:rPr sz="1300" b="0" i="0">
                <a:solidFill>
                  <a:srgbClr val="B8860B"/>
                </a:solidFill>
                <a:latin typeface="Consolas"/>
                <a:ea typeface="Consolas"/>
              </a:rPr>
              <a:t>style</a:t>
            </a:r>
            <a:r>
              <a:rPr sz="1300" b="0" i="0">
                <a:solidFill>
                  <a:srgbClr val="4A5568"/>
                </a:solidFill>
                <a:latin typeface="Calibri"/>
                <a:ea typeface="Calibri"/>
              </a:rPr>
              <a:t> is copied onto every element.</a:t>
            </a:r>
          </a:p>
          <a:p>
            <a:pPr marL="256032" indent="-237744">
              <a:lnSpc>
                <a:spcPct val="112000"/>
              </a:lnSpc>
              <a:spcAft>
                <a:spcPts val="2200"/>
              </a:spcAft>
              <a:buClr>
                <a:srgbClr val="1E4FA8"/>
              </a:buClr>
              <a:buSzPct val="90000"/>
              <a:buFont typeface="Arial"/>
              <a:buChar char="▪"/>
            </a:pPr>
            <a:r>
              <a:rPr sz="1800" b="1" i="0">
                <a:solidFill>
                  <a:srgbClr val="1A2230"/>
                </a:solidFill>
                <a:latin typeface="Calibri"/>
                <a:ea typeface="Calibri"/>
              </a:rPr>
              <a:t>Change everywhere</a:t>
            </a:r>
            <a:br/>
            <a:r>
              <a:rPr sz="1300" b="0" i="0">
                <a:solidFill>
                  <a:srgbClr val="4A5568"/>
                </a:solidFill>
                <a:latin typeface="Calibri"/>
                <a:ea typeface="Calibri"/>
              </a:rPr>
              <a:t>Edit one </a:t>
            </a:r>
            <a:r>
              <a:rPr sz="1300" b="0" i="0">
                <a:solidFill>
                  <a:srgbClr val="B8860B"/>
                </a:solidFill>
                <a:latin typeface="Consolas"/>
                <a:ea typeface="Consolas"/>
              </a:rPr>
              <a:t>style</a:t>
            </a:r>
            <a:r>
              <a:rPr sz="1300" b="0" i="0">
                <a:solidFill>
                  <a:srgbClr val="4A5568"/>
                </a:solidFill>
                <a:latin typeface="Calibri"/>
                <a:ea typeface="Calibri"/>
              </a:rPr>
              <a:t> and you must edit every tag.</a:t>
            </a:r>
          </a:p>
          <a:p>
            <a:pPr marL="256032" indent="-237744">
              <a:lnSpc>
                <a:spcPct val="112000"/>
              </a:lnSpc>
              <a:spcAft>
                <a:spcPts val="2200"/>
              </a:spcAft>
              <a:buClr>
                <a:srgbClr val="1E4FA8"/>
              </a:buClr>
              <a:buSzPct val="90000"/>
              <a:buFont typeface="Arial"/>
              <a:buChar char="▪"/>
            </a:pPr>
            <a:r>
              <a:rPr sz="1800" b="1" i="0">
                <a:solidFill>
                  <a:srgbClr val="1A2230"/>
                </a:solidFill>
                <a:latin typeface="Calibri"/>
                <a:ea typeface="Calibri"/>
              </a:rPr>
              <a:t>Style mixed with content</a:t>
            </a:r>
            <a:br/>
            <a:r>
              <a:rPr sz="1300" b="0" i="0">
                <a:solidFill>
                  <a:srgbClr val="4A5568"/>
                </a:solidFill>
                <a:latin typeface="Calibri"/>
                <a:ea typeface="Calibri"/>
              </a:rPr>
              <a:t>HTML fills with </a:t>
            </a:r>
            <a:r>
              <a:rPr sz="1300" b="0" i="0">
                <a:solidFill>
                  <a:srgbClr val="B8860B"/>
                </a:solidFill>
                <a:latin typeface="Consolas"/>
                <a:ea typeface="Consolas"/>
              </a:rPr>
              <a:t>style</a:t>
            </a:r>
            <a:r>
              <a:rPr sz="1300" b="0" i="0">
                <a:solidFill>
                  <a:srgbClr val="4A5568"/>
                </a:solidFill>
                <a:latin typeface="Calibri"/>
                <a:ea typeface="Calibri"/>
              </a:rPr>
              <a:t> noise — hard to read.</a:t>
            </a:r>
          </a:p>
          <a:p>
            <a:pPr marL="256032" indent="-237744">
              <a:lnSpc>
                <a:spcPct val="112000"/>
              </a:lnSpc>
              <a:spcAft>
                <a:spcPts val="2200"/>
              </a:spcAft>
              <a:buClr>
                <a:srgbClr val="1E4FA8"/>
              </a:buClr>
              <a:buSzPct val="90000"/>
              <a:buFont typeface="Arial"/>
              <a:buChar char="▪"/>
            </a:pPr>
            <a:r>
              <a:rPr sz="1800" b="1" i="0">
                <a:solidFill>
                  <a:srgbClr val="1A2230"/>
                </a:solidFill>
                <a:latin typeface="Calibri"/>
                <a:ea typeface="Calibri"/>
              </a:rPr>
              <a:t>No reuse</a:t>
            </a:r>
            <a:br/>
            <a:r>
              <a:rPr sz="1300" b="0" i="0">
                <a:solidFill>
                  <a:srgbClr val="4A5568"/>
                </a:solidFill>
                <a:latin typeface="Calibri"/>
                <a:ea typeface="Calibri"/>
              </a:rPr>
              <a:t>A </a:t>
            </a:r>
            <a:r>
              <a:rPr sz="1300" b="0" i="0">
                <a:solidFill>
                  <a:srgbClr val="B8860B"/>
                </a:solidFill>
                <a:latin typeface="Consolas"/>
                <a:ea typeface="Consolas"/>
              </a:rPr>
              <a:t>style</a:t>
            </a:r>
            <a:r>
              <a:rPr sz="1300" b="0" i="0">
                <a:solidFill>
                  <a:srgbClr val="4A5568"/>
                </a:solidFill>
                <a:latin typeface="Calibri"/>
                <a:ea typeface="Calibri"/>
              </a:rPr>
              <a:t> can't be shared across pages or elements.</a:t>
            </a:r>
          </a:p>
          <a:p>
            <a:pPr marL="256032" indent="-237744">
              <a:lnSpc>
                <a:spcPct val="112000"/>
              </a:lnSpc>
              <a:spcAft>
                <a:spcPts val="2200"/>
              </a:spcAft>
              <a:buClr>
                <a:srgbClr val="1E4FA8"/>
              </a:buClr>
              <a:buSzPct val="90000"/>
              <a:buFont typeface="Arial"/>
              <a:buChar char="▪"/>
            </a:pPr>
            <a:r>
              <a:rPr sz="1800" b="1" i="0">
                <a:solidFill>
                  <a:srgbClr val="1A2230"/>
                </a:solidFill>
                <a:latin typeface="Calibri"/>
                <a:ea typeface="Calibri"/>
              </a:rPr>
              <a:t>Hard to override</a:t>
            </a:r>
            <a:br/>
            <a:r>
              <a:rPr sz="1300" b="0" i="0">
                <a:solidFill>
                  <a:srgbClr val="4A5568"/>
                </a:solidFill>
                <a:latin typeface="Calibri"/>
                <a:ea typeface="Calibri"/>
              </a:rPr>
              <a:t>Only !important can override an inline </a:t>
            </a:r>
            <a:r>
              <a:rPr sz="1300" b="0" i="0">
                <a:solidFill>
                  <a:srgbClr val="B8860B"/>
                </a:solidFill>
                <a:latin typeface="Consolas"/>
                <a:ea typeface="Consolas"/>
              </a:rPr>
              <a:t>style</a:t>
            </a:r>
            <a:r>
              <a:rPr sz="1300" b="0" i="0">
                <a:solidFill>
                  <a:srgbClr val="4A5568"/>
                </a:solidFill>
                <a:latin typeface="Calibri"/>
                <a:ea typeface="Calibri"/>
              </a:rPr>
              <a:t>.</a:t>
            </a:r>
          </a:p>
        </p:txBody>
      </p:sp>
      <p:sp>
        <p:nvSpPr>
          <p:cNvPr id="6" name="Rounded Rectangle 5"/>
          <p:cNvSpPr/>
          <p:nvPr/>
        </p:nvSpPr>
        <p:spPr>
          <a:xfrm>
            <a:off x="5138928" y="932688"/>
            <a:ext cx="6504127"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49824" y="1115568"/>
            <a:ext cx="5882335"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One inline style, in full</a:t>
            </a:r>
            <a:r>
              <a:rPr sz="1100" b="0" i="0">
                <a:solidFill>
                  <a:srgbClr val="4A5568"/>
                </a:solidFill>
                <a:latin typeface="Calibri"/>
                <a:ea typeface="Calibri"/>
              </a:rPr>
              <a:t>   9 declarations, one tag</a:t>
            </a:r>
          </a:p>
        </p:txBody>
      </p:sp>
      <p:sp>
        <p:nvSpPr>
          <p:cNvPr id="8" name="Rectangle 7"/>
          <p:cNvSpPr/>
          <p:nvPr/>
        </p:nvSpPr>
        <p:spPr>
          <a:xfrm>
            <a:off x="5468112"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49824" y="1700784"/>
            <a:ext cx="5882335" cy="1700784"/>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87568" y="1700784"/>
            <a:ext cx="5406847" cy="1700784"/>
          </a:xfrm>
          <a:prstGeom prst="rect">
            <a:avLst/>
          </a:prstGeom>
          <a:noFill/>
        </p:spPr>
        <p:txBody>
          <a:bodyPr wrap="none" lIns="0" tIns="0" rIns="0" bIns="0" anchor="ctr">
            <a:spAutoFit/>
          </a:bodyPr>
          <a:lstStyle/>
          <a:p>
            <a:pPr algn="l">
              <a:lnSpc>
                <a:spcPct val="108000"/>
              </a:lnSpc>
              <a:spcAft>
                <a:spcPts val="200"/>
              </a:spcAft>
            </a:pPr>
            <a:r>
              <a:rPr sz="1200" b="0" i="0">
                <a:solidFill>
                  <a:srgbClr val="61AFEF"/>
                </a:solidFill>
                <a:latin typeface="Consolas"/>
                <a:ea typeface="Consolas"/>
              </a:rPr>
              <a:t>&lt;h1 </a:t>
            </a:r>
            <a:r>
              <a:rPr sz="1200" b="0" i="0">
                <a:solidFill>
                  <a:srgbClr val="E5C07B"/>
                </a:solidFill>
                <a:latin typeface="Consolas"/>
                <a:ea typeface="Consolas"/>
              </a:rPr>
              <a:t>style="</a:t>
            </a:r>
            <a:r>
              <a:rPr sz="1200" b="0" i="0">
                <a:solidFill>
                  <a:srgbClr val="98C379"/>
                </a:solidFill>
                <a:latin typeface="Consolas"/>
                <a:ea typeface="Consolas"/>
              </a:rPr>
              <a:t>color:#1E4FA8; font-family:Arial,sans-serif;</a:t>
            </a:r>
          </a:p>
          <a:p>
            <a:pPr algn="l">
              <a:lnSpc>
                <a:spcPct val="108000"/>
              </a:lnSpc>
              <a:spcAft>
                <a:spcPts val="200"/>
              </a:spcAft>
            </a:pPr>
            <a:r>
              <a:rPr sz="1200" b="0" i="0">
                <a:solidFill>
                  <a:srgbClr val="98C379"/>
                </a:solidFill>
                <a:latin typeface="Consolas"/>
                <a:ea typeface="Consolas"/>
              </a:rPr>
              <a:t>    font-size:28px; font-weight:700;</a:t>
            </a:r>
          </a:p>
          <a:p>
            <a:pPr algn="l">
              <a:lnSpc>
                <a:spcPct val="108000"/>
              </a:lnSpc>
              <a:spcAft>
                <a:spcPts val="200"/>
              </a:spcAft>
            </a:pPr>
            <a:r>
              <a:rPr sz="1200" b="0" i="0">
                <a:solidFill>
                  <a:srgbClr val="98C379"/>
                </a:solidFill>
                <a:latin typeface="Consolas"/>
                <a:ea typeface="Consolas"/>
              </a:rPr>
              <a:t>    line-height:1.25; margin:0 0 12px;</a:t>
            </a:r>
          </a:p>
          <a:p>
            <a:pPr algn="l">
              <a:lnSpc>
                <a:spcPct val="108000"/>
              </a:lnSpc>
              <a:spcAft>
                <a:spcPts val="200"/>
              </a:spcAft>
            </a:pPr>
            <a:r>
              <a:rPr sz="1200" b="0" i="0">
                <a:solidFill>
                  <a:srgbClr val="98C379"/>
                </a:solidFill>
                <a:latin typeface="Consolas"/>
                <a:ea typeface="Consolas"/>
              </a:rPr>
              <a:t>    padding:8px 16px; background:#EEF3FB;</a:t>
            </a:r>
          </a:p>
          <a:p>
            <a:pPr algn="l">
              <a:lnSpc>
                <a:spcPct val="108000"/>
              </a:lnSpc>
              <a:spcAft>
                <a:spcPts val="200"/>
              </a:spcAft>
            </a:pPr>
            <a:r>
              <a:rPr sz="1200" b="0" i="0">
                <a:solidFill>
                  <a:srgbClr val="98C379"/>
                </a:solidFill>
                <a:latin typeface="Consolas"/>
                <a:ea typeface="Consolas"/>
              </a:rPr>
              <a:t>    border-left:4px solid #1E4FA8;</a:t>
            </a:r>
          </a:p>
          <a:p>
            <a:pPr algn="l">
              <a:lnSpc>
                <a:spcPct val="108000"/>
              </a:lnSpc>
              <a:spcAft>
                <a:spcPts val="200"/>
              </a:spcAft>
            </a:pPr>
            <a:r>
              <a:rPr sz="1200" b="0" i="0">
                <a:solidFill>
                  <a:srgbClr val="61AFEF"/>
                </a:solidFill>
                <a:latin typeface="Consolas"/>
                <a:ea typeface="Consolas"/>
              </a:rPr>
              <a:t>  Courses</a:t>
            </a:r>
          </a:p>
          <a:p>
            <a:pPr algn="l">
              <a:lnSpc>
                <a:spcPct val="108000"/>
              </a:lnSpc>
              <a:spcAft>
                <a:spcPts val="200"/>
              </a:spcAft>
            </a:pPr>
            <a:r>
              <a:rPr sz="1200" b="0" i="0">
                <a:solidFill>
                  <a:srgbClr val="61AFEF"/>
                </a:solidFill>
                <a:latin typeface="Consolas"/>
                <a:ea typeface="Consolas"/>
              </a:rPr>
              <a:t>&lt;/h1&gt;</a:t>
            </a:r>
          </a:p>
        </p:txBody>
      </p:sp>
      <p:sp>
        <p:nvSpPr>
          <p:cNvPr id="11" name="TextBox 10"/>
          <p:cNvSpPr txBox="1"/>
          <p:nvPr/>
        </p:nvSpPr>
        <p:spPr>
          <a:xfrm>
            <a:off x="5449824" y="3493008"/>
            <a:ext cx="5882335" cy="237744"/>
          </a:xfrm>
          <a:prstGeom prst="rect">
            <a:avLst/>
          </a:prstGeom>
          <a:noFill/>
        </p:spPr>
        <p:txBody>
          <a:bodyPr wrap="square" lIns="0" tIns="0" rIns="0" bIns="0" anchor="t">
            <a:spAutoFit/>
          </a:bodyPr>
          <a:lstStyle/>
          <a:p>
            <a:pPr algn="l">
              <a:lnSpc>
                <a:spcPct val="110000"/>
              </a:lnSpc>
              <a:spcAft>
                <a:spcPts val="400"/>
              </a:spcAft>
            </a:pPr>
            <a:r>
              <a:rPr sz="1150" b="0" i="0">
                <a:solidFill>
                  <a:srgbClr val="4A5568"/>
                </a:solidFill>
                <a:latin typeface="Calibri"/>
                <a:ea typeface="Calibri"/>
              </a:rPr>
              <a:t>The same attribute, again on all four headings:</a:t>
            </a:r>
          </a:p>
        </p:txBody>
      </p:sp>
      <p:sp>
        <p:nvSpPr>
          <p:cNvPr id="12" name="Rounded Rectangle 11"/>
          <p:cNvSpPr/>
          <p:nvPr/>
        </p:nvSpPr>
        <p:spPr>
          <a:xfrm>
            <a:off x="5449824" y="3785615"/>
            <a:ext cx="5882335" cy="24688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87568" y="3785615"/>
            <a:ext cx="5406847" cy="246888"/>
          </a:xfrm>
          <a:prstGeom prst="rect">
            <a:avLst/>
          </a:prstGeom>
          <a:noFill/>
        </p:spPr>
        <p:txBody>
          <a:bodyPr wrap="none" lIns="0" tIns="0" rIns="0" bIns="0" anchor="ctr">
            <a:spAutoFit/>
          </a:bodyPr>
          <a:lstStyle/>
          <a:p>
            <a:pPr algn="l">
              <a:lnSpc>
                <a:spcPct val="110000"/>
              </a:lnSpc>
              <a:spcAft>
                <a:spcPts val="400"/>
              </a:spcAft>
            </a:pPr>
            <a:r>
              <a:rPr sz="1100" b="0" i="0">
                <a:solidFill>
                  <a:srgbClr val="61AFEF"/>
                </a:solidFill>
                <a:latin typeface="Consolas"/>
                <a:ea typeface="Consolas"/>
              </a:rPr>
              <a:t>&lt;h1 </a:t>
            </a:r>
            <a:r>
              <a:rPr sz="1100" b="0" i="0">
                <a:solidFill>
                  <a:srgbClr val="E5C07B"/>
                </a:solidFill>
                <a:latin typeface="Consolas"/>
                <a:ea typeface="Consolas"/>
              </a:rPr>
              <a:t>style="</a:t>
            </a:r>
            <a:r>
              <a:rPr sz="1100" b="0" i="0">
                <a:solidFill>
                  <a:srgbClr val="7F8C98"/>
                </a:solidFill>
                <a:latin typeface="Consolas"/>
                <a:ea typeface="Consolas"/>
              </a:rPr>
              <a:t>…</a:t>
            </a:r>
            <a:r>
              <a:rPr sz="1100" b="0" i="0">
                <a:solidFill>
                  <a:srgbClr val="E5C07B"/>
                </a:solidFill>
                <a:latin typeface="Consolas"/>
                <a:ea typeface="Consolas"/>
              </a:rPr>
              <a:t>"&gt;</a:t>
            </a:r>
            <a:r>
              <a:rPr sz="1100" b="0" i="0">
                <a:solidFill>
                  <a:srgbClr val="61AFEF"/>
                </a:solidFill>
                <a:latin typeface="Consolas"/>
                <a:ea typeface="Consolas"/>
              </a:rPr>
              <a:t>    Courses</a:t>
            </a:r>
          </a:p>
        </p:txBody>
      </p:sp>
      <p:sp>
        <p:nvSpPr>
          <p:cNvPr id="14" name="Rounded Rectangle 13"/>
          <p:cNvSpPr/>
          <p:nvPr/>
        </p:nvSpPr>
        <p:spPr>
          <a:xfrm>
            <a:off x="5449824" y="4078224"/>
            <a:ext cx="5882335" cy="24688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87568" y="4078224"/>
            <a:ext cx="5406847" cy="246888"/>
          </a:xfrm>
          <a:prstGeom prst="rect">
            <a:avLst/>
          </a:prstGeom>
          <a:noFill/>
        </p:spPr>
        <p:txBody>
          <a:bodyPr wrap="none" lIns="0" tIns="0" rIns="0" bIns="0" anchor="ctr">
            <a:spAutoFit/>
          </a:bodyPr>
          <a:lstStyle/>
          <a:p>
            <a:pPr algn="l">
              <a:lnSpc>
                <a:spcPct val="110000"/>
              </a:lnSpc>
              <a:spcAft>
                <a:spcPts val="400"/>
              </a:spcAft>
            </a:pPr>
            <a:r>
              <a:rPr sz="1100" b="0" i="0">
                <a:solidFill>
                  <a:srgbClr val="61AFEF"/>
                </a:solidFill>
                <a:latin typeface="Consolas"/>
                <a:ea typeface="Consolas"/>
              </a:rPr>
              <a:t>&lt;h1 </a:t>
            </a:r>
            <a:r>
              <a:rPr sz="1100" b="0" i="0">
                <a:solidFill>
                  <a:srgbClr val="E5C07B"/>
                </a:solidFill>
                <a:latin typeface="Consolas"/>
                <a:ea typeface="Consolas"/>
              </a:rPr>
              <a:t>style="</a:t>
            </a:r>
            <a:r>
              <a:rPr sz="1100" b="0" i="0">
                <a:solidFill>
                  <a:srgbClr val="7F8C98"/>
                </a:solidFill>
                <a:latin typeface="Consolas"/>
                <a:ea typeface="Consolas"/>
              </a:rPr>
              <a:t>…</a:t>
            </a:r>
            <a:r>
              <a:rPr sz="1100" b="0" i="0">
                <a:solidFill>
                  <a:srgbClr val="E5C07B"/>
                </a:solidFill>
                <a:latin typeface="Consolas"/>
                <a:ea typeface="Consolas"/>
              </a:rPr>
              <a:t>"&gt;</a:t>
            </a:r>
            <a:r>
              <a:rPr sz="1100" b="0" i="0">
                <a:solidFill>
                  <a:srgbClr val="61AFEF"/>
                </a:solidFill>
                <a:latin typeface="Consolas"/>
                <a:ea typeface="Consolas"/>
              </a:rPr>
              <a:t>    Research</a:t>
            </a:r>
          </a:p>
        </p:txBody>
      </p:sp>
      <p:sp>
        <p:nvSpPr>
          <p:cNvPr id="16" name="Rounded Rectangle 15"/>
          <p:cNvSpPr/>
          <p:nvPr/>
        </p:nvSpPr>
        <p:spPr>
          <a:xfrm>
            <a:off x="5449824" y="4370831"/>
            <a:ext cx="5882335" cy="24688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87568" y="4370831"/>
            <a:ext cx="5406847" cy="246888"/>
          </a:xfrm>
          <a:prstGeom prst="rect">
            <a:avLst/>
          </a:prstGeom>
          <a:noFill/>
        </p:spPr>
        <p:txBody>
          <a:bodyPr wrap="none" lIns="0" tIns="0" rIns="0" bIns="0" anchor="ctr">
            <a:spAutoFit/>
          </a:bodyPr>
          <a:lstStyle/>
          <a:p>
            <a:pPr algn="l">
              <a:lnSpc>
                <a:spcPct val="110000"/>
              </a:lnSpc>
              <a:spcAft>
                <a:spcPts val="400"/>
              </a:spcAft>
            </a:pPr>
            <a:r>
              <a:rPr sz="1100" b="0" i="0">
                <a:solidFill>
                  <a:srgbClr val="61AFEF"/>
                </a:solidFill>
                <a:latin typeface="Consolas"/>
                <a:ea typeface="Consolas"/>
              </a:rPr>
              <a:t>&lt;h1 </a:t>
            </a:r>
            <a:r>
              <a:rPr sz="1100" b="0" i="0">
                <a:solidFill>
                  <a:srgbClr val="E5C07B"/>
                </a:solidFill>
                <a:latin typeface="Consolas"/>
                <a:ea typeface="Consolas"/>
              </a:rPr>
              <a:t>style="</a:t>
            </a:r>
            <a:r>
              <a:rPr sz="1100" b="0" i="0">
                <a:solidFill>
                  <a:srgbClr val="7F8C98"/>
                </a:solidFill>
                <a:latin typeface="Consolas"/>
                <a:ea typeface="Consolas"/>
              </a:rPr>
              <a:t>…</a:t>
            </a:r>
            <a:r>
              <a:rPr sz="1100" b="0" i="0">
                <a:solidFill>
                  <a:srgbClr val="E5C07B"/>
                </a:solidFill>
                <a:latin typeface="Consolas"/>
                <a:ea typeface="Consolas"/>
              </a:rPr>
              <a:t>"&gt;</a:t>
            </a:r>
            <a:r>
              <a:rPr sz="1100" b="0" i="0">
                <a:solidFill>
                  <a:srgbClr val="61AFEF"/>
                </a:solidFill>
                <a:latin typeface="Consolas"/>
                <a:ea typeface="Consolas"/>
              </a:rPr>
              <a:t>    Teaching</a:t>
            </a:r>
          </a:p>
        </p:txBody>
      </p:sp>
      <p:sp>
        <p:nvSpPr>
          <p:cNvPr id="18" name="Rounded Rectangle 17"/>
          <p:cNvSpPr/>
          <p:nvPr/>
        </p:nvSpPr>
        <p:spPr>
          <a:xfrm>
            <a:off x="5449824" y="4663440"/>
            <a:ext cx="5882335" cy="246888"/>
          </a:xfrm>
          <a:prstGeom prst="roundRect">
            <a:avLst>
              <a:gd name="adj" fmla="val 6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87568" y="4663440"/>
            <a:ext cx="5406847" cy="246888"/>
          </a:xfrm>
          <a:prstGeom prst="rect">
            <a:avLst/>
          </a:prstGeom>
          <a:noFill/>
        </p:spPr>
        <p:txBody>
          <a:bodyPr wrap="none" lIns="0" tIns="0" rIns="0" bIns="0" anchor="ctr">
            <a:spAutoFit/>
          </a:bodyPr>
          <a:lstStyle/>
          <a:p>
            <a:pPr algn="l">
              <a:lnSpc>
                <a:spcPct val="110000"/>
              </a:lnSpc>
              <a:spcAft>
                <a:spcPts val="400"/>
              </a:spcAft>
            </a:pPr>
            <a:r>
              <a:rPr sz="1100" b="0" i="0">
                <a:solidFill>
                  <a:srgbClr val="61AFEF"/>
                </a:solidFill>
                <a:latin typeface="Consolas"/>
                <a:ea typeface="Consolas"/>
              </a:rPr>
              <a:t>&lt;h1 </a:t>
            </a:r>
            <a:r>
              <a:rPr sz="1100" b="0" i="0">
                <a:solidFill>
                  <a:srgbClr val="E5C07B"/>
                </a:solidFill>
                <a:latin typeface="Consolas"/>
                <a:ea typeface="Consolas"/>
              </a:rPr>
              <a:t>style="</a:t>
            </a:r>
            <a:r>
              <a:rPr sz="1100" b="0" i="0">
                <a:solidFill>
                  <a:srgbClr val="7F8C98"/>
                </a:solidFill>
                <a:latin typeface="Consolas"/>
                <a:ea typeface="Consolas"/>
              </a:rPr>
              <a:t>…</a:t>
            </a:r>
            <a:r>
              <a:rPr sz="1100" b="0" i="0">
                <a:solidFill>
                  <a:srgbClr val="E5C07B"/>
                </a:solidFill>
                <a:latin typeface="Consolas"/>
                <a:ea typeface="Consolas"/>
              </a:rPr>
              <a:t>"&gt;</a:t>
            </a:r>
            <a:r>
              <a:rPr sz="1100" b="0" i="0">
                <a:solidFill>
                  <a:srgbClr val="61AFEF"/>
                </a:solidFill>
                <a:latin typeface="Consolas"/>
                <a:ea typeface="Consolas"/>
              </a:rPr>
              <a:t>    Contact</a:t>
            </a:r>
          </a:p>
        </p:txBody>
      </p:sp>
      <p:sp>
        <p:nvSpPr>
          <p:cNvPr id="20" name="TextBox 19"/>
          <p:cNvSpPr txBox="1"/>
          <p:nvPr/>
        </p:nvSpPr>
        <p:spPr>
          <a:xfrm>
            <a:off x="5449824" y="5001768"/>
            <a:ext cx="5882335"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0E3F8C"/>
                </a:solidFill>
                <a:latin typeface="Calibri"/>
                <a:ea typeface="Calibri"/>
              </a:rPr>
              <a:t>9 × 4 headings = 36 copies — one colour change, four edits.</a:t>
            </a:r>
          </a:p>
        </p:txBody>
      </p:sp>
      <p:sp>
        <p:nvSpPr>
          <p:cNvPr id="21" name="Rounded Rectangle 20"/>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Before CSS — a presentation tag for every effect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editor.html?example=css-styling/showcase</a:t>
            </a:r>
          </a:p>
        </p:txBody>
      </p:sp>
      <p:sp>
        <p:nvSpPr>
          <p:cNvPr id="23" name="TextBox 22"/>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E5C07B"/>
                </a:solidFill>
                <a:latin typeface="Consolas"/>
                <a:ea typeface="Consolas"/>
              </a:rPr>
              <a:t>&lt;font color="blue"&gt;&lt;b&gt;Courses&lt;/b&gt;&lt;/font&gt;</a:t>
            </a:r>
            <a:r>
              <a:rPr sz="1350" b="0" i="0">
                <a:solidFill>
                  <a:srgbClr val="7F8C98"/>
                </a:solidFill>
                <a:latin typeface="Consolas"/>
                <a:ea typeface="Consolas"/>
              </a:rPr>
              <a:t>   &lt;br&gt;&lt;br&gt;   &lt;img src="spacer.gif" width="1"&gt;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Enter Selectors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Why CSS?</a:t>
            </a:r>
          </a:p>
        </p:txBody>
      </p:sp>
      <p:sp>
        <p:nvSpPr>
          <p:cNvPr id="5" name="TextBox 4"/>
          <p:cNvSpPr txBox="1"/>
          <p:nvPr/>
        </p:nvSpPr>
        <p:spPr>
          <a:xfrm>
            <a:off x="548640" y="932688"/>
            <a:ext cx="10820095" cy="4553712"/>
          </a:xfrm>
          <a:prstGeom prst="rect">
            <a:avLst/>
          </a:prstGeom>
          <a:noFill/>
        </p:spPr>
        <p:txBody>
          <a:bodyPr wrap="square" lIns="0" tIns="0" r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Pull the </a:t>
            </a:r>
            <a:r>
              <a:rPr sz="1700" b="1" i="0">
                <a:solidFill>
                  <a:srgbClr val="B8860B"/>
                </a:solidFill>
                <a:latin typeface="Consolas"/>
                <a:ea typeface="Consolas"/>
              </a:rPr>
              <a:t>style</a:t>
            </a:r>
            <a:r>
              <a:rPr sz="1700" b="1" i="0">
                <a:solidFill>
                  <a:srgbClr val="1A2230"/>
                </a:solidFill>
                <a:latin typeface="Calibri"/>
                <a:ea typeface="Calibri"/>
              </a:rPr>
              <a:t> out</a:t>
            </a:r>
            <a:br/>
            <a:r>
              <a:rPr sz="1500" b="0" i="0">
                <a:solidFill>
                  <a:srgbClr val="4A5568"/>
                </a:solidFill>
                <a:latin typeface="Calibri"/>
                <a:ea typeface="Calibri"/>
              </a:rPr>
              <a:t>Move the declarations into a </a:t>
            </a:r>
            <a:r>
              <a:rPr sz="1500" b="0" i="0">
                <a:solidFill>
                  <a:srgbClr val="1E4FA8"/>
                </a:solidFill>
                <a:latin typeface="Consolas"/>
                <a:ea typeface="Consolas"/>
              </a:rPr>
              <a:t>&lt;style&gt;</a:t>
            </a:r>
            <a:r>
              <a:rPr sz="1500" b="0" i="0">
                <a:solidFill>
                  <a:srgbClr val="4A5568"/>
                </a:solidFill>
                <a:latin typeface="Calibri"/>
                <a:ea typeface="Calibri"/>
              </a:rPr>
              <a:t> block or a .css file.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Select the elements</a:t>
            </a:r>
            <a:br/>
            <a:r>
              <a:rPr sz="1500" b="0" i="0">
                <a:solidFill>
                  <a:srgbClr val="4A5568"/>
                </a:solidFill>
                <a:latin typeface="Calibri"/>
                <a:ea typeface="Calibri"/>
              </a:rPr>
              <a:t>A selector says which elements get the rule.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Write once, reuse</a:t>
            </a:r>
            <a:br/>
            <a:r>
              <a:rPr sz="1500" b="0" i="0">
                <a:solidFill>
                  <a:srgbClr val="4A5568"/>
                </a:solidFill>
                <a:latin typeface="Calibri"/>
                <a:ea typeface="Calibri"/>
              </a:rPr>
              <a:t>One rule styles every matching element.</a:t>
            </a:r>
          </a:p>
          <a:p>
            <a:pPr marL="256032" indent="-237744">
              <a:lnSpc>
                <a:spcPct val="112000"/>
              </a:lnSpc>
              <a:spcAft>
                <a:spcPts val="700"/>
              </a:spcAft>
              <a:buClr>
                <a:srgbClr val="1E4FA8"/>
              </a:buClr>
              <a:buSzPct val="90000"/>
              <a:buFont typeface="Arial"/>
              <a:buChar char="▪"/>
            </a:pPr>
            <a:r>
              <a:rPr sz="1700" b="1" i="0">
                <a:solidFill>
                  <a:srgbClr val="B8860B"/>
                </a:solidFill>
                <a:latin typeface="Consolas"/>
                <a:ea typeface="Consolas"/>
              </a:rPr>
              <a:t>class</a:t>
            </a:r>
            <a:r>
              <a:rPr sz="1700" b="1" i="0">
                <a:solidFill>
                  <a:srgbClr val="1A2230"/>
                </a:solidFill>
                <a:latin typeface="Calibri"/>
                <a:ea typeface="Calibri"/>
              </a:rPr>
              <a:t> is the hook</a:t>
            </a:r>
            <a:br/>
            <a:r>
              <a:rPr sz="1500" b="0" i="0">
                <a:solidFill>
                  <a:srgbClr val="B8860B"/>
                </a:solidFill>
                <a:latin typeface="Consolas"/>
                <a:ea typeface="Consolas"/>
              </a:rPr>
              <a:t>class</a:t>
            </a:r>
            <a:r>
              <a:rPr sz="1500" b="0" i="0">
                <a:solidFill>
                  <a:srgbClr val="4A5568"/>
                </a:solidFill>
                <a:latin typeface="Calibri"/>
                <a:ea typeface="Calibri"/>
              </a:rPr>
              <a:t>="note" plus .note { … } — the reusable pair.</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One rule styles every .title, everywhere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editor.html?example=css-selectors/selectors</a:t>
            </a:r>
          </a:p>
        </p:txBody>
      </p:sp>
      <p:sp>
        <p:nvSpPr>
          <p:cNvPr id="8" name="TextBox 7"/>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h1.title { color: blue;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Three Ways to Add CSS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Why CSS?</a:t>
            </a:r>
          </a:p>
        </p:txBody>
      </p:sp>
      <p:sp>
        <p:nvSpPr>
          <p:cNvPr id="5" name="TextBox 4"/>
          <p:cNvSpPr txBox="1"/>
          <p:nvPr/>
        </p:nvSpPr>
        <p:spPr>
          <a:xfrm>
            <a:off x="548640" y="914400"/>
            <a:ext cx="11094415" cy="365760"/>
          </a:xfrm>
          <a:prstGeom prst="rect">
            <a:avLst/>
          </a:prstGeom>
          <a:noFill/>
        </p:spPr>
        <p:txBody>
          <a:bodyPr wrap="square" lIns="0" tIns="0" rIns="0" bIns="0" anchor="t">
            <a:spAutoFit/>
          </a:bodyPr>
          <a:lstStyle/>
          <a:p>
            <a:pPr algn="l">
              <a:lnSpc>
                <a:spcPct val="110000"/>
              </a:lnSpc>
              <a:spcAft>
                <a:spcPts val="400"/>
              </a:spcAft>
            </a:pPr>
            <a:r>
              <a:rPr sz="1400" b="0" i="0">
                <a:solidFill>
                  <a:srgbClr val="4A5568"/>
                </a:solidFill>
                <a:latin typeface="Calibri"/>
                <a:ea typeface="Calibri"/>
              </a:rPr>
              <a:t>One declaration, three homes — the gold line is what makes each one different.</a:t>
            </a:r>
          </a:p>
        </p:txBody>
      </p:sp>
      <p:sp>
        <p:nvSpPr>
          <p:cNvPr id="6" name="TextBox 5"/>
          <p:cNvSpPr txBox="1"/>
          <p:nvPr/>
        </p:nvSpPr>
        <p:spPr>
          <a:xfrm>
            <a:off x="548640" y="1298448"/>
            <a:ext cx="3484778" cy="329184"/>
          </a:xfrm>
          <a:prstGeom prst="rect">
            <a:avLst/>
          </a:prstGeom>
          <a:noFill/>
        </p:spPr>
        <p:txBody>
          <a:bodyPr wrap="square" lIns="0" tIns="0" rIns="0" bIns="0" anchor="t">
            <a:spAutoFit/>
          </a:bodyPr>
          <a:lstStyle/>
          <a:p>
            <a:pPr algn="l">
              <a:lnSpc>
                <a:spcPct val="110000"/>
              </a:lnSpc>
              <a:spcAft>
                <a:spcPts val="400"/>
              </a:spcAft>
            </a:pPr>
            <a:r>
              <a:rPr sz="1700" b="1" i="0">
                <a:solidFill>
                  <a:srgbClr val="0E3F8C"/>
                </a:solidFill>
                <a:latin typeface="Calibri"/>
                <a:ea typeface="Calibri"/>
              </a:rPr>
              <a:t>External</a:t>
            </a:r>
          </a:p>
        </p:txBody>
      </p:sp>
      <p:sp>
        <p:nvSpPr>
          <p:cNvPr id="7" name="TextBox 6"/>
          <p:cNvSpPr txBox="1"/>
          <p:nvPr/>
        </p:nvSpPr>
        <p:spPr>
          <a:xfrm>
            <a:off x="548640" y="1627631"/>
            <a:ext cx="3484778" cy="274320"/>
          </a:xfrm>
          <a:prstGeom prst="rect">
            <a:avLst/>
          </a:prstGeom>
          <a:noFill/>
        </p:spPr>
        <p:txBody>
          <a:bodyPr wrap="square" lIns="0" tIns="0" rIns="0" bIns="0" anchor="t">
            <a:spAutoFit/>
          </a:bodyPr>
          <a:lstStyle/>
          <a:p>
            <a:pPr algn="l">
              <a:lnSpc>
                <a:spcPct val="100000"/>
              </a:lnSpc>
              <a:spcAft>
                <a:spcPts val="400"/>
              </a:spcAft>
            </a:pPr>
            <a:r>
              <a:rPr sz="1050" b="0" i="0">
                <a:solidFill>
                  <a:srgbClr val="4A5568"/>
                </a:solidFill>
                <a:latin typeface="Calibri"/>
                <a:ea typeface="Calibri"/>
              </a:rPr>
              <a:t>its own .css file, pulled in by &lt;link&gt;</a:t>
            </a:r>
          </a:p>
        </p:txBody>
      </p:sp>
      <p:sp>
        <p:nvSpPr>
          <p:cNvPr id="8" name="Rounded Rectangle 7"/>
          <p:cNvSpPr/>
          <p:nvPr/>
        </p:nvSpPr>
        <p:spPr>
          <a:xfrm>
            <a:off x="548640" y="1975104"/>
            <a:ext cx="3484778" cy="27889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1975104"/>
            <a:ext cx="3009290" cy="2788920"/>
          </a:xfrm>
          <a:prstGeom prst="rect">
            <a:avLst/>
          </a:prstGeom>
          <a:noFill/>
        </p:spPr>
        <p:txBody>
          <a:bodyPr wrap="none" lIns="0" tIns="0" rIns="0" bIns="0" anchor="ctr">
            <a:spAutoFit/>
          </a:bodyPr>
          <a:lstStyle/>
          <a:p>
            <a:pPr algn="l">
              <a:lnSpc>
                <a:spcPct val="110000"/>
              </a:lnSpc>
              <a:spcAft>
                <a:spcPts val="450"/>
              </a:spcAft>
            </a:pPr>
            <a:r>
              <a:rPr sz="1300" b="0" i="0">
                <a:solidFill>
                  <a:srgbClr val="7F8C98"/>
                </a:solidFill>
                <a:latin typeface="Consolas"/>
                <a:ea typeface="Consolas"/>
              </a:rPr>
              <a:t>/* index.html */</a:t>
            </a:r>
          </a:p>
          <a:p>
            <a:pPr algn="l">
              <a:lnSpc>
                <a:spcPct val="110000"/>
              </a:lnSpc>
              <a:spcAft>
                <a:spcPts val="450"/>
              </a:spcAft>
            </a:pPr>
            <a:r>
              <a:rPr sz="1300" b="0" i="0">
                <a:solidFill>
                  <a:srgbClr val="E5C07B"/>
                </a:solidFill>
                <a:latin typeface="Consolas"/>
                <a:ea typeface="Consolas"/>
              </a:rPr>
              <a:t>&lt;link rel="stylesheet"</a:t>
            </a:r>
          </a:p>
          <a:p>
            <a:pPr algn="l">
              <a:lnSpc>
                <a:spcPct val="110000"/>
              </a:lnSpc>
              <a:spcAft>
                <a:spcPts val="450"/>
              </a:spcAft>
            </a:pPr>
            <a:r>
              <a:rPr sz="1300" b="0" i="0">
                <a:solidFill>
                  <a:srgbClr val="E5C07B"/>
                </a:solidFill>
                <a:latin typeface="Consolas"/>
                <a:ea typeface="Consolas"/>
              </a:rPr>
              <a:t>      href="style.css"&gt;</a:t>
            </a:r>
          </a:p>
          <a:p>
            <a:pPr algn="l">
              <a:lnSpc>
                <a:spcPct val="110000"/>
              </a:lnSpc>
              <a:spcAft>
                <a:spcPts val="450"/>
              </a:spcAft>
            </a:pPr>
            <a:r>
              <a:rPr sz="1300" b="0" i="0">
                <a:solidFill>
                  <a:srgbClr val="7F8C98"/>
                </a:solidFill>
                <a:latin typeface="Consolas"/>
                <a:ea typeface="Consolas"/>
              </a:rPr>
              <a:t>/* style.css */</a:t>
            </a:r>
          </a:p>
          <a:p>
            <a:pPr algn="l">
              <a:lnSpc>
                <a:spcPct val="110000"/>
              </a:lnSpc>
              <a:spcAft>
                <a:spcPts val="450"/>
              </a:spcAft>
            </a:pPr>
            <a:r>
              <a:rPr sz="1300" b="0" i="0">
                <a:solidFill>
                  <a:srgbClr val="98C379"/>
                </a:solidFill>
                <a:latin typeface="Consolas"/>
                <a:ea typeface="Consolas"/>
              </a:rPr>
              <a:t>h1 { color: #1E4FA8; }</a:t>
            </a:r>
          </a:p>
        </p:txBody>
      </p:sp>
      <p:sp>
        <p:nvSpPr>
          <p:cNvPr id="10" name="Rounded Rectangle 9"/>
          <p:cNvSpPr/>
          <p:nvPr/>
        </p:nvSpPr>
        <p:spPr>
          <a:xfrm>
            <a:off x="548640" y="4864608"/>
            <a:ext cx="3484778" cy="512064"/>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4864608"/>
            <a:ext cx="3082442" cy="512064"/>
          </a:xfrm>
          <a:prstGeom prst="rect">
            <a:avLst/>
          </a:prstGeom>
          <a:noFill/>
        </p:spPr>
        <p:txBody>
          <a:bodyPr wrap="square" lIns="0" tIns="0" rIns="0" bIns="0" anchor="ctr">
            <a:spAutoFit/>
          </a:bodyPr>
          <a:lstStyle/>
          <a:p>
            <a:pPr algn="l">
              <a:lnSpc>
                <a:spcPct val="105000"/>
              </a:lnSpc>
              <a:spcAft>
                <a:spcPts val="400"/>
              </a:spcAft>
            </a:pPr>
            <a:r>
              <a:rPr sz="1150" b="1" i="0">
                <a:solidFill>
                  <a:srgbClr val="0E3F8C"/>
                </a:solidFill>
                <a:latin typeface="Calibri"/>
                <a:ea typeface="Calibri"/>
              </a:rPr>
              <a:t>Styles every page that links the file.</a:t>
            </a:r>
          </a:p>
        </p:txBody>
      </p:sp>
      <p:sp>
        <p:nvSpPr>
          <p:cNvPr id="12" name="TextBox 11"/>
          <p:cNvSpPr txBox="1"/>
          <p:nvPr/>
        </p:nvSpPr>
        <p:spPr>
          <a:xfrm>
            <a:off x="548640" y="5431536"/>
            <a:ext cx="3484778" cy="310896"/>
          </a:xfrm>
          <a:prstGeom prst="rect">
            <a:avLst/>
          </a:prstGeom>
          <a:noFill/>
        </p:spPr>
        <p:txBody>
          <a:bodyPr wrap="square" lIns="0" tIns="0" rIns="0" bIns="0" anchor="t">
            <a:spAutoFit/>
          </a:bodyPr>
          <a:lstStyle/>
          <a:p>
            <a:pPr algn="l">
              <a:lnSpc>
                <a:spcPct val="110000"/>
              </a:lnSpc>
              <a:spcAft>
                <a:spcPts val="400"/>
              </a:spcAft>
            </a:pPr>
            <a:r>
              <a:rPr sz="1100" b="0" i="0">
                <a:solidFill>
                  <a:srgbClr val="4A5568"/>
                </a:solidFill>
                <a:latin typeface="Calibri"/>
                <a:ea typeface="Calibri"/>
              </a:rPr>
              <a:t>The default — write it once, reuse it everywhere.</a:t>
            </a:r>
          </a:p>
        </p:txBody>
      </p:sp>
      <p:sp>
        <p:nvSpPr>
          <p:cNvPr id="13" name="TextBox 12"/>
          <p:cNvSpPr txBox="1"/>
          <p:nvPr/>
        </p:nvSpPr>
        <p:spPr>
          <a:xfrm>
            <a:off x="4353458" y="1298448"/>
            <a:ext cx="3484778" cy="329184"/>
          </a:xfrm>
          <a:prstGeom prst="rect">
            <a:avLst/>
          </a:prstGeom>
          <a:noFill/>
        </p:spPr>
        <p:txBody>
          <a:bodyPr wrap="square" lIns="0" tIns="0" rIns="0" bIns="0" anchor="t">
            <a:spAutoFit/>
          </a:bodyPr>
          <a:lstStyle/>
          <a:p>
            <a:pPr algn="l">
              <a:lnSpc>
                <a:spcPct val="110000"/>
              </a:lnSpc>
              <a:spcAft>
                <a:spcPts val="400"/>
              </a:spcAft>
            </a:pPr>
            <a:r>
              <a:rPr sz="1700" b="1" i="0">
                <a:solidFill>
                  <a:srgbClr val="0E3F8C"/>
                </a:solidFill>
                <a:latin typeface="Calibri"/>
                <a:ea typeface="Calibri"/>
              </a:rPr>
              <a:t>Internal</a:t>
            </a:r>
          </a:p>
        </p:txBody>
      </p:sp>
      <p:sp>
        <p:nvSpPr>
          <p:cNvPr id="14" name="TextBox 13"/>
          <p:cNvSpPr txBox="1"/>
          <p:nvPr/>
        </p:nvSpPr>
        <p:spPr>
          <a:xfrm>
            <a:off x="4353458" y="1627631"/>
            <a:ext cx="3484778" cy="274320"/>
          </a:xfrm>
          <a:prstGeom prst="rect">
            <a:avLst/>
          </a:prstGeom>
          <a:noFill/>
        </p:spPr>
        <p:txBody>
          <a:bodyPr wrap="square" lIns="0" tIns="0" rIns="0" bIns="0" anchor="t">
            <a:spAutoFit/>
          </a:bodyPr>
          <a:lstStyle/>
          <a:p>
            <a:pPr algn="l">
              <a:lnSpc>
                <a:spcPct val="100000"/>
              </a:lnSpc>
              <a:spcAft>
                <a:spcPts val="400"/>
              </a:spcAft>
            </a:pPr>
            <a:r>
              <a:rPr sz="1050" b="0" i="0">
                <a:solidFill>
                  <a:srgbClr val="4A5568"/>
                </a:solidFill>
                <a:latin typeface="Calibri"/>
                <a:ea typeface="Calibri"/>
              </a:rPr>
              <a:t>a &lt;style&gt; block in this page's &lt;head&gt;</a:t>
            </a:r>
          </a:p>
        </p:txBody>
      </p:sp>
      <p:sp>
        <p:nvSpPr>
          <p:cNvPr id="15" name="Rounded Rectangle 14"/>
          <p:cNvSpPr/>
          <p:nvPr/>
        </p:nvSpPr>
        <p:spPr>
          <a:xfrm>
            <a:off x="4353458" y="1975104"/>
            <a:ext cx="3484778" cy="27889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91202" y="1975104"/>
            <a:ext cx="3009290" cy="2788920"/>
          </a:xfrm>
          <a:prstGeom prst="rect">
            <a:avLst/>
          </a:prstGeom>
          <a:noFill/>
        </p:spPr>
        <p:txBody>
          <a:bodyPr wrap="none" lIns="0" tIns="0" rIns="0" bIns="0" anchor="ctr">
            <a:spAutoFit/>
          </a:bodyPr>
          <a:lstStyle/>
          <a:p>
            <a:pPr algn="l">
              <a:lnSpc>
                <a:spcPct val="110000"/>
              </a:lnSpc>
              <a:spcAft>
                <a:spcPts val="450"/>
              </a:spcAft>
            </a:pPr>
            <a:r>
              <a:rPr sz="1300" b="0" i="0">
                <a:solidFill>
                  <a:srgbClr val="7F8C98"/>
                </a:solidFill>
                <a:latin typeface="Consolas"/>
                <a:ea typeface="Consolas"/>
              </a:rPr>
              <a:t>/* index.html */</a:t>
            </a:r>
          </a:p>
          <a:p>
            <a:pPr algn="l">
              <a:lnSpc>
                <a:spcPct val="110000"/>
              </a:lnSpc>
              <a:spcAft>
                <a:spcPts val="450"/>
              </a:spcAft>
            </a:pPr>
            <a:r>
              <a:rPr sz="1300" b="0" i="0">
                <a:solidFill>
                  <a:srgbClr val="61AFEF"/>
                </a:solidFill>
                <a:latin typeface="Consolas"/>
                <a:ea typeface="Consolas"/>
              </a:rPr>
              <a:t>&lt;head&gt;</a:t>
            </a:r>
          </a:p>
          <a:p>
            <a:pPr algn="l">
              <a:lnSpc>
                <a:spcPct val="110000"/>
              </a:lnSpc>
              <a:spcAft>
                <a:spcPts val="450"/>
              </a:spcAft>
            </a:pPr>
            <a:r>
              <a:rPr sz="1300" b="0" i="0">
                <a:solidFill>
                  <a:srgbClr val="E5C07B"/>
                </a:solidFill>
                <a:latin typeface="Consolas"/>
                <a:ea typeface="Consolas"/>
              </a:rPr>
              <a:t>  &lt;style&gt;</a:t>
            </a:r>
          </a:p>
          <a:p>
            <a:pPr algn="l">
              <a:lnSpc>
                <a:spcPct val="110000"/>
              </a:lnSpc>
              <a:spcAft>
                <a:spcPts val="450"/>
              </a:spcAft>
            </a:pPr>
            <a:r>
              <a:rPr sz="1300" b="0" i="0">
                <a:solidFill>
                  <a:srgbClr val="98C379"/>
                </a:solidFill>
                <a:latin typeface="Consolas"/>
                <a:ea typeface="Consolas"/>
              </a:rPr>
              <a:t>    h1 { color: #1E4FA8; }</a:t>
            </a:r>
          </a:p>
          <a:p>
            <a:pPr algn="l">
              <a:lnSpc>
                <a:spcPct val="110000"/>
              </a:lnSpc>
              <a:spcAft>
                <a:spcPts val="450"/>
              </a:spcAft>
            </a:pPr>
            <a:r>
              <a:rPr sz="1300" b="0" i="0">
                <a:solidFill>
                  <a:srgbClr val="E5C07B"/>
                </a:solidFill>
                <a:latin typeface="Consolas"/>
                <a:ea typeface="Consolas"/>
              </a:rPr>
              <a:t>  &lt;/style&gt;</a:t>
            </a:r>
          </a:p>
          <a:p>
            <a:pPr algn="l">
              <a:lnSpc>
                <a:spcPct val="110000"/>
              </a:lnSpc>
              <a:spcAft>
                <a:spcPts val="450"/>
              </a:spcAft>
            </a:pPr>
            <a:r>
              <a:rPr sz="1300" b="0" i="0">
                <a:solidFill>
                  <a:srgbClr val="61AFEF"/>
                </a:solidFill>
                <a:latin typeface="Consolas"/>
                <a:ea typeface="Consolas"/>
              </a:rPr>
              <a:t>&lt;/head&gt;</a:t>
            </a:r>
          </a:p>
        </p:txBody>
      </p:sp>
      <p:sp>
        <p:nvSpPr>
          <p:cNvPr id="17" name="Rounded Rectangle 16"/>
          <p:cNvSpPr/>
          <p:nvPr/>
        </p:nvSpPr>
        <p:spPr>
          <a:xfrm>
            <a:off x="4353458" y="4864608"/>
            <a:ext cx="3484778" cy="512064"/>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54626" y="4864608"/>
            <a:ext cx="3082442" cy="512064"/>
          </a:xfrm>
          <a:prstGeom prst="rect">
            <a:avLst/>
          </a:prstGeom>
          <a:noFill/>
        </p:spPr>
        <p:txBody>
          <a:bodyPr wrap="square" lIns="0" tIns="0" rIns="0" bIns="0" anchor="ctr">
            <a:spAutoFit/>
          </a:bodyPr>
          <a:lstStyle/>
          <a:p>
            <a:pPr algn="l">
              <a:lnSpc>
                <a:spcPct val="105000"/>
              </a:lnSpc>
              <a:spcAft>
                <a:spcPts val="400"/>
              </a:spcAft>
            </a:pPr>
            <a:r>
              <a:rPr sz="1150" b="1" i="0">
                <a:solidFill>
                  <a:srgbClr val="0E3F8C"/>
                </a:solidFill>
                <a:latin typeface="Calibri"/>
                <a:ea typeface="Calibri"/>
              </a:rPr>
              <a:t>Styles this one page only.</a:t>
            </a:r>
          </a:p>
        </p:txBody>
      </p:sp>
      <p:sp>
        <p:nvSpPr>
          <p:cNvPr id="19" name="TextBox 18"/>
          <p:cNvSpPr txBox="1"/>
          <p:nvPr/>
        </p:nvSpPr>
        <p:spPr>
          <a:xfrm>
            <a:off x="4353458" y="5431536"/>
            <a:ext cx="3484778" cy="310896"/>
          </a:xfrm>
          <a:prstGeom prst="rect">
            <a:avLst/>
          </a:prstGeom>
          <a:noFill/>
        </p:spPr>
        <p:txBody>
          <a:bodyPr wrap="square" lIns="0" tIns="0" rIns="0" bIns="0" anchor="t">
            <a:spAutoFit/>
          </a:bodyPr>
          <a:lstStyle/>
          <a:p>
            <a:pPr algn="l">
              <a:lnSpc>
                <a:spcPct val="110000"/>
              </a:lnSpc>
              <a:spcAft>
                <a:spcPts val="400"/>
              </a:spcAft>
            </a:pPr>
            <a:r>
              <a:rPr sz="1100" b="0" i="0">
                <a:solidFill>
                  <a:srgbClr val="4A5568"/>
                </a:solidFill>
                <a:latin typeface="Calibri"/>
                <a:ea typeface="Calibri"/>
              </a:rPr>
              <a:t>Fine for a single page — no reuse across pages.</a:t>
            </a:r>
          </a:p>
        </p:txBody>
      </p:sp>
      <p:sp>
        <p:nvSpPr>
          <p:cNvPr id="20" name="TextBox 19"/>
          <p:cNvSpPr txBox="1"/>
          <p:nvPr/>
        </p:nvSpPr>
        <p:spPr>
          <a:xfrm>
            <a:off x="8158276" y="1298448"/>
            <a:ext cx="3484778" cy="329184"/>
          </a:xfrm>
          <a:prstGeom prst="rect">
            <a:avLst/>
          </a:prstGeom>
          <a:noFill/>
        </p:spPr>
        <p:txBody>
          <a:bodyPr wrap="square" lIns="0" tIns="0" rIns="0" bIns="0" anchor="t">
            <a:spAutoFit/>
          </a:bodyPr>
          <a:lstStyle/>
          <a:p>
            <a:pPr algn="l">
              <a:lnSpc>
                <a:spcPct val="110000"/>
              </a:lnSpc>
              <a:spcAft>
                <a:spcPts val="400"/>
              </a:spcAft>
            </a:pPr>
            <a:r>
              <a:rPr sz="1700" b="1" i="0">
                <a:solidFill>
                  <a:srgbClr val="0E3F8C"/>
                </a:solidFill>
                <a:latin typeface="Calibri"/>
                <a:ea typeface="Calibri"/>
              </a:rPr>
              <a:t>Inline</a:t>
            </a:r>
          </a:p>
        </p:txBody>
      </p:sp>
      <p:sp>
        <p:nvSpPr>
          <p:cNvPr id="21" name="TextBox 20"/>
          <p:cNvSpPr txBox="1"/>
          <p:nvPr/>
        </p:nvSpPr>
        <p:spPr>
          <a:xfrm>
            <a:off x="8158276" y="1627631"/>
            <a:ext cx="3484778" cy="274320"/>
          </a:xfrm>
          <a:prstGeom prst="rect">
            <a:avLst/>
          </a:prstGeom>
          <a:noFill/>
        </p:spPr>
        <p:txBody>
          <a:bodyPr wrap="square" lIns="0" tIns="0" rIns="0" bIns="0" anchor="t">
            <a:spAutoFit/>
          </a:bodyPr>
          <a:lstStyle/>
          <a:p>
            <a:pPr algn="l">
              <a:lnSpc>
                <a:spcPct val="100000"/>
              </a:lnSpc>
              <a:spcAft>
                <a:spcPts val="400"/>
              </a:spcAft>
            </a:pPr>
            <a:r>
              <a:rPr sz="1050" b="0" i="0">
                <a:solidFill>
                  <a:srgbClr val="4A5568"/>
                </a:solidFill>
                <a:latin typeface="Calibri"/>
                <a:ea typeface="Calibri"/>
              </a:rPr>
              <a:t>a style attribute on each element</a:t>
            </a:r>
          </a:p>
        </p:txBody>
      </p:sp>
      <p:sp>
        <p:nvSpPr>
          <p:cNvPr id="22" name="Rounded Rectangle 21"/>
          <p:cNvSpPr/>
          <p:nvPr/>
        </p:nvSpPr>
        <p:spPr>
          <a:xfrm>
            <a:off x="8158276" y="1975104"/>
            <a:ext cx="3484778" cy="27889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96020" y="1975104"/>
            <a:ext cx="3009290" cy="2788920"/>
          </a:xfrm>
          <a:prstGeom prst="rect">
            <a:avLst/>
          </a:prstGeom>
          <a:noFill/>
        </p:spPr>
        <p:txBody>
          <a:bodyPr wrap="none" lIns="0" tIns="0" rIns="0" bIns="0" anchor="ctr">
            <a:spAutoFit/>
          </a:bodyPr>
          <a:lstStyle/>
          <a:p>
            <a:pPr algn="l">
              <a:lnSpc>
                <a:spcPct val="110000"/>
              </a:lnSpc>
              <a:spcAft>
                <a:spcPts val="450"/>
              </a:spcAft>
            </a:pPr>
            <a:r>
              <a:rPr sz="1300" b="0" i="0">
                <a:solidFill>
                  <a:srgbClr val="7F8C98"/>
                </a:solidFill>
                <a:latin typeface="Consolas"/>
                <a:ea typeface="Consolas"/>
              </a:rPr>
              <a:t>/* index.html */</a:t>
            </a:r>
          </a:p>
          <a:p>
            <a:pPr algn="l">
              <a:lnSpc>
                <a:spcPct val="110000"/>
              </a:lnSpc>
              <a:spcAft>
                <a:spcPts val="450"/>
              </a:spcAft>
            </a:pPr>
            <a:r>
              <a:rPr sz="1300" b="0" i="0">
                <a:solidFill>
                  <a:srgbClr val="E5C07B"/>
                </a:solidFill>
                <a:latin typeface="Consolas"/>
                <a:ea typeface="Consolas"/>
              </a:rPr>
              <a:t>&lt;h1 style="color: #1E4FA8;"&gt;</a:t>
            </a:r>
          </a:p>
          <a:p>
            <a:pPr algn="l">
              <a:lnSpc>
                <a:spcPct val="110000"/>
              </a:lnSpc>
              <a:spcAft>
                <a:spcPts val="450"/>
              </a:spcAft>
            </a:pPr>
            <a:r>
              <a:rPr sz="1300" b="0" i="0">
                <a:solidFill>
                  <a:srgbClr val="61AFEF"/>
                </a:solidFill>
                <a:latin typeface="Consolas"/>
                <a:ea typeface="Consolas"/>
              </a:rPr>
              <a:t>  Hello</a:t>
            </a:r>
          </a:p>
          <a:p>
            <a:pPr algn="l">
              <a:lnSpc>
                <a:spcPct val="110000"/>
              </a:lnSpc>
              <a:spcAft>
                <a:spcPts val="450"/>
              </a:spcAft>
            </a:pPr>
            <a:r>
              <a:rPr sz="1300" b="0" i="0">
                <a:solidFill>
                  <a:srgbClr val="61AFEF"/>
                </a:solidFill>
                <a:latin typeface="Consolas"/>
                <a:ea typeface="Consolas"/>
              </a:rPr>
              <a:t>&lt;/h1&gt;</a:t>
            </a:r>
          </a:p>
          <a:p>
            <a:pPr algn="l">
              <a:lnSpc>
                <a:spcPct val="110000"/>
              </a:lnSpc>
              <a:spcAft>
                <a:spcPts val="450"/>
              </a:spcAft>
            </a:pPr>
            <a:r>
              <a:rPr sz="1300" b="0" i="0">
                <a:solidFill>
                  <a:srgbClr val="E5C07B"/>
                </a:solidFill>
                <a:latin typeface="Consolas"/>
                <a:ea typeface="Consolas"/>
              </a:rPr>
              <a:t>&lt;p style="color: #1E4FA8;"&gt;</a:t>
            </a:r>
          </a:p>
          <a:p>
            <a:pPr algn="l">
              <a:lnSpc>
                <a:spcPct val="110000"/>
              </a:lnSpc>
              <a:spcAft>
                <a:spcPts val="450"/>
              </a:spcAft>
            </a:pPr>
            <a:r>
              <a:rPr sz="1300" b="0" i="0">
                <a:solidFill>
                  <a:srgbClr val="61AFEF"/>
                </a:solidFill>
                <a:latin typeface="Consolas"/>
                <a:ea typeface="Consolas"/>
              </a:rPr>
              <a:t>  And here too</a:t>
            </a:r>
          </a:p>
        </p:txBody>
      </p:sp>
      <p:sp>
        <p:nvSpPr>
          <p:cNvPr id="24" name="Rounded Rectangle 23"/>
          <p:cNvSpPr/>
          <p:nvPr/>
        </p:nvSpPr>
        <p:spPr>
          <a:xfrm>
            <a:off x="8158276" y="4864608"/>
            <a:ext cx="3484778" cy="512064"/>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59444" y="4864608"/>
            <a:ext cx="3082442" cy="512064"/>
          </a:xfrm>
          <a:prstGeom prst="rect">
            <a:avLst/>
          </a:prstGeom>
          <a:noFill/>
        </p:spPr>
        <p:txBody>
          <a:bodyPr wrap="square" lIns="0" tIns="0" rIns="0" bIns="0" anchor="ctr">
            <a:spAutoFit/>
          </a:bodyPr>
          <a:lstStyle/>
          <a:p>
            <a:pPr algn="l">
              <a:lnSpc>
                <a:spcPct val="105000"/>
              </a:lnSpc>
              <a:spcAft>
                <a:spcPts val="400"/>
              </a:spcAft>
            </a:pPr>
            <a:r>
              <a:rPr sz="1150" b="1" i="0">
                <a:solidFill>
                  <a:srgbClr val="0E3F8C"/>
                </a:solidFill>
                <a:latin typeface="Calibri"/>
                <a:ea typeface="Calibri"/>
              </a:rPr>
              <a:t>Styles one element — copy it on each one.</a:t>
            </a:r>
          </a:p>
        </p:txBody>
      </p:sp>
      <p:sp>
        <p:nvSpPr>
          <p:cNvPr id="26" name="TextBox 25"/>
          <p:cNvSpPr txBox="1"/>
          <p:nvPr/>
        </p:nvSpPr>
        <p:spPr>
          <a:xfrm>
            <a:off x="8158276" y="5431536"/>
            <a:ext cx="3484778" cy="310896"/>
          </a:xfrm>
          <a:prstGeom prst="rect">
            <a:avLst/>
          </a:prstGeom>
          <a:noFill/>
        </p:spPr>
        <p:txBody>
          <a:bodyPr wrap="square" lIns="0" tIns="0" rIns="0" bIns="0" anchor="t">
            <a:spAutoFit/>
          </a:bodyPr>
          <a:lstStyle/>
          <a:p>
            <a:pPr algn="l">
              <a:lnSpc>
                <a:spcPct val="110000"/>
              </a:lnSpc>
              <a:spcAft>
                <a:spcPts val="400"/>
              </a:spcAft>
            </a:pPr>
            <a:r>
              <a:rPr sz="1100" b="0" i="0">
                <a:solidFill>
                  <a:srgbClr val="4A5568"/>
                </a:solidFill>
                <a:latin typeface="Calibri"/>
                <a:ea typeface="Calibri"/>
              </a:rPr>
              <a:t>The last resort: repeated, and hard to override.</a:t>
            </a:r>
          </a:p>
        </p:txBody>
      </p:sp>
      <p:sp>
        <p:nvSpPr>
          <p:cNvPr id="27" name="Rounded Rectangle 2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Same declaration, three homes — external is the default; inline is the last resort.</a:t>
            </a:r>
          </a:p>
        </p:txBody>
      </p:sp>
      <p:sp>
        <p:nvSpPr>
          <p:cNvPr id="29" name="TextBox 28"/>
          <p:cNvSpPr txBox="1"/>
          <p:nvPr/>
        </p:nvSpPr>
        <p:spPr>
          <a:xfrm>
            <a:off x="3840480" y="5943600"/>
            <a:ext cx="7436815" cy="475488"/>
          </a:xfrm>
          <a:prstGeom prst="rect">
            <a:avLst/>
          </a:prstGeom>
          <a:noFill/>
        </p:spPr>
        <p:txBody>
          <a:bodyPr wrap="square" lIns="0" tIns="0" rIns="0" bIns="0" anchor="ctr">
            <a:spAutoFit/>
          </a:bodyPr>
          <a:lstStyle/>
          <a:p>
            <a:pPr algn="r">
              <a:lnSpc>
                <a:spcPct val="110000"/>
              </a:lnSpc>
              <a:spcAft>
                <a:spcPts val="400"/>
              </a:spcAft>
            </a:pPr>
            <a:r>
              <a:rPr sz="1050" b="1" i="0">
                <a:solidFill>
                  <a:srgbClr val="9DC0EE"/>
                </a:solidFill>
                <a:latin typeface="Calibri"/>
                <a:ea typeface="Calibri"/>
              </a:rPr>
              <a:t>open in editor →  </a:t>
            </a:r>
            <a:r>
              <a:rPr sz="1050" b="1" i="0">
                <a:solidFill>
                  <a:srgbClr val="61AFEF"/>
                </a:solidFill>
                <a:latin typeface="Calibri"/>
                <a:ea typeface="Calibri"/>
                <a:hlinkClick r:id="rId2"/>
                <a:extLst>
                  <a:ext uri="{A12FA001-AC4F-418D-AE19-62706E023703}">
                    <ahyp:hlinkClr xmlns:ahyp="http://schemas.microsoft.com/office/drawing/2018/hyperlinkcolor" xmlns="" val="tx"/>
                  </a:ext>
                </a:extLst>
              </a:rPr>
              <a:t>css-cascade/placement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143000"/>
            <a:ext cx="3840480" cy="1828800"/>
          </a:xfrm>
          <a:prstGeom prst="rect">
            <a:avLst/>
          </a:prstGeom>
          <a:noFill/>
        </p:spPr>
        <p:txBody>
          <a:bodyPr wrap="square" lIns="0" tIns="0" rIns="0" bIns="0" anchor="t">
            <a:spAutoFit/>
          </a:bodyPr>
          <a:lstStyle/>
          <a:p>
            <a:pPr algn="l">
              <a:lnSpc>
                <a:spcPct val="110000"/>
              </a:lnSpc>
              <a:spcAft>
                <a:spcPts val="400"/>
              </a:spcAft>
            </a:pPr>
            <a:r>
              <a:rPr sz="9200" b="1" i="0">
                <a:solidFill>
                  <a:srgbClr val="9DC0EE"/>
                </a:solidFill>
                <a:latin typeface="Calibri"/>
                <a:ea typeface="Calibri"/>
              </a:rPr>
              <a:t>02</a:t>
            </a:r>
          </a:p>
        </p:txBody>
      </p:sp>
      <p:sp>
        <p:nvSpPr>
          <p:cNvPr id="5" name="TextBox 4"/>
          <p:cNvSpPr txBox="1"/>
          <p:nvPr/>
        </p:nvSpPr>
        <p:spPr>
          <a:xfrm>
            <a:off x="685800" y="3063240"/>
            <a:ext cx="10607040" cy="822960"/>
          </a:xfrm>
          <a:prstGeom prst="rect">
            <a:avLst/>
          </a:prstGeom>
          <a:noFill/>
        </p:spPr>
        <p:txBody>
          <a:bodyPr wrap="square" lIns="0" tIns="0" rIns="0" bIns="0" anchor="t">
            <a:spAutoFit/>
          </a:bodyPr>
          <a:lstStyle/>
          <a:p>
            <a:pPr algn="l">
              <a:lnSpc>
                <a:spcPct val="110000"/>
              </a:lnSpc>
              <a:spcAft>
                <a:spcPts val="400"/>
              </a:spcAft>
            </a:pPr>
            <a:r>
              <a:rPr sz="3800" b="1" i="0">
                <a:solidFill>
                  <a:srgbClr val="FFFFFF"/>
                </a:solidFill>
                <a:latin typeface="Calibri"/>
                <a:ea typeface="Calibri"/>
              </a:rPr>
              <a:t>Selectors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4251960"/>
            <a:ext cx="10058400" cy="1645920"/>
          </a:xfrm>
          <a:prstGeom prst="rect">
            <a:avLst/>
          </a:prstGeom>
          <a:noFill/>
        </p:spPr>
        <p:txBody>
          <a:bodyPr wrap="square" lIns="0" tIns="0" r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“Find” the HTML elements you want to </a:t>
            </a:r>
            <a:r>
              <a:rPr sz="1600" b="0" i="0">
                <a:solidFill>
                  <a:srgbClr val="B8860B"/>
                </a:solidFill>
                <a:latin typeface="Consolas"/>
                <a:ea typeface="Consolas"/>
              </a:rPr>
              <a:t>style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Five categories: simple · combinator · attribute · pseudo-class · pseudo-element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One shape for every rule: a selector, then a declaration block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Selectors Find Elements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32688"/>
            <a:ext cx="10820095" cy="4553712"/>
          </a:xfrm>
          <a:prstGeom prst="rect">
            <a:avLst/>
          </a:prstGeom>
          <a:noFill/>
        </p:spPr>
        <p:txBody>
          <a:bodyPr wrap="square" lIns="0" tIns="0" r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CSS selectors</a:t>
            </a:r>
            <a:br/>
            <a:r>
              <a:rPr sz="1500" b="0" i="0">
                <a:solidFill>
                  <a:srgbClr val="4A5568"/>
                </a:solidFill>
                <a:latin typeface="Calibri"/>
                <a:ea typeface="Calibri"/>
              </a:rPr>
              <a:t>are used to “find” (or select) the HTML elements you want to </a:t>
            </a:r>
            <a:r>
              <a:rPr sz="1500" b="0" i="0">
                <a:solidFill>
                  <a:srgbClr val="B8860B"/>
                </a:solidFill>
                <a:latin typeface="Consolas"/>
                <a:ea typeface="Consolas"/>
              </a:rPr>
              <a:t>style</a:t>
            </a:r>
            <a:r>
              <a:rPr sz="1500" b="0" i="0">
                <a:solidFill>
                  <a:srgbClr val="4A5568"/>
                </a:solidFill>
                <a:latin typeface="Calibri"/>
                <a:ea typeface="Calibri"/>
              </a:rPr>
              <a: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 rule-set</a:t>
            </a:r>
            <a:br/>
            <a:r>
              <a:rPr sz="1500" b="0" i="0">
                <a:solidFill>
                  <a:srgbClr val="4A5568"/>
                </a:solidFill>
                <a:latin typeface="Calibri"/>
                <a:ea typeface="Calibri"/>
              </a:rPr>
              <a:t>a selector, then a declaration block between curly braces.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Five ways to find</a:t>
            </a:r>
            <a:br/>
            <a:r>
              <a:rPr sz="1500" b="0" i="0">
                <a:solidFill>
                  <a:srgbClr val="4A5568"/>
                </a:solidFill>
                <a:latin typeface="Calibri"/>
                <a:ea typeface="Calibri"/>
              </a:rPr>
              <a:t>by tag, by relationship, by attribute, by state, by part.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Precision</a:t>
            </a:r>
            <a:br/>
            <a:r>
              <a:rPr sz="1500" b="0" i="0">
                <a:solidFill>
                  <a:srgbClr val="4A5568"/>
                </a:solidFill>
                <a:latin typeface="Calibri"/>
                <a:ea typeface="Calibri"/>
              </a:rPr>
              <a:t>the more precisely you select, the less CSS you have to write.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The selector is everything before the {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editor.html?example=css-selectors/selectors</a:t>
            </a:r>
          </a:p>
        </p:txBody>
      </p:sp>
      <p:sp>
        <p:nvSpPr>
          <p:cNvPr id="8" name="TextBox 7"/>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h1            →  every &lt;h1&gt;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Anatomy of a Rule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14400"/>
            <a:ext cx="11094415" cy="365760"/>
          </a:xfrm>
          <a:prstGeom prst="rect">
            <a:avLst/>
          </a:prstGeom>
          <a:noFill/>
        </p:spPr>
        <p:txBody>
          <a:bodyPr wrap="square" lIns="0" tIns="0" rIns="0" bIns="0" anchor="t">
            <a:spAutoFit/>
          </a:bodyPr>
          <a:lstStyle/>
          <a:p>
            <a:pPr algn="l">
              <a:lnSpc>
                <a:spcPct val="110000"/>
              </a:lnSpc>
              <a:spcAft>
                <a:spcPts val="400"/>
              </a:spcAft>
            </a:pPr>
            <a:r>
              <a:rPr sz="1400" b="0" i="0">
                <a:solidFill>
                  <a:srgbClr val="4A5568"/>
                </a:solidFill>
                <a:latin typeface="Calibri"/>
                <a:ea typeface="Calibri"/>
              </a:rPr>
              <a:t>A rule-set is a selector plus a declaration block: selector { property: value; }</a:t>
            </a:r>
          </a:p>
        </p:txBody>
      </p:sp>
      <p:sp>
        <p:nvSpPr>
          <p:cNvPr id="6" name="Rounded Rectangle 5"/>
          <p:cNvSpPr/>
          <p:nvPr/>
        </p:nvSpPr>
        <p:spPr>
          <a:xfrm>
            <a:off x="548640" y="1435608"/>
            <a:ext cx="11094415" cy="1051560"/>
          </a:xfrm>
          <a:prstGeom prst="roundRect">
            <a:avLst>
              <a:gd name="adj" fmla="val 8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91640"/>
            <a:ext cx="10180015" cy="548640"/>
          </a:xfrm>
          <a:prstGeom prst="rect">
            <a:avLst/>
          </a:prstGeom>
          <a:noFill/>
        </p:spPr>
        <p:txBody>
          <a:bodyPr wrap="none" lIns="0" tIns="0" rIns="0" bIns="0">
            <a:spAutoFit/>
          </a:bodyPr>
          <a:lstStyle/>
          <a:p>
            <a:r>
              <a:rPr sz="2800" b="0" i="0">
                <a:solidFill>
                  <a:srgbClr val="61AFEF"/>
                </a:solidFill>
                <a:latin typeface="Consolas"/>
                <a:ea typeface="Consolas"/>
              </a:rPr>
              <a:t>h1</a:t>
            </a:r>
            <a:r>
              <a:rPr sz="2800" b="0" i="0">
                <a:solidFill>
                  <a:srgbClr val="7F8C98"/>
                </a:solidFill>
                <a:latin typeface="Consolas"/>
                <a:ea typeface="Consolas"/>
              </a:rPr>
              <a:t> { </a:t>
            </a:r>
            <a:r>
              <a:rPr sz="2800" b="0" i="0">
                <a:solidFill>
                  <a:srgbClr val="E5C07B"/>
                </a:solidFill>
                <a:latin typeface="Consolas"/>
                <a:ea typeface="Consolas"/>
              </a:rPr>
              <a:t>color</a:t>
            </a:r>
            <a:r>
              <a:rPr sz="2800" b="0" i="0">
                <a:solidFill>
                  <a:srgbClr val="7F8C98"/>
                </a:solidFill>
                <a:latin typeface="Consolas"/>
                <a:ea typeface="Consolas"/>
              </a:rPr>
              <a:t>: </a:t>
            </a:r>
            <a:r>
              <a:rPr sz="2800" b="0" i="0">
                <a:solidFill>
                  <a:srgbClr val="98C379"/>
                </a:solidFill>
                <a:latin typeface="Consolas"/>
                <a:ea typeface="Consolas"/>
              </a:rPr>
              <a:t>blue</a:t>
            </a:r>
            <a:r>
              <a:rPr sz="2800" b="0" i="0">
                <a:solidFill>
                  <a:srgbClr val="C678DD"/>
                </a:solidFill>
                <a:latin typeface="Consolas"/>
                <a:ea typeface="Consolas"/>
              </a:rPr>
              <a:t>;</a:t>
            </a:r>
            <a:r>
              <a:rPr sz="2800" b="0" i="0">
                <a:solidFill>
                  <a:srgbClr val="7F8C98"/>
                </a:solidFill>
                <a:latin typeface="Consolas"/>
                <a:ea typeface="Consolas"/>
              </a:rPr>
              <a:t> }</a:t>
            </a:r>
          </a:p>
        </p:txBody>
      </p:sp>
      <p:sp>
        <p:nvSpPr>
          <p:cNvPr id="8" name="Rounded Rectangle 7"/>
          <p:cNvSpPr/>
          <p:nvPr/>
        </p:nvSpPr>
        <p:spPr>
          <a:xfrm>
            <a:off x="868680"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69848" y="3063240"/>
            <a:ext cx="91440" cy="365760"/>
          </a:xfrm>
          <a:prstGeom prst="rect">
            <a:avLst/>
          </a:prstGeom>
          <a:solidFill>
            <a:srgbClr val="61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3035808"/>
            <a:ext cx="1722043" cy="329184"/>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alibri"/>
                <a:ea typeface="Calibri"/>
              </a:rPr>
              <a:t>Selector</a:t>
            </a:r>
          </a:p>
        </p:txBody>
      </p:sp>
      <p:sp>
        <p:nvSpPr>
          <p:cNvPr id="11" name="TextBox 10"/>
          <p:cNvSpPr txBox="1"/>
          <p:nvPr/>
        </p:nvSpPr>
        <p:spPr>
          <a:xfrm>
            <a:off x="1280160" y="3401568"/>
            <a:ext cx="1722043" cy="640080"/>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h1 — the HTML element you want to style</a:t>
            </a:r>
          </a:p>
        </p:txBody>
      </p:sp>
      <p:sp>
        <p:nvSpPr>
          <p:cNvPr id="12" name="Rounded Rectangle 11"/>
          <p:cNvSpPr/>
          <p:nvPr/>
        </p:nvSpPr>
        <p:spPr>
          <a:xfrm>
            <a:off x="3688003"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889171" y="3063240"/>
            <a:ext cx="91440" cy="365760"/>
          </a:xfrm>
          <a:prstGeom prst="rect">
            <a:avLst/>
          </a:prstGeom>
          <a:solidFill>
            <a:srgbClr val="7F8C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99483" y="3035808"/>
            <a:ext cx="1722043" cy="329184"/>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alibri"/>
                <a:ea typeface="Calibri"/>
              </a:rPr>
              <a:t>Declaration block</a:t>
            </a:r>
          </a:p>
        </p:txBody>
      </p:sp>
      <p:sp>
        <p:nvSpPr>
          <p:cNvPr id="15" name="TextBox 14"/>
          <p:cNvSpPr txBox="1"/>
          <p:nvPr/>
        </p:nvSpPr>
        <p:spPr>
          <a:xfrm>
            <a:off x="4099483" y="3401568"/>
            <a:ext cx="1722043" cy="640080"/>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 … } — one or more declarations</a:t>
            </a:r>
          </a:p>
        </p:txBody>
      </p:sp>
      <p:sp>
        <p:nvSpPr>
          <p:cNvPr id="16" name="Rounded Rectangle 15"/>
          <p:cNvSpPr/>
          <p:nvPr/>
        </p:nvSpPr>
        <p:spPr>
          <a:xfrm>
            <a:off x="6507327"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708495" y="3063240"/>
            <a:ext cx="91440" cy="365760"/>
          </a:xfrm>
          <a:prstGeom prst="rect">
            <a:avLst/>
          </a:prstGeom>
          <a:solidFill>
            <a:srgbClr val="E5C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18807" y="3035808"/>
            <a:ext cx="1722043" cy="329184"/>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alibri"/>
                <a:ea typeface="Calibri"/>
              </a:rPr>
              <a:t>Property</a:t>
            </a:r>
          </a:p>
        </p:txBody>
      </p:sp>
      <p:sp>
        <p:nvSpPr>
          <p:cNvPr id="19" name="TextBox 18"/>
          <p:cNvSpPr txBox="1"/>
          <p:nvPr/>
        </p:nvSpPr>
        <p:spPr>
          <a:xfrm>
            <a:off x="6918807" y="3401568"/>
            <a:ext cx="1722043" cy="640080"/>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color — the name of what changes</a:t>
            </a:r>
          </a:p>
        </p:txBody>
      </p:sp>
      <p:sp>
        <p:nvSpPr>
          <p:cNvPr id="20" name="Rounded Rectangle 19"/>
          <p:cNvSpPr/>
          <p:nvPr/>
        </p:nvSpPr>
        <p:spPr>
          <a:xfrm>
            <a:off x="9326651"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527819" y="3063240"/>
            <a:ext cx="91440" cy="365760"/>
          </a:xfrm>
          <a:prstGeom prst="rect">
            <a:avLst/>
          </a:prstGeom>
          <a:solidFill>
            <a:srgbClr val="98C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38131" y="3035808"/>
            <a:ext cx="1722043" cy="329184"/>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alibri"/>
                <a:ea typeface="Calibri"/>
              </a:rPr>
              <a:t>Value</a:t>
            </a:r>
          </a:p>
        </p:txBody>
      </p:sp>
      <p:sp>
        <p:nvSpPr>
          <p:cNvPr id="23" name="TextBox 22"/>
          <p:cNvSpPr txBox="1"/>
          <p:nvPr/>
        </p:nvSpPr>
        <p:spPr>
          <a:xfrm>
            <a:off x="9738131" y="3401568"/>
            <a:ext cx="1722043" cy="640080"/>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blue — what you set it to</a:t>
            </a:r>
          </a:p>
        </p:txBody>
      </p:sp>
      <p:sp>
        <p:nvSpPr>
          <p:cNvPr id="24" name="Rounded Rectangle 23"/>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961888"/>
            <a:ext cx="10362895"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FFFFFF"/>
                </a:solidFill>
                <a:latin typeface="Calibri"/>
                <a:ea typeface="Calibri"/>
              </a:rPr>
              <a:t>Every declaration ends with a semicolon, and the block sits in { curly braces }.</a:t>
            </a:r>
          </a:p>
        </p:txBody>
      </p:sp>
      <p:sp>
        <p:nvSpPr>
          <p:cNvPr id="26" name="Rounded Rectangle 25"/>
          <p:cNvSpPr/>
          <p:nvPr/>
        </p:nvSpPr>
        <p:spPr>
          <a:xfrm>
            <a:off x="548640" y="4480560"/>
            <a:ext cx="3931920" cy="38404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9808" y="4480560"/>
            <a:ext cx="3529584" cy="384048"/>
          </a:xfrm>
          <a:prstGeom prst="rect">
            <a:avLst/>
          </a:prstGeom>
          <a:noFill/>
        </p:spPr>
        <p:txBody>
          <a:bodyPr wrap="square" lIns="0" tIns="0" rIns="0" bIns="0" anchor="ctr">
            <a:spAutoFit/>
          </a:bodyPr>
          <a:lstStyle/>
          <a:p>
            <a:pPr algn="l">
              <a:lnSpc>
                <a:spcPct val="110000"/>
              </a:lnSpc>
              <a:spcAft>
                <a:spcPts val="400"/>
              </a:spcAft>
            </a:pPr>
            <a:r>
              <a:rPr sz="1100" b="1" i="0">
                <a:solidFill>
                  <a:srgbClr val="4A5568"/>
                </a:solidFill>
                <a:latin typeface="Calibri"/>
                <a:ea typeface="Calibri"/>
              </a:rPr>
              <a:t>open in editor →  </a:t>
            </a:r>
            <a:r>
              <a:rPr sz="1100" b="1" i="0">
                <a:solidFill>
                  <a:srgbClr val="1E4FA8"/>
                </a:solidFill>
                <a:latin typeface="Calibri"/>
                <a:ea typeface="Calibri"/>
                <a:hlinkClick r:id="rId2"/>
                <a:extLst>
                  <a:ext uri="{A12FA001-AC4F-418D-AE19-62706E023703}">
                    <ahyp:hlinkClr xmlns:ahyp="http://schemas.microsoft.com/office/drawing/2018/hyperlinkcolor" xmlns="" val="tx"/>
                  </a:ext>
                </a:extLst>
              </a:rPr>
              <a:t>css-selectors/hello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A First Stylesheet</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&lt;link&gt;</a:t>
            </a:r>
            <a:br/>
            <a:r>
              <a:rPr sz="1350" b="0" i="0">
                <a:solidFill>
                  <a:srgbClr val="4A5568"/>
                </a:solidFill>
                <a:latin typeface="Calibri"/>
                <a:ea typeface="Calibri"/>
              </a:rPr>
              <a:t>In the </a:t>
            </a:r>
            <a:r>
              <a:rPr sz="1350" b="0" i="0">
                <a:solidFill>
                  <a:srgbClr val="1E4FA8"/>
                </a:solidFill>
                <a:latin typeface="Consolas"/>
                <a:ea typeface="Consolas"/>
              </a:rPr>
              <a:t>&lt;head&gt;</a:t>
            </a:r>
            <a:r>
              <a:rPr sz="1350" b="0" i="0">
                <a:solidFill>
                  <a:srgbClr val="4A5568"/>
                </a:solidFill>
                <a:latin typeface="Calibri"/>
                <a:ea typeface="Calibri"/>
              </a:rPr>
              <a:t> — pulls the stylesheet into the page.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Selector</a:t>
            </a:r>
            <a:br/>
            <a:r>
              <a:rPr sz="1350" b="0" i="0">
                <a:solidFill>
                  <a:srgbClr val="4A5568"/>
                </a:solidFill>
                <a:latin typeface="Calibri"/>
                <a:ea typeface="Calibri"/>
              </a:rPr>
              <a:t>Which element the rule targets — here h1 and p.</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Property + </a:t>
            </a:r>
            <a:r>
              <a:rPr sz="1550" b="1" i="0">
                <a:solidFill>
                  <a:srgbClr val="B8860B"/>
                </a:solidFill>
                <a:latin typeface="Consolas"/>
                <a:ea typeface="Consolas"/>
              </a:rPr>
              <a:t>value</a:t>
            </a:r>
            <a:br/>
            <a:r>
              <a:rPr sz="1350" b="0" i="0">
                <a:solidFill>
                  <a:srgbClr val="4A5568"/>
                </a:solidFill>
                <a:latin typeface="Calibri"/>
                <a:ea typeface="Calibri"/>
              </a:rPr>
              <a:t>What to change and what to set it to.</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Cascades</a:t>
            </a:r>
            <a:br/>
            <a:r>
              <a:rPr sz="1350" b="0" i="0">
                <a:solidFill>
                  <a:srgbClr val="4A5568"/>
                </a:solidFill>
                <a:latin typeface="Calibri"/>
                <a:ea typeface="Calibri"/>
              </a:rPr>
              <a:t>Rules add up — one page, many rules.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7F8C98"/>
                </a:solidFill>
                <a:latin typeface="Consolas"/>
                <a:ea typeface="Consolas"/>
              </a:rPr>
              <a:t>&lt;!-- index.html --&gt;</a:t>
            </a:r>
          </a:p>
          <a:p>
            <a:pPr>
              <a:spcAft>
                <a:spcPts val="350"/>
              </a:spcAft>
            </a:pPr>
            <a:r>
              <a:rPr sz="1300" b="0" i="0">
                <a:solidFill>
                  <a:srgbClr val="61AFEF"/>
                </a:solidFill>
                <a:latin typeface="Consolas"/>
                <a:ea typeface="Consolas"/>
              </a:rPr>
              <a:t>&lt;link rel="stylesheet" href="style.css"&gt;</a:t>
            </a:r>
          </a:p>
          <a:p>
            <a:pPr>
              <a:spcAft>
                <a:spcPts val="350"/>
              </a:spcAft>
            </a:pPr>
            <a:endParaRPr sz="1300" b="0" i="0">
              <a:solidFill>
                <a:srgbClr val="61AFEF"/>
              </a:solidFill>
              <a:latin typeface="Consolas"/>
              <a:ea typeface="Consolas"/>
            </a:endParaRPr>
          </a:p>
          <a:p>
            <a:pPr>
              <a:spcAft>
                <a:spcPts val="350"/>
              </a:spcAft>
            </a:pPr>
            <a:r>
              <a:rPr sz="1300" b="0" i="0">
                <a:solidFill>
                  <a:srgbClr val="7F8C98"/>
                </a:solidFill>
                <a:latin typeface="Consolas"/>
                <a:ea typeface="Consolas"/>
              </a:rPr>
              <a:t>/* style.css */</a:t>
            </a:r>
          </a:p>
          <a:p>
            <a:pPr>
              <a:spcAft>
                <a:spcPts val="350"/>
              </a:spcAft>
            </a:pPr>
            <a:r>
              <a:rPr sz="1300" b="0" i="0">
                <a:solidFill>
                  <a:srgbClr val="98C379"/>
                </a:solidFill>
                <a:latin typeface="Consolas"/>
                <a:ea typeface="Consolas"/>
              </a:rPr>
              <a:t>h1 { color: #1E4FA8; }</a:t>
            </a:r>
          </a:p>
          <a:p>
            <a:pPr>
              <a:spcAft>
                <a:spcPts val="350"/>
              </a:spcAft>
            </a:pPr>
            <a:r>
              <a:rPr sz="1300" b="0" i="0">
                <a:solidFill>
                  <a:srgbClr val="98C379"/>
                </a:solidFill>
                <a:latin typeface="Consolas"/>
                <a:ea typeface="Consolas"/>
              </a:rPr>
              <a:t>p  { font-size: 18px; }</a:t>
            </a:r>
          </a:p>
          <a:p>
            <a:pPr>
              <a:spcAft>
                <a:spcPts val="350"/>
              </a:spcAft>
            </a:pPr>
            <a:r>
              <a:rPr sz="1300" b="0" i="0">
                <a:solidFill>
                  <a:srgbClr val="E5C07B"/>
                </a:solidFill>
                <a:latin typeface="Consolas"/>
                <a:ea typeface="Consolas"/>
              </a:rPr>
              <a:t>body { font-family: sans-serif;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editor.html?example=css-selectors/hello</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The browser reads both files — HTML for structure, CSS for style.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The Five Categories of Selectors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Rectangle 4"/>
          <p:cNvSpPr/>
          <p:nvPr/>
        </p:nvSpPr>
        <p:spPr>
          <a:xfrm>
            <a:off x="548640" y="932688"/>
            <a:ext cx="2751414"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32688"/>
            <a:ext cx="2422230"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Category</a:t>
            </a:r>
          </a:p>
        </p:txBody>
      </p:sp>
      <p:sp>
        <p:nvSpPr>
          <p:cNvPr id="7" name="Rectangle 6"/>
          <p:cNvSpPr/>
          <p:nvPr/>
        </p:nvSpPr>
        <p:spPr>
          <a:xfrm>
            <a:off x="3300054" y="932688"/>
            <a:ext cx="434901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64646" y="932688"/>
            <a:ext cx="4019826"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What it selects</a:t>
            </a:r>
          </a:p>
        </p:txBody>
      </p:sp>
      <p:sp>
        <p:nvSpPr>
          <p:cNvPr id="9" name="Rectangle 8"/>
          <p:cNvSpPr/>
          <p:nvPr/>
        </p:nvSpPr>
        <p:spPr>
          <a:xfrm>
            <a:off x="7649065" y="932688"/>
            <a:ext cx="3993989"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13657" y="932688"/>
            <a:ext cx="3664805"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Examples</a:t>
            </a:r>
          </a:p>
        </p:txBody>
      </p:sp>
      <p:sp>
        <p:nvSpPr>
          <p:cNvPr id="11" name="Rectangle 10"/>
          <p:cNvSpPr/>
          <p:nvPr/>
        </p:nvSpPr>
        <p:spPr>
          <a:xfrm>
            <a:off x="548640" y="1444752"/>
            <a:ext cx="275141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444752"/>
            <a:ext cx="242223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Simple</a:t>
            </a:r>
          </a:p>
        </p:txBody>
      </p:sp>
      <p:sp>
        <p:nvSpPr>
          <p:cNvPr id="13" name="Rectangle 12"/>
          <p:cNvSpPr/>
          <p:nvPr/>
        </p:nvSpPr>
        <p:spPr>
          <a:xfrm>
            <a:off x="3300054" y="1444752"/>
            <a:ext cx="434901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64646" y="1444752"/>
            <a:ext cx="401982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by name, id or class — or every element</a:t>
            </a:r>
          </a:p>
        </p:txBody>
      </p:sp>
      <p:sp>
        <p:nvSpPr>
          <p:cNvPr id="15" name="Rectangle 14"/>
          <p:cNvSpPr/>
          <p:nvPr/>
        </p:nvSpPr>
        <p:spPr>
          <a:xfrm>
            <a:off x="7649065" y="1444752"/>
            <a:ext cx="399398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13657" y="1444752"/>
            <a:ext cx="3664805"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p · #para1 · .center · *</a:t>
            </a:r>
          </a:p>
        </p:txBody>
      </p:sp>
      <p:sp>
        <p:nvSpPr>
          <p:cNvPr id="17" name="Rectangle 16"/>
          <p:cNvSpPr/>
          <p:nvPr/>
        </p:nvSpPr>
        <p:spPr>
          <a:xfrm>
            <a:off x="548640" y="2011680"/>
            <a:ext cx="275141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011680"/>
            <a:ext cx="242223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Combinator</a:t>
            </a:r>
          </a:p>
        </p:txBody>
      </p:sp>
      <p:sp>
        <p:nvSpPr>
          <p:cNvPr id="19" name="Rectangle 18"/>
          <p:cNvSpPr/>
          <p:nvPr/>
        </p:nvSpPr>
        <p:spPr>
          <a:xfrm>
            <a:off x="3300054" y="2011680"/>
            <a:ext cx="434901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64646" y="2011680"/>
            <a:ext cx="401982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by a relationship between elements</a:t>
            </a:r>
          </a:p>
        </p:txBody>
      </p:sp>
      <p:sp>
        <p:nvSpPr>
          <p:cNvPr id="21" name="Rectangle 20"/>
          <p:cNvSpPr/>
          <p:nvPr/>
        </p:nvSpPr>
        <p:spPr>
          <a:xfrm>
            <a:off x="7649065" y="2011680"/>
            <a:ext cx="399398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13657" y="2011680"/>
            <a:ext cx="3664805"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div p · div &gt; p · h1 + p · h1 ~ p</a:t>
            </a:r>
          </a:p>
        </p:txBody>
      </p:sp>
      <p:sp>
        <p:nvSpPr>
          <p:cNvPr id="23" name="Rectangle 22"/>
          <p:cNvSpPr/>
          <p:nvPr/>
        </p:nvSpPr>
        <p:spPr>
          <a:xfrm>
            <a:off x="548640" y="2578608"/>
            <a:ext cx="275141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2578608"/>
            <a:ext cx="242223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Attribute</a:t>
            </a:r>
          </a:p>
        </p:txBody>
      </p:sp>
      <p:sp>
        <p:nvSpPr>
          <p:cNvPr id="25" name="Rectangle 24"/>
          <p:cNvSpPr/>
          <p:nvPr/>
        </p:nvSpPr>
        <p:spPr>
          <a:xfrm>
            <a:off x="3300054" y="2578608"/>
            <a:ext cx="434901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64646" y="2578608"/>
            <a:ext cx="401982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by an attribute, or part of its value</a:t>
            </a:r>
          </a:p>
        </p:txBody>
      </p:sp>
      <p:sp>
        <p:nvSpPr>
          <p:cNvPr id="27" name="Rectangle 26"/>
          <p:cNvSpPr/>
          <p:nvPr/>
        </p:nvSpPr>
        <p:spPr>
          <a:xfrm>
            <a:off x="7649065" y="2578608"/>
            <a:ext cx="399398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13657" y="2578608"/>
            <a:ext cx="3664805"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a[target] · a[href$=".pdf"]</a:t>
            </a:r>
          </a:p>
        </p:txBody>
      </p:sp>
      <p:sp>
        <p:nvSpPr>
          <p:cNvPr id="29" name="Rectangle 28"/>
          <p:cNvSpPr/>
          <p:nvPr/>
        </p:nvSpPr>
        <p:spPr>
          <a:xfrm>
            <a:off x="548640" y="3145536"/>
            <a:ext cx="275141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145536"/>
            <a:ext cx="242223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Pseudo-class  :</a:t>
            </a:r>
          </a:p>
        </p:txBody>
      </p:sp>
      <p:sp>
        <p:nvSpPr>
          <p:cNvPr id="31" name="Rectangle 30"/>
          <p:cNvSpPr/>
          <p:nvPr/>
        </p:nvSpPr>
        <p:spPr>
          <a:xfrm>
            <a:off x="3300054" y="3145536"/>
            <a:ext cx="434901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64646" y="3145536"/>
            <a:ext cx="401982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by a certain state</a:t>
            </a:r>
          </a:p>
        </p:txBody>
      </p:sp>
      <p:sp>
        <p:nvSpPr>
          <p:cNvPr id="33" name="Rectangle 32"/>
          <p:cNvSpPr/>
          <p:nvPr/>
        </p:nvSpPr>
        <p:spPr>
          <a:xfrm>
            <a:off x="7649065" y="3145536"/>
            <a:ext cx="399398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13657" y="3145536"/>
            <a:ext cx="3664805"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a:hover · input:checked</a:t>
            </a:r>
          </a:p>
        </p:txBody>
      </p:sp>
      <p:sp>
        <p:nvSpPr>
          <p:cNvPr id="35" name="Rectangle 34"/>
          <p:cNvSpPr/>
          <p:nvPr/>
        </p:nvSpPr>
        <p:spPr>
          <a:xfrm>
            <a:off x="548640" y="3712464"/>
            <a:ext cx="275141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3712464"/>
            <a:ext cx="242223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Pseudo-element  ::</a:t>
            </a:r>
          </a:p>
        </p:txBody>
      </p:sp>
      <p:sp>
        <p:nvSpPr>
          <p:cNvPr id="37" name="Rectangle 36"/>
          <p:cNvSpPr/>
          <p:nvPr/>
        </p:nvSpPr>
        <p:spPr>
          <a:xfrm>
            <a:off x="3300054" y="3712464"/>
            <a:ext cx="434901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64646" y="3712464"/>
            <a:ext cx="401982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 part of an element</a:t>
            </a:r>
          </a:p>
        </p:txBody>
      </p:sp>
      <p:sp>
        <p:nvSpPr>
          <p:cNvPr id="39" name="Rectangle 38"/>
          <p:cNvSpPr/>
          <p:nvPr/>
        </p:nvSpPr>
        <p:spPr>
          <a:xfrm>
            <a:off x="7649065" y="3712464"/>
            <a:ext cx="399398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13657" y="3712464"/>
            <a:ext cx="3664805"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p::first-line · h2::after</a:t>
            </a:r>
          </a:p>
        </p:txBody>
      </p:sp>
      <p:sp>
        <p:nvSpPr>
          <p:cNvPr id="41" name="Rounded Rectangle 40"/>
          <p:cNvSpPr/>
          <p:nvPr/>
        </p:nvSpPr>
        <p:spPr>
          <a:xfrm>
            <a:off x="548640" y="4462272"/>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80" y="4553712"/>
            <a:ext cx="10454335" cy="365760"/>
          </a:xfrm>
          <a:prstGeom prst="rect">
            <a:avLst/>
          </a:prstGeom>
          <a:noFill/>
        </p:spPr>
        <p:txBody>
          <a:bodyPr wrap="square" lIns="0" tIns="0" rIns="0" bIns="0" anchor="t">
            <a:spAutoFit/>
          </a:bodyPr>
          <a:lstStyle/>
          <a:p>
            <a:pPr algn="l">
              <a:lnSpc>
                <a:spcPct val="110000"/>
              </a:lnSpc>
              <a:spcAft>
                <a:spcPts val="400"/>
              </a:spcAft>
            </a:pPr>
            <a:r>
              <a:rPr sz="1450" b="1" i="0">
                <a:solidFill>
                  <a:srgbClr val="0E3F8C"/>
                </a:solidFill>
                <a:latin typeface="Calibri"/>
                <a:ea typeface="Calibri"/>
              </a:rPr>
              <a:t>One rule-set shape for all five — only the selector on the left changes.</a:t>
            </a:r>
          </a:p>
        </p:txBody>
      </p:sp>
      <p:sp>
        <p:nvSpPr>
          <p:cNvPr id="43" name="TextBox 42"/>
          <p:cNvSpPr txBox="1"/>
          <p:nvPr/>
        </p:nvSpPr>
        <p:spPr>
          <a:xfrm>
            <a:off x="868680" y="4937760"/>
            <a:ext cx="10454335" cy="329184"/>
          </a:xfrm>
          <a:prstGeom prst="rect">
            <a:avLst/>
          </a:prstGeom>
          <a:noFill/>
        </p:spPr>
        <p:txBody>
          <a:bodyPr wrap="square" lIns="0" tIns="0" rIns="0" bIns="0" anchor="t">
            <a:spAutoFit/>
          </a:bodyPr>
          <a:lstStyle/>
          <a:p>
            <a:pPr algn="l">
              <a:lnSpc>
                <a:spcPct val="110000"/>
              </a:lnSpc>
              <a:spcAft>
                <a:spcPts val="400"/>
              </a:spcAft>
            </a:pPr>
            <a:r>
              <a:rPr sz="1300" b="1" i="0">
                <a:solidFill>
                  <a:srgbClr val="1E4FA8"/>
                </a:solidFill>
                <a:latin typeface="Calibri"/>
                <a:ea typeface="Calibri"/>
              </a:rPr>
              <a:t>open in editor →  </a:t>
            </a:r>
            <a:r>
              <a:rPr sz="130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editor.html?example=css-selectors/selectors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Element Selector</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Element  p</a:t>
            </a:r>
            <a:br/>
            <a:r>
              <a:rPr sz="1350" b="0" i="0">
                <a:solidFill>
                  <a:srgbClr val="4A5568"/>
                </a:solidFill>
                <a:latin typeface="Calibri"/>
                <a:ea typeface="Calibri"/>
              </a:rPr>
              <a:t>Selects every element with that tag.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All of them</a:t>
            </a:r>
            <a:br/>
            <a:r>
              <a:rPr sz="1350" b="0" i="0">
                <a:solidFill>
                  <a:srgbClr val="4A5568"/>
                </a:solidFill>
                <a:latin typeface="Calibri"/>
                <a:ea typeface="Calibri"/>
              </a:rPr>
              <a:t>Every </a:t>
            </a:r>
            <a:r>
              <a:rPr sz="1350" b="0" i="0">
                <a:solidFill>
                  <a:srgbClr val="1E4FA8"/>
                </a:solidFill>
                <a:latin typeface="Consolas"/>
                <a:ea typeface="Consolas"/>
              </a:rPr>
              <a:t>&lt;p&gt;</a:t>
            </a:r>
            <a:r>
              <a:rPr sz="1350" b="0" i="0">
                <a:solidFill>
                  <a:srgbClr val="4A5568"/>
                </a:solidFill>
                <a:latin typeface="Calibri"/>
                <a:ea typeface="Calibri"/>
              </a:rPr>
              <a:t> on the page, wherever it sits.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blunt hook</a:t>
            </a:r>
            <a:br/>
            <a:r>
              <a:rPr sz="1350" b="0" i="0">
                <a:solidFill>
                  <a:srgbClr val="4A5568"/>
                </a:solidFill>
                <a:latin typeface="Calibri"/>
                <a:ea typeface="Calibri"/>
              </a:rPr>
              <a:t>No extra hook needed — but no exceptions either.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Good for the base</a:t>
            </a:r>
            <a:br/>
            <a:r>
              <a:rPr sz="1350" b="0" i="0">
                <a:solidFill>
                  <a:srgbClr val="4A5568"/>
                </a:solidFill>
                <a:latin typeface="Calibri"/>
                <a:ea typeface="Calibri"/>
              </a:rPr>
              <a:t>body, h1, p, ul — set the tone once.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7F8C98"/>
                </a:solidFill>
                <a:latin typeface="Consolas"/>
                <a:ea typeface="Consolas"/>
              </a:rPr>
              <a:t>/* every &lt;p&gt; element on the page */</a:t>
            </a:r>
          </a:p>
          <a:p>
            <a:pPr>
              <a:spcAft>
                <a:spcPts val="350"/>
              </a:spcAft>
            </a:pPr>
            <a:r>
              <a:rPr sz="1300" b="0" i="0">
                <a:solidFill>
                  <a:srgbClr val="61AFEF"/>
                </a:solidFill>
                <a:latin typeface="Consolas"/>
                <a:ea typeface="Consolas"/>
              </a:rPr>
              <a:t>p {</a:t>
            </a:r>
          </a:p>
          <a:p>
            <a:pPr>
              <a:spcAft>
                <a:spcPts val="350"/>
              </a:spcAft>
            </a:pPr>
            <a:r>
              <a:rPr sz="1300" b="0" i="0">
                <a:solidFill>
                  <a:srgbClr val="98C379"/>
                </a:solidFill>
                <a:latin typeface="Consolas"/>
                <a:ea typeface="Consolas"/>
              </a:rPr>
              <a:t>  text-align: center;</a:t>
            </a:r>
          </a:p>
          <a:p>
            <a:pPr>
              <a:spcAft>
                <a:spcPts val="350"/>
              </a:spcAft>
            </a:pPr>
            <a:r>
              <a:rPr sz="1300" b="0" i="0">
                <a:solidFill>
                  <a:srgbClr val="98C379"/>
                </a:solidFill>
                <a:latin typeface="Consolas"/>
                <a:ea typeface="Consolas"/>
              </a:rPr>
              <a:t>  color: #1E4FA8;</a:t>
            </a:r>
          </a:p>
          <a:p>
            <a:pPr>
              <a:spcAft>
                <a:spcPts val="350"/>
              </a:spcAft>
            </a:pPr>
            <a:r>
              <a:rPr sz="1300" b="0" i="0">
                <a:solidFill>
                  <a:srgbClr val="61AFEF"/>
                </a:solidFill>
                <a:latin typeface="Consolas"/>
                <a:ea typeface="Consolas"/>
              </a:rPr>
              <a:t>}</a:t>
            </a:r>
          </a:p>
          <a:p>
            <a:pPr>
              <a:spcAft>
                <a:spcPts val="350"/>
              </a:spcAft>
            </a:pPr>
            <a:endParaRPr sz="1300" b="0" i="0">
              <a:solidFill>
                <a:srgbClr val="61AFEF"/>
              </a:solidFill>
              <a:latin typeface="Consolas"/>
              <a:ea typeface="Consolas"/>
            </a:endParaRPr>
          </a:p>
          <a:p>
            <a:pPr>
              <a:spcAft>
                <a:spcPts val="350"/>
              </a:spcAft>
            </a:pPr>
            <a:r>
              <a:rPr sz="1300" b="0" i="0">
                <a:solidFill>
                  <a:srgbClr val="61AFEF"/>
                </a:solidFill>
                <a:latin typeface="Consolas"/>
                <a:ea typeface="Consolas"/>
              </a:rPr>
              <a:t>&lt;p&gt;This paragraph is centred and blue.&lt;/p&gt;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editor.html?example=css-selectors/element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The element selector selects elements based on the element name.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ID Selector</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ID  #para1</a:t>
            </a:r>
            <a:br/>
            <a:r>
              <a:rPr sz="1350" b="0" i="0">
                <a:solidFill>
                  <a:srgbClr val="4A5568"/>
                </a:solidFill>
                <a:latin typeface="Calibri"/>
                <a:ea typeface="Calibri"/>
              </a:rPr>
              <a:t>A hash (#), then the ID exactly as written in the HTML.</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Unique</a:t>
            </a:r>
            <a:br/>
            <a:r>
              <a:rPr sz="1350" b="0" i="0">
                <a:solidFill>
                  <a:srgbClr val="4A5568"/>
                </a:solidFill>
                <a:latin typeface="Calibri"/>
                <a:ea typeface="Calibri"/>
              </a:rPr>
              <a:t>An ID is unique within a page — it selects one element.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Written in the HTML</a:t>
            </a:r>
            <a:br/>
            <a:r>
              <a:rPr sz="1350" b="0" i="0">
                <a:solidFill>
                  <a:srgbClr val="1E4FA8"/>
                </a:solidFill>
                <a:latin typeface="Consolas"/>
                <a:ea typeface="Consolas"/>
              </a:rPr>
              <a:t>&lt;p </a:t>
            </a:r>
            <a:r>
              <a:rPr sz="1350" b="0" i="0">
                <a:solidFill>
                  <a:srgbClr val="B8860B"/>
                </a:solidFill>
                <a:latin typeface="Consolas"/>
                <a:ea typeface="Consolas"/>
              </a:rPr>
              <a:t>id</a:t>
            </a:r>
            <a:r>
              <a:rPr sz="1350" b="0" i="0">
                <a:solidFill>
                  <a:srgbClr val="1E4FA8"/>
                </a:solidFill>
                <a:latin typeface="Consolas"/>
                <a:ea typeface="Consolas"/>
              </a:rPr>
              <a:t>="para1"&gt;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Strong but rigid</a:t>
            </a:r>
            <a:br/>
            <a:r>
              <a:rPr sz="1350" b="0" i="0">
                <a:solidFill>
                  <a:srgbClr val="4A5568"/>
                </a:solidFill>
                <a:latin typeface="Calibri"/>
                <a:ea typeface="Calibri"/>
              </a:rPr>
              <a:t>Save ids for JavaScript and in-page links.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7F8C98"/>
                </a:solidFill>
                <a:latin typeface="Consolas"/>
                <a:ea typeface="Consolas"/>
              </a:rPr>
              <a:t>/* the one element with id="para1" */</a:t>
            </a:r>
          </a:p>
          <a:p>
            <a:pPr>
              <a:spcAft>
                <a:spcPts val="350"/>
              </a:spcAft>
            </a:pPr>
            <a:r>
              <a:rPr sz="1300" b="0" i="0">
                <a:solidFill>
                  <a:srgbClr val="61AFEF"/>
                </a:solidFill>
                <a:latin typeface="Consolas"/>
                <a:ea typeface="Consolas"/>
              </a:rPr>
              <a:t>#para1 {</a:t>
            </a:r>
          </a:p>
          <a:p>
            <a:pPr>
              <a:spcAft>
                <a:spcPts val="350"/>
              </a:spcAft>
            </a:pPr>
            <a:r>
              <a:rPr sz="1300" b="0" i="0">
                <a:solidFill>
                  <a:srgbClr val="98C379"/>
                </a:solidFill>
                <a:latin typeface="Consolas"/>
                <a:ea typeface="Consolas"/>
              </a:rPr>
              <a:t>  text-align: center;</a:t>
            </a:r>
          </a:p>
          <a:p>
            <a:pPr>
              <a:spcAft>
                <a:spcPts val="350"/>
              </a:spcAft>
            </a:pPr>
            <a:r>
              <a:rPr sz="1300" b="0" i="0">
                <a:solidFill>
                  <a:srgbClr val="98C379"/>
                </a:solidFill>
                <a:latin typeface="Consolas"/>
                <a:ea typeface="Consolas"/>
              </a:rPr>
              <a:t>  color: #1E4FA8;</a:t>
            </a:r>
          </a:p>
          <a:p>
            <a:pPr>
              <a:spcAft>
                <a:spcPts val="350"/>
              </a:spcAft>
            </a:pPr>
            <a:r>
              <a:rPr sz="1300" b="0" i="0">
                <a:solidFill>
                  <a:srgbClr val="61AFEF"/>
                </a:solidFill>
                <a:latin typeface="Consolas"/>
                <a:ea typeface="Consolas"/>
              </a:rPr>
              <a:t>}</a:t>
            </a:r>
          </a:p>
          <a:p>
            <a:pPr>
              <a:spcAft>
                <a:spcPts val="350"/>
              </a:spcAft>
            </a:pPr>
            <a:endParaRPr sz="1300" b="0" i="0">
              <a:solidFill>
                <a:srgbClr val="61AFEF"/>
              </a:solidFill>
              <a:latin typeface="Consolas"/>
              <a:ea typeface="Consolas"/>
            </a:endParaRPr>
          </a:p>
          <a:p>
            <a:pPr>
              <a:spcAft>
                <a:spcPts val="350"/>
              </a:spcAft>
            </a:pPr>
            <a:r>
              <a:rPr sz="1300" b="0" i="0">
                <a:solidFill>
                  <a:srgbClr val="61AFEF"/>
                </a:solidFill>
                <a:latin typeface="Consolas"/>
                <a:ea typeface="Consolas"/>
              </a:rPr>
              <a:t>&lt;p id="para1"&gt;Only one element can carry this id.&lt;/p&gt;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editor.html?example=css-selectors/id</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The id selector uses the id attribute to select one specific element.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Class Selector</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Class  .center</a:t>
            </a:r>
            <a:br/>
            <a:r>
              <a:rPr sz="1350" b="0" i="0">
                <a:solidFill>
                  <a:srgbClr val="4A5568"/>
                </a:solidFill>
                <a:latin typeface="Calibri"/>
                <a:ea typeface="Calibri"/>
              </a:rPr>
              <a:t>A period (.), then the hook from the HTML: </a:t>
            </a:r>
            <a:r>
              <a:rPr sz="1350" b="0" i="0">
                <a:solidFill>
                  <a:srgbClr val="1E4FA8"/>
                </a:solidFill>
                <a:latin typeface="Consolas"/>
                <a:ea typeface="Consolas"/>
              </a:rPr>
              <a:t>&lt;p </a:t>
            </a:r>
            <a:r>
              <a:rPr sz="1350" b="0" i="0">
                <a:solidFill>
                  <a:srgbClr val="B8860B"/>
                </a:solidFill>
                <a:latin typeface="Consolas"/>
                <a:ea typeface="Consolas"/>
              </a:rPr>
              <a:t>class</a:t>
            </a:r>
            <a:r>
              <a:rPr sz="1350" b="0" i="0">
                <a:solidFill>
                  <a:srgbClr val="1E4FA8"/>
                </a:solidFill>
                <a:latin typeface="Consolas"/>
                <a:ea typeface="Consolas"/>
              </a:rPr>
              <a:t>="center"&gt;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Reusable</a:t>
            </a:r>
            <a:br/>
            <a:r>
              <a:rPr sz="1350" b="0" i="0">
                <a:solidFill>
                  <a:srgbClr val="4A5568"/>
                </a:solidFill>
                <a:latin typeface="Calibri"/>
                <a:ea typeface="Calibri"/>
              </a:rPr>
              <a:t>The same hook on many elements: </a:t>
            </a:r>
            <a:r>
              <a:rPr sz="1350" b="0" i="0">
                <a:solidFill>
                  <a:srgbClr val="1E4FA8"/>
                </a:solidFill>
                <a:latin typeface="Consolas"/>
                <a:ea typeface="Consolas"/>
              </a:rPr>
              <a:t>&lt;p </a:t>
            </a:r>
            <a:r>
              <a:rPr sz="1350" b="0" i="0">
                <a:solidFill>
                  <a:srgbClr val="B8860B"/>
                </a:solidFill>
                <a:latin typeface="Consolas"/>
                <a:ea typeface="Consolas"/>
              </a:rPr>
              <a:t>class</a:t>
            </a:r>
            <a:r>
              <a:rPr sz="1350" b="0" i="0">
                <a:solidFill>
                  <a:srgbClr val="1E4FA8"/>
                </a:solidFill>
                <a:latin typeface="Consolas"/>
                <a:ea typeface="Consolas"/>
              </a:rPr>
              <a:t>="center"&gt;</a:t>
            </a:r>
            <a:r>
              <a:rPr sz="1350" b="0" i="0">
                <a:solidFill>
                  <a:srgbClr val="4A5568"/>
                </a:solidFill>
                <a:latin typeface="Calibri"/>
                <a:ea typeface="Calibri"/>
              </a:rPr>
              <a:t> and </a:t>
            </a:r>
            <a:r>
              <a:rPr sz="1350" b="0" i="0">
                <a:solidFill>
                  <a:srgbClr val="1E4FA8"/>
                </a:solidFill>
                <a:latin typeface="Consolas"/>
                <a:ea typeface="Consolas"/>
              </a:rPr>
              <a:t>&lt;h2 </a:t>
            </a:r>
            <a:r>
              <a:rPr sz="1350" b="0" i="0">
                <a:solidFill>
                  <a:srgbClr val="B8860B"/>
                </a:solidFill>
                <a:latin typeface="Consolas"/>
                <a:ea typeface="Consolas"/>
              </a:rPr>
              <a:t>class</a:t>
            </a:r>
            <a:r>
              <a:rPr sz="1350" b="0" i="0">
                <a:solidFill>
                  <a:srgbClr val="1E4FA8"/>
                </a:solidFill>
                <a:latin typeface="Consolas"/>
                <a:ea typeface="Consolas"/>
              </a:rPr>
              <a:t>="center"&gt;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Tag it down</a:t>
            </a:r>
            <a:br/>
            <a:r>
              <a:rPr sz="1350" b="0" i="0">
                <a:solidFill>
                  <a:srgbClr val="4A5568"/>
                </a:solidFill>
                <a:latin typeface="Calibri"/>
                <a:ea typeface="Calibri"/>
              </a:rPr>
              <a:t>p.center — only </a:t>
            </a:r>
            <a:r>
              <a:rPr sz="1350" b="0" i="0">
                <a:solidFill>
                  <a:srgbClr val="1E4FA8"/>
                </a:solidFill>
                <a:latin typeface="Consolas"/>
                <a:ea typeface="Consolas"/>
              </a:rPr>
              <a:t>&lt;p&gt;</a:t>
            </a:r>
            <a:r>
              <a:rPr sz="1350" b="0" i="0">
                <a:solidFill>
                  <a:srgbClr val="4A5568"/>
                </a:solidFill>
                <a:latin typeface="Calibri"/>
                <a:ea typeface="Calibri"/>
              </a:rPr>
              <a:t> elements carrying it.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More than one</a:t>
            </a:r>
            <a:br/>
            <a:r>
              <a:rPr sz="1350" b="0" i="0">
                <a:solidFill>
                  <a:srgbClr val="1E4FA8"/>
                </a:solidFill>
                <a:latin typeface="Consolas"/>
                <a:ea typeface="Consolas"/>
              </a:rPr>
              <a:t>&lt;p </a:t>
            </a:r>
            <a:r>
              <a:rPr sz="1350" b="0" i="0">
                <a:solidFill>
                  <a:srgbClr val="B8860B"/>
                </a:solidFill>
                <a:latin typeface="Consolas"/>
                <a:ea typeface="Consolas"/>
              </a:rPr>
              <a:t>class</a:t>
            </a:r>
            <a:r>
              <a:rPr sz="1350" b="0" i="0">
                <a:solidFill>
                  <a:srgbClr val="1E4FA8"/>
                </a:solidFill>
                <a:latin typeface="Consolas"/>
                <a:ea typeface="Consolas"/>
              </a:rPr>
              <a:t>="center large"&gt;</a:t>
            </a:r>
            <a:r>
              <a:rPr sz="1350" b="0" i="0">
                <a:solidFill>
                  <a:srgbClr val="4A5568"/>
                </a:solidFill>
                <a:latin typeface="Calibri"/>
                <a:ea typeface="Calibri"/>
              </a:rPr>
              <a:t>Two at once.</a:t>
            </a:r>
            <a:r>
              <a:rPr sz="1350" b="0" i="0">
                <a:solidFill>
                  <a:srgbClr val="1E4FA8"/>
                </a:solidFill>
                <a:latin typeface="Consolas"/>
                <a:ea typeface="Consolas"/>
              </a:rPr>
              <a:t>&lt;/p&gt;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main hook</a:t>
            </a:r>
            <a:br/>
            <a:r>
              <a:rPr sz="1350" b="0" i="0">
                <a:solidFill>
                  <a:srgbClr val="4A5568"/>
                </a:solidFill>
                <a:latin typeface="Calibri"/>
                <a:ea typeface="Calibri"/>
              </a:rPr>
              <a:t>Most of your styling will use classes.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.center  { text-align: center; }</a:t>
            </a:r>
          </a:p>
          <a:p>
            <a:pPr>
              <a:spcAft>
                <a:spcPts val="350"/>
              </a:spcAft>
            </a:pPr>
            <a:r>
              <a:rPr sz="1300" b="0" i="0">
                <a:solidFill>
                  <a:srgbClr val="98C379"/>
                </a:solidFill>
                <a:latin typeface="Consolas"/>
                <a:ea typeface="Consolas"/>
              </a:rPr>
              <a:t>p.center { color: #1E4FA8; }</a:t>
            </a:r>
          </a:p>
          <a:p>
            <a:pPr>
              <a:spcAft>
                <a:spcPts val="350"/>
              </a:spcAft>
            </a:pPr>
            <a:endParaRPr sz="1300" b="0" i="0">
              <a:solidFill>
                <a:srgbClr val="98C379"/>
              </a:solidFill>
              <a:latin typeface="Consolas"/>
              <a:ea typeface="Consolas"/>
            </a:endParaRPr>
          </a:p>
          <a:p>
            <a:pPr>
              <a:spcAft>
                <a:spcPts val="350"/>
              </a:spcAft>
            </a:pPr>
            <a:r>
              <a:rPr sz="1300" b="0" i="0">
                <a:solidFill>
                  <a:srgbClr val="61AFEF"/>
                </a:solidFill>
                <a:latin typeface="Consolas"/>
                <a:ea typeface="Consolas"/>
              </a:rPr>
              <a:t>&lt;p class="center large"&gt;Two classes, one tag.&lt;/p&gt;</a:t>
            </a:r>
          </a:p>
          <a:p>
            <a:pPr>
              <a:spcAft>
                <a:spcPts val="350"/>
              </a:spcAft>
            </a:pPr>
            <a:r>
              <a:rPr sz="1300" b="0" i="0">
                <a:solidFill>
                  <a:srgbClr val="98C379"/>
                </a:solidFill>
                <a:latin typeface="Consolas"/>
                <a:ea typeface="Consolas"/>
              </a:rPr>
              <a:t>&lt;h2 class="center"&gt;Also centred.&lt;/h2&gt;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editor.html?example=css-selectors/class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The class selector selects elements with a specific class attribute.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Universal Selector</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Universal  *</a:t>
            </a:r>
            <a:br/>
            <a:r>
              <a:rPr sz="1350" b="0" i="0">
                <a:solidFill>
                  <a:srgbClr val="4A5568"/>
                </a:solidFill>
                <a:latin typeface="Calibri"/>
                <a:ea typeface="Calibri"/>
              </a:rPr>
              <a:t>Matches every element on the page.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 very big brush</a:t>
            </a:r>
            <a:br/>
            <a:r>
              <a:rPr sz="1350" b="0" i="0">
                <a:solidFill>
                  <a:srgbClr val="4A5568"/>
                </a:solidFill>
                <a:latin typeface="Calibri"/>
                <a:ea typeface="Calibri"/>
              </a:rPr>
              <a:t>Use it rarely — it hits everything at once.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classic job</a:t>
            </a:r>
            <a:br/>
            <a:r>
              <a:rPr sz="1350" b="0" i="0">
                <a:solidFill>
                  <a:srgbClr val="4A5568"/>
                </a:solidFill>
                <a:latin typeface="Calibri"/>
                <a:ea typeface="Calibri"/>
              </a:rPr>
              <a:t>A reset, before anything else is styled.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Be careful</a:t>
            </a:r>
            <a:br/>
            <a:r>
              <a:rPr sz="1350" b="0" i="0">
                <a:solidFill>
                  <a:srgbClr val="4A5568"/>
                </a:solidFill>
                <a:latin typeface="Calibri"/>
                <a:ea typeface="Calibri"/>
              </a:rPr>
              <a:t>A universal rule is the slowest kind to apply.</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 { color: blue; }</a:t>
            </a:r>
          </a:p>
          <a:p>
            <a:pPr>
              <a:spcAft>
                <a:spcPts val="350"/>
              </a:spcAft>
            </a:pPr>
            <a:endParaRPr sz="1300" b="0" i="0">
              <a:solidFill>
                <a:srgbClr val="61AFEF"/>
              </a:solidFill>
              <a:latin typeface="Consolas"/>
              <a:ea typeface="Consolas"/>
            </a:endParaRPr>
          </a:p>
          <a:p>
            <a:pPr>
              <a:spcAft>
                <a:spcPts val="350"/>
              </a:spcAft>
            </a:pPr>
            <a:r>
              <a:rPr sz="1300" b="0" i="0">
                <a:solidFill>
                  <a:srgbClr val="7F8C98"/>
                </a:solidFill>
                <a:latin typeface="Consolas"/>
                <a:ea typeface="Consolas"/>
              </a:rPr>
              <a:t>/* the classic reset */</a:t>
            </a:r>
          </a:p>
          <a:p>
            <a:pPr>
              <a:spcAft>
                <a:spcPts val="350"/>
              </a:spcAft>
            </a:pPr>
            <a:r>
              <a:rPr sz="1300" b="0" i="0">
                <a:solidFill>
                  <a:srgbClr val="98C379"/>
                </a:solidFill>
                <a:latin typeface="Consolas"/>
                <a:ea typeface="Consolas"/>
              </a:rPr>
              <a:t>* { margin: 0; padding: 0; }</a:t>
            </a:r>
          </a:p>
          <a:p>
            <a:pPr>
              <a:spcAft>
                <a:spcPts val="350"/>
              </a:spcAft>
            </a:pPr>
            <a:r>
              <a:rPr sz="1300" b="0" i="0">
                <a:solidFill>
                  <a:srgbClr val="E5C07B"/>
                </a:solidFill>
                <a:latin typeface="Consolas"/>
                <a:ea typeface="Consolas"/>
              </a:rPr>
              <a:t>*, *::before, *::after {</a:t>
            </a:r>
          </a:p>
          <a:p>
            <a:pPr>
              <a:spcAft>
                <a:spcPts val="350"/>
              </a:spcAft>
            </a:pPr>
            <a:r>
              <a:rPr sz="1300" b="0" i="0">
                <a:solidFill>
                  <a:srgbClr val="E5C07B"/>
                </a:solidFill>
                <a:latin typeface="Consolas"/>
                <a:ea typeface="Consolas"/>
              </a:rPr>
              <a:t>  box-sizing: border-box;</a:t>
            </a:r>
          </a:p>
          <a:p>
            <a:pPr>
              <a:spcAft>
                <a:spcPts val="350"/>
              </a:spcAft>
            </a:pPr>
            <a:r>
              <a:rPr sz="1300" b="0" i="0">
                <a:solidFill>
                  <a:srgbClr val="E5C07B"/>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editor.html?example=css-selectors/universal</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Universal selectors are used to select any element.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class vs id</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Rounded Rectangle 4"/>
          <p:cNvSpPr/>
          <p:nvPr/>
        </p:nvSpPr>
        <p:spPr>
          <a:xfrm>
            <a:off x="548640"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152144"/>
            <a:ext cx="4779111" cy="457200"/>
          </a:xfrm>
          <a:prstGeom prst="rect">
            <a:avLst/>
          </a:prstGeom>
          <a:noFill/>
        </p:spPr>
        <p:txBody>
          <a:bodyPr wrap="square" lIns="0" tIns="0" rIns="0" bIns="0" anchor="t">
            <a:spAutoFit/>
          </a:bodyPr>
          <a:lstStyle/>
          <a:p>
            <a:pPr algn="l">
              <a:lnSpc>
                <a:spcPct val="110000"/>
              </a:lnSpc>
              <a:spcAft>
                <a:spcPts val="400"/>
              </a:spcAft>
            </a:pPr>
            <a:r>
              <a:rPr sz="2000" b="1" i="0">
                <a:solidFill>
                  <a:srgbClr val="0E3F8C"/>
                </a:solidFill>
                <a:latin typeface="Calibri"/>
                <a:ea typeface="Calibri"/>
              </a:rPr>
              <a:t>.class</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892808"/>
            <a:ext cx="4779111" cy="3703320"/>
          </a:xfrm>
          <a:prstGeom prst="rect">
            <a:avLst/>
          </a:prstGeom>
          <a:noFill/>
        </p:spPr>
        <p:txBody>
          <a:bodyPr wrap="square" lIns="0" tIns="0" r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Reusable</a:t>
            </a:r>
            <a:br/>
            <a:r>
              <a:rPr sz="1400" b="0" i="0">
                <a:solidFill>
                  <a:srgbClr val="4A5568"/>
                </a:solidFill>
                <a:latin typeface="Calibri"/>
                <a:ea typeface="Calibri"/>
              </a:rPr>
              <a:t>Many elements can share one </a:t>
            </a:r>
            <a:r>
              <a:rPr sz="1400" b="0" i="0">
                <a:solidFill>
                  <a:srgbClr val="B8860B"/>
                </a:solidFill>
                <a:latin typeface="Consolas"/>
                <a:ea typeface="Consolas"/>
              </a:rPr>
              <a:t>class</a:t>
            </a:r>
            <a:r>
              <a:rPr sz="1400" b="0" i="0">
                <a:solidFill>
                  <a:srgbClr val="4A5568"/>
                </a:solidFill>
                <a:latin typeface="Calibri"/>
                <a:ea typeface="Calibri"/>
              </a:rPr>
              <a:t>.</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The styling hook</a:t>
            </a:r>
            <a:br/>
            <a:r>
              <a:rPr sz="1400" b="0" i="0">
                <a:solidFill>
                  <a:srgbClr val="4A5568"/>
                </a:solidFill>
                <a:latin typeface="Calibri"/>
                <a:ea typeface="Calibri"/>
              </a:rPr>
              <a:t>Use classes for almost all styling.</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Multiple per element</a:t>
            </a:r>
            <a:br/>
            <a:r>
              <a:rPr sz="1400" b="0" i="0">
                <a:solidFill>
                  <a:srgbClr val="B8860B"/>
                </a:solidFill>
                <a:latin typeface="Consolas"/>
                <a:ea typeface="Consolas"/>
              </a:rPr>
              <a:t>class</a:t>
            </a:r>
            <a:r>
              <a:rPr sz="1400" b="0" i="0">
                <a:solidFill>
                  <a:srgbClr val="4A5568"/>
                </a:solidFill>
                <a:latin typeface="Calibri"/>
                <a:ea typeface="Calibri"/>
              </a:rPr>
              <a:t>="card big" — several at once.</a:t>
            </a:r>
          </a:p>
        </p:txBody>
      </p:sp>
      <p:sp>
        <p:nvSpPr>
          <p:cNvPr id="9" name="Rounded Rectangle 8"/>
          <p:cNvSpPr/>
          <p:nvPr/>
        </p:nvSpPr>
        <p:spPr>
          <a:xfrm>
            <a:off x="6278727"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71335" y="1152144"/>
            <a:ext cx="4779111" cy="457200"/>
          </a:xfrm>
          <a:prstGeom prst="rect">
            <a:avLst/>
          </a:prstGeom>
          <a:noFill/>
        </p:spPr>
        <p:txBody>
          <a:bodyPr wrap="square" lIns="0" tIns="0" rIns="0" bIns="0" anchor="t">
            <a:spAutoFit/>
          </a:bodyPr>
          <a:lstStyle/>
          <a:p>
            <a:pPr algn="l">
              <a:lnSpc>
                <a:spcPct val="110000"/>
              </a:lnSpc>
              <a:spcAft>
                <a:spcPts val="400"/>
              </a:spcAft>
            </a:pPr>
            <a:r>
              <a:rPr sz="2000" b="1" i="0">
                <a:solidFill>
                  <a:srgbClr val="0E3F8C"/>
                </a:solidFill>
                <a:latin typeface="Calibri"/>
                <a:ea typeface="Calibri"/>
              </a:rPr>
              <a:t>#id</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71335" y="1892808"/>
            <a:ext cx="4779111" cy="3703320"/>
          </a:xfrm>
          <a:prstGeom prst="rect">
            <a:avLst/>
          </a:prstGeom>
          <a:noFill/>
        </p:spPr>
        <p:txBody>
          <a:bodyPr wrap="square" lIns="0" tIns="0" r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Unique</a:t>
            </a:r>
            <a:br/>
            <a:r>
              <a:rPr sz="1400" b="0" i="0">
                <a:solidFill>
                  <a:srgbClr val="4A5568"/>
                </a:solidFill>
                <a:latin typeface="Calibri"/>
                <a:ea typeface="Calibri"/>
              </a:rPr>
              <a:t>One </a:t>
            </a:r>
            <a:r>
              <a:rPr sz="1400" b="0" i="0">
                <a:solidFill>
                  <a:srgbClr val="B8860B"/>
                </a:solidFill>
                <a:latin typeface="Consolas"/>
                <a:ea typeface="Consolas"/>
              </a:rPr>
              <a:t>id</a:t>
            </a:r>
            <a:r>
              <a:rPr sz="1400" b="0" i="0">
                <a:solidFill>
                  <a:srgbClr val="4A5568"/>
                </a:solidFill>
                <a:latin typeface="Calibri"/>
                <a:ea typeface="Calibri"/>
              </a:rPr>
              <a:t> per page, one element.</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The JS hook</a:t>
            </a:r>
            <a:br/>
            <a:r>
              <a:rPr sz="1400" b="0" i="0">
                <a:solidFill>
                  <a:srgbClr val="4A5568"/>
                </a:solidFill>
                <a:latin typeface="Calibri"/>
                <a:ea typeface="Calibri"/>
              </a:rPr>
              <a:t>Ids are for JavaScript and links (#hash).</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Too specific</a:t>
            </a:r>
            <a:br/>
            <a:r>
              <a:rPr sz="1400" b="0" i="0">
                <a:solidFill>
                  <a:srgbClr val="4A5568"/>
                </a:solidFill>
                <a:latin typeface="Calibri"/>
                <a:ea typeface="Calibri"/>
              </a:rPr>
              <a:t>Styling by </a:t>
            </a:r>
            <a:r>
              <a:rPr sz="1400" b="0" i="0">
                <a:solidFill>
                  <a:srgbClr val="B8860B"/>
                </a:solidFill>
                <a:latin typeface="Consolas"/>
                <a:ea typeface="Consolas"/>
              </a:rPr>
              <a:t>id</a:t>
            </a:r>
            <a:r>
              <a:rPr sz="1400" b="0" i="0">
                <a:solidFill>
                  <a:srgbClr val="4A5568"/>
                </a:solidFill>
                <a:latin typeface="Calibri"/>
                <a:ea typeface="Calibri"/>
              </a:rPr>
              <a:t> makes overrides painful.</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961888"/>
            <a:ext cx="10362895" cy="310896"/>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Rule of thumb: style with classes, address with ids.   </a:t>
            </a:r>
            <a:r>
              <a:rPr sz="1300" b="1" i="0">
                <a:solidFill>
                  <a:srgbClr val="B9CDEE"/>
                </a:solidFill>
                <a:latin typeface="Calibri"/>
                <a:ea typeface="Calibri"/>
              </a:rPr>
              <a:t>open in editor → </a:t>
            </a:r>
            <a:r>
              <a:rPr sz="1300" b="1" i="0">
                <a:solidFill>
                  <a:srgbClr val="FFFFFF"/>
                </a:solidFill>
                <a:latin typeface="Calibri"/>
                <a:ea typeface="Calibri"/>
                <a:hlinkClick r:id="rId2"/>
                <a:extLst>
                  <a:ext uri="{A12FA001-AC4F-418D-AE19-62706E023703}">
                    <ahyp:hlinkClr xmlns:ahyp="http://schemas.microsoft.com/office/drawing/2018/hyperlinkcolor" xmlns="" val="tx"/>
                  </a:ext>
                </a:extLst>
              </a:rPr>
              <a:t>editor.html?example=css-selectors/selectors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Grouping Selectors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Group with a comma</a:t>
            </a:r>
            <a:br/>
            <a:r>
              <a:rPr sz="1350" b="0" i="0">
                <a:solidFill>
                  <a:srgbClr val="4A5568"/>
                </a:solidFill>
                <a:latin typeface="Calibri"/>
                <a:ea typeface="Calibri"/>
              </a:rPr>
              <a:t>Separate each selector with a comma (,).</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block for all</a:t>
            </a:r>
            <a:br/>
            <a:r>
              <a:rPr sz="1350" b="0" i="0">
                <a:solidFill>
                  <a:srgbClr val="4A5568"/>
                </a:solidFill>
                <a:latin typeface="Calibri"/>
                <a:ea typeface="Calibri"/>
              </a:rPr>
              <a:t>Every selector in the list gets the same declarations.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Less code</a:t>
            </a:r>
            <a:br/>
            <a:r>
              <a:rPr sz="1350" b="0" i="0">
                <a:solidFill>
                  <a:srgbClr val="4A5568"/>
                </a:solidFill>
                <a:latin typeface="Calibri"/>
                <a:ea typeface="Calibri"/>
              </a:rPr>
              <a:t>It is better to group the selectors, to minimise the code.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Comma is not a space</a:t>
            </a:r>
            <a:br/>
            <a:r>
              <a:rPr sz="1350" b="0" i="0">
                <a:solidFill>
                  <a:srgbClr val="4A5568"/>
                </a:solidFill>
                <a:latin typeface="Calibri"/>
                <a:ea typeface="Calibri"/>
              </a:rPr>
              <a:t>A space means "inside", a comma means "and also".</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7F8C98"/>
                </a:solidFill>
                <a:latin typeface="Consolas"/>
                <a:ea typeface="Consolas"/>
              </a:rPr>
              <a:t>h1 { text-align: center; color: #1E4FA8; }</a:t>
            </a:r>
          </a:p>
          <a:p>
            <a:pPr>
              <a:spcAft>
                <a:spcPts val="350"/>
              </a:spcAft>
            </a:pPr>
            <a:r>
              <a:rPr sz="1300" b="0" i="0">
                <a:solidFill>
                  <a:srgbClr val="7F8C98"/>
                </a:solidFill>
                <a:latin typeface="Consolas"/>
                <a:ea typeface="Consolas"/>
              </a:rPr>
              <a:t>h2 { text-align: center; color: #1E4FA8; }</a:t>
            </a:r>
          </a:p>
          <a:p>
            <a:pPr>
              <a:spcAft>
                <a:spcPts val="350"/>
              </a:spcAft>
            </a:pPr>
            <a:r>
              <a:rPr sz="1300" b="0" i="0">
                <a:solidFill>
                  <a:srgbClr val="7F8C98"/>
                </a:solidFill>
                <a:latin typeface="Consolas"/>
                <a:ea typeface="Consolas"/>
              </a:rPr>
              <a:t>p  { text-align: center; color: #1E4FA8; }</a:t>
            </a:r>
          </a:p>
          <a:p>
            <a:pPr>
              <a:spcAft>
                <a:spcPts val="350"/>
              </a:spcAft>
            </a:pPr>
            <a:endParaRPr sz="1300" b="0" i="0">
              <a:solidFill>
                <a:srgbClr val="7F8C98"/>
              </a:solidFill>
              <a:latin typeface="Consolas"/>
              <a:ea typeface="Consolas"/>
            </a:endParaRPr>
          </a:p>
          <a:p>
            <a:pPr>
              <a:spcAft>
                <a:spcPts val="350"/>
              </a:spcAft>
            </a:pPr>
            <a:r>
              <a:rPr sz="1300" b="0" i="0">
                <a:solidFill>
                  <a:srgbClr val="98C379"/>
                </a:solidFill>
                <a:latin typeface="Consolas"/>
                <a:ea typeface="Consolas"/>
              </a:rPr>
              <a:t>h1, h2, p { text-align: center; color: #1E4FA8; }</a:t>
            </a:r>
          </a:p>
          <a:p>
            <a:pPr>
              <a:spcAft>
                <a:spcPts val="350"/>
              </a:spcAft>
            </a:pPr>
            <a:endParaRPr sz="1300" b="0" i="0">
              <a:solidFill>
                <a:srgbClr val="98C379"/>
              </a:solidFill>
              <a:latin typeface="Consolas"/>
              <a:ea typeface="Consolas"/>
            </a:endParaRPr>
          </a:p>
          <a:p>
            <a:pPr>
              <a:spcAft>
                <a:spcPts val="350"/>
              </a:spcAft>
            </a:pPr>
            <a:r>
              <a:rPr sz="1300" b="0" i="0">
                <a:solidFill>
                  <a:srgbClr val="7F8C98"/>
                </a:solidFill>
                <a:latin typeface="Consolas"/>
                <a:ea typeface="Consolas"/>
              </a:rPr>
              <a:t>/* a space would mean: p inside h2 inside h1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editor.html?example=css-selectors/grouping</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The comma says "and also" — the space says "inside".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Descendant Selectors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Descendant  A B</a:t>
            </a:r>
            <a:br/>
            <a:r>
              <a:rPr sz="1350" b="0" i="0">
                <a:solidFill>
                  <a:srgbClr val="4A5568"/>
                </a:solidFill>
                <a:latin typeface="Calibri"/>
                <a:ea typeface="Calibri"/>
              </a:rPr>
              <a:t>A </a:t>
            </a:r>
            <a:r>
              <a:rPr sz="1350" b="0" i="0">
                <a:solidFill>
                  <a:srgbClr val="1E4FA8"/>
                </a:solidFill>
                <a:latin typeface="Consolas"/>
                <a:ea typeface="Consolas"/>
              </a:rPr>
              <a:t>&lt;p&gt;</a:t>
            </a:r>
            <a:r>
              <a:rPr sz="1350" b="0" i="0">
                <a:solidFill>
                  <a:srgbClr val="4A5568"/>
                </a:solidFill>
                <a:latin typeface="Calibri"/>
                <a:ea typeface="Calibri"/>
              </a:rPr>
              <a:t> that is a descendant of A — at any depth.</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Not only children</a:t>
            </a:r>
            <a:br/>
            <a:r>
              <a:rPr sz="1350" b="0" i="0">
                <a:solidFill>
                  <a:srgbClr val="4A5568"/>
                </a:solidFill>
                <a:latin typeface="Calibri"/>
                <a:ea typeface="Calibri"/>
              </a:rPr>
              <a:t>Children, grandchildren — the whole subtree.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Written with a space</a:t>
            </a:r>
            <a:br/>
            <a:r>
              <a:rPr sz="1350" b="0" i="0">
                <a:solidFill>
                  <a:srgbClr val="4A5568"/>
                </a:solidFill>
                <a:latin typeface="Calibri"/>
                <a:ea typeface="Calibri"/>
              </a:rPr>
              <a:t>div p — every </a:t>
            </a:r>
            <a:r>
              <a:rPr sz="1350" b="0" i="0">
                <a:solidFill>
                  <a:srgbClr val="1E4FA8"/>
                </a:solidFill>
                <a:latin typeface="Consolas"/>
                <a:ea typeface="Consolas"/>
              </a:rPr>
              <a:t>&lt;p&gt;</a:t>
            </a:r>
            <a:r>
              <a:rPr sz="1350" b="0" i="0">
                <a:solidFill>
                  <a:srgbClr val="4A5568"/>
                </a:solidFill>
                <a:latin typeface="Calibri"/>
                <a:ea typeface="Calibri"/>
              </a:rPr>
              <a:t> that sits inside a </a:t>
            </a:r>
            <a:r>
              <a:rPr sz="1350" b="0" i="0">
                <a:solidFill>
                  <a:srgbClr val="1E4FA8"/>
                </a:solidFill>
                <a:latin typeface="Consolas"/>
                <a:ea typeface="Consolas"/>
              </a:rPr>
              <a:t>&lt;div&gt;</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Read right to left</a:t>
            </a:r>
            <a:br/>
            <a:r>
              <a:rPr sz="1350" b="0" i="0">
                <a:solidFill>
                  <a:srgbClr val="4A5568"/>
                </a:solidFill>
                <a:latin typeface="Calibri"/>
                <a:ea typeface="Calibri"/>
              </a:rPr>
              <a:t>The last part is the element being styled.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&lt;div class="abc"&gt;</a:t>
            </a:r>
          </a:p>
          <a:p>
            <a:pPr>
              <a:spcAft>
                <a:spcPts val="350"/>
              </a:spcAft>
            </a:pPr>
            <a:r>
              <a:rPr sz="1300" b="0" i="0">
                <a:solidFill>
                  <a:srgbClr val="61AFEF"/>
                </a:solidFill>
                <a:latin typeface="Consolas"/>
                <a:ea typeface="Consolas"/>
              </a:rPr>
              <a:t>  &lt;div&gt;</a:t>
            </a:r>
          </a:p>
          <a:p>
            <a:pPr>
              <a:spcAft>
                <a:spcPts val="350"/>
              </a:spcAft>
            </a:pPr>
            <a:r>
              <a:rPr sz="1300" b="0" i="0">
                <a:solidFill>
                  <a:srgbClr val="98C379"/>
                </a:solidFill>
                <a:latin typeface="Consolas"/>
                <a:ea typeface="Consolas"/>
              </a:rPr>
              <a:t>    &lt;p&gt;Hello there!&lt;/p&gt;</a:t>
            </a:r>
          </a:p>
          <a:p>
            <a:pPr>
              <a:spcAft>
                <a:spcPts val="350"/>
              </a:spcAft>
            </a:pPr>
            <a:r>
              <a:rPr sz="1300" b="0" i="0">
                <a:solidFill>
                  <a:srgbClr val="61AFEF"/>
                </a:solidFill>
                <a:latin typeface="Consolas"/>
                <a:ea typeface="Consolas"/>
              </a:rPr>
              <a:t>  &lt;/div&gt;</a:t>
            </a:r>
          </a:p>
          <a:p>
            <a:pPr>
              <a:spcAft>
                <a:spcPts val="350"/>
              </a:spcAft>
            </a:pPr>
            <a:r>
              <a:rPr sz="1300" b="0" i="0">
                <a:solidFill>
                  <a:srgbClr val="61AFEF"/>
                </a:solidFill>
                <a:latin typeface="Consolas"/>
                <a:ea typeface="Consolas"/>
              </a:rPr>
              <a:t>&lt;/div&gt;</a:t>
            </a:r>
          </a:p>
          <a:p>
            <a:pPr>
              <a:spcAft>
                <a:spcPts val="350"/>
              </a:spcAft>
            </a:pPr>
            <a:endParaRPr sz="1300" b="0" i="0">
              <a:solidFill>
                <a:srgbClr val="61AFEF"/>
              </a:solidFill>
              <a:latin typeface="Consolas"/>
              <a:ea typeface="Consolas"/>
            </a:endParaRPr>
          </a:p>
          <a:p>
            <a:pPr>
              <a:spcAft>
                <a:spcPts val="350"/>
              </a:spcAft>
            </a:pPr>
            <a:r>
              <a:rPr sz="1300" b="0" i="0">
                <a:solidFill>
                  <a:srgbClr val="E5C07B"/>
                </a:solidFill>
                <a:latin typeface="Consolas"/>
                <a:ea typeface="Consolas"/>
              </a:rPr>
              <a:t>.abc p { font-weight: bold;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editor.html?example=css-selectors/descendant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Descendants are nested at any depth — a space reaches all of them.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Child Selectors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Child  A &gt; B</a:t>
            </a:r>
            <a:br/>
            <a:r>
              <a:rPr sz="1350" b="0" i="0">
                <a:solidFill>
                  <a:srgbClr val="4A5568"/>
                </a:solidFill>
                <a:latin typeface="Calibri"/>
                <a:ea typeface="Calibri"/>
              </a:rPr>
              <a:t>The B that is a direct child of A.</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Nothing deeper</a:t>
            </a:r>
            <a:br/>
            <a:r>
              <a:rPr sz="1350" b="0" i="0">
                <a:solidFill>
                  <a:srgbClr val="4A5568"/>
                </a:solidFill>
                <a:latin typeface="Calibri"/>
                <a:ea typeface="Calibri"/>
              </a:rPr>
              <a:t>A grandchild is not a child.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Stricter than a space</a:t>
            </a:r>
            <a:br/>
            <a:r>
              <a:rPr sz="1350" b="0" i="0">
                <a:solidFill>
                  <a:srgbClr val="4A5568"/>
                </a:solidFill>
                <a:latin typeface="Calibri"/>
                <a:ea typeface="Calibri"/>
              </a:rPr>
              <a:t>Only direct children — not all descendants.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Stops leaks</a:t>
            </a:r>
            <a:br/>
            <a:r>
              <a:rPr sz="1350" b="0" i="0">
                <a:solidFill>
                  <a:srgbClr val="4A5568"/>
                </a:solidFill>
                <a:latin typeface="Calibri"/>
                <a:ea typeface="Calibri"/>
              </a:rPr>
              <a:t>Keeps a rule out of nested lists and cards.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&lt;div class="abc"&gt;</a:t>
            </a:r>
          </a:p>
          <a:p>
            <a:pPr>
              <a:spcAft>
                <a:spcPts val="350"/>
              </a:spcAft>
            </a:pPr>
            <a:r>
              <a:rPr sz="1300" b="0" i="0">
                <a:solidFill>
                  <a:srgbClr val="98C379"/>
                </a:solidFill>
                <a:latin typeface="Consolas"/>
                <a:ea typeface="Consolas"/>
              </a:rPr>
              <a:t>  &lt;p&gt;a direct child&lt;/p&gt;</a:t>
            </a:r>
          </a:p>
          <a:p>
            <a:pPr>
              <a:spcAft>
                <a:spcPts val="350"/>
              </a:spcAft>
            </a:pPr>
            <a:r>
              <a:rPr sz="1300" b="0" i="0">
                <a:solidFill>
                  <a:srgbClr val="7F8C98"/>
                </a:solidFill>
                <a:latin typeface="Consolas"/>
                <a:ea typeface="Consolas"/>
              </a:rPr>
              <a:t>  &lt;div&gt;&lt;p&gt;a grandchild&lt;/p&gt;&lt;/div&gt;</a:t>
            </a:r>
          </a:p>
          <a:p>
            <a:pPr>
              <a:spcAft>
                <a:spcPts val="350"/>
              </a:spcAft>
            </a:pPr>
            <a:r>
              <a:rPr sz="1300" b="0" i="0">
                <a:solidFill>
                  <a:srgbClr val="61AFEF"/>
                </a:solidFill>
                <a:latin typeface="Consolas"/>
                <a:ea typeface="Consolas"/>
              </a:rPr>
              <a:t>&lt;/div&gt;</a:t>
            </a:r>
          </a:p>
          <a:p>
            <a:pPr>
              <a:spcAft>
                <a:spcPts val="350"/>
              </a:spcAft>
            </a:pPr>
            <a:endParaRPr sz="1300" b="0" i="0">
              <a:solidFill>
                <a:srgbClr val="61AFEF"/>
              </a:solidFill>
              <a:latin typeface="Consolas"/>
              <a:ea typeface="Consolas"/>
            </a:endParaRPr>
          </a:p>
          <a:p>
            <a:pPr>
              <a:spcAft>
                <a:spcPts val="350"/>
              </a:spcAft>
            </a:pPr>
            <a:r>
              <a:rPr sz="1300" b="0" i="0">
                <a:solidFill>
                  <a:srgbClr val="E5C07B"/>
                </a:solidFill>
                <a:latin typeface="Consolas"/>
                <a:ea typeface="Consolas"/>
              </a:rPr>
              <a:t>.abc &gt; p { font-weight: bold; }  /* 1 match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editor.html?example=css-selectors/child</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Child selectors pick only the direct children — not every descendant.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Adjacent Sibling Selectors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Adjacent  A + B</a:t>
            </a:r>
            <a:br/>
            <a:r>
              <a:rPr sz="1350" b="0" i="0">
                <a:solidFill>
                  <a:srgbClr val="4A5568"/>
                </a:solidFill>
                <a:latin typeface="Calibri"/>
                <a:ea typeface="Calibri"/>
              </a:rPr>
              <a:t>The sibling that comes immediately after A.</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Same parent</a:t>
            </a:r>
            <a:br/>
            <a:r>
              <a:rPr sz="1350" b="0" i="0">
                <a:solidFill>
                  <a:srgbClr val="4A5568"/>
                </a:solidFill>
                <a:latin typeface="Calibri"/>
                <a:ea typeface="Calibri"/>
              </a:rPr>
              <a:t>Both elements must share a parent.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neighbour</a:t>
            </a:r>
            <a:br/>
            <a:r>
              <a:rPr sz="1350" b="0" i="0">
                <a:solidFill>
                  <a:srgbClr val="4A5568"/>
                </a:solidFill>
                <a:latin typeface="Calibri"/>
                <a:ea typeface="Calibri"/>
              </a:rPr>
              <a:t>Put anything between them and nothing matches.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Classic use</a:t>
            </a:r>
            <a:br/>
            <a:r>
              <a:rPr sz="1350" b="0" i="0">
                <a:solidFill>
                  <a:srgbClr val="4A5568"/>
                </a:solidFill>
                <a:latin typeface="Calibri"/>
                <a:ea typeface="Calibri"/>
              </a:rPr>
              <a:t>h2 + p — tighten the gap under a heading.</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&lt;div&gt;</a:t>
            </a:r>
          </a:p>
          <a:p>
            <a:pPr>
              <a:spcAft>
                <a:spcPts val="350"/>
              </a:spcAft>
            </a:pPr>
            <a:r>
              <a:rPr sz="1300" b="0" i="0">
                <a:solidFill>
                  <a:srgbClr val="61AFEF"/>
                </a:solidFill>
                <a:latin typeface="Consolas"/>
                <a:ea typeface="Consolas"/>
              </a:rPr>
              <a:t>&lt;div class="abc"&gt;Message&lt;/div&gt;</a:t>
            </a:r>
          </a:p>
          <a:p>
            <a:pPr>
              <a:spcAft>
                <a:spcPts val="350"/>
              </a:spcAft>
            </a:pPr>
            <a:r>
              <a:rPr sz="1300" b="0" i="0">
                <a:solidFill>
                  <a:srgbClr val="98C379"/>
                </a:solidFill>
                <a:latin typeface="Consolas"/>
                <a:ea typeface="Consolas"/>
              </a:rPr>
              <a:t>  &lt;p&gt;Hello there!&lt;/p&gt;</a:t>
            </a:r>
          </a:p>
          <a:p>
            <a:pPr>
              <a:spcAft>
                <a:spcPts val="350"/>
              </a:spcAft>
            </a:pPr>
            <a:r>
              <a:rPr sz="1300" b="0" i="0">
                <a:solidFill>
                  <a:srgbClr val="61AFEF"/>
                </a:solidFill>
                <a:latin typeface="Consolas"/>
                <a:ea typeface="Consolas"/>
              </a:rPr>
              <a:t>&lt;/div&gt;</a:t>
            </a:r>
          </a:p>
          <a:p>
            <a:pPr>
              <a:spcAft>
                <a:spcPts val="350"/>
              </a:spcAft>
            </a:pPr>
            <a:endParaRPr sz="1300" b="0" i="0">
              <a:solidFill>
                <a:srgbClr val="61AFEF"/>
              </a:solidFill>
              <a:latin typeface="Consolas"/>
              <a:ea typeface="Consolas"/>
            </a:endParaRPr>
          </a:p>
          <a:p>
            <a:pPr>
              <a:spcAft>
                <a:spcPts val="350"/>
              </a:spcAft>
            </a:pPr>
            <a:r>
              <a:rPr sz="1300" b="0" i="0">
                <a:solidFill>
                  <a:srgbClr val="E5C07B"/>
                </a:solidFill>
                <a:latin typeface="Consolas"/>
                <a:ea typeface="Consolas"/>
              </a:rPr>
              <a:t>.abc + p { font-weight: bold;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editor.html?example=css-selectors/adjacent-sibling</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The adjacent sibling selector picks the sibling immediately after an element.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General Sibling Selectors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General sibling  A ~ B</a:t>
            </a:r>
            <a:br/>
            <a:r>
              <a:rPr sz="1350" b="0" i="0">
                <a:solidFill>
                  <a:srgbClr val="4A5568"/>
                </a:solidFill>
                <a:latin typeface="Calibri"/>
                <a:ea typeface="Calibri"/>
              </a:rPr>
              <a:t>Every B that follows A in the same parent.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All of them</a:t>
            </a:r>
            <a:br/>
            <a:r>
              <a:rPr sz="1350" b="0" i="0">
                <a:solidFill>
                  <a:srgbClr val="4A5568"/>
                </a:solidFill>
                <a:latin typeface="Calibri"/>
                <a:ea typeface="Calibri"/>
              </a:rPr>
              <a:t>Not only the next one — every later sibling.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Only forwards</a:t>
            </a:r>
            <a:br/>
            <a:r>
              <a:rPr sz="1350" b="0" i="0">
                <a:solidFill>
                  <a:srgbClr val="4A5568"/>
                </a:solidFill>
                <a:latin typeface="Calibri"/>
                <a:ea typeface="Calibri"/>
              </a:rPr>
              <a:t>Siblings before A are not matched.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Read it as a tilde</a:t>
            </a:r>
            <a:br/>
            <a:r>
              <a:rPr sz="1350" b="0" i="0">
                <a:solidFill>
                  <a:srgbClr val="4A5568"/>
                </a:solidFill>
                <a:latin typeface="Calibri"/>
                <a:ea typeface="Calibri"/>
              </a:rPr>
              <a:t>div ~ p — every </a:t>
            </a:r>
            <a:r>
              <a:rPr sz="1350" b="0" i="0">
                <a:solidFill>
                  <a:srgbClr val="1E4FA8"/>
                </a:solidFill>
                <a:latin typeface="Consolas"/>
                <a:ea typeface="Consolas"/>
              </a:rPr>
              <a:t>&lt;p&gt;</a:t>
            </a:r>
            <a:r>
              <a:rPr sz="1350" b="0" i="0">
                <a:solidFill>
                  <a:srgbClr val="4A5568"/>
                </a:solidFill>
                <a:latin typeface="Calibri"/>
                <a:ea typeface="Calibri"/>
              </a:rPr>
              <a:t> after a </a:t>
            </a:r>
            <a:r>
              <a:rPr sz="1350" b="0" i="0">
                <a:solidFill>
                  <a:srgbClr val="1E4FA8"/>
                </a:solidFill>
                <a:latin typeface="Consolas"/>
                <a:ea typeface="Consolas"/>
              </a:rPr>
              <a:t>&lt;div&gt;</a:t>
            </a:r>
            <a:r>
              <a:rPr sz="1350" b="0" i="0">
                <a:solidFill>
                  <a:srgbClr val="4A5568"/>
                </a:solidFill>
                <a:latin typeface="Calibri"/>
                <a:ea typeface="Calibri"/>
              </a:rPr>
              <a: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&lt;div&gt;Title&lt;/div&gt;</a:t>
            </a:r>
          </a:p>
          <a:p>
            <a:pPr>
              <a:spcAft>
                <a:spcPts val="350"/>
              </a:spcAft>
            </a:pPr>
            <a:r>
              <a:rPr sz="1300" b="0" i="0">
                <a:solidFill>
                  <a:srgbClr val="98C379"/>
                </a:solidFill>
                <a:latin typeface="Consolas"/>
                <a:ea typeface="Consolas"/>
              </a:rPr>
              <a:t>&lt;p&gt;first&lt;/p&gt;</a:t>
            </a:r>
          </a:p>
          <a:p>
            <a:pPr>
              <a:spcAft>
                <a:spcPts val="350"/>
              </a:spcAft>
            </a:pPr>
            <a:r>
              <a:rPr sz="1300" b="0" i="0">
                <a:solidFill>
                  <a:srgbClr val="98C379"/>
                </a:solidFill>
                <a:latin typeface="Consolas"/>
                <a:ea typeface="Consolas"/>
              </a:rPr>
              <a:t>&lt;p&gt;second&lt;/p&gt;</a:t>
            </a:r>
          </a:p>
          <a:p>
            <a:pPr>
              <a:spcAft>
                <a:spcPts val="350"/>
              </a:spcAft>
            </a:pPr>
            <a:endParaRPr sz="1300" b="0" i="0">
              <a:solidFill>
                <a:srgbClr val="98C379"/>
              </a:solidFill>
              <a:latin typeface="Consolas"/>
              <a:ea typeface="Consolas"/>
            </a:endParaRPr>
          </a:p>
          <a:p>
            <a:pPr>
              <a:spcAft>
                <a:spcPts val="350"/>
              </a:spcAft>
            </a:pPr>
            <a:r>
              <a:rPr sz="1300" b="0" i="0">
                <a:solidFill>
                  <a:srgbClr val="E5C07B"/>
                </a:solidFill>
                <a:latin typeface="Consolas"/>
                <a:ea typeface="Consolas"/>
              </a:rPr>
              <a:t>div ~ p { background: #FDF3C8; }  /* both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editor.html?example=css-selectors/general-sibling</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The general sibling selector selects every following sibling.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Attribute Selectors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[attribute]</a:t>
            </a:r>
            <a:br/>
            <a:r>
              <a:rPr sz="1350" b="0" i="0">
                <a:solidFill>
                  <a:srgbClr val="4A5568"/>
                </a:solidFill>
                <a:latin typeface="Calibri"/>
                <a:ea typeface="Calibri"/>
              </a:rPr>
              <a:t>Elements that have the attribute, whatever it is set to.</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[attribute="v"]</a:t>
            </a:r>
            <a:br/>
            <a:r>
              <a:rPr sz="1350" b="0" i="0">
                <a:solidFill>
                  <a:srgbClr val="4A5568"/>
                </a:solidFill>
                <a:latin typeface="Calibri"/>
                <a:ea typeface="Calibri"/>
              </a:rPr>
              <a:t>Elements whose attribute </a:t>
            </a:r>
            <a:r>
              <a:rPr sz="1350" b="0" i="0">
                <a:solidFill>
                  <a:srgbClr val="B8860B"/>
                </a:solidFill>
                <a:latin typeface="Consolas"/>
                <a:ea typeface="Consolas"/>
              </a:rPr>
              <a:t>value</a:t>
            </a:r>
            <a:r>
              <a:rPr sz="1350" b="0" i="0">
                <a:solidFill>
                  <a:srgbClr val="4A5568"/>
                </a:solidFill>
                <a:latin typeface="Calibri"/>
                <a:ea typeface="Calibri"/>
              </a:rPr>
              <a:t> is exactly v.</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[attribute^="v"]</a:t>
            </a:r>
            <a:br/>
            <a:r>
              <a:rPr sz="1350" b="0" i="0">
                <a:solidFill>
                  <a:srgbClr val="4A5568"/>
                </a:solidFill>
                <a:latin typeface="Calibri"/>
                <a:ea typeface="Calibri"/>
              </a:rPr>
              <a:t>Begins with v — the prefix test: every https:// link.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[attribute$="v"]</a:t>
            </a:r>
            <a:br/>
            <a:r>
              <a:rPr sz="1350" b="0" i="0">
                <a:solidFill>
                  <a:srgbClr val="4A5568"/>
                </a:solidFill>
                <a:latin typeface="Calibri"/>
                <a:ea typeface="Calibri"/>
              </a:rPr>
              <a:t>Ends with v — the suffix test: every .pdf link.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[attribute*="v"]</a:t>
            </a:r>
            <a:br/>
            <a:r>
              <a:rPr sz="1350" b="0" i="0">
                <a:solidFill>
                  <a:srgbClr val="4A5568"/>
                </a:solidFill>
                <a:latin typeface="Calibri"/>
                <a:ea typeface="Calibri"/>
              </a:rPr>
              <a:t>Contains v anywhere — the substring test.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a[target]           { }  /* has the attribute */</a:t>
            </a:r>
          </a:p>
          <a:p>
            <a:pPr>
              <a:spcAft>
                <a:spcPts val="350"/>
              </a:spcAft>
            </a:pPr>
            <a:r>
              <a:rPr sz="1300" b="0" i="0">
                <a:solidFill>
                  <a:srgbClr val="98C379"/>
                </a:solidFill>
                <a:latin typeface="Consolas"/>
                <a:ea typeface="Consolas"/>
              </a:rPr>
              <a:t>a[target="_blank"]  { }  /* exact value       */</a:t>
            </a:r>
          </a:p>
          <a:p>
            <a:pPr>
              <a:spcAft>
                <a:spcPts val="350"/>
              </a:spcAft>
            </a:pPr>
            <a:endParaRPr sz="1300" b="0" i="0">
              <a:solidFill>
                <a:srgbClr val="98C379"/>
              </a:solidFill>
              <a:latin typeface="Consolas"/>
              <a:ea typeface="Consolas"/>
            </a:endParaRPr>
          </a:p>
          <a:p>
            <a:pPr>
              <a:spcAft>
                <a:spcPts val="350"/>
              </a:spcAft>
            </a:pPr>
            <a:r>
              <a:rPr sz="1300" b="0" i="0">
                <a:solidFill>
                  <a:srgbClr val="E5C07B"/>
                </a:solidFill>
                <a:latin typeface="Consolas"/>
                <a:ea typeface="Consolas"/>
              </a:rPr>
              <a:t>a[href^="https"]    { }  /* begins with       */</a:t>
            </a:r>
          </a:p>
          <a:p>
            <a:pPr>
              <a:spcAft>
                <a:spcPts val="350"/>
              </a:spcAft>
            </a:pPr>
            <a:r>
              <a:rPr sz="1300" b="0" i="0">
                <a:solidFill>
                  <a:srgbClr val="E5C07B"/>
                </a:solidFill>
                <a:latin typeface="Consolas"/>
                <a:ea typeface="Consolas"/>
              </a:rPr>
              <a:t>a[href$=".pdf"]     { }  /* ends with         */</a:t>
            </a:r>
          </a:p>
          <a:p>
            <a:pPr>
              <a:spcAft>
                <a:spcPts val="350"/>
              </a:spcAft>
            </a:pPr>
            <a:r>
              <a:rPr sz="1300" b="0" i="0">
                <a:solidFill>
                  <a:srgbClr val="E5C07B"/>
                </a:solidFill>
                <a:latin typeface="Consolas"/>
                <a:ea typeface="Consolas"/>
              </a:rPr>
              <a:t>a[href*="polyu"]    { }  /* contains          */</a:t>
            </a:r>
          </a:p>
          <a:p>
            <a:pPr>
              <a:spcAft>
                <a:spcPts val="350"/>
              </a:spcAft>
            </a:pPr>
            <a:endParaRPr sz="1300" b="0" i="0">
              <a:solidFill>
                <a:srgbClr val="E5C07B"/>
              </a:solidFill>
              <a:latin typeface="Consolas"/>
              <a:ea typeface="Consolas"/>
            </a:endParaRPr>
          </a:p>
          <a:p>
            <a:pPr>
              <a:spcAft>
                <a:spcPts val="350"/>
              </a:spcAft>
            </a:pPr>
            <a:r>
              <a:rPr sz="1300" b="0" i="0">
                <a:solidFill>
                  <a:srgbClr val="C678DD"/>
                </a:solidFill>
                <a:latin typeface="Consolas"/>
                <a:ea typeface="Consolas"/>
              </a:rPr>
              <a:t>a[href$=".pdf" i]   { }  /* ignore case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editor.html?example=css-selectors/attribute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  $=  *=  read as: starts with · ends with · contains.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The Attribute Forms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Rectangle 4"/>
          <p:cNvSpPr/>
          <p:nvPr/>
        </p:nvSpPr>
        <p:spPr>
          <a:xfrm>
            <a:off x="548640" y="932688"/>
            <a:ext cx="2292234"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32688"/>
            <a:ext cx="1963050" cy="512064"/>
          </a:xfrm>
          <a:prstGeom prst="rect">
            <a:avLst/>
          </a:prstGeom>
          <a:noFill/>
        </p:spPr>
        <p:txBody>
          <a:bodyPr wrap="square" lIns="0" tIns="0" rIns="0" bIns="0" anchor="ctr">
            <a:spAutoFit/>
          </a:bodyPr>
          <a:lstStyle/>
          <a:p>
            <a:pPr algn="l">
              <a:lnSpc>
                <a:spcPct val="110000"/>
              </a:lnSpc>
              <a:spcAft>
                <a:spcPts val="0"/>
              </a:spcAft>
            </a:pPr>
            <a:r>
              <a:rPr sz="1500" b="1" i="0">
                <a:solidFill>
                  <a:srgbClr val="FFFFFF"/>
                </a:solidFill>
                <a:latin typeface="Calibri"/>
                <a:ea typeface="Calibri"/>
              </a:rPr>
              <a:t>Selector</a:t>
            </a:r>
          </a:p>
        </p:txBody>
      </p:sp>
      <p:sp>
        <p:nvSpPr>
          <p:cNvPr id="7" name="Rectangle 6"/>
          <p:cNvSpPr/>
          <p:nvPr/>
        </p:nvSpPr>
        <p:spPr>
          <a:xfrm>
            <a:off x="2840874" y="932688"/>
            <a:ext cx="5409673"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05466" y="932688"/>
            <a:ext cx="5080489" cy="512064"/>
          </a:xfrm>
          <a:prstGeom prst="rect">
            <a:avLst/>
          </a:prstGeom>
          <a:noFill/>
        </p:spPr>
        <p:txBody>
          <a:bodyPr wrap="square" lIns="0" tIns="0" rIns="0" bIns="0" anchor="ctr">
            <a:spAutoFit/>
          </a:bodyPr>
          <a:lstStyle/>
          <a:p>
            <a:pPr algn="l">
              <a:lnSpc>
                <a:spcPct val="110000"/>
              </a:lnSpc>
              <a:spcAft>
                <a:spcPts val="0"/>
              </a:spcAft>
            </a:pPr>
            <a:r>
              <a:rPr sz="1500" b="1" i="0">
                <a:solidFill>
                  <a:srgbClr val="FFFFFF"/>
                </a:solidFill>
                <a:latin typeface="Calibri"/>
                <a:ea typeface="Calibri"/>
              </a:rPr>
              <a:t>Matches</a:t>
            </a:r>
          </a:p>
        </p:txBody>
      </p:sp>
      <p:sp>
        <p:nvSpPr>
          <p:cNvPr id="9" name="Rectangle 8"/>
          <p:cNvSpPr/>
          <p:nvPr/>
        </p:nvSpPr>
        <p:spPr>
          <a:xfrm>
            <a:off x="8250548" y="932688"/>
            <a:ext cx="339250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5140" y="932688"/>
            <a:ext cx="3063323" cy="512064"/>
          </a:xfrm>
          <a:prstGeom prst="rect">
            <a:avLst/>
          </a:prstGeom>
          <a:noFill/>
        </p:spPr>
        <p:txBody>
          <a:bodyPr wrap="square" lIns="0" tIns="0" rIns="0" bIns="0" anchor="ctr">
            <a:spAutoFit/>
          </a:bodyPr>
          <a:lstStyle/>
          <a:p>
            <a:pPr algn="l">
              <a:lnSpc>
                <a:spcPct val="110000"/>
              </a:lnSpc>
              <a:spcAft>
                <a:spcPts val="0"/>
              </a:spcAft>
            </a:pPr>
            <a:r>
              <a:rPr sz="1500" b="1" i="0">
                <a:solidFill>
                  <a:srgbClr val="FFFFFF"/>
                </a:solidFill>
                <a:latin typeface="Calibri"/>
                <a:ea typeface="Calibri"/>
              </a:rPr>
              <a:t>Example</a:t>
            </a:r>
          </a:p>
        </p:txBody>
      </p:sp>
      <p:sp>
        <p:nvSpPr>
          <p:cNvPr id="11" name="Rectangle 10"/>
          <p:cNvSpPr/>
          <p:nvPr/>
        </p:nvSpPr>
        <p:spPr>
          <a:xfrm>
            <a:off x="548640" y="1444752"/>
            <a:ext cx="229223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444752"/>
            <a:ext cx="1963050" cy="566928"/>
          </a:xfrm>
          <a:prstGeom prst="rect">
            <a:avLst/>
          </a:prstGeom>
          <a:noFill/>
        </p:spPr>
        <p:txBody>
          <a:bodyPr wrap="square" lIns="0" tIns="0" rIns="0" bIns="0" anchor="ctr">
            <a:spAutoFit/>
          </a:bodyPr>
          <a:lstStyle/>
          <a:p>
            <a:pPr algn="l">
              <a:lnSpc>
                <a:spcPct val="110000"/>
              </a:lnSpc>
              <a:spcAft>
                <a:spcPts val="0"/>
              </a:spcAft>
            </a:pPr>
            <a:r>
              <a:rPr sz="1500" b="1" i="0">
                <a:solidFill>
                  <a:srgbClr val="1A2230"/>
                </a:solidFill>
                <a:latin typeface="Calibri"/>
                <a:ea typeface="Calibri"/>
              </a:rPr>
              <a:t>[attr]</a:t>
            </a:r>
          </a:p>
        </p:txBody>
      </p:sp>
      <p:sp>
        <p:nvSpPr>
          <p:cNvPr id="13" name="Rectangle 12"/>
          <p:cNvSpPr/>
          <p:nvPr/>
        </p:nvSpPr>
        <p:spPr>
          <a:xfrm>
            <a:off x="2840874" y="1444752"/>
            <a:ext cx="540967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05466" y="1444752"/>
            <a:ext cx="5080489"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elements that have the attribute</a:t>
            </a:r>
          </a:p>
        </p:txBody>
      </p:sp>
      <p:sp>
        <p:nvSpPr>
          <p:cNvPr id="15" name="Rectangle 14"/>
          <p:cNvSpPr/>
          <p:nvPr/>
        </p:nvSpPr>
        <p:spPr>
          <a:xfrm>
            <a:off x="8250548" y="1444752"/>
            <a:ext cx="339250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5140" y="1444752"/>
            <a:ext cx="3063323"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a[target]</a:t>
            </a:r>
          </a:p>
        </p:txBody>
      </p:sp>
      <p:sp>
        <p:nvSpPr>
          <p:cNvPr id="17" name="Rectangle 16"/>
          <p:cNvSpPr/>
          <p:nvPr/>
        </p:nvSpPr>
        <p:spPr>
          <a:xfrm>
            <a:off x="548640" y="2011680"/>
            <a:ext cx="229223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011680"/>
            <a:ext cx="1963050" cy="566928"/>
          </a:xfrm>
          <a:prstGeom prst="rect">
            <a:avLst/>
          </a:prstGeom>
          <a:noFill/>
        </p:spPr>
        <p:txBody>
          <a:bodyPr wrap="square" lIns="0" tIns="0" rIns="0" bIns="0" anchor="ctr">
            <a:spAutoFit/>
          </a:bodyPr>
          <a:lstStyle/>
          <a:p>
            <a:pPr algn="l">
              <a:lnSpc>
                <a:spcPct val="110000"/>
              </a:lnSpc>
              <a:spcAft>
                <a:spcPts val="0"/>
              </a:spcAft>
            </a:pPr>
            <a:r>
              <a:rPr sz="1500" b="1" i="0">
                <a:solidFill>
                  <a:srgbClr val="1A2230"/>
                </a:solidFill>
                <a:latin typeface="Calibri"/>
                <a:ea typeface="Calibri"/>
              </a:rPr>
              <a:t>[attr="v"]</a:t>
            </a:r>
          </a:p>
        </p:txBody>
      </p:sp>
      <p:sp>
        <p:nvSpPr>
          <p:cNvPr id="19" name="Rectangle 18"/>
          <p:cNvSpPr/>
          <p:nvPr/>
        </p:nvSpPr>
        <p:spPr>
          <a:xfrm>
            <a:off x="2840874" y="2011680"/>
            <a:ext cx="540967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05466" y="2011680"/>
            <a:ext cx="5080489"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the value is exactly v</a:t>
            </a:r>
          </a:p>
        </p:txBody>
      </p:sp>
      <p:sp>
        <p:nvSpPr>
          <p:cNvPr id="21" name="Rectangle 20"/>
          <p:cNvSpPr/>
          <p:nvPr/>
        </p:nvSpPr>
        <p:spPr>
          <a:xfrm>
            <a:off x="8250548" y="2011680"/>
            <a:ext cx="339250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5140" y="2011680"/>
            <a:ext cx="3063323"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a[target="_blank"]</a:t>
            </a:r>
          </a:p>
        </p:txBody>
      </p:sp>
      <p:sp>
        <p:nvSpPr>
          <p:cNvPr id="23" name="Rectangle 22"/>
          <p:cNvSpPr/>
          <p:nvPr/>
        </p:nvSpPr>
        <p:spPr>
          <a:xfrm>
            <a:off x="548640" y="2578608"/>
            <a:ext cx="229223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2578608"/>
            <a:ext cx="1963050" cy="566928"/>
          </a:xfrm>
          <a:prstGeom prst="rect">
            <a:avLst/>
          </a:prstGeom>
          <a:noFill/>
        </p:spPr>
        <p:txBody>
          <a:bodyPr wrap="square" lIns="0" tIns="0" rIns="0" bIns="0" anchor="ctr">
            <a:spAutoFit/>
          </a:bodyPr>
          <a:lstStyle/>
          <a:p>
            <a:pPr algn="l">
              <a:lnSpc>
                <a:spcPct val="110000"/>
              </a:lnSpc>
              <a:spcAft>
                <a:spcPts val="0"/>
              </a:spcAft>
            </a:pPr>
            <a:r>
              <a:rPr sz="1500" b="1" i="0">
                <a:solidFill>
                  <a:srgbClr val="1A2230"/>
                </a:solidFill>
                <a:latin typeface="Calibri"/>
                <a:ea typeface="Calibri"/>
              </a:rPr>
              <a:t>[attr^="v"]</a:t>
            </a:r>
          </a:p>
        </p:txBody>
      </p:sp>
      <p:sp>
        <p:nvSpPr>
          <p:cNvPr id="25" name="Rectangle 24"/>
          <p:cNvSpPr/>
          <p:nvPr/>
        </p:nvSpPr>
        <p:spPr>
          <a:xfrm>
            <a:off x="2840874" y="2578608"/>
            <a:ext cx="540967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005466" y="2578608"/>
            <a:ext cx="5080489"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the value begins with v — a prefix</a:t>
            </a:r>
          </a:p>
        </p:txBody>
      </p:sp>
      <p:sp>
        <p:nvSpPr>
          <p:cNvPr id="27" name="Rectangle 26"/>
          <p:cNvSpPr/>
          <p:nvPr/>
        </p:nvSpPr>
        <p:spPr>
          <a:xfrm>
            <a:off x="8250548" y="2578608"/>
            <a:ext cx="339250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5140" y="2578608"/>
            <a:ext cx="3063323"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a[href^="https"]</a:t>
            </a:r>
          </a:p>
        </p:txBody>
      </p:sp>
      <p:sp>
        <p:nvSpPr>
          <p:cNvPr id="29" name="Rectangle 28"/>
          <p:cNvSpPr/>
          <p:nvPr/>
        </p:nvSpPr>
        <p:spPr>
          <a:xfrm>
            <a:off x="548640" y="3145536"/>
            <a:ext cx="229223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145536"/>
            <a:ext cx="1963050" cy="566928"/>
          </a:xfrm>
          <a:prstGeom prst="rect">
            <a:avLst/>
          </a:prstGeom>
          <a:noFill/>
        </p:spPr>
        <p:txBody>
          <a:bodyPr wrap="square" lIns="0" tIns="0" rIns="0" bIns="0" anchor="ctr">
            <a:spAutoFit/>
          </a:bodyPr>
          <a:lstStyle/>
          <a:p>
            <a:pPr algn="l">
              <a:lnSpc>
                <a:spcPct val="110000"/>
              </a:lnSpc>
              <a:spcAft>
                <a:spcPts val="0"/>
              </a:spcAft>
            </a:pPr>
            <a:r>
              <a:rPr sz="1500" b="1" i="0">
                <a:solidFill>
                  <a:srgbClr val="1A2230"/>
                </a:solidFill>
                <a:latin typeface="Calibri"/>
                <a:ea typeface="Calibri"/>
              </a:rPr>
              <a:t>[attr$="v"]</a:t>
            </a:r>
          </a:p>
        </p:txBody>
      </p:sp>
      <p:sp>
        <p:nvSpPr>
          <p:cNvPr id="31" name="Rectangle 30"/>
          <p:cNvSpPr/>
          <p:nvPr/>
        </p:nvSpPr>
        <p:spPr>
          <a:xfrm>
            <a:off x="2840874" y="3145536"/>
            <a:ext cx="540967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005466" y="3145536"/>
            <a:ext cx="5080489"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the value ends with v — a suffix</a:t>
            </a:r>
          </a:p>
        </p:txBody>
      </p:sp>
      <p:sp>
        <p:nvSpPr>
          <p:cNvPr id="33" name="Rectangle 32"/>
          <p:cNvSpPr/>
          <p:nvPr/>
        </p:nvSpPr>
        <p:spPr>
          <a:xfrm>
            <a:off x="8250548" y="3145536"/>
            <a:ext cx="339250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415140" y="3145536"/>
            <a:ext cx="3063323"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a[href$=".pdf"]</a:t>
            </a:r>
          </a:p>
        </p:txBody>
      </p:sp>
      <p:sp>
        <p:nvSpPr>
          <p:cNvPr id="35" name="Rectangle 34"/>
          <p:cNvSpPr/>
          <p:nvPr/>
        </p:nvSpPr>
        <p:spPr>
          <a:xfrm>
            <a:off x="548640" y="3712464"/>
            <a:ext cx="229223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3712464"/>
            <a:ext cx="1963050" cy="566928"/>
          </a:xfrm>
          <a:prstGeom prst="rect">
            <a:avLst/>
          </a:prstGeom>
          <a:noFill/>
        </p:spPr>
        <p:txBody>
          <a:bodyPr wrap="square" lIns="0" tIns="0" rIns="0" bIns="0" anchor="ctr">
            <a:spAutoFit/>
          </a:bodyPr>
          <a:lstStyle/>
          <a:p>
            <a:pPr algn="l">
              <a:lnSpc>
                <a:spcPct val="110000"/>
              </a:lnSpc>
              <a:spcAft>
                <a:spcPts val="0"/>
              </a:spcAft>
            </a:pPr>
            <a:r>
              <a:rPr sz="1500" b="1" i="0">
                <a:solidFill>
                  <a:srgbClr val="1A2230"/>
                </a:solidFill>
                <a:latin typeface="Calibri"/>
                <a:ea typeface="Calibri"/>
              </a:rPr>
              <a:t>[attr*="v"]</a:t>
            </a:r>
          </a:p>
        </p:txBody>
      </p:sp>
      <p:sp>
        <p:nvSpPr>
          <p:cNvPr id="37" name="Rectangle 36"/>
          <p:cNvSpPr/>
          <p:nvPr/>
        </p:nvSpPr>
        <p:spPr>
          <a:xfrm>
            <a:off x="2840874" y="3712464"/>
            <a:ext cx="540967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005466" y="3712464"/>
            <a:ext cx="5080489"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the value contains v anywhere</a:t>
            </a:r>
          </a:p>
        </p:txBody>
      </p:sp>
      <p:sp>
        <p:nvSpPr>
          <p:cNvPr id="39" name="Rectangle 38"/>
          <p:cNvSpPr/>
          <p:nvPr/>
        </p:nvSpPr>
        <p:spPr>
          <a:xfrm>
            <a:off x="8250548" y="3712464"/>
            <a:ext cx="339250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15140" y="3712464"/>
            <a:ext cx="3063323" cy="566928"/>
          </a:xfrm>
          <a:prstGeom prst="rect">
            <a:avLst/>
          </a:prstGeom>
          <a:noFill/>
        </p:spPr>
        <p:txBody>
          <a:bodyPr wrap="square" lIns="0" tIns="0" rIns="0" bIns="0" anchor="ctr">
            <a:spAutoFit/>
          </a:bodyPr>
          <a:lstStyle/>
          <a:p>
            <a:pPr algn="l">
              <a:lnSpc>
                <a:spcPct val="110000"/>
              </a:lnSpc>
              <a:spcAft>
                <a:spcPts val="0"/>
              </a:spcAft>
            </a:pPr>
            <a:r>
              <a:rPr sz="1500" b="0" i="0">
                <a:solidFill>
                  <a:srgbClr val="1A2230"/>
                </a:solidFill>
                <a:latin typeface="Calibri"/>
                <a:ea typeface="Calibri"/>
              </a:rPr>
              <a:t>a[href*="polyu"]</a:t>
            </a:r>
          </a:p>
        </p:txBody>
      </p:sp>
      <p:sp>
        <p:nvSpPr>
          <p:cNvPr id="41" name="Rounded Rectangle 40"/>
          <p:cNvSpPr/>
          <p:nvPr/>
        </p:nvSpPr>
        <p:spPr>
          <a:xfrm>
            <a:off x="548640" y="4462272"/>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80" y="4553712"/>
            <a:ext cx="10454335" cy="365760"/>
          </a:xfrm>
          <a:prstGeom prst="rect">
            <a:avLst/>
          </a:prstGeom>
          <a:noFill/>
        </p:spPr>
        <p:txBody>
          <a:bodyPr wrap="square" lIns="0" tIns="0" rIns="0" bIns="0" anchor="t">
            <a:spAutoFit/>
          </a:bodyPr>
          <a:lstStyle/>
          <a:p>
            <a:pPr algn="l">
              <a:lnSpc>
                <a:spcPct val="110000"/>
              </a:lnSpc>
              <a:spcAft>
                <a:spcPts val="400"/>
              </a:spcAft>
            </a:pPr>
            <a:r>
              <a:rPr sz="1450" b="1" i="0">
                <a:solidFill>
                  <a:srgbClr val="0E3F8C"/>
                </a:solidFill>
                <a:latin typeface="Calibri"/>
                <a:ea typeface="Calibri"/>
              </a:rPr>
              <a:t>The last three are the position tests. Add i before the ] for case-insensitive: a[href$=".pdf" i].</a:t>
            </a:r>
          </a:p>
        </p:txBody>
      </p:sp>
      <p:sp>
        <p:nvSpPr>
          <p:cNvPr id="43" name="TextBox 42"/>
          <p:cNvSpPr txBox="1"/>
          <p:nvPr/>
        </p:nvSpPr>
        <p:spPr>
          <a:xfrm>
            <a:off x="868680" y="4937760"/>
            <a:ext cx="10454335" cy="329184"/>
          </a:xfrm>
          <a:prstGeom prst="rect">
            <a:avLst/>
          </a:prstGeom>
          <a:noFill/>
        </p:spPr>
        <p:txBody>
          <a:bodyPr wrap="square" lIns="0" tIns="0" rIns="0" bIns="0" anchor="t">
            <a:spAutoFit/>
          </a:bodyPr>
          <a:lstStyle/>
          <a:p>
            <a:pPr algn="l">
              <a:lnSpc>
                <a:spcPct val="110000"/>
              </a:lnSpc>
              <a:spcAft>
                <a:spcPts val="400"/>
              </a:spcAft>
            </a:pPr>
            <a:r>
              <a:rPr sz="1300" b="1" i="0">
                <a:solidFill>
                  <a:srgbClr val="1E4FA8"/>
                </a:solidFill>
                <a:latin typeface="Calibri"/>
                <a:ea typeface="Calibri"/>
              </a:rPr>
              <a:t>open in editor →  </a:t>
            </a:r>
            <a:r>
              <a:rPr sz="130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editor.html?example=css-selectors/attribute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Pseudo-classes — States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Pseudo-class  :</a:t>
            </a:r>
            <a:br/>
            <a:r>
              <a:rPr sz="1350" b="0" i="0">
                <a:solidFill>
                  <a:srgbClr val="4A5568"/>
                </a:solidFill>
                <a:latin typeface="Calibri"/>
                <a:ea typeface="Calibri"/>
              </a:rPr>
              <a:t>Defines a special state of an element.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:link  :visited</a:t>
            </a:r>
            <a:br/>
            <a:r>
              <a:rPr sz="1350" b="0" i="0">
                <a:solidFill>
                  <a:srgbClr val="4A5568"/>
                </a:solidFill>
                <a:latin typeface="Calibri"/>
                <a:ea typeface="Calibri"/>
              </a:rPr>
              <a:t>Links not yet visited / already visited.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:hover  :focus</a:t>
            </a:r>
            <a:br/>
            <a:r>
              <a:rPr sz="1350" b="0" i="0">
                <a:solidFill>
                  <a:srgbClr val="4A5568"/>
                </a:solidFill>
                <a:latin typeface="Calibri"/>
                <a:ea typeface="Calibri"/>
              </a:rPr>
              <a:t>Mouse over it, or keyboard focus on it.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:active</a:t>
            </a:r>
            <a:br/>
            <a:r>
              <a:rPr sz="1350" b="0" i="0">
                <a:solidFill>
                  <a:srgbClr val="4A5568"/>
                </a:solidFill>
                <a:latin typeface="Calibri"/>
                <a:ea typeface="Calibri"/>
              </a:rPr>
              <a:t>The moment the link is being pressed.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Order: L V H A</a:t>
            </a:r>
            <a:br/>
            <a:r>
              <a:rPr sz="1350" b="0" i="0">
                <a:solidFill>
                  <a:srgbClr val="4A5568"/>
                </a:solidFill>
                <a:latin typeface="Calibri"/>
                <a:ea typeface="Calibri"/>
              </a:rPr>
              <a:t>Link, Visited, Hover, Active — the last one wins.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a:link     { color: #1E4FA8; }</a:t>
            </a:r>
          </a:p>
          <a:p>
            <a:pPr>
              <a:spcAft>
                <a:spcPts val="350"/>
              </a:spcAft>
            </a:pPr>
            <a:r>
              <a:rPr sz="1300" b="0" i="0">
                <a:solidFill>
                  <a:srgbClr val="98C379"/>
                </a:solidFill>
                <a:latin typeface="Consolas"/>
                <a:ea typeface="Consolas"/>
              </a:rPr>
              <a:t>a:visited  { color: #6B4FA8; }</a:t>
            </a:r>
          </a:p>
          <a:p>
            <a:pPr>
              <a:spcAft>
                <a:spcPts val="350"/>
              </a:spcAft>
            </a:pPr>
            <a:r>
              <a:rPr sz="1300" b="0" i="0">
                <a:solidFill>
                  <a:srgbClr val="E5C07B"/>
                </a:solidFill>
                <a:latin typeface="Consolas"/>
                <a:ea typeface="Consolas"/>
              </a:rPr>
              <a:t>a:hover    { color: #D9534F; }</a:t>
            </a:r>
          </a:p>
          <a:p>
            <a:pPr>
              <a:spcAft>
                <a:spcPts val="350"/>
              </a:spcAft>
            </a:pPr>
            <a:r>
              <a:rPr sz="1300" b="0" i="0">
                <a:solidFill>
                  <a:srgbClr val="C678DD"/>
                </a:solidFill>
                <a:latin typeface="Consolas"/>
                <a:ea typeface="Consolas"/>
              </a:rPr>
              <a:t>a:active   { color: #B26A00; }</a:t>
            </a:r>
          </a:p>
          <a:p>
            <a:pPr>
              <a:spcAft>
                <a:spcPts val="350"/>
              </a:spcAft>
            </a:pPr>
            <a:endParaRPr sz="1300" b="0" i="0">
              <a:solidFill>
                <a:srgbClr val="C678DD"/>
              </a:solidFill>
              <a:latin typeface="Consolas"/>
              <a:ea typeface="Consolas"/>
            </a:endParaRPr>
          </a:p>
          <a:p>
            <a:pPr>
              <a:spcAft>
                <a:spcPts val="350"/>
              </a:spcAft>
            </a:pPr>
            <a:r>
              <a:rPr sz="1300" b="0" i="0">
                <a:solidFill>
                  <a:srgbClr val="98C379"/>
                </a:solidFill>
                <a:latin typeface="Consolas"/>
                <a:ea typeface="Consolas"/>
              </a:rPr>
              <a:t>input:focus { outline: 2px solid #1E4FA8; }</a:t>
            </a:r>
          </a:p>
          <a:p>
            <a:pPr>
              <a:spcAft>
                <a:spcPts val="350"/>
              </a:spcAft>
            </a:pPr>
            <a:endParaRPr sz="1300" b="0" i="0">
              <a:solidFill>
                <a:srgbClr val="98C379"/>
              </a:solidFill>
              <a:latin typeface="Consolas"/>
              <a:ea typeface="Consolas"/>
            </a:endParaRPr>
          </a:p>
          <a:p>
            <a:pPr>
              <a:spcAft>
                <a:spcPts val="350"/>
              </a:spcAft>
            </a:pPr>
            <a:r>
              <a:rPr sz="1300" b="0" i="0">
                <a:solidFill>
                  <a:srgbClr val="7F8C98"/>
                </a:solidFill>
                <a:latin typeface="Consolas"/>
                <a:ea typeface="Consolas"/>
              </a:rPr>
              <a:t>&lt;!-- no JavaScript involved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editor.html?example=css-selectors/pseudo-class-state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States are free styling — CSS already knows the mouse is there.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Pseudo-classes — Structure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:first-child  :last-child</a:t>
            </a:r>
            <a:br/>
            <a:r>
              <a:rPr sz="1350" b="0" i="0">
                <a:solidFill>
                  <a:srgbClr val="4A5568"/>
                </a:solidFill>
                <a:latin typeface="Calibri"/>
                <a:ea typeface="Calibri"/>
              </a:rPr>
              <a:t>The first or last child of its parent.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:nth-child(n)</a:t>
            </a:r>
            <a:br/>
            <a:r>
              <a:rPr sz="1350" b="0" i="0">
                <a:solidFill>
                  <a:srgbClr val="4A5568"/>
                </a:solidFill>
                <a:latin typeface="Calibri"/>
                <a:ea typeface="Calibri"/>
              </a:rPr>
              <a:t>Counts every sibling, whatever its tag.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:nth-of-type(n)</a:t>
            </a:r>
            <a:br/>
            <a:r>
              <a:rPr sz="1350" b="0" i="0">
                <a:solidFill>
                  <a:srgbClr val="4A5568"/>
                </a:solidFill>
                <a:latin typeface="Calibri"/>
                <a:ea typeface="Calibri"/>
              </a:rPr>
              <a:t>Counts only the siblings with the same tag.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:not(selector)</a:t>
            </a:r>
            <a:br/>
            <a:r>
              <a:rPr sz="1350" b="0" i="0">
                <a:solidFill>
                  <a:srgbClr val="4A5568"/>
                </a:solidFill>
                <a:latin typeface="Calibri"/>
                <a:ea typeface="Calibri"/>
              </a:rPr>
              <a:t>Everything except what is inside the brackets.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t>
            </a:r>
            <a:r>
              <a:rPr sz="1550" b="1" i="0">
                <a:solidFill>
                  <a:srgbClr val="B8860B"/>
                </a:solidFill>
                <a:latin typeface="Consolas"/>
                <a:ea typeface="Consolas"/>
              </a:rPr>
              <a:t>checked</a:t>
            </a:r>
            <a:r>
              <a:rPr sz="1550" b="1" i="0">
                <a:solidFill>
                  <a:srgbClr val="1A2230"/>
                </a:solidFill>
                <a:latin typeface="Calibri"/>
                <a:ea typeface="Calibri"/>
              </a:rPr>
              <a:t>  :</a:t>
            </a:r>
            <a:r>
              <a:rPr sz="1550" b="1" i="0">
                <a:solidFill>
                  <a:srgbClr val="B8860B"/>
                </a:solidFill>
                <a:latin typeface="Consolas"/>
                <a:ea typeface="Consolas"/>
              </a:rPr>
              <a:t>disabled</a:t>
            </a:r>
            <a:br/>
            <a:r>
              <a:rPr sz="1350" b="0" i="0">
                <a:solidFill>
                  <a:srgbClr val="4A5568"/>
                </a:solidFill>
                <a:latin typeface="Calibri"/>
                <a:ea typeface="Calibri"/>
              </a:rPr>
              <a:t>Form-control states — no JavaScript needed.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7F8C98"/>
                </a:solidFill>
                <a:latin typeface="Consolas"/>
                <a:ea typeface="Consolas"/>
              </a:rPr>
              <a:t>/* .feed's 5 children:  h3  p  figure  p  p  */</a:t>
            </a:r>
          </a:p>
          <a:p>
            <a:pPr>
              <a:spcAft>
                <a:spcPts val="350"/>
              </a:spcAft>
            </a:pPr>
            <a:r>
              <a:rPr sz="1300" b="0" i="0">
                <a:solidFill>
                  <a:srgbClr val="7F8C98"/>
                </a:solidFill>
                <a:latin typeface="Consolas"/>
                <a:ea typeface="Consolas"/>
              </a:rPr>
              <a:t>/* EVERY sibling counts -&gt; "2" = child 2, a &lt;p&gt; */</a:t>
            </a:r>
          </a:p>
          <a:p>
            <a:pPr>
              <a:spcAft>
                <a:spcPts val="350"/>
              </a:spcAft>
            </a:pPr>
            <a:r>
              <a:rPr sz="1300" b="0" i="0">
                <a:solidFill>
                  <a:srgbClr val="98C379"/>
                </a:solidFill>
                <a:latin typeface="Consolas"/>
                <a:ea typeface="Consolas"/>
              </a:rPr>
              <a:t>.feed p:nth-child(2)   { background: #CFE0F8; }</a:t>
            </a:r>
          </a:p>
          <a:p>
            <a:pPr>
              <a:spcAft>
                <a:spcPts val="350"/>
              </a:spcAft>
            </a:pPr>
            <a:endParaRPr sz="1300" b="0" i="0">
              <a:solidFill>
                <a:srgbClr val="98C379"/>
              </a:solidFill>
              <a:latin typeface="Consolas"/>
              <a:ea typeface="Consolas"/>
            </a:endParaRPr>
          </a:p>
          <a:p>
            <a:pPr>
              <a:spcAft>
                <a:spcPts val="350"/>
              </a:spcAft>
            </a:pPr>
            <a:r>
              <a:rPr sz="1300" b="0" i="0">
                <a:solidFill>
                  <a:srgbClr val="7F8C98"/>
                </a:solidFill>
                <a:latin typeface="Consolas"/>
                <a:ea typeface="Consolas"/>
              </a:rPr>
              <a:t>/* only &lt;p&gt; counts -&gt; "2" = 2nd &lt;p&gt; = child 4 */</a:t>
            </a:r>
          </a:p>
          <a:p>
            <a:pPr>
              <a:spcAft>
                <a:spcPts val="350"/>
              </a:spcAft>
            </a:pPr>
            <a:r>
              <a:rPr sz="1300" b="0" i="0">
                <a:solidFill>
                  <a:srgbClr val="E5C07B"/>
                </a:solidFill>
                <a:latin typeface="Consolas"/>
                <a:ea typeface="Consolas"/>
              </a:rPr>
              <a:t>.feed p:nth-of-type(2) { background: #FFE08A; }</a:t>
            </a:r>
          </a:p>
          <a:p>
            <a:pPr>
              <a:spcAft>
                <a:spcPts val="350"/>
              </a:spcAft>
            </a:pPr>
            <a:endParaRPr sz="1300" b="0" i="0">
              <a:solidFill>
                <a:srgbClr val="E5C07B"/>
              </a:solidFill>
              <a:latin typeface="Consolas"/>
              <a:ea typeface="Consolas"/>
            </a:endParaRPr>
          </a:p>
          <a:p>
            <a:pPr>
              <a:spcAft>
                <a:spcPts val="350"/>
              </a:spcAft>
            </a:pPr>
            <a:r>
              <a:rPr sz="1300" b="0" i="0">
                <a:solidFill>
                  <a:srgbClr val="61AFEF"/>
                </a:solidFill>
                <a:latin typeface="Consolas"/>
                <a:ea typeface="Consolas"/>
              </a:rPr>
              <a:t>.feed &gt; :first-child   { color: #1E4FA8; }</a:t>
            </a:r>
          </a:p>
          <a:p>
            <a:pPr>
              <a:spcAft>
                <a:spcPts val="350"/>
              </a:spcAft>
            </a:pPr>
            <a:r>
              <a:rPr sz="1300" b="0" i="0">
                <a:solidFill>
                  <a:srgbClr val="61AFEF"/>
                </a:solidFill>
                <a:latin typeface="Consolas"/>
                <a:ea typeface="Consolas"/>
              </a:rPr>
              <a:t>.feed &gt; :last-child    { color: #1E4FA8; }</a:t>
            </a:r>
          </a:p>
          <a:p>
            <a:pPr>
              <a:spcAft>
                <a:spcPts val="350"/>
              </a:spcAft>
            </a:pPr>
            <a:endParaRPr sz="1300" b="0" i="0">
              <a:solidFill>
                <a:srgbClr val="61AFEF"/>
              </a:solidFill>
              <a:latin typeface="Consolas"/>
              <a:ea typeface="Consolas"/>
            </a:endParaRPr>
          </a:p>
          <a:p>
            <a:pPr>
              <a:spcAft>
                <a:spcPts val="350"/>
              </a:spcAft>
            </a:pPr>
            <a:r>
              <a:rPr sz="1300" b="0" i="0">
                <a:solidFill>
                  <a:srgbClr val="C678DD"/>
                </a:solidFill>
                <a:latin typeface="Consolas"/>
                <a:ea typeface="Consolas"/>
              </a:rPr>
              <a:t>.notes p:not(.intro)   { color: #4A5568; }</a:t>
            </a:r>
          </a:p>
          <a:p>
            <a:pPr>
              <a:spcAft>
                <a:spcPts val="350"/>
              </a:spcAft>
            </a:pPr>
            <a:r>
              <a:rPr sz="1300" b="0" i="0">
                <a:solidFill>
                  <a:srgbClr val="98C379"/>
                </a:solidFill>
                <a:latin typeface="Consolas"/>
                <a:ea typeface="Consolas"/>
              </a:rPr>
              <a:t>input:checked + label  { font-weight: bold;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css-selectors/pseudo-class-structure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Same number, two different paragraphs — and with mixed tags, one of them can match nothing at all.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Pseudo-class Reference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Rectangle 4"/>
          <p:cNvSpPr/>
          <p:nvPr/>
        </p:nvSpPr>
        <p:spPr>
          <a:xfrm>
            <a:off x="548640" y="932688"/>
            <a:ext cx="311743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32688"/>
            <a:ext cx="2788254"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Selector</a:t>
            </a:r>
          </a:p>
        </p:txBody>
      </p:sp>
      <p:sp>
        <p:nvSpPr>
          <p:cNvPr id="7" name="Rectangle 6"/>
          <p:cNvSpPr/>
          <p:nvPr/>
        </p:nvSpPr>
        <p:spPr>
          <a:xfrm>
            <a:off x="3666078" y="932688"/>
            <a:ext cx="284237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30670" y="932688"/>
            <a:ext cx="2513186"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Example</a:t>
            </a:r>
          </a:p>
        </p:txBody>
      </p:sp>
      <p:sp>
        <p:nvSpPr>
          <p:cNvPr id="9" name="Rectangle 8"/>
          <p:cNvSpPr/>
          <p:nvPr/>
        </p:nvSpPr>
        <p:spPr>
          <a:xfrm>
            <a:off x="6508449" y="932688"/>
            <a:ext cx="513460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3041" y="932688"/>
            <a:ext cx="4805421"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What it selects</a:t>
            </a:r>
          </a:p>
        </p:txBody>
      </p:sp>
      <p:sp>
        <p:nvSpPr>
          <p:cNvPr id="11" name="Rectangle 10"/>
          <p:cNvSpPr/>
          <p:nvPr/>
        </p:nvSpPr>
        <p:spPr>
          <a:xfrm>
            <a:off x="548640" y="1444752"/>
            <a:ext cx="311743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444752"/>
            <a:ext cx="2788254"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:hover  :focus</a:t>
            </a:r>
          </a:p>
        </p:txBody>
      </p:sp>
      <p:sp>
        <p:nvSpPr>
          <p:cNvPr id="13" name="Rectangle 12"/>
          <p:cNvSpPr/>
          <p:nvPr/>
        </p:nvSpPr>
        <p:spPr>
          <a:xfrm>
            <a:off x="3666078" y="1444752"/>
            <a:ext cx="284237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30670" y="1444752"/>
            <a:ext cx="251318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a:hover</a:t>
            </a:r>
          </a:p>
        </p:txBody>
      </p:sp>
      <p:sp>
        <p:nvSpPr>
          <p:cNvPr id="15" name="Rectangle 14"/>
          <p:cNvSpPr/>
          <p:nvPr/>
        </p:nvSpPr>
        <p:spPr>
          <a:xfrm>
            <a:off x="6508449" y="1444752"/>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3041" y="1444752"/>
            <a:ext cx="4805421"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the pointer, or the keyboard, is on it</a:t>
            </a:r>
          </a:p>
        </p:txBody>
      </p:sp>
      <p:sp>
        <p:nvSpPr>
          <p:cNvPr id="17" name="Rectangle 16"/>
          <p:cNvSpPr/>
          <p:nvPr/>
        </p:nvSpPr>
        <p:spPr>
          <a:xfrm>
            <a:off x="548640" y="2011680"/>
            <a:ext cx="311743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011680"/>
            <a:ext cx="2788254"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:link  :visited</a:t>
            </a:r>
          </a:p>
        </p:txBody>
      </p:sp>
      <p:sp>
        <p:nvSpPr>
          <p:cNvPr id="19" name="Rectangle 18"/>
          <p:cNvSpPr/>
          <p:nvPr/>
        </p:nvSpPr>
        <p:spPr>
          <a:xfrm>
            <a:off x="3666078" y="2011680"/>
            <a:ext cx="284237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30670" y="2011680"/>
            <a:ext cx="251318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a:visited</a:t>
            </a:r>
          </a:p>
        </p:txBody>
      </p:sp>
      <p:sp>
        <p:nvSpPr>
          <p:cNvPr id="21" name="Rectangle 20"/>
          <p:cNvSpPr/>
          <p:nvPr/>
        </p:nvSpPr>
        <p:spPr>
          <a:xfrm>
            <a:off x="6508449" y="2011680"/>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3041" y="2011680"/>
            <a:ext cx="4805421"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links not yet visited / already visited</a:t>
            </a:r>
          </a:p>
        </p:txBody>
      </p:sp>
      <p:sp>
        <p:nvSpPr>
          <p:cNvPr id="23" name="Rectangle 22"/>
          <p:cNvSpPr/>
          <p:nvPr/>
        </p:nvSpPr>
        <p:spPr>
          <a:xfrm>
            <a:off x="548640" y="2578608"/>
            <a:ext cx="311743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2578608"/>
            <a:ext cx="2788254"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:first-child  :last-child</a:t>
            </a:r>
          </a:p>
        </p:txBody>
      </p:sp>
      <p:sp>
        <p:nvSpPr>
          <p:cNvPr id="25" name="Rectangle 24"/>
          <p:cNvSpPr/>
          <p:nvPr/>
        </p:nvSpPr>
        <p:spPr>
          <a:xfrm>
            <a:off x="3666078" y="2578608"/>
            <a:ext cx="284237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30670" y="2578608"/>
            <a:ext cx="251318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li:first-child</a:t>
            </a:r>
          </a:p>
        </p:txBody>
      </p:sp>
      <p:sp>
        <p:nvSpPr>
          <p:cNvPr id="27" name="Rectangle 26"/>
          <p:cNvSpPr/>
          <p:nvPr/>
        </p:nvSpPr>
        <p:spPr>
          <a:xfrm>
            <a:off x="6508449" y="2578608"/>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73041" y="2578608"/>
            <a:ext cx="4805421"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the first / last child of its parent</a:t>
            </a:r>
          </a:p>
        </p:txBody>
      </p:sp>
      <p:sp>
        <p:nvSpPr>
          <p:cNvPr id="29" name="Rectangle 28"/>
          <p:cNvSpPr/>
          <p:nvPr/>
        </p:nvSpPr>
        <p:spPr>
          <a:xfrm>
            <a:off x="548640" y="3145536"/>
            <a:ext cx="311743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145536"/>
            <a:ext cx="2788254"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:nth-child(n)</a:t>
            </a:r>
          </a:p>
        </p:txBody>
      </p:sp>
      <p:sp>
        <p:nvSpPr>
          <p:cNvPr id="31" name="Rectangle 30"/>
          <p:cNvSpPr/>
          <p:nvPr/>
        </p:nvSpPr>
        <p:spPr>
          <a:xfrm>
            <a:off x="3666078" y="3145536"/>
            <a:ext cx="284237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830670" y="3145536"/>
            <a:ext cx="251318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li:nth-child(2n)</a:t>
            </a:r>
          </a:p>
        </p:txBody>
      </p:sp>
      <p:sp>
        <p:nvSpPr>
          <p:cNvPr id="33" name="Rectangle 32"/>
          <p:cNvSpPr/>
          <p:nvPr/>
        </p:nvSpPr>
        <p:spPr>
          <a:xfrm>
            <a:off x="6508449" y="3145536"/>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3041" y="3145536"/>
            <a:ext cx="4805421"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the nth child — a number, odd, even or 2n+1</a:t>
            </a:r>
          </a:p>
        </p:txBody>
      </p:sp>
      <p:sp>
        <p:nvSpPr>
          <p:cNvPr id="35" name="Rectangle 34"/>
          <p:cNvSpPr/>
          <p:nvPr/>
        </p:nvSpPr>
        <p:spPr>
          <a:xfrm>
            <a:off x="548640" y="3712464"/>
            <a:ext cx="311743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3712464"/>
            <a:ext cx="2788254"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:not(selector)</a:t>
            </a:r>
          </a:p>
        </p:txBody>
      </p:sp>
      <p:sp>
        <p:nvSpPr>
          <p:cNvPr id="37" name="Rectangle 36"/>
          <p:cNvSpPr/>
          <p:nvPr/>
        </p:nvSpPr>
        <p:spPr>
          <a:xfrm>
            <a:off x="3666078" y="3712464"/>
            <a:ext cx="284237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30670" y="3712464"/>
            <a:ext cx="251318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p:not(.intro)</a:t>
            </a:r>
          </a:p>
        </p:txBody>
      </p:sp>
      <p:sp>
        <p:nvSpPr>
          <p:cNvPr id="39" name="Rectangle 38"/>
          <p:cNvSpPr/>
          <p:nvPr/>
        </p:nvSpPr>
        <p:spPr>
          <a:xfrm>
            <a:off x="6508449" y="3712464"/>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73041" y="3712464"/>
            <a:ext cx="4805421"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everything that does not match</a:t>
            </a:r>
          </a:p>
        </p:txBody>
      </p:sp>
      <p:sp>
        <p:nvSpPr>
          <p:cNvPr id="41" name="Rectangle 40"/>
          <p:cNvSpPr/>
          <p:nvPr/>
        </p:nvSpPr>
        <p:spPr>
          <a:xfrm>
            <a:off x="548640" y="4279392"/>
            <a:ext cx="311743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4279392"/>
            <a:ext cx="2788254"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:checked  :disabled</a:t>
            </a:r>
          </a:p>
        </p:txBody>
      </p:sp>
      <p:sp>
        <p:nvSpPr>
          <p:cNvPr id="43" name="Rectangle 42"/>
          <p:cNvSpPr/>
          <p:nvPr/>
        </p:nvSpPr>
        <p:spPr>
          <a:xfrm>
            <a:off x="3666078" y="4279392"/>
            <a:ext cx="284237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830670" y="4279392"/>
            <a:ext cx="251318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input:checked</a:t>
            </a:r>
          </a:p>
        </p:txBody>
      </p:sp>
      <p:sp>
        <p:nvSpPr>
          <p:cNvPr id="45" name="Rectangle 44"/>
          <p:cNvSpPr/>
          <p:nvPr/>
        </p:nvSpPr>
        <p:spPr>
          <a:xfrm>
            <a:off x="6508449" y="4279392"/>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673041" y="4279392"/>
            <a:ext cx="4805421"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form controls that are ticked / switched off</a:t>
            </a:r>
          </a:p>
        </p:txBody>
      </p:sp>
      <p:sp>
        <p:nvSpPr>
          <p:cNvPr id="47" name="Rectangle 46"/>
          <p:cNvSpPr/>
          <p:nvPr/>
        </p:nvSpPr>
        <p:spPr>
          <a:xfrm>
            <a:off x="548640" y="4846320"/>
            <a:ext cx="311743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13232" y="4846320"/>
            <a:ext cx="2788254"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:empty  :target  :lang(en)</a:t>
            </a:r>
          </a:p>
        </p:txBody>
      </p:sp>
      <p:sp>
        <p:nvSpPr>
          <p:cNvPr id="49" name="Rectangle 48"/>
          <p:cNvSpPr/>
          <p:nvPr/>
        </p:nvSpPr>
        <p:spPr>
          <a:xfrm>
            <a:off x="3666078" y="4846320"/>
            <a:ext cx="284237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830670" y="4846320"/>
            <a:ext cx="2513186"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p:empty</a:t>
            </a:r>
          </a:p>
        </p:txBody>
      </p:sp>
      <p:sp>
        <p:nvSpPr>
          <p:cNvPr id="51" name="Rectangle 50"/>
          <p:cNvSpPr/>
          <p:nvPr/>
        </p:nvSpPr>
        <p:spPr>
          <a:xfrm>
            <a:off x="6508449" y="4846320"/>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73041" y="4846320"/>
            <a:ext cx="4805421"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no children · the URL hash target · a language</a:t>
            </a:r>
          </a:p>
        </p:txBody>
      </p:sp>
      <p:sp>
        <p:nvSpPr>
          <p:cNvPr id="53" name="Rounded Rectangle 52"/>
          <p:cNvSpPr/>
          <p:nvPr/>
        </p:nvSpPr>
        <p:spPr>
          <a:xfrm>
            <a:off x="548640" y="5596128"/>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68680" y="5687568"/>
            <a:ext cx="10454335" cy="365760"/>
          </a:xfrm>
          <a:prstGeom prst="rect">
            <a:avLst/>
          </a:prstGeom>
          <a:noFill/>
        </p:spPr>
        <p:txBody>
          <a:bodyPr wrap="square" lIns="0" tIns="0" rIns="0" bIns="0" anchor="t">
            <a:spAutoFit/>
          </a:bodyPr>
          <a:lstStyle/>
          <a:p>
            <a:pPr algn="l">
              <a:lnSpc>
                <a:spcPct val="110000"/>
              </a:lnSpc>
              <a:spcAft>
                <a:spcPts val="400"/>
              </a:spcAft>
            </a:pPr>
            <a:r>
              <a:rPr sz="1450" b="1" i="0">
                <a:solidFill>
                  <a:srgbClr val="0E3F8C"/>
                </a:solidFill>
                <a:latin typeface="Calibri"/>
                <a:ea typeface="Calibri"/>
              </a:rPr>
              <a:t>A pseudo-class selects a state or a position — never an extra hook in the HTML.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Pseudo-elements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::first-letter</a:t>
            </a:r>
            <a:br/>
            <a:r>
              <a:rPr sz="1350" b="0" i="0">
                <a:solidFill>
                  <a:srgbClr val="4A5568"/>
                </a:solidFill>
                <a:latin typeface="Calibri"/>
                <a:ea typeface="Calibri"/>
              </a:rPr>
              <a:t>A drop cap — the first character of a paragraph.</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::first-line</a:t>
            </a:r>
            <a:br/>
            <a:r>
              <a:rPr sz="1350" b="0" i="0">
                <a:solidFill>
                  <a:srgbClr val="4A5568"/>
                </a:solidFill>
                <a:latin typeface="Calibri"/>
                <a:ea typeface="Calibri"/>
              </a:rPr>
              <a:t>The first line of a paragraph, however the window wraps it.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::before</a:t>
            </a:r>
            <a:br/>
            <a:r>
              <a:rPr sz="1350" b="0" i="0">
                <a:solidFill>
                  <a:srgbClr val="4A5568"/>
                </a:solidFill>
                <a:latin typeface="Calibri"/>
                <a:ea typeface="Calibri"/>
              </a:rPr>
              <a:t>Content inserted before the element's own content.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::after</a:t>
            </a:r>
            <a:br/>
            <a:r>
              <a:rPr sz="1350" b="0" i="0">
                <a:solidFill>
                  <a:srgbClr val="4A5568"/>
                </a:solidFill>
                <a:latin typeface="Calibri"/>
                <a:ea typeface="Calibri"/>
              </a:rPr>
              <a:t>The same, at the other end — one element can have both.</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::selection</a:t>
            </a:r>
            <a:br/>
            <a:r>
              <a:rPr sz="1350" b="0" i="0">
                <a:solidFill>
                  <a:srgbClr val="4A5568"/>
                </a:solidFill>
                <a:latin typeface="Calibri"/>
                <a:ea typeface="Calibri"/>
              </a:rPr>
              <a:t>The text the reader has highlighted with the mouse.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p::first-letter { color: red; font-size: xx-large; }</a:t>
            </a:r>
          </a:p>
          <a:p>
            <a:pPr>
              <a:spcAft>
                <a:spcPts val="350"/>
              </a:spcAft>
            </a:pPr>
            <a:r>
              <a:rPr sz="1300" b="0" i="0">
                <a:solidFill>
                  <a:srgbClr val="61AFEF"/>
                </a:solidFill>
                <a:latin typeface="Consolas"/>
                <a:ea typeface="Consolas"/>
              </a:rPr>
              <a:t>p::first-line   { color: red;</a:t>
            </a:r>
          </a:p>
          <a:p>
            <a:pPr>
              <a:spcAft>
                <a:spcPts val="350"/>
              </a:spcAft>
            </a:pPr>
            <a:r>
              <a:rPr sz="1300" b="0" i="0">
                <a:solidFill>
                  <a:srgbClr val="61AFEF"/>
                </a:solidFill>
                <a:latin typeface="Consolas"/>
                <a:ea typeface="Consolas"/>
              </a:rPr>
              <a:t>                  font-variant: small-caps; }</a:t>
            </a:r>
          </a:p>
          <a:p>
            <a:pPr>
              <a:spcAft>
                <a:spcPts val="350"/>
              </a:spcAft>
            </a:pPr>
            <a:r>
              <a:rPr sz="1300" b="0" i="0">
                <a:solidFill>
                  <a:srgbClr val="E5C07B"/>
                </a:solidFill>
                <a:latin typeface="Consolas"/>
                <a:ea typeface="Consolas"/>
              </a:rPr>
              <a:t>h3::before      { content: url("smiley.gif"); }</a:t>
            </a:r>
          </a:p>
          <a:p>
            <a:pPr>
              <a:spcAft>
                <a:spcPts val="350"/>
              </a:spcAft>
            </a:pPr>
            <a:r>
              <a:rPr sz="1300" b="0" i="0">
                <a:solidFill>
                  <a:srgbClr val="E5C07B"/>
                </a:solidFill>
                <a:latin typeface="Consolas"/>
                <a:ea typeface="Consolas"/>
              </a:rPr>
              <a:t>h3::after       { content: url("smiley.gif"); }</a:t>
            </a:r>
          </a:p>
          <a:p>
            <a:pPr>
              <a:spcAft>
                <a:spcPts val="350"/>
              </a:spcAft>
            </a:pPr>
            <a:r>
              <a:rPr sz="1300" b="0" i="0">
                <a:solidFill>
                  <a:srgbClr val="C678DD"/>
                </a:solidFill>
                <a:latin typeface="Consolas"/>
                <a:ea typeface="Consolas"/>
              </a:rPr>
              <a:t>::selection     { color: red; background: yellow; }</a:t>
            </a:r>
          </a:p>
          <a:p>
            <a:pPr>
              <a:spcAft>
                <a:spcPts val="350"/>
              </a:spcAft>
            </a:pPr>
            <a:endParaRPr sz="1300" b="0" i="0">
              <a:solidFill>
                <a:srgbClr val="C678DD"/>
              </a:solidFill>
              <a:latin typeface="Consolas"/>
              <a:ea typeface="Consolas"/>
            </a:endParaRPr>
          </a:p>
          <a:p>
            <a:pPr>
              <a:spcAft>
                <a:spcPts val="350"/>
              </a:spcAft>
            </a:pPr>
            <a:r>
              <a:rPr sz="1300" b="0" i="0">
                <a:solidFill>
                  <a:srgbClr val="7F8C98"/>
                </a:solidFill>
                <a:latin typeface="Consolas"/>
                <a:ea typeface="Consolas"/>
              </a:rPr>
              <a:t>/* :: is a part of an element, : is a state */</a:t>
            </a:r>
          </a:p>
          <a:p>
            <a:pPr>
              <a:spcAft>
                <a:spcPts val="350"/>
              </a:spcAft>
            </a:pPr>
            <a:r>
              <a:rPr sz="1300" b="0" i="0">
                <a:solidFill>
                  <a:srgbClr val="7F8C98"/>
                </a:solidFill>
                <a:latin typeface="Consolas"/>
                <a:ea typeface="Consolas"/>
              </a:rPr>
              <a:t>/* no content, no ::before / ::after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editor.html?example=css-selectors/pseudo-element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A part of an element you never wrote — : is a state, :: is a part.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Selector Cheatsheet</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Rectangle 4"/>
          <p:cNvSpPr/>
          <p:nvPr/>
        </p:nvSpPr>
        <p:spPr>
          <a:xfrm>
            <a:off x="548640" y="932688"/>
            <a:ext cx="2863074"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32688"/>
            <a:ext cx="2533890"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Selector</a:t>
            </a:r>
          </a:p>
        </p:txBody>
      </p:sp>
      <p:sp>
        <p:nvSpPr>
          <p:cNvPr id="7" name="Rectangle 6"/>
          <p:cNvSpPr/>
          <p:nvPr/>
        </p:nvSpPr>
        <p:spPr>
          <a:xfrm>
            <a:off x="3411714" y="932688"/>
            <a:ext cx="4384083"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76306" y="932688"/>
            <a:ext cx="4054899"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Matches</a:t>
            </a:r>
          </a:p>
        </p:txBody>
      </p:sp>
      <p:sp>
        <p:nvSpPr>
          <p:cNvPr id="9" name="Rectangle 8"/>
          <p:cNvSpPr/>
          <p:nvPr/>
        </p:nvSpPr>
        <p:spPr>
          <a:xfrm>
            <a:off x="7795798" y="932688"/>
            <a:ext cx="3847256"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60390" y="932688"/>
            <a:ext cx="3518072" cy="512064"/>
          </a:xfrm>
          <a:prstGeom prst="rect">
            <a:avLst/>
          </a:prstGeom>
          <a:noFill/>
        </p:spPr>
        <p:txBody>
          <a:bodyPr wrap="square" lIns="0" tIns="0" rIns="0" bIns="0" anchor="ctr">
            <a:spAutoFit/>
          </a:bodyPr>
          <a:lstStyle/>
          <a:p>
            <a:pPr algn="l">
              <a:lnSpc>
                <a:spcPct val="110000"/>
              </a:lnSpc>
              <a:spcAft>
                <a:spcPts val="0"/>
              </a:spcAft>
            </a:pPr>
            <a:r>
              <a:rPr sz="1350" b="1" i="0">
                <a:solidFill>
                  <a:srgbClr val="FFFFFF"/>
                </a:solidFill>
                <a:latin typeface="Calibri"/>
                <a:ea typeface="Calibri"/>
              </a:rPr>
              <a:t>Example</a:t>
            </a:r>
          </a:p>
        </p:txBody>
      </p:sp>
      <p:sp>
        <p:nvSpPr>
          <p:cNvPr id="11" name="Rectangle 10"/>
          <p:cNvSpPr/>
          <p:nvPr/>
        </p:nvSpPr>
        <p:spPr>
          <a:xfrm>
            <a:off x="548640" y="1444752"/>
            <a:ext cx="286307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444752"/>
            <a:ext cx="253389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element · class · id</a:t>
            </a:r>
          </a:p>
        </p:txBody>
      </p:sp>
      <p:sp>
        <p:nvSpPr>
          <p:cNvPr id="13" name="Rectangle 12"/>
          <p:cNvSpPr/>
          <p:nvPr/>
        </p:nvSpPr>
        <p:spPr>
          <a:xfrm>
            <a:off x="3411714" y="1444752"/>
            <a:ext cx="438408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76306" y="1444752"/>
            <a:ext cx="4054899"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by tag, by class or by id — or everything</a:t>
            </a:r>
          </a:p>
        </p:txBody>
      </p:sp>
      <p:sp>
        <p:nvSpPr>
          <p:cNvPr id="15" name="Rectangle 14"/>
          <p:cNvSpPr/>
          <p:nvPr/>
        </p:nvSpPr>
        <p:spPr>
          <a:xfrm>
            <a:off x="7795798" y="1444752"/>
            <a:ext cx="384725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60390" y="1444752"/>
            <a:ext cx="3518072"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p  .note  #header  *</a:t>
            </a:r>
          </a:p>
        </p:txBody>
      </p:sp>
      <p:sp>
        <p:nvSpPr>
          <p:cNvPr id="17" name="Rectangle 16"/>
          <p:cNvSpPr/>
          <p:nvPr/>
        </p:nvSpPr>
        <p:spPr>
          <a:xfrm>
            <a:off x="548640" y="2011680"/>
            <a:ext cx="286307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011680"/>
            <a:ext cx="253389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A, B</a:t>
            </a:r>
          </a:p>
        </p:txBody>
      </p:sp>
      <p:sp>
        <p:nvSpPr>
          <p:cNvPr id="19" name="Rectangle 18"/>
          <p:cNvSpPr/>
          <p:nvPr/>
        </p:nvSpPr>
        <p:spPr>
          <a:xfrm>
            <a:off x="3411714" y="2011680"/>
            <a:ext cx="438408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576306" y="2011680"/>
            <a:ext cx="4054899"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grouping — one rule, several selectors</a:t>
            </a:r>
          </a:p>
        </p:txBody>
      </p:sp>
      <p:sp>
        <p:nvSpPr>
          <p:cNvPr id="21" name="Rectangle 20"/>
          <p:cNvSpPr/>
          <p:nvPr/>
        </p:nvSpPr>
        <p:spPr>
          <a:xfrm>
            <a:off x="7795798" y="2011680"/>
            <a:ext cx="384725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60390" y="2011680"/>
            <a:ext cx="3518072"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h1, h2, p { }</a:t>
            </a:r>
          </a:p>
        </p:txBody>
      </p:sp>
      <p:sp>
        <p:nvSpPr>
          <p:cNvPr id="23" name="Rectangle 22"/>
          <p:cNvSpPr/>
          <p:nvPr/>
        </p:nvSpPr>
        <p:spPr>
          <a:xfrm>
            <a:off x="548640" y="2578608"/>
            <a:ext cx="286307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2578608"/>
            <a:ext cx="253389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A B  ·  A &gt; B</a:t>
            </a:r>
          </a:p>
        </p:txBody>
      </p:sp>
      <p:sp>
        <p:nvSpPr>
          <p:cNvPr id="25" name="Rectangle 24"/>
          <p:cNvSpPr/>
          <p:nvPr/>
        </p:nvSpPr>
        <p:spPr>
          <a:xfrm>
            <a:off x="3411714" y="2578608"/>
            <a:ext cx="438408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76306" y="2578608"/>
            <a:ext cx="4054899"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descendant · direct child</a:t>
            </a:r>
          </a:p>
        </p:txBody>
      </p:sp>
      <p:sp>
        <p:nvSpPr>
          <p:cNvPr id="27" name="Rectangle 26"/>
          <p:cNvSpPr/>
          <p:nvPr/>
        </p:nvSpPr>
        <p:spPr>
          <a:xfrm>
            <a:off x="7795798" y="2578608"/>
            <a:ext cx="384725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960390" y="2578608"/>
            <a:ext cx="3518072"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ul li  ·  ul &gt; li</a:t>
            </a:r>
          </a:p>
        </p:txBody>
      </p:sp>
      <p:sp>
        <p:nvSpPr>
          <p:cNvPr id="29" name="Rectangle 28"/>
          <p:cNvSpPr/>
          <p:nvPr/>
        </p:nvSpPr>
        <p:spPr>
          <a:xfrm>
            <a:off x="548640" y="3145536"/>
            <a:ext cx="286307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145536"/>
            <a:ext cx="253389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A + B  ·  A ~ B</a:t>
            </a:r>
          </a:p>
        </p:txBody>
      </p:sp>
      <p:sp>
        <p:nvSpPr>
          <p:cNvPr id="31" name="Rectangle 30"/>
          <p:cNvSpPr/>
          <p:nvPr/>
        </p:nvSpPr>
        <p:spPr>
          <a:xfrm>
            <a:off x="3411714" y="3145536"/>
            <a:ext cx="438408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576306" y="3145536"/>
            <a:ext cx="4054899"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next sibling · every later sibling</a:t>
            </a:r>
          </a:p>
        </p:txBody>
      </p:sp>
      <p:sp>
        <p:nvSpPr>
          <p:cNvPr id="33" name="Rectangle 32"/>
          <p:cNvSpPr/>
          <p:nvPr/>
        </p:nvSpPr>
        <p:spPr>
          <a:xfrm>
            <a:off x="7795798" y="3145536"/>
            <a:ext cx="384725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960390" y="3145536"/>
            <a:ext cx="3518072"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h1 + p  ·  h1 ~ p</a:t>
            </a:r>
          </a:p>
        </p:txBody>
      </p:sp>
      <p:sp>
        <p:nvSpPr>
          <p:cNvPr id="35" name="Rectangle 34"/>
          <p:cNvSpPr/>
          <p:nvPr/>
        </p:nvSpPr>
        <p:spPr>
          <a:xfrm>
            <a:off x="548640" y="3712464"/>
            <a:ext cx="286307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3712464"/>
            <a:ext cx="253389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[attr]  ·  [attr^="v"]</a:t>
            </a:r>
          </a:p>
        </p:txBody>
      </p:sp>
      <p:sp>
        <p:nvSpPr>
          <p:cNvPr id="37" name="Rectangle 36"/>
          <p:cNvSpPr/>
          <p:nvPr/>
        </p:nvSpPr>
        <p:spPr>
          <a:xfrm>
            <a:off x="3411714" y="3712464"/>
            <a:ext cx="438408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76306" y="3712464"/>
            <a:ext cx="4054899"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an attribute, or part of its value</a:t>
            </a:r>
          </a:p>
        </p:txBody>
      </p:sp>
      <p:sp>
        <p:nvSpPr>
          <p:cNvPr id="39" name="Rectangle 38"/>
          <p:cNvSpPr/>
          <p:nvPr/>
        </p:nvSpPr>
        <p:spPr>
          <a:xfrm>
            <a:off x="7795798" y="3712464"/>
            <a:ext cx="384725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60390" y="3712464"/>
            <a:ext cx="3518072"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a[href$=".pdf"] { }</a:t>
            </a:r>
          </a:p>
        </p:txBody>
      </p:sp>
      <p:sp>
        <p:nvSpPr>
          <p:cNvPr id="41" name="Rectangle 40"/>
          <p:cNvSpPr/>
          <p:nvPr/>
        </p:nvSpPr>
        <p:spPr>
          <a:xfrm>
            <a:off x="548640" y="4279392"/>
            <a:ext cx="286307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4279392"/>
            <a:ext cx="253389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:hover  ·  :nth-child(2)</a:t>
            </a:r>
          </a:p>
        </p:txBody>
      </p:sp>
      <p:sp>
        <p:nvSpPr>
          <p:cNvPr id="43" name="Rectangle 42"/>
          <p:cNvSpPr/>
          <p:nvPr/>
        </p:nvSpPr>
        <p:spPr>
          <a:xfrm>
            <a:off x="3411714" y="4279392"/>
            <a:ext cx="438408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576306" y="4279392"/>
            <a:ext cx="4054899"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by state, or by position among siblings</a:t>
            </a:r>
          </a:p>
        </p:txBody>
      </p:sp>
      <p:sp>
        <p:nvSpPr>
          <p:cNvPr id="45" name="Rectangle 44"/>
          <p:cNvSpPr/>
          <p:nvPr/>
        </p:nvSpPr>
        <p:spPr>
          <a:xfrm>
            <a:off x="7795798" y="4279392"/>
            <a:ext cx="384725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960390" y="4279392"/>
            <a:ext cx="3518072"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a:hover  ·  li:nth-child(2)</a:t>
            </a:r>
          </a:p>
        </p:txBody>
      </p:sp>
      <p:sp>
        <p:nvSpPr>
          <p:cNvPr id="47" name="Rectangle 46"/>
          <p:cNvSpPr/>
          <p:nvPr/>
        </p:nvSpPr>
        <p:spPr>
          <a:xfrm>
            <a:off x="548640" y="4846320"/>
            <a:ext cx="286307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13232" y="4846320"/>
            <a:ext cx="2533890" cy="566928"/>
          </a:xfrm>
          <a:prstGeom prst="rect">
            <a:avLst/>
          </a:prstGeom>
          <a:noFill/>
        </p:spPr>
        <p:txBody>
          <a:bodyPr wrap="square" lIns="0" tIns="0" rIns="0" bIns="0" anchor="ctr">
            <a:spAutoFit/>
          </a:bodyPr>
          <a:lstStyle/>
          <a:p>
            <a:pPr algn="l">
              <a:lnSpc>
                <a:spcPct val="110000"/>
              </a:lnSpc>
              <a:spcAft>
                <a:spcPts val="0"/>
              </a:spcAft>
            </a:pPr>
            <a:r>
              <a:rPr sz="1350" b="1" i="0">
                <a:solidFill>
                  <a:srgbClr val="1A2230"/>
                </a:solidFill>
                <a:latin typeface="Calibri"/>
                <a:ea typeface="Calibri"/>
              </a:rPr>
              <a:t>::before  ·  ::first-line</a:t>
            </a:r>
          </a:p>
        </p:txBody>
      </p:sp>
      <p:sp>
        <p:nvSpPr>
          <p:cNvPr id="49" name="Rectangle 48"/>
          <p:cNvSpPr/>
          <p:nvPr/>
        </p:nvSpPr>
        <p:spPr>
          <a:xfrm>
            <a:off x="3411714" y="4846320"/>
            <a:ext cx="438408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576306" y="4846320"/>
            <a:ext cx="4054899"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a part of an element</a:t>
            </a:r>
          </a:p>
        </p:txBody>
      </p:sp>
      <p:sp>
        <p:nvSpPr>
          <p:cNvPr id="51" name="Rectangle 50"/>
          <p:cNvSpPr/>
          <p:nvPr/>
        </p:nvSpPr>
        <p:spPr>
          <a:xfrm>
            <a:off x="7795798" y="4846320"/>
            <a:ext cx="384725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960390" y="4846320"/>
            <a:ext cx="3518072" cy="566928"/>
          </a:xfrm>
          <a:prstGeom prst="rect">
            <a:avLst/>
          </a:prstGeom>
          <a:noFill/>
        </p:spPr>
        <p:txBody>
          <a:bodyPr wrap="square" lIns="0" tIns="0" rIns="0" bIns="0" anchor="ctr">
            <a:spAutoFit/>
          </a:bodyPr>
          <a:lstStyle/>
          <a:p>
            <a:pPr algn="l">
              <a:lnSpc>
                <a:spcPct val="110000"/>
              </a:lnSpc>
              <a:spcAft>
                <a:spcPts val="0"/>
              </a:spcAft>
            </a:pPr>
            <a:r>
              <a:rPr sz="1350" b="0" i="0">
                <a:solidFill>
                  <a:srgbClr val="1A2230"/>
                </a:solidFill>
                <a:latin typeface="Calibri"/>
                <a:ea typeface="Calibri"/>
              </a:rPr>
              <a:t>p::before  ·  p::first-line</a:t>
            </a:r>
          </a:p>
        </p:txBody>
      </p:sp>
      <p:sp>
        <p:nvSpPr>
          <p:cNvPr id="53" name="Rounded Rectangle 52"/>
          <p:cNvSpPr/>
          <p:nvPr/>
        </p:nvSpPr>
        <p:spPr>
          <a:xfrm>
            <a:off x="548640" y="5596128"/>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68680" y="5687568"/>
            <a:ext cx="10454335" cy="365760"/>
          </a:xfrm>
          <a:prstGeom prst="rect">
            <a:avLst/>
          </a:prstGeom>
          <a:noFill/>
        </p:spPr>
        <p:txBody>
          <a:bodyPr wrap="square" lIns="0" tIns="0" rIns="0" bIns="0" anchor="t">
            <a:spAutoFit/>
          </a:bodyPr>
          <a:lstStyle/>
          <a:p>
            <a:pPr algn="l">
              <a:lnSpc>
                <a:spcPct val="110000"/>
              </a:lnSpc>
              <a:spcAft>
                <a:spcPts val="400"/>
              </a:spcAft>
            </a:pPr>
            <a:r>
              <a:rPr sz="1450" b="1" i="0">
                <a:solidFill>
                  <a:srgbClr val="0E3F8C"/>
                </a:solidFill>
                <a:latin typeface="Calibri"/>
                <a:ea typeface="Calibri"/>
              </a:rPr>
              <a:t>The five categories on one page — keep this list handy.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Comments &amp; Whitespace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Selectors</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Comments</a:t>
            </a:r>
            <a:br/>
            <a:r>
              <a:rPr sz="1350" b="0" i="0">
                <a:solidFill>
                  <a:srgbClr val="4A5568"/>
                </a:solidFill>
                <a:latin typeface="Calibri"/>
                <a:ea typeface="Calibri"/>
              </a:rPr>
              <a:t>/* … */ — notes the browser ignores entirely.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Explain the why</a:t>
            </a:r>
            <a:br/>
            <a:r>
              <a:rPr sz="1350" b="0" i="0">
                <a:solidFill>
                  <a:srgbClr val="4A5568"/>
                </a:solidFill>
                <a:latin typeface="Calibri"/>
                <a:ea typeface="Calibri"/>
              </a:rPr>
              <a:t>The code already says what it does.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Whitespace is free</a:t>
            </a:r>
            <a:br/>
            <a:r>
              <a:rPr sz="1350" b="0" i="0">
                <a:solidFill>
                  <a:srgbClr val="4A5568"/>
                </a:solidFill>
                <a:latin typeface="Calibri"/>
                <a:ea typeface="Calibri"/>
              </a:rPr>
              <a:t>Spaces and newlines don't change the result.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Readable = maintainable</a:t>
            </a:r>
            <a:br/>
            <a:r>
              <a:rPr sz="1350" b="0" i="0">
                <a:solidFill>
                  <a:srgbClr val="4A5568"/>
                </a:solidFill>
                <a:latin typeface="Calibri"/>
                <a:ea typeface="Calibri"/>
              </a:rPr>
              <a:t>One declaration per line is the convention.</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7F8C98"/>
                </a:solidFill>
                <a:latin typeface="Consolas"/>
                <a:ea typeface="Consolas"/>
              </a:rPr>
              <a:t>/* site-wide colours */</a:t>
            </a:r>
          </a:p>
          <a:p>
            <a:pPr>
              <a:spcAft>
                <a:spcPts val="350"/>
              </a:spcAft>
            </a:pPr>
            <a:r>
              <a:rPr sz="1300" b="0" i="0">
                <a:solidFill>
                  <a:srgbClr val="61AFEF"/>
                </a:solidFill>
                <a:latin typeface="Consolas"/>
                <a:ea typeface="Consolas"/>
              </a:rPr>
              <a:t>:root {</a:t>
            </a:r>
          </a:p>
          <a:p>
            <a:pPr>
              <a:spcAft>
                <a:spcPts val="350"/>
              </a:spcAft>
            </a:pPr>
            <a:r>
              <a:rPr sz="1300" b="0" i="0">
                <a:solidFill>
                  <a:srgbClr val="E5C07B"/>
                </a:solidFill>
                <a:latin typeface="Consolas"/>
                <a:ea typeface="Consolas"/>
              </a:rPr>
              <a:t>  --blue: #1E4FA8;</a:t>
            </a:r>
          </a:p>
          <a:p>
            <a:pPr>
              <a:spcAft>
                <a:spcPts val="350"/>
              </a:spcAft>
            </a:pPr>
            <a:r>
              <a:rPr sz="1300" b="0" i="0">
                <a:solidFill>
                  <a:srgbClr val="E5C07B"/>
                </a:solidFill>
                <a:latin typeface="Consolas"/>
                <a:ea typeface="Consolas"/>
              </a:rPr>
              <a:t>  --navy: #0E3F8C;</a:t>
            </a:r>
          </a:p>
          <a:p>
            <a:pPr>
              <a:spcAft>
                <a:spcPts val="350"/>
              </a:spcAft>
            </a:pPr>
            <a:r>
              <a:rPr sz="1300" b="0" i="0">
                <a:solidFill>
                  <a:srgbClr val="61AFEF"/>
                </a:solidFill>
                <a:latin typeface="Consolas"/>
                <a:ea typeface="Consolas"/>
              </a:rPr>
              <a:t>}</a:t>
            </a:r>
          </a:p>
          <a:p>
            <a:pPr>
              <a:spcAft>
                <a:spcPts val="350"/>
              </a:spcAft>
            </a:pPr>
            <a:endParaRPr sz="1300" b="0" i="0">
              <a:solidFill>
                <a:srgbClr val="61AFEF"/>
              </a:solidFill>
              <a:latin typeface="Consolas"/>
              <a:ea typeface="Consolas"/>
            </a:endParaRPr>
          </a:p>
          <a:p>
            <a:pPr>
              <a:spcAft>
                <a:spcPts val="350"/>
              </a:spcAft>
            </a:pPr>
            <a:r>
              <a:rPr sz="1300" b="0" i="0">
                <a:solidFill>
                  <a:srgbClr val="98C379"/>
                </a:solidFill>
                <a:latin typeface="Consolas"/>
                <a:ea typeface="Consolas"/>
              </a:rPr>
              <a:t>h1 {  /* one per line */</a:t>
            </a:r>
          </a:p>
          <a:p>
            <a:pPr>
              <a:spcAft>
                <a:spcPts val="350"/>
              </a:spcAft>
            </a:pPr>
            <a:r>
              <a:rPr sz="1300" b="0" i="0">
                <a:solidFill>
                  <a:srgbClr val="98C379"/>
                </a:solidFill>
                <a:latin typeface="Consolas"/>
                <a:ea typeface="Consolas"/>
              </a:rPr>
              <a:t>  color: var(--blue);</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editor.html?example=css-selectors/hello</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Comments explain the why, not the what — the code already says what.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143000"/>
            <a:ext cx="3840480" cy="1828800"/>
          </a:xfrm>
          <a:prstGeom prst="rect">
            <a:avLst/>
          </a:prstGeom>
          <a:noFill/>
        </p:spPr>
        <p:txBody>
          <a:bodyPr wrap="square" lIns="0" tIns="0" rIns="0" bIns="0" anchor="t">
            <a:spAutoFit/>
          </a:bodyPr>
          <a:lstStyle/>
          <a:p>
            <a:pPr algn="l">
              <a:lnSpc>
                <a:spcPct val="110000"/>
              </a:lnSpc>
              <a:spcAft>
                <a:spcPts val="400"/>
              </a:spcAft>
            </a:pPr>
            <a:r>
              <a:rPr sz="9200" b="1" i="0">
                <a:solidFill>
                  <a:srgbClr val="9DC0EE"/>
                </a:solidFill>
                <a:latin typeface="Calibri"/>
                <a:ea typeface="Calibri"/>
              </a:rPr>
              <a:t>03</a:t>
            </a:r>
          </a:p>
        </p:txBody>
      </p:sp>
      <p:sp>
        <p:nvSpPr>
          <p:cNvPr id="5" name="TextBox 4"/>
          <p:cNvSpPr txBox="1"/>
          <p:nvPr/>
        </p:nvSpPr>
        <p:spPr>
          <a:xfrm>
            <a:off x="685800" y="3063240"/>
            <a:ext cx="10607040" cy="822960"/>
          </a:xfrm>
          <a:prstGeom prst="rect">
            <a:avLst/>
          </a:prstGeom>
          <a:noFill/>
        </p:spPr>
        <p:txBody>
          <a:bodyPr wrap="square" lIns="0" tIns="0" rIns="0" bIns="0" anchor="t">
            <a:spAutoFit/>
          </a:bodyPr>
          <a:lstStyle/>
          <a:p>
            <a:pPr algn="l">
              <a:lnSpc>
                <a:spcPct val="110000"/>
              </a:lnSpc>
              <a:spcAft>
                <a:spcPts val="400"/>
              </a:spcAft>
            </a:pPr>
            <a:r>
              <a:rPr sz="3800" b="1" i="0">
                <a:solidFill>
                  <a:srgbClr val="FFFFFF"/>
                </a:solidFill>
                <a:latin typeface="Calibri"/>
                <a:ea typeface="Calibri"/>
              </a:rPr>
              <a:t>The Cascade</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4251960"/>
            <a:ext cx="10058400" cy="1645920"/>
          </a:xfrm>
          <a:prstGeom prst="rect">
            <a:avLst/>
          </a:prstGeom>
          <a:noFill/>
        </p:spPr>
        <p:txBody>
          <a:bodyPr wrap="square" lIns="0" tIns="0" r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One element, many rules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Style sources, weakest to strongest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Selector weight — and !important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What Is the Cascade?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The Cascade</a:t>
            </a:r>
          </a:p>
        </p:txBody>
      </p:sp>
      <p:sp>
        <p:nvSpPr>
          <p:cNvPr id="5" name="TextBox 4"/>
          <p:cNvSpPr txBox="1"/>
          <p:nvPr/>
        </p:nvSpPr>
        <p:spPr>
          <a:xfrm>
            <a:off x="548640" y="932688"/>
            <a:ext cx="10820095" cy="4553712"/>
          </a:xfrm>
          <a:prstGeom prst="rect">
            <a:avLst/>
          </a:prstGeom>
          <a:noFill/>
        </p:spPr>
        <p:txBody>
          <a:bodyPr wrap="square" lIns="0" tIns="0" r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One element, many rules</a:t>
            </a:r>
            <a:br/>
            <a:r>
              <a:rPr sz="1500" b="0" i="0">
                <a:solidFill>
                  <a:srgbClr val="4A5568"/>
                </a:solidFill>
                <a:latin typeface="Calibri"/>
                <a:ea typeface="Calibri"/>
              </a:rPr>
              <a:t>A single </a:t>
            </a:r>
            <a:r>
              <a:rPr sz="1500" b="0" i="0">
                <a:solidFill>
                  <a:srgbClr val="1E4FA8"/>
                </a:solidFill>
                <a:latin typeface="Consolas"/>
                <a:ea typeface="Consolas"/>
              </a:rPr>
              <a:t>&lt;p&gt;</a:t>
            </a:r>
            <a:r>
              <a:rPr sz="1500" b="0" i="0">
                <a:solidFill>
                  <a:srgbClr val="4A5568"/>
                </a:solidFill>
                <a:latin typeface="Calibri"/>
                <a:ea typeface="Calibri"/>
              </a:rPr>
              <a:t> is often matched by a tag rule, a </a:t>
            </a:r>
            <a:r>
              <a:rPr sz="1500" b="0" i="0">
                <a:solidFill>
                  <a:srgbClr val="B8860B"/>
                </a:solidFill>
                <a:latin typeface="Consolas"/>
                <a:ea typeface="Consolas"/>
              </a:rPr>
              <a:t>class</a:t>
            </a:r>
            <a:r>
              <a:rPr sz="1500" b="0" i="0">
                <a:solidFill>
                  <a:srgbClr val="4A5568"/>
                </a:solidFill>
                <a:latin typeface="Calibri"/>
                <a:ea typeface="Calibri"/>
              </a:rPr>
              <a:t> rule and an ID rule at once.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But only one can win</a:t>
            </a:r>
            <a:br/>
            <a:r>
              <a:rPr sz="1500" b="0" i="0">
                <a:solidFill>
                  <a:srgbClr val="4A5568"/>
                </a:solidFill>
                <a:latin typeface="Calibri"/>
                <a:ea typeface="Calibri"/>
              </a:rPr>
              <a:t>The browser paints one colour — it has to pick a single declaration.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Every rule carries a weight</a:t>
            </a:r>
            <a:br/>
            <a:r>
              <a:rPr sz="1500" b="0" i="0">
                <a:solidFill>
                  <a:srgbClr val="4A5568"/>
                </a:solidFill>
                <a:latin typeface="Calibri"/>
                <a:ea typeface="Calibri"/>
              </a:rPr>
              <a:t>The cascade adds their weights up, and the heaviest one wins.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Order breaks a tie</a:t>
            </a:r>
            <a:br/>
            <a:r>
              <a:rPr sz="1500" b="0" i="0">
                <a:solidFill>
                  <a:srgbClr val="4A5568"/>
                </a:solidFill>
                <a:latin typeface="Calibri"/>
                <a:ea typeface="Calibri"/>
              </a:rPr>
              <a:t>Only when two rules weigh the same does the later one win.</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Two rules, one element — which colour wins?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editor.html?example=css-cascade/cascade</a:t>
            </a:r>
          </a:p>
        </p:txBody>
      </p:sp>
      <p:sp>
        <p:nvSpPr>
          <p:cNvPr id="8" name="TextBox 7"/>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p { color: black; }     .note { color: #185fa5;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Order of Preference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The Cascade</a:t>
            </a:r>
          </a:p>
        </p:txBody>
      </p:sp>
      <p:sp>
        <p:nvSpPr>
          <p:cNvPr id="5" name="Rectangle 4"/>
          <p:cNvSpPr/>
          <p:nvPr/>
        </p:nvSpPr>
        <p:spPr>
          <a:xfrm>
            <a:off x="548640" y="932688"/>
            <a:ext cx="357588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32688"/>
            <a:ext cx="3246701" cy="512064"/>
          </a:xfrm>
          <a:prstGeom prst="rect">
            <a:avLst/>
          </a:prstGeom>
          <a:noFill/>
        </p:spPr>
        <p:txBody>
          <a:bodyPr wrap="square" lIns="0" tIns="0" rIns="0" bIns="0" anchor="ctr">
            <a:spAutoFit/>
          </a:bodyPr>
          <a:lstStyle/>
          <a:p>
            <a:pPr algn="l">
              <a:lnSpc>
                <a:spcPct val="110000"/>
              </a:lnSpc>
              <a:spcAft>
                <a:spcPts val="0"/>
              </a:spcAft>
            </a:pPr>
            <a:r>
              <a:rPr sz="1400" b="1" i="0">
                <a:solidFill>
                  <a:srgbClr val="FFFFFF"/>
                </a:solidFill>
                <a:latin typeface="Calibri"/>
                <a:ea typeface="Calibri"/>
              </a:rPr>
              <a:t>Where the style comes from</a:t>
            </a:r>
          </a:p>
        </p:txBody>
      </p:sp>
      <p:sp>
        <p:nvSpPr>
          <p:cNvPr id="7" name="Rectangle 6"/>
          <p:cNvSpPr/>
          <p:nvPr/>
        </p:nvSpPr>
        <p:spPr>
          <a:xfrm>
            <a:off x="4124525" y="932688"/>
            <a:ext cx="577643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89117" y="932688"/>
            <a:ext cx="5447247" cy="512064"/>
          </a:xfrm>
          <a:prstGeom prst="rect">
            <a:avLst/>
          </a:prstGeom>
          <a:noFill/>
        </p:spPr>
        <p:txBody>
          <a:bodyPr wrap="square" lIns="0" tIns="0" rIns="0" bIns="0" anchor="ctr">
            <a:spAutoFit/>
          </a:bodyPr>
          <a:lstStyle/>
          <a:p>
            <a:pPr algn="l">
              <a:lnSpc>
                <a:spcPct val="110000"/>
              </a:lnSpc>
              <a:spcAft>
                <a:spcPts val="0"/>
              </a:spcAft>
            </a:pPr>
            <a:r>
              <a:rPr sz="1400" b="1" i="0">
                <a:solidFill>
                  <a:srgbClr val="FFFFFF"/>
                </a:solidFill>
                <a:latin typeface="Calibri"/>
                <a:ea typeface="Calibri"/>
              </a:rPr>
              <a:t>In practice</a:t>
            </a:r>
          </a:p>
        </p:txBody>
      </p:sp>
      <p:sp>
        <p:nvSpPr>
          <p:cNvPr id="9" name="Rectangle 8"/>
          <p:cNvSpPr/>
          <p:nvPr/>
        </p:nvSpPr>
        <p:spPr>
          <a:xfrm>
            <a:off x="9900956" y="932688"/>
            <a:ext cx="174209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65548" y="932688"/>
            <a:ext cx="1412914" cy="512064"/>
          </a:xfrm>
          <a:prstGeom prst="rect">
            <a:avLst/>
          </a:prstGeom>
          <a:noFill/>
        </p:spPr>
        <p:txBody>
          <a:bodyPr wrap="square" lIns="0" tIns="0" rIns="0" bIns="0" anchor="ctr">
            <a:spAutoFit/>
          </a:bodyPr>
          <a:lstStyle/>
          <a:p>
            <a:pPr algn="l">
              <a:lnSpc>
                <a:spcPct val="110000"/>
              </a:lnSpc>
              <a:spcAft>
                <a:spcPts val="0"/>
              </a:spcAft>
            </a:pPr>
            <a:r>
              <a:rPr sz="1400" b="1" i="0">
                <a:solidFill>
                  <a:srgbClr val="FFFFFF"/>
                </a:solidFill>
                <a:latin typeface="Calibri"/>
                <a:ea typeface="Calibri"/>
              </a:rPr>
              <a:t>Weight</a:t>
            </a:r>
          </a:p>
        </p:txBody>
      </p:sp>
      <p:sp>
        <p:nvSpPr>
          <p:cNvPr id="11" name="Rectangle 10"/>
          <p:cNvSpPr/>
          <p:nvPr/>
        </p:nvSpPr>
        <p:spPr>
          <a:xfrm>
            <a:off x="548640" y="1444752"/>
            <a:ext cx="357588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444752"/>
            <a:ext cx="3246701" cy="566928"/>
          </a:xfrm>
          <a:prstGeom prst="rect">
            <a:avLst/>
          </a:prstGeom>
          <a:noFill/>
        </p:spPr>
        <p:txBody>
          <a:bodyPr wrap="square" lIns="0" tIns="0" rIns="0" bIns="0" anchor="ctr">
            <a:spAutoFit/>
          </a:bodyPr>
          <a:lstStyle/>
          <a:p>
            <a:pPr algn="l">
              <a:lnSpc>
                <a:spcPct val="110000"/>
              </a:lnSpc>
              <a:spcAft>
                <a:spcPts val="0"/>
              </a:spcAft>
            </a:pPr>
            <a:r>
              <a:rPr sz="1400" b="1" i="0">
                <a:solidFill>
                  <a:srgbClr val="1A2230"/>
                </a:solidFill>
                <a:latin typeface="Calibri"/>
                <a:ea typeface="Calibri"/>
              </a:rPr>
              <a:t>Browser default</a:t>
            </a:r>
          </a:p>
        </p:txBody>
      </p:sp>
      <p:sp>
        <p:nvSpPr>
          <p:cNvPr id="13" name="Rectangle 12"/>
          <p:cNvSpPr/>
          <p:nvPr/>
        </p:nvSpPr>
        <p:spPr>
          <a:xfrm>
            <a:off x="4124525" y="1444752"/>
            <a:ext cx="577643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89117" y="1444752"/>
            <a:ext cx="5447247"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No CSS at all — &lt;h1&gt; is still big and bold</a:t>
            </a:r>
          </a:p>
        </p:txBody>
      </p:sp>
      <p:sp>
        <p:nvSpPr>
          <p:cNvPr id="15" name="Rectangle 14"/>
          <p:cNvSpPr/>
          <p:nvPr/>
        </p:nvSpPr>
        <p:spPr>
          <a:xfrm>
            <a:off x="9900956" y="1444752"/>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65548" y="1444752"/>
            <a:ext cx="1412914"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weakest</a:t>
            </a:r>
          </a:p>
        </p:txBody>
      </p:sp>
      <p:sp>
        <p:nvSpPr>
          <p:cNvPr id="17" name="Rectangle 16"/>
          <p:cNvSpPr/>
          <p:nvPr/>
        </p:nvSpPr>
        <p:spPr>
          <a:xfrm>
            <a:off x="548640" y="2011680"/>
            <a:ext cx="357588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011680"/>
            <a:ext cx="3246701" cy="566928"/>
          </a:xfrm>
          <a:prstGeom prst="rect">
            <a:avLst/>
          </a:prstGeom>
          <a:noFill/>
        </p:spPr>
        <p:txBody>
          <a:bodyPr wrap="square" lIns="0" tIns="0" rIns="0" bIns="0" anchor="ctr">
            <a:spAutoFit/>
          </a:bodyPr>
          <a:lstStyle/>
          <a:p>
            <a:pPr algn="l">
              <a:lnSpc>
                <a:spcPct val="110000"/>
              </a:lnSpc>
              <a:spcAft>
                <a:spcPts val="0"/>
              </a:spcAft>
            </a:pPr>
            <a:r>
              <a:rPr sz="1400" b="1" i="0">
                <a:solidFill>
                  <a:srgbClr val="1A2230"/>
                </a:solidFill>
                <a:latin typeface="Calibri"/>
                <a:ea typeface="Calibri"/>
              </a:rPr>
              <a:t>User stylesheet</a:t>
            </a:r>
          </a:p>
        </p:txBody>
      </p:sp>
      <p:sp>
        <p:nvSpPr>
          <p:cNvPr id="19" name="Rectangle 18"/>
          <p:cNvSpPr/>
          <p:nvPr/>
        </p:nvSpPr>
        <p:spPr>
          <a:xfrm>
            <a:off x="4124525" y="2011680"/>
            <a:ext cx="577643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89117" y="2011680"/>
            <a:ext cx="5447247"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Reader-installed, e.g. a larger default size</a:t>
            </a:r>
          </a:p>
        </p:txBody>
      </p:sp>
      <p:sp>
        <p:nvSpPr>
          <p:cNvPr id="21" name="Rectangle 20"/>
          <p:cNvSpPr/>
          <p:nvPr/>
        </p:nvSpPr>
        <p:spPr>
          <a:xfrm>
            <a:off x="9900956" y="2011680"/>
            <a:ext cx="174209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65548" y="2011680"/>
            <a:ext cx="1412914"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a:t>
            </a:r>
          </a:p>
        </p:txBody>
      </p:sp>
      <p:sp>
        <p:nvSpPr>
          <p:cNvPr id="23" name="Rectangle 22"/>
          <p:cNvSpPr/>
          <p:nvPr/>
        </p:nvSpPr>
        <p:spPr>
          <a:xfrm>
            <a:off x="548640" y="2578608"/>
            <a:ext cx="357588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2578608"/>
            <a:ext cx="3246701" cy="566928"/>
          </a:xfrm>
          <a:prstGeom prst="rect">
            <a:avLst/>
          </a:prstGeom>
          <a:noFill/>
        </p:spPr>
        <p:txBody>
          <a:bodyPr wrap="square" lIns="0" tIns="0" rIns="0" bIns="0" anchor="ctr">
            <a:spAutoFit/>
          </a:bodyPr>
          <a:lstStyle/>
          <a:p>
            <a:pPr algn="l">
              <a:lnSpc>
                <a:spcPct val="110000"/>
              </a:lnSpc>
              <a:spcAft>
                <a:spcPts val="0"/>
              </a:spcAft>
            </a:pPr>
            <a:r>
              <a:rPr sz="1400" b="1" i="0">
                <a:solidFill>
                  <a:srgbClr val="1A2230"/>
                </a:solidFill>
                <a:latin typeface="Calibri"/>
                <a:ea typeface="Calibri"/>
              </a:rPr>
              <a:t>Our external file</a:t>
            </a:r>
          </a:p>
        </p:txBody>
      </p:sp>
      <p:sp>
        <p:nvSpPr>
          <p:cNvPr id="25" name="Rectangle 24"/>
          <p:cNvSpPr/>
          <p:nvPr/>
        </p:nvSpPr>
        <p:spPr>
          <a:xfrm>
            <a:off x="4124525" y="2578608"/>
            <a:ext cx="577643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89117" y="2578608"/>
            <a:ext cx="5447247"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style.css, pulled in with &lt;link&gt;</a:t>
            </a:r>
          </a:p>
        </p:txBody>
      </p:sp>
      <p:sp>
        <p:nvSpPr>
          <p:cNvPr id="27" name="Rectangle 26"/>
          <p:cNvSpPr/>
          <p:nvPr/>
        </p:nvSpPr>
        <p:spPr>
          <a:xfrm>
            <a:off x="9900956" y="2578608"/>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65548" y="2578608"/>
            <a:ext cx="1412914"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a:t>
            </a:r>
          </a:p>
        </p:txBody>
      </p:sp>
      <p:sp>
        <p:nvSpPr>
          <p:cNvPr id="29" name="Rectangle 28"/>
          <p:cNvSpPr/>
          <p:nvPr/>
        </p:nvSpPr>
        <p:spPr>
          <a:xfrm>
            <a:off x="548640" y="3145536"/>
            <a:ext cx="357588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145536"/>
            <a:ext cx="3246701" cy="566928"/>
          </a:xfrm>
          <a:prstGeom prst="rect">
            <a:avLst/>
          </a:prstGeom>
          <a:noFill/>
        </p:spPr>
        <p:txBody>
          <a:bodyPr wrap="square" lIns="0" tIns="0" rIns="0" bIns="0" anchor="ctr">
            <a:spAutoFit/>
          </a:bodyPr>
          <a:lstStyle/>
          <a:p>
            <a:pPr algn="l">
              <a:lnSpc>
                <a:spcPct val="110000"/>
              </a:lnSpc>
              <a:spcAft>
                <a:spcPts val="0"/>
              </a:spcAft>
            </a:pPr>
            <a:r>
              <a:rPr sz="1400" b="1" i="0">
                <a:solidFill>
                  <a:srgbClr val="1A2230"/>
                </a:solidFill>
                <a:latin typeface="Calibri"/>
                <a:ea typeface="Calibri"/>
              </a:rPr>
              <a:t>Our &lt;style&gt; block</a:t>
            </a:r>
          </a:p>
        </p:txBody>
      </p:sp>
      <p:sp>
        <p:nvSpPr>
          <p:cNvPr id="31" name="Rectangle 30"/>
          <p:cNvSpPr/>
          <p:nvPr/>
        </p:nvSpPr>
        <p:spPr>
          <a:xfrm>
            <a:off x="4124525" y="3145536"/>
            <a:ext cx="577643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289117" y="3145536"/>
            <a:ext cx="5447247"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Embedded in the page's &lt;head&gt;</a:t>
            </a:r>
          </a:p>
        </p:txBody>
      </p:sp>
      <p:sp>
        <p:nvSpPr>
          <p:cNvPr id="33" name="Rectangle 32"/>
          <p:cNvSpPr/>
          <p:nvPr/>
        </p:nvSpPr>
        <p:spPr>
          <a:xfrm>
            <a:off x="9900956" y="3145536"/>
            <a:ext cx="174209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65548" y="3145536"/>
            <a:ext cx="1412914"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a:t>
            </a:r>
          </a:p>
        </p:txBody>
      </p:sp>
      <p:sp>
        <p:nvSpPr>
          <p:cNvPr id="35" name="Rectangle 34"/>
          <p:cNvSpPr/>
          <p:nvPr/>
        </p:nvSpPr>
        <p:spPr>
          <a:xfrm>
            <a:off x="548640" y="3712464"/>
            <a:ext cx="357588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3712464"/>
            <a:ext cx="3246701" cy="566928"/>
          </a:xfrm>
          <a:prstGeom prst="rect">
            <a:avLst/>
          </a:prstGeom>
          <a:noFill/>
        </p:spPr>
        <p:txBody>
          <a:bodyPr wrap="square" lIns="0" tIns="0" rIns="0" bIns="0" anchor="ctr">
            <a:spAutoFit/>
          </a:bodyPr>
          <a:lstStyle/>
          <a:p>
            <a:pPr algn="l">
              <a:lnSpc>
                <a:spcPct val="110000"/>
              </a:lnSpc>
              <a:spcAft>
                <a:spcPts val="0"/>
              </a:spcAft>
            </a:pPr>
            <a:r>
              <a:rPr sz="1400" b="1" i="0">
                <a:solidFill>
                  <a:srgbClr val="1A2230"/>
                </a:solidFill>
                <a:latin typeface="Calibri"/>
                <a:ea typeface="Calibri"/>
              </a:rPr>
              <a:t>Our style="…"</a:t>
            </a:r>
          </a:p>
        </p:txBody>
      </p:sp>
      <p:sp>
        <p:nvSpPr>
          <p:cNvPr id="37" name="Rectangle 36"/>
          <p:cNvSpPr/>
          <p:nvPr/>
        </p:nvSpPr>
        <p:spPr>
          <a:xfrm>
            <a:off x="4124525" y="3712464"/>
            <a:ext cx="577643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289117" y="3712464"/>
            <a:ext cx="5447247"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Inline, on the element itself</a:t>
            </a:r>
          </a:p>
        </p:txBody>
      </p:sp>
      <p:sp>
        <p:nvSpPr>
          <p:cNvPr id="39" name="Rectangle 38"/>
          <p:cNvSpPr/>
          <p:nvPr/>
        </p:nvSpPr>
        <p:spPr>
          <a:xfrm>
            <a:off x="9900956" y="3712464"/>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065548" y="3712464"/>
            <a:ext cx="1412914" cy="566928"/>
          </a:xfrm>
          <a:prstGeom prst="rect">
            <a:avLst/>
          </a:prstGeom>
          <a:noFill/>
        </p:spPr>
        <p:txBody>
          <a:bodyPr wrap="square" lIns="0" tIns="0" rIns="0" bIns="0" anchor="ctr">
            <a:spAutoFit/>
          </a:bodyPr>
          <a:lstStyle/>
          <a:p>
            <a:pPr algn="l">
              <a:lnSpc>
                <a:spcPct val="110000"/>
              </a:lnSpc>
              <a:spcAft>
                <a:spcPts val="0"/>
              </a:spcAft>
            </a:pPr>
            <a:r>
              <a:rPr sz="1400" b="0" i="0">
                <a:solidFill>
                  <a:srgbClr val="1A2230"/>
                </a:solidFill>
                <a:latin typeface="Calibri"/>
                <a:ea typeface="Calibri"/>
              </a:rPr>
              <a:t>strongest</a:t>
            </a:r>
          </a:p>
        </p:txBody>
      </p:sp>
      <p:sp>
        <p:nvSpPr>
          <p:cNvPr id="41" name="Rounded Rectangle 40"/>
          <p:cNvSpPr/>
          <p:nvPr/>
        </p:nvSpPr>
        <p:spPr>
          <a:xfrm>
            <a:off x="548640" y="4462272"/>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80" y="4553712"/>
            <a:ext cx="10454335" cy="365760"/>
          </a:xfrm>
          <a:prstGeom prst="rect">
            <a:avLst/>
          </a:prstGeom>
          <a:noFill/>
        </p:spPr>
        <p:txBody>
          <a:bodyPr wrap="square" lIns="0" tIns="0" rIns="0" bIns="0" anchor="t">
            <a:spAutoFit/>
          </a:bodyPr>
          <a:lstStyle/>
          <a:p>
            <a:pPr algn="l">
              <a:lnSpc>
                <a:spcPct val="110000"/>
              </a:lnSpc>
              <a:spcAft>
                <a:spcPts val="400"/>
              </a:spcAft>
            </a:pPr>
            <a:r>
              <a:rPr sz="1450" b="1" i="0">
                <a:solidFill>
                  <a:srgbClr val="0E3F8C"/>
                </a:solidFill>
                <a:latin typeface="Calibri"/>
                <a:ea typeface="Calibri"/>
              </a:rPr>
              <a:t>The further down the list, the more it wins — the browser's own style is the weakest of all.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Rule 1: File → Embedded → Inline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The Cascade</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External file</a:t>
            </a:r>
            <a:br/>
            <a:r>
              <a:rPr sz="1350" b="0" i="0">
                <a:solidFill>
                  <a:srgbClr val="4A5568"/>
                </a:solidFill>
                <a:latin typeface="Calibri"/>
                <a:ea typeface="Calibri"/>
              </a:rPr>
              <a:t>The .css file linked into the </a:t>
            </a:r>
            <a:r>
              <a:rPr sz="1350" b="0" i="0">
                <a:solidFill>
                  <a:srgbClr val="1E4FA8"/>
                </a:solidFill>
                <a:latin typeface="Consolas"/>
                <a:ea typeface="Consolas"/>
              </a:rPr>
              <a:t>&lt;head&gt;</a:t>
            </a:r>
            <a:r>
              <a:rPr sz="1350" b="0" i="0">
                <a:solidFill>
                  <a:srgbClr val="4A5568"/>
                </a:solidFill>
                <a:latin typeface="Calibri"/>
                <a:ea typeface="Calibri"/>
              </a:rPr>
              <a:t> — easiest to reuse.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Embedded </a:t>
            </a:r>
            <a:r>
              <a:rPr sz="1550" b="1" i="0">
                <a:solidFill>
                  <a:srgbClr val="1E4FA8"/>
                </a:solidFill>
                <a:latin typeface="Consolas"/>
                <a:ea typeface="Consolas"/>
              </a:rPr>
              <a:t>&lt;style&gt;</a:t>
            </a:r>
            <a:br/>
            <a:r>
              <a:rPr sz="1350" b="0" i="0">
                <a:solidFill>
                  <a:srgbClr val="4A5568"/>
                </a:solidFill>
                <a:latin typeface="Calibri"/>
                <a:ea typeface="Calibri"/>
              </a:rPr>
              <a:t>A block in the head, written after that link.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Inline attribute</a:t>
            </a:r>
            <a:br/>
            <a:r>
              <a:rPr sz="1350" b="0" i="0">
                <a:solidFill>
                  <a:srgbClr val="4A5568"/>
                </a:solidFill>
                <a:latin typeface="Calibri"/>
                <a:ea typeface="Calibri"/>
              </a:rPr>
              <a:t>On the element itself — nothing beats this one.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declaration</a:t>
            </a:r>
            <a:br/>
            <a:r>
              <a:rPr sz="1350" b="0" i="0">
                <a:solidFill>
                  <a:srgbClr val="4A5568"/>
                </a:solidFill>
                <a:latin typeface="Calibri"/>
                <a:ea typeface="Calibri"/>
              </a:rPr>
              <a:t>All three set the same colour; the closest one gets it.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7F8C98"/>
                </a:solidFill>
                <a:latin typeface="Consolas"/>
                <a:ea typeface="Consolas"/>
              </a:rPr>
              <a:t>/* style.css — linked from the head */</a:t>
            </a:r>
          </a:p>
          <a:p>
            <a:pPr>
              <a:spcAft>
                <a:spcPts val="350"/>
              </a:spcAft>
            </a:pPr>
            <a:r>
              <a:rPr sz="1300" b="0" i="0">
                <a:solidFill>
                  <a:srgbClr val="98C379"/>
                </a:solidFill>
                <a:latin typeface="Consolas"/>
                <a:ea typeface="Consolas"/>
              </a:rPr>
              <a:t>h1 { color: #2e7d32; }</a:t>
            </a:r>
          </a:p>
          <a:p>
            <a:pPr>
              <a:spcAft>
                <a:spcPts val="350"/>
              </a:spcAft>
            </a:pPr>
            <a:endParaRPr sz="1300" b="0" i="0">
              <a:solidFill>
                <a:srgbClr val="98C379"/>
              </a:solidFill>
              <a:latin typeface="Consolas"/>
              <a:ea typeface="Consolas"/>
            </a:endParaRPr>
          </a:p>
          <a:p>
            <a:pPr>
              <a:spcAft>
                <a:spcPts val="350"/>
              </a:spcAft>
            </a:pPr>
            <a:r>
              <a:rPr sz="1300" b="0" i="0">
                <a:solidFill>
                  <a:srgbClr val="7F8C98"/>
                </a:solidFill>
                <a:latin typeface="Consolas"/>
                <a:ea typeface="Consolas"/>
              </a:rPr>
              <a:t>/* &lt;style&gt; — later in the head */</a:t>
            </a:r>
          </a:p>
          <a:p>
            <a:pPr>
              <a:spcAft>
                <a:spcPts val="350"/>
              </a:spcAft>
            </a:pPr>
            <a:r>
              <a:rPr sz="1300" b="0" i="0">
                <a:solidFill>
                  <a:srgbClr val="98C379"/>
                </a:solidFill>
                <a:latin typeface="Consolas"/>
                <a:ea typeface="Consolas"/>
              </a:rPr>
              <a:t>h1 { color: #185fa5; }</a:t>
            </a:r>
          </a:p>
          <a:p>
            <a:pPr>
              <a:spcAft>
                <a:spcPts val="350"/>
              </a:spcAft>
            </a:pPr>
            <a:endParaRPr sz="1300" b="0" i="0">
              <a:solidFill>
                <a:srgbClr val="98C379"/>
              </a:solidFill>
              <a:latin typeface="Consolas"/>
              <a:ea typeface="Consolas"/>
            </a:endParaRPr>
          </a:p>
          <a:p>
            <a:pPr>
              <a:spcAft>
                <a:spcPts val="350"/>
              </a:spcAft>
            </a:pPr>
            <a:r>
              <a:rPr sz="1300" b="0" i="0">
                <a:solidFill>
                  <a:srgbClr val="61AFEF"/>
                </a:solidFill>
                <a:latin typeface="Consolas"/>
                <a:ea typeface="Consolas"/>
              </a:rPr>
              <a:t>&lt;h1 style="color: #d9534f;"&gt;Hello&lt;/h1&gt;</a:t>
            </a:r>
          </a:p>
          <a:p>
            <a:pPr>
              <a:spcAft>
                <a:spcPts val="350"/>
              </a:spcAft>
            </a:pPr>
            <a:endParaRPr sz="1300" b="0" i="0">
              <a:solidFill>
                <a:srgbClr val="61AFEF"/>
              </a:solidFill>
              <a:latin typeface="Consolas"/>
              <a:ea typeface="Consolas"/>
            </a:endParaRPr>
          </a:p>
          <a:p>
            <a:pPr>
              <a:spcAft>
                <a:spcPts val="350"/>
              </a:spcAft>
            </a:pPr>
            <a:r>
              <a:rPr sz="1300" b="0" i="0">
                <a:solidFill>
                  <a:srgbClr val="7F8C98"/>
                </a:solidFill>
                <a:latin typeface="Consolas"/>
                <a:ea typeface="Consolas"/>
              </a:rPr>
              <a:t>&lt;!-- renders red: the inline style wins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editor.html?example=css-cascade/placement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Closer to the element, stronger: inline beats embedded, and both beat the linked file.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Rule 2: tag → class → ID</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The Cascade</a:t>
            </a:r>
          </a:p>
        </p:txBody>
      </p:sp>
      <p:sp>
        <p:nvSpPr>
          <p:cNvPr id="5" name="TextBox 4"/>
          <p:cNvSpPr txBox="1"/>
          <p:nvPr/>
        </p:nvSpPr>
        <p:spPr>
          <a:xfrm>
            <a:off x="548640" y="896112"/>
            <a:ext cx="11094415" cy="292608"/>
          </a:xfrm>
          <a:prstGeom prst="rect">
            <a:avLst/>
          </a:prstGeom>
          <a:noFill/>
        </p:spPr>
        <p:txBody>
          <a:bodyPr wrap="square" lIns="0" tIns="0" rIns="0" bIns="0" anchor="t">
            <a:spAutoFit/>
          </a:bodyPr>
          <a:lstStyle/>
          <a:p>
            <a:pPr algn="l">
              <a:lnSpc>
                <a:spcPct val="110000"/>
              </a:lnSpc>
              <a:spcAft>
                <a:spcPts val="400"/>
              </a:spcAft>
            </a:pPr>
            <a:r>
              <a:rPr sz="1300" b="0" i="0">
                <a:solidFill>
                  <a:srgbClr val="4A5568"/>
                </a:solidFill>
                <a:latin typeface="Calibri"/>
                <a:ea typeface="Calibri"/>
              </a:rPr>
              <a:t>Two questions decide it — how heavy is each rule, and if two rules weigh the same, which came last?</a:t>
            </a:r>
          </a:p>
        </p:txBody>
      </p:sp>
      <p:sp>
        <p:nvSpPr>
          <p:cNvPr id="6" name="TextBox 5"/>
          <p:cNvSpPr txBox="1"/>
          <p:nvPr/>
        </p:nvSpPr>
        <p:spPr>
          <a:xfrm>
            <a:off x="548640" y="1280160"/>
            <a:ext cx="5364327" cy="310896"/>
          </a:xfrm>
          <a:prstGeom prst="rect">
            <a:avLst/>
          </a:prstGeom>
          <a:noFill/>
        </p:spPr>
        <p:txBody>
          <a:bodyPr wrap="square" lIns="0" tIns="0" rIns="0" bIns="0" anchor="t">
            <a:spAutoFit/>
          </a:bodyPr>
          <a:lstStyle/>
          <a:p>
            <a:pPr algn="l">
              <a:lnSpc>
                <a:spcPct val="110000"/>
              </a:lnSpc>
              <a:spcAft>
                <a:spcPts val="400"/>
              </a:spcAft>
            </a:pPr>
            <a:r>
              <a:rPr sz="1700" b="1" i="0">
                <a:solidFill>
                  <a:srgbClr val="0E3F8C"/>
                </a:solidFill>
                <a:latin typeface="Calibri"/>
                <a:ea typeface="Calibri"/>
              </a:rPr>
              <a:t>Different weight</a:t>
            </a:r>
          </a:p>
        </p:txBody>
      </p:sp>
      <p:sp>
        <p:nvSpPr>
          <p:cNvPr id="7" name="TextBox 6"/>
          <p:cNvSpPr txBox="1"/>
          <p:nvPr/>
        </p:nvSpPr>
        <p:spPr>
          <a:xfrm>
            <a:off x="548640" y="1591056"/>
            <a:ext cx="5364327" cy="274320"/>
          </a:xfrm>
          <a:prstGeom prst="rect">
            <a:avLst/>
          </a:prstGeom>
          <a:noFill/>
        </p:spPr>
        <p:txBody>
          <a:bodyPr wrap="square" lIns="0" tIns="0" rIns="0" bIns="0" anchor="t">
            <a:spAutoFit/>
          </a:bodyPr>
          <a:lstStyle/>
          <a:p>
            <a:pPr algn="l">
              <a:lnSpc>
                <a:spcPct val="100000"/>
              </a:lnSpc>
              <a:spcAft>
                <a:spcPts val="400"/>
              </a:spcAft>
            </a:pPr>
            <a:r>
              <a:rPr sz="1050" b="0" i="0">
                <a:solidFill>
                  <a:srgbClr val="4A5568"/>
                </a:solidFill>
                <a:latin typeface="Calibri"/>
                <a:ea typeface="Calibri"/>
              </a:rPr>
              <a:t>the stronger selector wins</a:t>
            </a:r>
          </a:p>
        </p:txBody>
      </p:sp>
      <p:sp>
        <p:nvSpPr>
          <p:cNvPr id="8" name="Rounded Rectangle 7"/>
          <p:cNvSpPr/>
          <p:nvPr/>
        </p:nvSpPr>
        <p:spPr>
          <a:xfrm>
            <a:off x="548640" y="1901952"/>
            <a:ext cx="5364327" cy="265176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1901952"/>
            <a:ext cx="4888839" cy="2651760"/>
          </a:xfrm>
          <a:prstGeom prst="rect">
            <a:avLst/>
          </a:prstGeom>
          <a:noFill/>
        </p:spPr>
        <p:txBody>
          <a:bodyPr wrap="none" lIns="0" tIns="0" rIns="0" bIns="0" anchor="ctr">
            <a:spAutoFit/>
          </a:bodyPr>
          <a:lstStyle/>
          <a:p>
            <a:pPr algn="l">
              <a:lnSpc>
                <a:spcPct val="110000"/>
              </a:lnSpc>
              <a:spcAft>
                <a:spcPts val="450"/>
              </a:spcAft>
            </a:pPr>
            <a:r>
              <a:rPr sz="1300" b="0" i="0">
                <a:solidFill>
                  <a:srgbClr val="98C379"/>
                </a:solidFill>
                <a:latin typeface="Consolas"/>
                <a:ea typeface="Consolas"/>
              </a:rPr>
              <a:t>p      { color: black; }     /* (0,0,1) */</a:t>
            </a:r>
          </a:p>
          <a:p>
            <a:pPr algn="l">
              <a:lnSpc>
                <a:spcPct val="110000"/>
              </a:lnSpc>
              <a:spcAft>
                <a:spcPts val="450"/>
              </a:spcAft>
            </a:pPr>
            <a:r>
              <a:rPr sz="1300" b="0" i="0">
                <a:solidFill>
                  <a:srgbClr val="98C379"/>
                </a:solidFill>
                <a:latin typeface="Consolas"/>
                <a:ea typeface="Consolas"/>
              </a:rPr>
              <a:t>.note  { color: #185fa5; }   /* (0,1,0) */</a:t>
            </a:r>
          </a:p>
          <a:p>
            <a:pPr algn="l">
              <a:lnSpc>
                <a:spcPct val="110000"/>
              </a:lnSpc>
              <a:spcAft>
                <a:spcPts val="450"/>
              </a:spcAft>
            </a:pPr>
            <a:r>
              <a:rPr sz="1300" b="0" i="0">
                <a:solidFill>
                  <a:srgbClr val="E5C07B"/>
                </a:solidFill>
                <a:latin typeface="Consolas"/>
                <a:ea typeface="Consolas"/>
              </a:rPr>
              <a:t>#intro { color: #d9534f; }   /* (1,0,0) */</a:t>
            </a:r>
          </a:p>
          <a:p>
            <a:pPr algn="l">
              <a:lnSpc>
                <a:spcPct val="110000"/>
              </a:lnSpc>
              <a:spcAft>
                <a:spcPts val="450"/>
              </a:spcAft>
            </a:pPr>
            <a:endParaRPr sz="1300" b="0" i="0">
              <a:solidFill>
                <a:srgbClr val="E5C07B"/>
              </a:solidFill>
              <a:latin typeface="Consolas"/>
              <a:ea typeface="Consolas"/>
            </a:endParaRPr>
          </a:p>
          <a:p>
            <a:pPr algn="l">
              <a:lnSpc>
                <a:spcPct val="110000"/>
              </a:lnSpc>
              <a:spcAft>
                <a:spcPts val="450"/>
              </a:spcAft>
            </a:pPr>
            <a:r>
              <a:rPr sz="1300" b="0" i="0">
                <a:solidFill>
                  <a:srgbClr val="61AFEF"/>
                </a:solidFill>
                <a:latin typeface="Consolas"/>
                <a:ea typeface="Consolas"/>
              </a:rPr>
              <a:t>&lt;p class="note" id="intro"&gt;Hello&lt;/p&gt;</a:t>
            </a:r>
          </a:p>
          <a:p>
            <a:pPr algn="l">
              <a:lnSpc>
                <a:spcPct val="110000"/>
              </a:lnSpc>
              <a:spcAft>
                <a:spcPts val="450"/>
              </a:spcAft>
            </a:pPr>
            <a:r>
              <a:rPr sz="1300" b="0" i="0">
                <a:solidFill>
                  <a:srgbClr val="7F8C98"/>
                </a:solidFill>
                <a:latin typeface="Consolas"/>
                <a:ea typeface="Consolas"/>
              </a:rPr>
              <a:t>&lt;!-- renders red --&gt;</a:t>
            </a:r>
          </a:p>
        </p:txBody>
      </p:sp>
      <p:sp>
        <p:nvSpPr>
          <p:cNvPr id="10" name="Rounded Rectangle 9"/>
          <p:cNvSpPr/>
          <p:nvPr/>
        </p:nvSpPr>
        <p:spPr>
          <a:xfrm>
            <a:off x="548640" y="4700016"/>
            <a:ext cx="5364327" cy="54864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68096" y="4828032"/>
            <a:ext cx="292608" cy="292608"/>
          </a:xfrm>
          <a:prstGeom prst="roundRect">
            <a:avLst>
              <a:gd name="adj" fmla="val 5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19" y="4700016"/>
            <a:ext cx="4504791" cy="548640"/>
          </a:xfrm>
          <a:prstGeom prst="rect">
            <a:avLst/>
          </a:prstGeom>
          <a:noFill/>
        </p:spPr>
        <p:txBody>
          <a:bodyPr wrap="square" lIns="0" tIns="0" rIns="0" bIns="0" anchor="ctr">
            <a:spAutoFit/>
          </a:bodyPr>
          <a:lstStyle/>
          <a:p>
            <a:pPr algn="l">
              <a:lnSpc>
                <a:spcPct val="105000"/>
              </a:lnSpc>
              <a:spcAft>
                <a:spcPts val="400"/>
              </a:spcAft>
            </a:pPr>
            <a:r>
              <a:rPr sz="1250" b="1" i="0">
                <a:solidFill>
                  <a:srgbClr val="0E3F8C"/>
                </a:solidFill>
                <a:latin typeface="Calibri"/>
                <a:ea typeface="Calibri"/>
              </a:rPr>
              <a:t>red — the ID rule wins</a:t>
            </a:r>
          </a:p>
        </p:txBody>
      </p:sp>
      <p:sp>
        <p:nvSpPr>
          <p:cNvPr id="13" name="TextBox 12"/>
          <p:cNvSpPr txBox="1"/>
          <p:nvPr/>
        </p:nvSpPr>
        <p:spPr>
          <a:xfrm>
            <a:off x="548640" y="5376672"/>
            <a:ext cx="5364327" cy="329184"/>
          </a:xfrm>
          <a:prstGeom prst="rect">
            <a:avLst/>
          </a:prstGeom>
          <a:noFill/>
        </p:spPr>
        <p:txBody>
          <a:bodyPr wrap="square" lIns="0" tIns="0" rIns="0" bIns="0" anchor="t">
            <a:spAutoFit/>
          </a:bodyPr>
          <a:lstStyle/>
          <a:p>
            <a:pPr algn="l">
              <a:lnSpc>
                <a:spcPct val="110000"/>
              </a:lnSpc>
              <a:spcAft>
                <a:spcPts val="400"/>
              </a:spcAft>
            </a:pPr>
            <a:r>
              <a:rPr sz="1100" b="0" i="0">
                <a:solidFill>
                  <a:srgbClr val="4A5568"/>
                </a:solidFill>
                <a:latin typeface="Calibri"/>
                <a:ea typeface="Calibri"/>
              </a:rPr>
              <a:t>Count the pieces: 1 ID (100) beats 1 class (10) beats 1 tag (1).</a:t>
            </a:r>
          </a:p>
        </p:txBody>
      </p:sp>
      <p:sp>
        <p:nvSpPr>
          <p:cNvPr id="14" name="TextBox 13"/>
          <p:cNvSpPr txBox="1"/>
          <p:nvPr/>
        </p:nvSpPr>
        <p:spPr>
          <a:xfrm>
            <a:off x="6278727" y="1280160"/>
            <a:ext cx="5364327" cy="310896"/>
          </a:xfrm>
          <a:prstGeom prst="rect">
            <a:avLst/>
          </a:prstGeom>
          <a:noFill/>
        </p:spPr>
        <p:txBody>
          <a:bodyPr wrap="square" lIns="0" tIns="0" rIns="0" bIns="0" anchor="t">
            <a:spAutoFit/>
          </a:bodyPr>
          <a:lstStyle/>
          <a:p>
            <a:pPr algn="l">
              <a:lnSpc>
                <a:spcPct val="110000"/>
              </a:lnSpc>
              <a:spcAft>
                <a:spcPts val="400"/>
              </a:spcAft>
            </a:pPr>
            <a:r>
              <a:rPr sz="1700" b="1" i="0">
                <a:solidFill>
                  <a:srgbClr val="0E3F8C"/>
                </a:solidFill>
                <a:latin typeface="Calibri"/>
                <a:ea typeface="Calibri"/>
              </a:rPr>
              <a:t>Same weight</a:t>
            </a:r>
          </a:p>
        </p:txBody>
      </p:sp>
      <p:sp>
        <p:nvSpPr>
          <p:cNvPr id="15" name="TextBox 14"/>
          <p:cNvSpPr txBox="1"/>
          <p:nvPr/>
        </p:nvSpPr>
        <p:spPr>
          <a:xfrm>
            <a:off x="6278727" y="1591056"/>
            <a:ext cx="5364327" cy="274320"/>
          </a:xfrm>
          <a:prstGeom prst="rect">
            <a:avLst/>
          </a:prstGeom>
          <a:noFill/>
        </p:spPr>
        <p:txBody>
          <a:bodyPr wrap="square" lIns="0" tIns="0" rIns="0" bIns="0" anchor="t">
            <a:spAutoFit/>
          </a:bodyPr>
          <a:lstStyle/>
          <a:p>
            <a:pPr algn="l">
              <a:lnSpc>
                <a:spcPct val="100000"/>
              </a:lnSpc>
              <a:spcAft>
                <a:spcPts val="400"/>
              </a:spcAft>
            </a:pPr>
            <a:r>
              <a:rPr sz="1050" b="0" i="0">
                <a:solidFill>
                  <a:srgbClr val="4A5568"/>
                </a:solidFill>
                <a:latin typeface="Calibri"/>
                <a:ea typeface="Calibri"/>
              </a:rPr>
              <a:t>the later rule wins</a:t>
            </a:r>
          </a:p>
        </p:txBody>
      </p:sp>
      <p:sp>
        <p:nvSpPr>
          <p:cNvPr id="16" name="Rounded Rectangle 15"/>
          <p:cNvSpPr/>
          <p:nvPr/>
        </p:nvSpPr>
        <p:spPr>
          <a:xfrm>
            <a:off x="6278727" y="1901952"/>
            <a:ext cx="5364327" cy="265176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6471" y="1901952"/>
            <a:ext cx="4888839" cy="2651760"/>
          </a:xfrm>
          <a:prstGeom prst="rect">
            <a:avLst/>
          </a:prstGeom>
          <a:noFill/>
        </p:spPr>
        <p:txBody>
          <a:bodyPr wrap="none" lIns="0" tIns="0" rIns="0" bIns="0" anchor="ctr">
            <a:spAutoFit/>
          </a:bodyPr>
          <a:lstStyle/>
          <a:p>
            <a:pPr algn="l">
              <a:lnSpc>
                <a:spcPct val="110000"/>
              </a:lnSpc>
              <a:spcAft>
                <a:spcPts val="450"/>
              </a:spcAft>
            </a:pPr>
            <a:r>
              <a:rPr sz="1300" b="0" i="0">
                <a:solidFill>
                  <a:srgbClr val="98C379"/>
                </a:solidFill>
                <a:latin typeface="Consolas"/>
                <a:ea typeface="Consolas"/>
              </a:rPr>
              <a:t>p { color: black; }     /* written first */</a:t>
            </a:r>
          </a:p>
          <a:p>
            <a:pPr algn="l">
              <a:lnSpc>
                <a:spcPct val="110000"/>
              </a:lnSpc>
              <a:spcAft>
                <a:spcPts val="450"/>
              </a:spcAft>
            </a:pPr>
            <a:r>
              <a:rPr sz="1300" b="0" i="0">
                <a:solidFill>
                  <a:srgbClr val="E5C07B"/>
                </a:solidFill>
                <a:latin typeface="Consolas"/>
                <a:ea typeface="Consolas"/>
              </a:rPr>
              <a:t>p { color: #185fa5; }   /* written last  */</a:t>
            </a:r>
          </a:p>
          <a:p>
            <a:pPr algn="l">
              <a:lnSpc>
                <a:spcPct val="110000"/>
              </a:lnSpc>
              <a:spcAft>
                <a:spcPts val="450"/>
              </a:spcAft>
            </a:pPr>
            <a:endParaRPr sz="1300" b="0" i="0">
              <a:solidFill>
                <a:srgbClr val="E5C07B"/>
              </a:solidFill>
              <a:latin typeface="Consolas"/>
              <a:ea typeface="Consolas"/>
            </a:endParaRPr>
          </a:p>
          <a:p>
            <a:pPr algn="l">
              <a:lnSpc>
                <a:spcPct val="110000"/>
              </a:lnSpc>
              <a:spcAft>
                <a:spcPts val="450"/>
              </a:spcAft>
            </a:pPr>
            <a:r>
              <a:rPr sz="1300" b="0" i="0">
                <a:solidFill>
                  <a:srgbClr val="61AFEF"/>
                </a:solidFill>
                <a:latin typeface="Consolas"/>
                <a:ea typeface="Consolas"/>
              </a:rPr>
              <a:t>&lt;p&gt;Hello&lt;/p&gt;</a:t>
            </a:r>
          </a:p>
          <a:p>
            <a:pPr algn="l">
              <a:lnSpc>
                <a:spcPct val="110000"/>
              </a:lnSpc>
              <a:spcAft>
                <a:spcPts val="450"/>
              </a:spcAft>
            </a:pPr>
            <a:r>
              <a:rPr sz="1300" b="0" i="0">
                <a:solidFill>
                  <a:srgbClr val="7F8C98"/>
                </a:solidFill>
                <a:latin typeface="Consolas"/>
                <a:ea typeface="Consolas"/>
              </a:rPr>
              <a:t>&lt;!-- renders blue --&gt;</a:t>
            </a:r>
          </a:p>
        </p:txBody>
      </p:sp>
      <p:sp>
        <p:nvSpPr>
          <p:cNvPr id="18" name="Rounded Rectangle 17"/>
          <p:cNvSpPr/>
          <p:nvPr/>
        </p:nvSpPr>
        <p:spPr>
          <a:xfrm>
            <a:off x="6278727" y="4700016"/>
            <a:ext cx="5364327" cy="54864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98183" y="4828032"/>
            <a:ext cx="292608" cy="292608"/>
          </a:xfrm>
          <a:prstGeom prst="roundRect">
            <a:avLst>
              <a:gd name="adj" fmla="val 5000"/>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18807" y="4700016"/>
            <a:ext cx="4504791" cy="548640"/>
          </a:xfrm>
          <a:prstGeom prst="rect">
            <a:avLst/>
          </a:prstGeom>
          <a:noFill/>
        </p:spPr>
        <p:txBody>
          <a:bodyPr wrap="square" lIns="0" tIns="0" rIns="0" bIns="0" anchor="ctr">
            <a:spAutoFit/>
          </a:bodyPr>
          <a:lstStyle/>
          <a:p>
            <a:pPr algn="l">
              <a:lnSpc>
                <a:spcPct val="105000"/>
              </a:lnSpc>
              <a:spcAft>
                <a:spcPts val="400"/>
              </a:spcAft>
            </a:pPr>
            <a:r>
              <a:rPr sz="1250" b="1" i="0">
                <a:solidFill>
                  <a:srgbClr val="0E3F8C"/>
                </a:solidFill>
                <a:latin typeface="Calibri"/>
                <a:ea typeface="Calibri"/>
              </a:rPr>
              <a:t>blue — the later rule wins</a:t>
            </a:r>
          </a:p>
        </p:txBody>
      </p:sp>
      <p:sp>
        <p:nvSpPr>
          <p:cNvPr id="21" name="TextBox 20"/>
          <p:cNvSpPr txBox="1"/>
          <p:nvPr/>
        </p:nvSpPr>
        <p:spPr>
          <a:xfrm>
            <a:off x="6278727" y="5376672"/>
            <a:ext cx="5364327" cy="329184"/>
          </a:xfrm>
          <a:prstGeom prst="rect">
            <a:avLst/>
          </a:prstGeom>
          <a:noFill/>
        </p:spPr>
        <p:txBody>
          <a:bodyPr wrap="square" lIns="0" tIns="0" rIns="0" bIns="0" anchor="t">
            <a:spAutoFit/>
          </a:bodyPr>
          <a:lstStyle/>
          <a:p>
            <a:pPr algn="l">
              <a:lnSpc>
                <a:spcPct val="110000"/>
              </a:lnSpc>
              <a:spcAft>
                <a:spcPts val="400"/>
              </a:spcAft>
            </a:pPr>
            <a:r>
              <a:rPr sz="1100" b="0" i="0">
                <a:solidFill>
                  <a:srgbClr val="4A5568"/>
                </a:solidFill>
                <a:latin typeface="Calibri"/>
                <a:ea typeface="Calibri"/>
              </a:rPr>
              <a:t>Tied? The browser reads top to bottom, so the last rule wins.</a:t>
            </a:r>
          </a:p>
        </p:txBody>
      </p:sp>
      <p:sp>
        <p:nvSpPr>
          <p:cNvPr id="22" name="Rounded Rectangle 21"/>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Weight first — source order only decides when two rules weigh exactly the same.</a:t>
            </a:r>
          </a:p>
        </p:txBody>
      </p:sp>
      <p:sp>
        <p:nvSpPr>
          <p:cNvPr id="24" name="TextBox 23"/>
          <p:cNvSpPr txBox="1"/>
          <p:nvPr/>
        </p:nvSpPr>
        <p:spPr>
          <a:xfrm>
            <a:off x="3840480" y="5943600"/>
            <a:ext cx="7436815" cy="475488"/>
          </a:xfrm>
          <a:prstGeom prst="rect">
            <a:avLst/>
          </a:prstGeom>
          <a:noFill/>
        </p:spPr>
        <p:txBody>
          <a:bodyPr wrap="square" lIns="0" tIns="0" rIns="0" bIns="0" anchor="ctr">
            <a:spAutoFit/>
          </a:bodyPr>
          <a:lstStyle/>
          <a:p>
            <a:pPr algn="r">
              <a:lnSpc>
                <a:spcPct val="110000"/>
              </a:lnSpc>
              <a:spcAft>
                <a:spcPts val="400"/>
              </a:spcAft>
            </a:pPr>
            <a:r>
              <a:rPr sz="1050" b="1" i="0">
                <a:solidFill>
                  <a:srgbClr val="9DC0EE"/>
                </a:solidFill>
                <a:latin typeface="Calibri"/>
                <a:ea typeface="Calibri"/>
              </a:rPr>
              <a:t>open in editor →  </a:t>
            </a:r>
            <a:r>
              <a:rPr sz="1050" b="1" i="0">
                <a:solidFill>
                  <a:srgbClr val="61AFEF"/>
                </a:solidFill>
                <a:latin typeface="Calibri"/>
                <a:ea typeface="Calibri"/>
                <a:hlinkClick r:id="rId2"/>
                <a:extLst>
                  <a:ext uri="{A12FA001-AC4F-418D-AE19-62706E023703}">
                    <ahyp:hlinkClr xmlns:ahyp="http://schemas.microsoft.com/office/drawing/2018/hyperlinkcolor" xmlns="" val="tx"/>
                  </a:ext>
                </a:extLst>
              </a:rPr>
              <a:t>css-cascade/cascade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!important</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The Cascade</a:t>
            </a:r>
          </a:p>
        </p:txBody>
      </p:sp>
      <p:sp>
        <p:nvSpPr>
          <p:cNvPr id="5" name="TextBox 4"/>
          <p:cNvSpPr txBox="1"/>
          <p:nvPr/>
        </p:nvSpPr>
        <p:spPr>
          <a:xfrm>
            <a:off x="548640" y="932688"/>
            <a:ext cx="10820095" cy="3986784"/>
          </a:xfrm>
          <a:prstGeom prst="rect">
            <a:avLst/>
          </a:prstGeom>
          <a:noFill/>
        </p:spPr>
        <p:txBody>
          <a:bodyPr wrap="square" lIns="0" tIns="0" r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The nuclear option</a:t>
            </a:r>
            <a:br/>
            <a:r>
              <a:rPr sz="1500" b="0" i="0">
                <a:solidFill>
                  <a:srgbClr val="4A5568"/>
                </a:solidFill>
                <a:latin typeface="Calibri"/>
                <a:ea typeface="Calibri"/>
              </a:rPr>
              <a:t>One declaration that outranks every normal rule, whatever its weight.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It still competes</a:t>
            </a:r>
            <a:br/>
            <a:r>
              <a:rPr sz="1500" b="0" i="0">
                <a:solidFill>
                  <a:srgbClr val="4A5568"/>
                </a:solidFill>
                <a:latin typeface="Calibri"/>
                <a:ea typeface="Calibri"/>
              </a:rPr>
              <a:t>Two forced rules are weighed by weight and order, exactly as before.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It escalates</a:t>
            </a:r>
            <a:br/>
            <a:r>
              <a:rPr sz="1500" b="0" i="0">
                <a:solidFill>
                  <a:srgbClr val="4A5568"/>
                </a:solidFill>
                <a:latin typeface="Calibri"/>
                <a:ea typeface="Calibri"/>
              </a:rPr>
              <a:t>Once one rule is forced, the only way past it is more force.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Last resort</a:t>
            </a:r>
            <a:br/>
            <a:r>
              <a:rPr sz="1500" b="0" i="0">
                <a:solidFill>
                  <a:srgbClr val="4A5568"/>
                </a:solidFill>
                <a:latin typeface="Calibri"/>
                <a:ea typeface="Calibri"/>
              </a:rPr>
              <a:t>Usually a sign the selector was wrong — fix the selector instead.</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Overrides every other rule — avoid it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editor.html?example=css-cascade/cascade</a:t>
            </a:r>
          </a:p>
        </p:txBody>
      </p:sp>
      <p:sp>
        <p:nvSpPr>
          <p:cNvPr id="8" name="TextBox 7"/>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p { color: red !important; }</a:t>
            </a:r>
          </a:p>
        </p:txBody>
      </p:sp>
      <p:sp>
        <p:nvSpPr>
          <p:cNvPr id="9" name="Rounded Rectangle 8"/>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In the cascade example that forced rule is commented out — uncomment it and watch every rule above lose.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143000"/>
            <a:ext cx="3840480" cy="1828800"/>
          </a:xfrm>
          <a:prstGeom prst="rect">
            <a:avLst/>
          </a:prstGeom>
          <a:noFill/>
        </p:spPr>
        <p:txBody>
          <a:bodyPr wrap="square" lIns="0" tIns="0" rIns="0" bIns="0" anchor="t">
            <a:spAutoFit/>
          </a:bodyPr>
          <a:lstStyle/>
          <a:p>
            <a:pPr algn="l">
              <a:lnSpc>
                <a:spcPct val="110000"/>
              </a:lnSpc>
              <a:spcAft>
                <a:spcPts val="400"/>
              </a:spcAft>
            </a:pPr>
            <a:r>
              <a:rPr sz="9200" b="1" i="0">
                <a:solidFill>
                  <a:srgbClr val="9DC0EE"/>
                </a:solidFill>
                <a:latin typeface="Calibri"/>
                <a:ea typeface="Calibri"/>
              </a:rPr>
              <a:t>04</a:t>
            </a:r>
          </a:p>
        </p:txBody>
      </p:sp>
      <p:sp>
        <p:nvSpPr>
          <p:cNvPr id="5" name="TextBox 4"/>
          <p:cNvSpPr txBox="1"/>
          <p:nvPr/>
        </p:nvSpPr>
        <p:spPr>
          <a:xfrm>
            <a:off x="685800" y="3063240"/>
            <a:ext cx="10607040" cy="822960"/>
          </a:xfrm>
          <a:prstGeom prst="rect">
            <a:avLst/>
          </a:prstGeom>
          <a:noFill/>
        </p:spPr>
        <p:txBody>
          <a:bodyPr wrap="square" lIns="0" tIns="0" rIns="0" bIns="0" anchor="t">
            <a:spAutoFit/>
          </a:bodyPr>
          <a:lstStyle/>
          <a:p>
            <a:pPr algn="l">
              <a:lnSpc>
                <a:spcPct val="110000"/>
              </a:lnSpc>
              <a:spcAft>
                <a:spcPts val="400"/>
              </a:spcAft>
            </a:pPr>
            <a:r>
              <a:rPr sz="3800" b="1" i="0">
                <a:solidFill>
                  <a:srgbClr val="FFFFFF"/>
                </a:solidFill>
                <a:latin typeface="Calibri"/>
                <a:ea typeface="Calibri"/>
              </a:rPr>
              <a:t>The Box Model</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4251960"/>
            <a:ext cx="10058400" cy="1645920"/>
          </a:xfrm>
          <a:prstGeom prst="rect">
            <a:avLst/>
          </a:prstGeom>
          <a:noFill/>
        </p:spPr>
        <p:txBody>
          <a:bodyPr wrap="square" lIns="0" tIns="0" r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Every element is a box — content, padding, border, margin</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The background paints the box; box-sizing decides what a size means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Corners and blend modes belong to the box too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Every Element on a Page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Rounded Rectangle 4"/>
          <p:cNvSpPr/>
          <p:nvPr/>
        </p:nvSpPr>
        <p:spPr>
          <a:xfrm>
            <a:off x="548640" y="932688"/>
            <a:ext cx="11094415" cy="731520"/>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042416"/>
            <a:ext cx="82296" cy="512064"/>
          </a:xfrm>
          <a:prstGeom prst="roundRect">
            <a:avLst>
              <a:gd name="adj" fmla="val 50000"/>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005840"/>
            <a:ext cx="10362895" cy="201168"/>
          </a:xfrm>
          <a:prstGeom prst="rect">
            <a:avLst/>
          </a:prstGeom>
          <a:noFill/>
        </p:spPr>
        <p:txBody>
          <a:bodyPr wrap="square" lIns="0" tIns="0" rIns="0" bIns="0" anchor="t">
            <a:spAutoFit/>
          </a:bodyPr>
          <a:lstStyle/>
          <a:p>
            <a:pPr algn="l">
              <a:lnSpc>
                <a:spcPct val="110000"/>
              </a:lnSpc>
              <a:spcAft>
                <a:spcPts val="400"/>
              </a:spcAft>
            </a:pPr>
            <a:r>
              <a:rPr sz="1050" b="1" i="0">
                <a:solidFill>
                  <a:srgbClr val="1E4FA8"/>
                </a:solidFill>
                <a:latin typeface="Calibri"/>
                <a:ea typeface="Calibri"/>
              </a:rPr>
              <a:t>ASK YOURSELF FIRST</a:t>
            </a:r>
          </a:p>
        </p:txBody>
      </p:sp>
      <p:sp>
        <p:nvSpPr>
          <p:cNvPr id="8" name="TextBox 7"/>
          <p:cNvSpPr txBox="1"/>
          <p:nvPr/>
        </p:nvSpPr>
        <p:spPr>
          <a:xfrm>
            <a:off x="914400" y="1207008"/>
            <a:ext cx="10362895" cy="384048"/>
          </a:xfrm>
          <a:prstGeom prst="rect">
            <a:avLst/>
          </a:prstGeom>
          <a:noFill/>
        </p:spPr>
        <p:txBody>
          <a:bodyPr wrap="square" lIns="0" tIns="0" rIns="0" bIns="0" anchor="t">
            <a:spAutoFit/>
          </a:bodyPr>
          <a:lstStyle/>
          <a:p>
            <a:pPr algn="l">
              <a:lnSpc>
                <a:spcPct val="110000"/>
              </a:lnSpc>
              <a:spcAft>
                <a:spcPts val="400"/>
              </a:spcAft>
            </a:pPr>
            <a:r>
              <a:rPr sz="2400" b="1" i="0">
                <a:solidFill>
                  <a:srgbClr val="0E3F8C"/>
                </a:solidFill>
                <a:latin typeface="Calibri"/>
                <a:ea typeface="Calibri"/>
              </a:rPr>
              <a:t>How is every element rendered on a web page?</a:t>
            </a:r>
          </a:p>
        </p:txBody>
      </p:sp>
      <p:sp>
        <p:nvSpPr>
          <p:cNvPr id="9" name="Rounded Rectangle 8"/>
          <p:cNvSpPr/>
          <p:nvPr/>
        </p:nvSpPr>
        <p:spPr>
          <a:xfrm>
            <a:off x="548640" y="1773936"/>
            <a:ext cx="11094415" cy="731520"/>
          </a:xfrm>
          <a:prstGeom prst="roundRect">
            <a:avLst>
              <a:gd name="adj" fmla="val 7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847088"/>
            <a:ext cx="10362895" cy="201168"/>
          </a:xfrm>
          <a:prstGeom prst="rect">
            <a:avLst/>
          </a:prstGeom>
          <a:noFill/>
        </p:spPr>
        <p:txBody>
          <a:bodyPr wrap="square" lIns="0" tIns="0" rIns="0" bIns="0" anchor="t">
            <a:spAutoFit/>
          </a:bodyPr>
          <a:lstStyle/>
          <a:p>
            <a:pPr algn="l">
              <a:lnSpc>
                <a:spcPct val="110000"/>
              </a:lnSpc>
              <a:spcAft>
                <a:spcPts val="400"/>
              </a:spcAft>
            </a:pPr>
            <a:r>
              <a:rPr sz="1050" b="1" i="0">
                <a:solidFill>
                  <a:srgbClr val="FFC107"/>
                </a:solidFill>
                <a:latin typeface="Calibri"/>
                <a:ea typeface="Calibri"/>
              </a:rPr>
              <a:t>THE ANSWER</a:t>
            </a:r>
          </a:p>
        </p:txBody>
      </p:sp>
      <p:sp>
        <p:nvSpPr>
          <p:cNvPr id="11" name="TextBox 10"/>
          <p:cNvSpPr txBox="1"/>
          <p:nvPr/>
        </p:nvSpPr>
        <p:spPr>
          <a:xfrm>
            <a:off x="914400" y="2048255"/>
            <a:ext cx="10362895" cy="384048"/>
          </a:xfrm>
          <a:prstGeom prst="rect">
            <a:avLst/>
          </a:prstGeom>
          <a:noFill/>
        </p:spPr>
        <p:txBody>
          <a:bodyPr wrap="square" lIns="0" tIns="0" rIns="0" bIns="0" anchor="t">
            <a:spAutoFit/>
          </a:bodyPr>
          <a:lstStyle/>
          <a:p>
            <a:pPr algn="l">
              <a:lnSpc>
                <a:spcPct val="110000"/>
              </a:lnSpc>
              <a:spcAft>
                <a:spcPts val="400"/>
              </a:spcAft>
            </a:pPr>
            <a:r>
              <a:rPr sz="2400" b="1" i="0">
                <a:solidFill>
                  <a:srgbClr val="FFFFFF"/>
                </a:solidFill>
                <a:latin typeface="Calibri"/>
                <a:ea typeface="Calibri"/>
              </a:rPr>
              <a:t>Every element is rendered as a box.</a:t>
            </a:r>
          </a:p>
        </p:txBody>
      </p:sp>
      <p:sp>
        <p:nvSpPr>
          <p:cNvPr id="12" name="TextBox 11"/>
          <p:cNvSpPr txBox="1"/>
          <p:nvPr/>
        </p:nvSpPr>
        <p:spPr>
          <a:xfrm>
            <a:off x="548640" y="2596896"/>
            <a:ext cx="3977639" cy="3090672"/>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 plain document</a:t>
            </a:r>
            <a:br/>
            <a:r>
              <a:rPr sz="1350" b="0" i="0">
                <a:solidFill>
                  <a:srgbClr val="4A5568"/>
                </a:solidFill>
                <a:latin typeface="Calibri"/>
                <a:ea typeface="Calibri"/>
              </a:rPr>
              <a:t>A header, a nav, a main with a section and an aside, a footer.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rule outlines them all</a:t>
            </a:r>
            <a:br/>
            <a:r>
              <a:rPr sz="1350" b="0" i="0">
                <a:solidFill>
                  <a:srgbClr val="4A5568"/>
                </a:solidFill>
                <a:latin typeface="Calibri"/>
                <a:ea typeface="Calibri"/>
              </a:rPr>
              <a:t>* matches every element, so nothing has to be named one by one.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1px of border, 5px of margin</a:t>
            </a:r>
            <a:br/>
            <a:r>
              <a:rPr sz="1350" b="0" i="0">
                <a:solidFill>
                  <a:srgbClr val="4A5568"/>
                </a:solidFill>
                <a:latin typeface="Calibri"/>
                <a:ea typeface="Calibri"/>
              </a:rPr>
              <a:t>An edge you can see, and clear space outside it, so no two boxes touch.</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What you see</a:t>
            </a:r>
            <a:br/>
            <a:r>
              <a:rPr sz="1350" b="0" i="0">
                <a:solidFill>
                  <a:srgbClr val="4A5568"/>
                </a:solidFill>
                <a:latin typeface="Calibri"/>
                <a:ea typeface="Calibri"/>
              </a:rPr>
              <a:t>The whole page turns into a picture of its own boxes.</a:t>
            </a:r>
          </a:p>
        </p:txBody>
      </p:sp>
      <p:sp>
        <p:nvSpPr>
          <p:cNvPr id="13" name="Rounded Rectangle 12"/>
          <p:cNvSpPr/>
          <p:nvPr/>
        </p:nvSpPr>
        <p:spPr>
          <a:xfrm>
            <a:off x="4830775" y="2596896"/>
            <a:ext cx="6812280" cy="3090672"/>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23383" y="2752344"/>
            <a:ext cx="6263640" cy="274320"/>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STYLE.CSS, AND THE DOCUMENT IT RUNS ON</a:t>
            </a:r>
          </a:p>
        </p:txBody>
      </p:sp>
      <p:sp>
        <p:nvSpPr>
          <p:cNvPr id="15" name="TextBox 14"/>
          <p:cNvSpPr txBox="1"/>
          <p:nvPr/>
        </p:nvSpPr>
        <p:spPr>
          <a:xfrm>
            <a:off x="5123383" y="3127248"/>
            <a:ext cx="6227064" cy="2240280"/>
          </a:xfrm>
          <a:prstGeom prst="rect">
            <a:avLst/>
          </a:prstGeom>
          <a:noFill/>
        </p:spPr>
        <p:txBody>
          <a:bodyPr wrap="none" lIns="0" tIns="0" rIns="0" bIns="0" anchor="t">
            <a:spAutoFit/>
          </a:bodyPr>
          <a:lstStyle/>
          <a:p>
            <a:pPr algn="l">
              <a:lnSpc>
                <a:spcPct val="110000"/>
              </a:lnSpc>
              <a:spcAft>
                <a:spcPts val="0"/>
              </a:spcAft>
            </a:pPr>
            <a:r>
              <a:rPr sz="1300" b="0" i="0">
                <a:solidFill>
                  <a:srgbClr val="7F8C98"/>
                </a:solidFill>
                <a:latin typeface="Consolas"/>
                <a:ea typeface="Consolas"/>
              </a:rPr>
              <a:t>/* style.css */</a:t>
            </a:r>
          </a:p>
          <a:p>
            <a:pPr algn="l">
              <a:lnSpc>
                <a:spcPct val="110000"/>
              </a:lnSpc>
              <a:spcAft>
                <a:spcPts val="0"/>
              </a:spcAft>
            </a:pPr>
            <a:r>
              <a:rPr sz="1300" b="0" i="0">
                <a:solidFill>
                  <a:srgbClr val="61AFEF"/>
                </a:solidFill>
                <a:latin typeface="Consolas"/>
                <a:ea typeface="Consolas"/>
              </a:rPr>
              <a:t>* { border: 1px solid black; margin: 5px; }</a:t>
            </a:r>
          </a:p>
          <a:p>
            <a:pPr algn="l">
              <a:lnSpc>
                <a:spcPct val="110000"/>
              </a:lnSpc>
              <a:spcAft>
                <a:spcPts val="0"/>
              </a:spcAft>
            </a:pPr>
            <a:r>
              <a:rPr sz="1300" b="0" i="0">
                <a:solidFill>
                  <a:srgbClr val="7F8C98"/>
                </a:solidFill>
                <a:latin typeface="Consolas"/>
                <a:ea typeface="Consolas"/>
              </a:rPr>
              <a:t>&lt;!-- index.html — a plain, multi-level document --&gt;</a:t>
            </a:r>
          </a:p>
          <a:p>
            <a:pPr algn="l">
              <a:lnSpc>
                <a:spcPct val="110000"/>
              </a:lnSpc>
              <a:spcAft>
                <a:spcPts val="0"/>
              </a:spcAft>
            </a:pPr>
            <a:r>
              <a:rPr sz="1300" b="0" i="0">
                <a:solidFill>
                  <a:srgbClr val="C678DD"/>
                </a:solidFill>
                <a:latin typeface="Consolas"/>
                <a:ea typeface="Consolas"/>
              </a:rPr>
              <a:t>&lt;body&gt;</a:t>
            </a:r>
          </a:p>
          <a:p>
            <a:pPr algn="l">
              <a:lnSpc>
                <a:spcPct val="110000"/>
              </a:lnSpc>
              <a:spcAft>
                <a:spcPts val="0"/>
              </a:spcAft>
            </a:pPr>
            <a:r>
              <a:rPr sz="1300" b="0" i="0">
                <a:solidFill>
                  <a:srgbClr val="C678DD"/>
                </a:solidFill>
                <a:latin typeface="Consolas"/>
                <a:ea typeface="Consolas"/>
              </a:rPr>
              <a:t>  &lt;header&gt;…&lt;/header&gt;  &lt;nav&gt;…&lt;/nav&gt;</a:t>
            </a:r>
          </a:p>
          <a:p>
            <a:pPr algn="l">
              <a:lnSpc>
                <a:spcPct val="110000"/>
              </a:lnSpc>
              <a:spcAft>
                <a:spcPts val="0"/>
              </a:spcAft>
            </a:pPr>
            <a:r>
              <a:rPr sz="1300" b="0" i="0">
                <a:solidFill>
                  <a:srgbClr val="C678DD"/>
                </a:solidFill>
                <a:latin typeface="Consolas"/>
                <a:ea typeface="Consolas"/>
              </a:rPr>
              <a:t>  &lt;main&gt;</a:t>
            </a:r>
          </a:p>
          <a:p>
            <a:pPr algn="l">
              <a:lnSpc>
                <a:spcPct val="110000"/>
              </a:lnSpc>
              <a:spcAft>
                <a:spcPts val="0"/>
              </a:spcAft>
            </a:pPr>
            <a:r>
              <a:rPr sz="1300" b="0" i="0">
                <a:solidFill>
                  <a:srgbClr val="C678DD"/>
                </a:solidFill>
                <a:latin typeface="Consolas"/>
                <a:ea typeface="Consolas"/>
              </a:rPr>
              <a:t>    &lt;section&gt;…&lt;/section&gt;  &lt;aside&gt;…&lt;/aside&gt;</a:t>
            </a:r>
          </a:p>
          <a:p>
            <a:pPr algn="l">
              <a:lnSpc>
                <a:spcPct val="110000"/>
              </a:lnSpc>
              <a:spcAft>
                <a:spcPts val="0"/>
              </a:spcAft>
            </a:pPr>
            <a:r>
              <a:rPr sz="1300" b="0" i="0">
                <a:solidFill>
                  <a:srgbClr val="C678DD"/>
                </a:solidFill>
                <a:latin typeface="Consolas"/>
                <a:ea typeface="Consolas"/>
              </a:rPr>
              <a:t>  &lt;/main&gt;</a:t>
            </a:r>
          </a:p>
          <a:p>
            <a:pPr algn="l">
              <a:lnSpc>
                <a:spcPct val="110000"/>
              </a:lnSpc>
              <a:spcAft>
                <a:spcPts val="0"/>
              </a:spcAft>
            </a:pPr>
            <a:r>
              <a:rPr sz="1300" b="0" i="0">
                <a:solidFill>
                  <a:srgbClr val="C678DD"/>
                </a:solidFill>
                <a:latin typeface="Consolas"/>
                <a:ea typeface="Consolas"/>
              </a:rPr>
              <a:t>  &lt;footer&gt;…&lt;/footer&gt;</a:t>
            </a:r>
          </a:p>
          <a:p>
            <a:pPr algn="l">
              <a:lnSpc>
                <a:spcPct val="110000"/>
              </a:lnSpc>
              <a:spcAft>
                <a:spcPts val="0"/>
              </a:spcAft>
            </a:pPr>
            <a:r>
              <a:rPr sz="1300" b="0" i="0">
                <a:solidFill>
                  <a:srgbClr val="C678DD"/>
                </a:solidFill>
                <a:latin typeface="Consolas"/>
                <a:ea typeface="Consolas"/>
              </a:rPr>
              <a:t>&lt;/body&gt;</a:t>
            </a:r>
          </a:p>
        </p:txBody>
      </p:sp>
      <p:sp>
        <p:nvSpPr>
          <p:cNvPr id="16" name="Rounded Rectangle 15"/>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961888"/>
            <a:ext cx="10362895"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FFFFFF"/>
                </a:solidFill>
                <a:latin typeface="Calibri"/>
                <a:ea typeface="Calibri"/>
              </a:rPr>
              <a:t>The boxes were always there. The border just makes them visible.</a:t>
            </a:r>
          </a:p>
        </p:txBody>
      </p:sp>
      <p:sp>
        <p:nvSpPr>
          <p:cNvPr id="18" name="TextBox 17"/>
          <p:cNvSpPr txBox="1"/>
          <p:nvPr/>
        </p:nvSpPr>
        <p:spPr>
          <a:xfrm>
            <a:off x="3840480" y="5852159"/>
            <a:ext cx="7436815" cy="475488"/>
          </a:xfrm>
          <a:prstGeom prst="rect">
            <a:avLst/>
          </a:prstGeom>
          <a:noFill/>
        </p:spPr>
        <p:txBody>
          <a:bodyPr wrap="square" lIns="0" tIns="0" rIns="0" bIns="0" anchor="ctr">
            <a:spAutoFit/>
          </a:bodyPr>
          <a:lstStyle/>
          <a:p>
            <a:pPr algn="r">
              <a:lnSpc>
                <a:spcPct val="110000"/>
              </a:lnSpc>
              <a:spcAft>
                <a:spcPts val="400"/>
              </a:spcAft>
            </a:pPr>
            <a:r>
              <a:rPr sz="1050" b="1" i="0">
                <a:solidFill>
                  <a:srgbClr val="9DC0EE"/>
                </a:solidFill>
                <a:latin typeface="Calibri"/>
                <a:ea typeface="Calibri"/>
              </a:rPr>
              <a:t>open in editor →  </a:t>
            </a:r>
            <a:r>
              <a:rPr sz="1050" b="1" i="0">
                <a:solidFill>
                  <a:srgbClr val="61AFEF"/>
                </a:solidFill>
                <a:latin typeface="Calibri"/>
                <a:ea typeface="Calibri"/>
                <a:hlinkClick r:id="rId2"/>
                <a:extLst>
                  <a:ext uri="{A12FA001-AC4F-418D-AE19-62706E023703}">
                    <ahyp:hlinkClr xmlns:ahyp="http://schemas.microsoft.com/office/drawing/2018/hyperlinkcolor" xmlns="" val="tx"/>
                  </a:ext>
                </a:extLst>
              </a:rPr>
              <a:t>css-layout/every-element-is-a-box</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Anatomy of a Box</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14400"/>
            <a:ext cx="11094415" cy="365760"/>
          </a:xfrm>
          <a:prstGeom prst="rect">
            <a:avLst/>
          </a:prstGeom>
          <a:noFill/>
        </p:spPr>
        <p:txBody>
          <a:bodyPr wrap="square" lIns="0" tIns="0" rIns="0" bIns="0" anchor="t">
            <a:spAutoFit/>
          </a:bodyPr>
          <a:lstStyle/>
          <a:p>
            <a:pPr algn="l">
              <a:lnSpc>
                <a:spcPct val="110000"/>
              </a:lnSpc>
              <a:spcAft>
                <a:spcPts val="400"/>
              </a:spcAft>
            </a:pPr>
            <a:r>
              <a:rPr sz="1400" b="0" i="0">
                <a:solidFill>
                  <a:srgbClr val="4A5568"/>
                </a:solidFill>
                <a:latin typeface="Calibri"/>
                <a:ea typeface="Calibri"/>
              </a:rPr>
              <a:t>Read it from the inside out — content first, then padding, border, margin.</a:t>
            </a:r>
          </a:p>
        </p:txBody>
      </p:sp>
      <p:sp>
        <p:nvSpPr>
          <p:cNvPr id="6" name="Rounded Rectangle 5"/>
          <p:cNvSpPr/>
          <p:nvPr/>
        </p:nvSpPr>
        <p:spPr>
          <a:xfrm>
            <a:off x="1417320" y="1389888"/>
            <a:ext cx="3931920" cy="3931920"/>
          </a:xfrm>
          <a:prstGeom prst="roundRect">
            <a:avLst>
              <a:gd name="adj" fmla="val 7000"/>
            </a:avLst>
          </a:prstGeom>
          <a:solidFill>
            <a:srgbClr val="FFE9B3"/>
          </a:solidFill>
          <a:ln w="12700">
            <a:solidFill>
              <a:srgbClr val="E6C8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920240" y="1892808"/>
            <a:ext cx="2926080" cy="2926080"/>
          </a:xfrm>
          <a:prstGeom prst="roundRect">
            <a:avLst>
              <a:gd name="adj" fmla="val 7000"/>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331720" y="2304288"/>
            <a:ext cx="2103120" cy="2103120"/>
          </a:xfrm>
          <a:prstGeom prst="roundRect">
            <a:avLst>
              <a:gd name="adj" fmla="val 7000"/>
            </a:avLst>
          </a:prstGeom>
          <a:solidFill>
            <a:srgbClr val="B9C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43200" y="2715768"/>
            <a:ext cx="1280160" cy="1280160"/>
          </a:xfrm>
          <a:prstGeom prst="roundRect">
            <a:avLst>
              <a:gd name="adj" fmla="val 7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7320" y="1481328"/>
            <a:ext cx="3931920" cy="274320"/>
          </a:xfrm>
          <a:prstGeom prst="rect">
            <a:avLst/>
          </a:prstGeom>
          <a:noFill/>
        </p:spPr>
        <p:txBody>
          <a:bodyPr wrap="square" lIns="0" tIns="0" rIns="0" bIns="0" anchor="t">
            <a:spAutoFit/>
          </a:bodyPr>
          <a:lstStyle/>
          <a:p>
            <a:pPr algn="ctr">
              <a:lnSpc>
                <a:spcPct val="110000"/>
              </a:lnSpc>
              <a:spcAft>
                <a:spcPts val="400"/>
              </a:spcAft>
            </a:pPr>
            <a:r>
              <a:rPr sz="1200" b="1" i="0">
                <a:solidFill>
                  <a:srgbClr val="4A5568"/>
                </a:solidFill>
                <a:latin typeface="Calibri"/>
                <a:ea typeface="Calibri"/>
              </a:rPr>
              <a:t>margin</a:t>
            </a:r>
          </a:p>
        </p:txBody>
      </p:sp>
      <p:sp>
        <p:nvSpPr>
          <p:cNvPr id="11" name="TextBox 10"/>
          <p:cNvSpPr txBox="1"/>
          <p:nvPr/>
        </p:nvSpPr>
        <p:spPr>
          <a:xfrm>
            <a:off x="1920240" y="1984248"/>
            <a:ext cx="2926080" cy="274320"/>
          </a:xfrm>
          <a:prstGeom prst="rect">
            <a:avLst/>
          </a:prstGeom>
          <a:noFill/>
        </p:spPr>
        <p:txBody>
          <a:bodyPr wrap="square" lIns="0" tIns="0" rIns="0" bIns="0" anchor="t">
            <a:spAutoFit/>
          </a:bodyPr>
          <a:lstStyle/>
          <a:p>
            <a:pPr algn="ctr">
              <a:lnSpc>
                <a:spcPct val="110000"/>
              </a:lnSpc>
              <a:spcAft>
                <a:spcPts val="400"/>
              </a:spcAft>
            </a:pPr>
            <a:r>
              <a:rPr sz="1200" b="1" i="0">
                <a:solidFill>
                  <a:srgbClr val="FFFFFF"/>
                </a:solidFill>
                <a:latin typeface="Calibri"/>
                <a:ea typeface="Calibri"/>
              </a:rPr>
              <a:t>border</a:t>
            </a:r>
          </a:p>
        </p:txBody>
      </p:sp>
      <p:sp>
        <p:nvSpPr>
          <p:cNvPr id="12" name="TextBox 11"/>
          <p:cNvSpPr txBox="1"/>
          <p:nvPr/>
        </p:nvSpPr>
        <p:spPr>
          <a:xfrm>
            <a:off x="2331720" y="2395728"/>
            <a:ext cx="2103120" cy="274320"/>
          </a:xfrm>
          <a:prstGeom prst="rect">
            <a:avLst/>
          </a:prstGeom>
          <a:noFill/>
        </p:spPr>
        <p:txBody>
          <a:bodyPr wrap="square" lIns="0" tIns="0" rIns="0" bIns="0" anchor="t">
            <a:spAutoFit/>
          </a:bodyPr>
          <a:lstStyle/>
          <a:p>
            <a:pPr algn="ctr">
              <a:lnSpc>
                <a:spcPct val="110000"/>
              </a:lnSpc>
              <a:spcAft>
                <a:spcPts val="400"/>
              </a:spcAft>
            </a:pPr>
            <a:r>
              <a:rPr sz="1200" b="1" i="0">
                <a:solidFill>
                  <a:srgbClr val="0E3F8C"/>
                </a:solidFill>
                <a:latin typeface="Calibri"/>
                <a:ea typeface="Calibri"/>
              </a:rPr>
              <a:t>padding</a:t>
            </a:r>
          </a:p>
        </p:txBody>
      </p:sp>
      <p:sp>
        <p:nvSpPr>
          <p:cNvPr id="13" name="TextBox 12"/>
          <p:cNvSpPr txBox="1"/>
          <p:nvPr/>
        </p:nvSpPr>
        <p:spPr>
          <a:xfrm>
            <a:off x="2743200" y="3218688"/>
            <a:ext cx="1280160" cy="365760"/>
          </a:xfrm>
          <a:prstGeom prst="rect">
            <a:avLst/>
          </a:prstGeom>
          <a:noFill/>
        </p:spPr>
        <p:txBody>
          <a:bodyPr wrap="square" lIns="0" tIns="0" rIns="0" bIns="0" anchor="t">
            <a:spAutoFit/>
          </a:bodyPr>
          <a:lstStyle/>
          <a:p>
            <a:pPr algn="ctr">
              <a:lnSpc>
                <a:spcPct val="110000"/>
              </a:lnSpc>
              <a:spcAft>
                <a:spcPts val="400"/>
              </a:spcAft>
            </a:pPr>
            <a:r>
              <a:rPr sz="1400" b="1" i="0">
                <a:solidFill>
                  <a:srgbClr val="1A2230"/>
                </a:solidFill>
                <a:latin typeface="Calibri"/>
                <a:ea typeface="Calibri"/>
              </a:rPr>
              <a:t>content</a:t>
            </a:r>
          </a:p>
        </p:txBody>
      </p:sp>
      <p:sp>
        <p:nvSpPr>
          <p:cNvPr id="14" name="TextBox 13"/>
          <p:cNvSpPr txBox="1"/>
          <p:nvPr/>
        </p:nvSpPr>
        <p:spPr>
          <a:xfrm>
            <a:off x="822960" y="5440679"/>
            <a:ext cx="5120640" cy="365760"/>
          </a:xfrm>
          <a:prstGeom prst="rect">
            <a:avLst/>
          </a:prstGeom>
          <a:noFill/>
        </p:spPr>
        <p:txBody>
          <a:bodyPr wrap="square" lIns="0" tIns="0" rIns="0" bIns="0" anchor="t">
            <a:spAutoFit/>
          </a:bodyPr>
          <a:lstStyle/>
          <a:p>
            <a:pPr algn="ctr">
              <a:lnSpc>
                <a:spcPct val="110000"/>
              </a:lnSpc>
              <a:spcAft>
                <a:spcPts val="400"/>
              </a:spcAft>
            </a:pPr>
            <a:r>
              <a:rPr sz="1150" b="0" i="0">
                <a:solidFill>
                  <a:srgbClr val="4A5568"/>
                </a:solidFill>
                <a:latin typeface="Calibri"/>
                <a:ea typeface="Calibri"/>
              </a:rPr>
              <a:t>The background paints the content and the padding — the margin stays clear.</a:t>
            </a:r>
          </a:p>
        </p:txBody>
      </p:sp>
      <p:sp>
        <p:nvSpPr>
          <p:cNvPr id="15" name="Rounded Rectangle 14"/>
          <p:cNvSpPr/>
          <p:nvPr/>
        </p:nvSpPr>
        <p:spPr>
          <a:xfrm>
            <a:off x="7406640" y="1435608"/>
            <a:ext cx="4236415" cy="786384"/>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626096" y="1636776"/>
            <a:ext cx="384048" cy="384048"/>
          </a:xfrm>
          <a:prstGeom prst="rect">
            <a:avLst/>
          </a:prstGeom>
          <a:solidFill>
            <a:srgbClr val="FFFFFF"/>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1508760"/>
            <a:ext cx="3230575" cy="310896"/>
          </a:xfrm>
          <a:prstGeom prst="rect">
            <a:avLst/>
          </a:prstGeom>
          <a:noFill/>
        </p:spPr>
        <p:txBody>
          <a:bodyPr wrap="square" lIns="0" tIns="0" rIns="0" bIns="0" anchor="t">
            <a:spAutoFit/>
          </a:bodyPr>
          <a:lstStyle/>
          <a:p>
            <a:pPr algn="l">
              <a:lnSpc>
                <a:spcPct val="110000"/>
              </a:lnSpc>
              <a:spcAft>
                <a:spcPts val="400"/>
              </a:spcAft>
            </a:pPr>
            <a:r>
              <a:rPr sz="1550" b="1" i="0">
                <a:solidFill>
                  <a:srgbClr val="0E3F8C"/>
                </a:solidFill>
                <a:latin typeface="Calibri"/>
                <a:ea typeface="Calibri"/>
              </a:rPr>
              <a:t>Content</a:t>
            </a:r>
          </a:p>
        </p:txBody>
      </p:sp>
      <p:sp>
        <p:nvSpPr>
          <p:cNvPr id="18" name="TextBox 17"/>
          <p:cNvSpPr txBox="1"/>
          <p:nvPr/>
        </p:nvSpPr>
        <p:spPr>
          <a:xfrm>
            <a:off x="8183879" y="1828800"/>
            <a:ext cx="3230575" cy="365760"/>
          </a:xfrm>
          <a:prstGeom prst="rect">
            <a:avLst/>
          </a:prstGeom>
          <a:noFill/>
        </p:spPr>
        <p:txBody>
          <a:bodyPr wrap="square" lIns="0" tIns="0" rIns="0" bIns="0" anchor="t">
            <a:spAutoFit/>
          </a:bodyPr>
          <a:lstStyle/>
          <a:p>
            <a:pPr algn="l">
              <a:lnSpc>
                <a:spcPct val="110000"/>
              </a:lnSpc>
              <a:spcAft>
                <a:spcPts val="400"/>
              </a:spcAft>
            </a:pPr>
            <a:r>
              <a:rPr sz="1150" b="0" i="0">
                <a:solidFill>
                  <a:srgbClr val="4A5568"/>
                </a:solidFill>
                <a:latin typeface="Calibri"/>
                <a:ea typeface="Calibri"/>
              </a:rPr>
              <a:t>The text and the images — sized by the declared size.</a:t>
            </a:r>
          </a:p>
        </p:txBody>
      </p:sp>
      <p:sp>
        <p:nvSpPr>
          <p:cNvPr id="19" name="Rounded Rectangle 18"/>
          <p:cNvSpPr/>
          <p:nvPr/>
        </p:nvSpPr>
        <p:spPr>
          <a:xfrm>
            <a:off x="7406640" y="2276856"/>
            <a:ext cx="4236415" cy="786384"/>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626096" y="2478024"/>
            <a:ext cx="384048" cy="384048"/>
          </a:xfrm>
          <a:prstGeom prst="rect">
            <a:avLst/>
          </a:prstGeom>
          <a:solidFill>
            <a:srgbClr val="B9CDEE"/>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79" y="2350008"/>
            <a:ext cx="3230575" cy="310896"/>
          </a:xfrm>
          <a:prstGeom prst="rect">
            <a:avLst/>
          </a:prstGeom>
          <a:noFill/>
        </p:spPr>
        <p:txBody>
          <a:bodyPr wrap="square" lIns="0" tIns="0" rIns="0" bIns="0" anchor="t">
            <a:spAutoFit/>
          </a:bodyPr>
          <a:lstStyle/>
          <a:p>
            <a:pPr algn="l">
              <a:lnSpc>
                <a:spcPct val="110000"/>
              </a:lnSpc>
              <a:spcAft>
                <a:spcPts val="400"/>
              </a:spcAft>
            </a:pPr>
            <a:r>
              <a:rPr sz="1550" b="1" i="0">
                <a:solidFill>
                  <a:srgbClr val="0E3F8C"/>
                </a:solidFill>
                <a:latin typeface="Calibri"/>
                <a:ea typeface="Calibri"/>
              </a:rPr>
              <a:t>Padding</a:t>
            </a:r>
          </a:p>
        </p:txBody>
      </p:sp>
      <p:sp>
        <p:nvSpPr>
          <p:cNvPr id="22" name="TextBox 21"/>
          <p:cNvSpPr txBox="1"/>
          <p:nvPr/>
        </p:nvSpPr>
        <p:spPr>
          <a:xfrm>
            <a:off x="8183879" y="2670048"/>
            <a:ext cx="3230575" cy="365760"/>
          </a:xfrm>
          <a:prstGeom prst="rect">
            <a:avLst/>
          </a:prstGeom>
          <a:noFill/>
        </p:spPr>
        <p:txBody>
          <a:bodyPr wrap="square" lIns="0" tIns="0" rIns="0" bIns="0" anchor="t">
            <a:spAutoFit/>
          </a:bodyPr>
          <a:lstStyle/>
          <a:p>
            <a:pPr algn="l">
              <a:lnSpc>
                <a:spcPct val="110000"/>
              </a:lnSpc>
              <a:spcAft>
                <a:spcPts val="400"/>
              </a:spcAft>
            </a:pPr>
            <a:r>
              <a:rPr sz="1150" b="0" i="0">
                <a:solidFill>
                  <a:srgbClr val="4A5568"/>
                </a:solidFill>
                <a:latin typeface="Calibri"/>
                <a:ea typeface="Calibri"/>
              </a:rPr>
              <a:t>Space inside the edge. The background paints it.</a:t>
            </a:r>
          </a:p>
        </p:txBody>
      </p:sp>
      <p:sp>
        <p:nvSpPr>
          <p:cNvPr id="23" name="Rounded Rectangle 22"/>
          <p:cNvSpPr/>
          <p:nvPr/>
        </p:nvSpPr>
        <p:spPr>
          <a:xfrm>
            <a:off x="7406640" y="3118104"/>
            <a:ext cx="4236415" cy="786384"/>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626096" y="3319272"/>
            <a:ext cx="384048" cy="384048"/>
          </a:xfrm>
          <a:prstGeom prst="rect">
            <a:avLst/>
          </a:prstGeom>
          <a:solidFill>
            <a:srgbClr val="185FA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83879" y="3191256"/>
            <a:ext cx="3230575" cy="310896"/>
          </a:xfrm>
          <a:prstGeom prst="rect">
            <a:avLst/>
          </a:prstGeom>
          <a:noFill/>
        </p:spPr>
        <p:txBody>
          <a:bodyPr wrap="square" lIns="0" tIns="0" rIns="0" bIns="0" anchor="t">
            <a:spAutoFit/>
          </a:bodyPr>
          <a:lstStyle/>
          <a:p>
            <a:pPr algn="l">
              <a:lnSpc>
                <a:spcPct val="110000"/>
              </a:lnSpc>
              <a:spcAft>
                <a:spcPts val="400"/>
              </a:spcAft>
            </a:pPr>
            <a:r>
              <a:rPr sz="1550" b="1" i="0">
                <a:solidFill>
                  <a:srgbClr val="0E3F8C"/>
                </a:solidFill>
                <a:latin typeface="Calibri"/>
                <a:ea typeface="Calibri"/>
              </a:rPr>
              <a:t>Border</a:t>
            </a:r>
          </a:p>
        </p:txBody>
      </p:sp>
      <p:sp>
        <p:nvSpPr>
          <p:cNvPr id="26" name="TextBox 25"/>
          <p:cNvSpPr txBox="1"/>
          <p:nvPr/>
        </p:nvSpPr>
        <p:spPr>
          <a:xfrm>
            <a:off x="8183879" y="3511296"/>
            <a:ext cx="3230575" cy="365760"/>
          </a:xfrm>
          <a:prstGeom prst="rect">
            <a:avLst/>
          </a:prstGeom>
          <a:noFill/>
        </p:spPr>
        <p:txBody>
          <a:bodyPr wrap="square" lIns="0" tIns="0" rIns="0" bIns="0" anchor="t">
            <a:spAutoFit/>
          </a:bodyPr>
          <a:lstStyle/>
          <a:p>
            <a:pPr algn="l">
              <a:lnSpc>
                <a:spcPct val="110000"/>
              </a:lnSpc>
              <a:spcAft>
                <a:spcPts val="400"/>
              </a:spcAft>
            </a:pPr>
            <a:r>
              <a:rPr sz="1150" b="0" i="0">
                <a:solidFill>
                  <a:srgbClr val="4A5568"/>
                </a:solidFill>
                <a:latin typeface="Calibri"/>
                <a:ea typeface="Calibri"/>
              </a:rPr>
              <a:t>The edge itself — and it can be rounded.</a:t>
            </a:r>
          </a:p>
        </p:txBody>
      </p:sp>
      <p:sp>
        <p:nvSpPr>
          <p:cNvPr id="27" name="Rounded Rectangle 26"/>
          <p:cNvSpPr/>
          <p:nvPr/>
        </p:nvSpPr>
        <p:spPr>
          <a:xfrm>
            <a:off x="7406640" y="3959352"/>
            <a:ext cx="4236415" cy="786384"/>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626096" y="4160520"/>
            <a:ext cx="384048" cy="384048"/>
          </a:xfrm>
          <a:prstGeom prst="rect">
            <a:avLst/>
          </a:prstGeom>
          <a:solidFill>
            <a:srgbClr val="FFE9B3"/>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83879" y="4032504"/>
            <a:ext cx="3230575" cy="310896"/>
          </a:xfrm>
          <a:prstGeom prst="rect">
            <a:avLst/>
          </a:prstGeom>
          <a:noFill/>
        </p:spPr>
        <p:txBody>
          <a:bodyPr wrap="square" lIns="0" tIns="0" rIns="0" bIns="0" anchor="t">
            <a:spAutoFit/>
          </a:bodyPr>
          <a:lstStyle/>
          <a:p>
            <a:pPr algn="l">
              <a:lnSpc>
                <a:spcPct val="110000"/>
              </a:lnSpc>
              <a:spcAft>
                <a:spcPts val="400"/>
              </a:spcAft>
            </a:pPr>
            <a:r>
              <a:rPr sz="1550" b="1" i="0">
                <a:solidFill>
                  <a:srgbClr val="0E3F8C"/>
                </a:solidFill>
                <a:latin typeface="Calibri"/>
                <a:ea typeface="Calibri"/>
              </a:rPr>
              <a:t>Margin</a:t>
            </a:r>
          </a:p>
        </p:txBody>
      </p:sp>
      <p:sp>
        <p:nvSpPr>
          <p:cNvPr id="30" name="TextBox 29"/>
          <p:cNvSpPr txBox="1"/>
          <p:nvPr/>
        </p:nvSpPr>
        <p:spPr>
          <a:xfrm>
            <a:off x="8183879" y="4352544"/>
            <a:ext cx="3230575" cy="365760"/>
          </a:xfrm>
          <a:prstGeom prst="rect">
            <a:avLst/>
          </a:prstGeom>
          <a:noFill/>
        </p:spPr>
        <p:txBody>
          <a:bodyPr wrap="square" lIns="0" tIns="0" rIns="0" bIns="0" anchor="t">
            <a:spAutoFit/>
          </a:bodyPr>
          <a:lstStyle/>
          <a:p>
            <a:pPr algn="l">
              <a:lnSpc>
                <a:spcPct val="110000"/>
              </a:lnSpc>
              <a:spcAft>
                <a:spcPts val="400"/>
              </a:spcAft>
            </a:pPr>
            <a:r>
              <a:rPr sz="1150" b="0" i="0">
                <a:solidFill>
                  <a:srgbClr val="4A5568"/>
                </a:solidFill>
                <a:latin typeface="Calibri"/>
                <a:ea typeface="Calibri"/>
              </a:rPr>
              <a:t>Space outside the edge. Never painted.</a:t>
            </a:r>
          </a:p>
        </p:txBody>
      </p:sp>
      <p:sp>
        <p:nvSpPr>
          <p:cNvPr id="31" name="Rounded Rectangle 30"/>
          <p:cNvSpPr/>
          <p:nvPr/>
        </p:nvSpPr>
        <p:spPr>
          <a:xfrm>
            <a:off x="7406640" y="4800600"/>
            <a:ext cx="4236415" cy="786384"/>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626096" y="5001768"/>
            <a:ext cx="384048" cy="384048"/>
          </a:xfrm>
          <a:prstGeom prst="rect">
            <a:avLst/>
          </a:prstGeom>
          <a:solidFill>
            <a:srgbClr val="3D7BD9"/>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83879" y="4873752"/>
            <a:ext cx="3230575" cy="310896"/>
          </a:xfrm>
          <a:prstGeom prst="rect">
            <a:avLst/>
          </a:prstGeom>
          <a:noFill/>
        </p:spPr>
        <p:txBody>
          <a:bodyPr wrap="square" lIns="0" tIns="0" rIns="0" bIns="0" anchor="t">
            <a:spAutoFit/>
          </a:bodyPr>
          <a:lstStyle/>
          <a:p>
            <a:pPr algn="l">
              <a:lnSpc>
                <a:spcPct val="110000"/>
              </a:lnSpc>
              <a:spcAft>
                <a:spcPts val="400"/>
              </a:spcAft>
            </a:pPr>
            <a:r>
              <a:rPr sz="1550" b="1" i="0">
                <a:solidFill>
                  <a:srgbClr val="0E3F8C"/>
                </a:solidFill>
                <a:latin typeface="Calibri"/>
                <a:ea typeface="Calibri"/>
              </a:rPr>
              <a:t>Background</a:t>
            </a:r>
          </a:p>
        </p:txBody>
      </p:sp>
      <p:sp>
        <p:nvSpPr>
          <p:cNvPr id="34" name="TextBox 33"/>
          <p:cNvSpPr txBox="1"/>
          <p:nvPr/>
        </p:nvSpPr>
        <p:spPr>
          <a:xfrm>
            <a:off x="8183879" y="5193792"/>
            <a:ext cx="3230575" cy="365760"/>
          </a:xfrm>
          <a:prstGeom prst="rect">
            <a:avLst/>
          </a:prstGeom>
          <a:noFill/>
        </p:spPr>
        <p:txBody>
          <a:bodyPr wrap="square" lIns="0" tIns="0" rIns="0" bIns="0" anchor="t">
            <a:spAutoFit/>
          </a:bodyPr>
          <a:lstStyle/>
          <a:p>
            <a:pPr algn="l">
              <a:lnSpc>
                <a:spcPct val="110000"/>
              </a:lnSpc>
              <a:spcAft>
                <a:spcPts val="400"/>
              </a:spcAft>
            </a:pPr>
            <a:r>
              <a:rPr sz="1150" b="0" i="0">
                <a:solidFill>
                  <a:srgbClr val="4A5568"/>
                </a:solidFill>
                <a:latin typeface="Calibri"/>
                <a:ea typeface="Calibri"/>
              </a:rPr>
              <a:t>Sits under the content, the padding and the edge.</a:t>
            </a:r>
          </a:p>
        </p:txBody>
      </p:sp>
      <p:sp>
        <p:nvSpPr>
          <p:cNvPr id="35" name="Rounded Rectangle 34"/>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 y="5961888"/>
            <a:ext cx="10362895"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FFFFFF"/>
                </a:solidFill>
                <a:latin typeface="Calibri"/>
                <a:ea typeface="Calibri"/>
              </a:rPr>
              <a:t>Five layers, one box — the next pages take them one at a time.</a:t>
            </a:r>
          </a:p>
        </p:txBody>
      </p:sp>
      <p:sp>
        <p:nvSpPr>
          <p:cNvPr id="37" name="TextBox 36"/>
          <p:cNvSpPr txBox="1"/>
          <p:nvPr/>
        </p:nvSpPr>
        <p:spPr>
          <a:xfrm>
            <a:off x="3840480" y="5852160"/>
            <a:ext cx="7436815" cy="475488"/>
          </a:xfrm>
          <a:prstGeom prst="rect">
            <a:avLst/>
          </a:prstGeom>
          <a:noFill/>
        </p:spPr>
        <p:txBody>
          <a:bodyPr wrap="square" lIns="0" tIns="0" rIns="0" bIns="0" anchor="ctr">
            <a:spAutoFit/>
          </a:bodyPr>
          <a:lstStyle/>
          <a:p>
            <a:pPr algn="r">
              <a:lnSpc>
                <a:spcPct val="110000"/>
              </a:lnSpc>
              <a:spcAft>
                <a:spcPts val="400"/>
              </a:spcAft>
            </a:pPr>
            <a:r>
              <a:rPr sz="1050" b="1" i="0">
                <a:solidFill>
                  <a:srgbClr val="9DC0EE"/>
                </a:solidFill>
                <a:latin typeface="Calibri"/>
                <a:ea typeface="Calibri"/>
              </a:rPr>
              <a:t>open in editor →  </a:t>
            </a:r>
            <a:r>
              <a:rPr sz="1050" b="1" i="0">
                <a:solidFill>
                  <a:srgbClr val="61AFEF"/>
                </a:solidFill>
                <a:latin typeface="Calibri"/>
                <a:ea typeface="Calibri"/>
                <a:hlinkClick r:id="rId2"/>
                <a:extLst>
                  <a:ext uri="{A12FA001-AC4F-418D-AE19-62706E023703}">
                    <ahyp:hlinkClr xmlns:ahyp="http://schemas.microsoft.com/office/drawing/2018/hyperlinkcolor" xmlns="" val="tx"/>
                  </a:ext>
                </a:extLst>
              </a:rPr>
              <a:t>css-layout/box-model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Think of It Like an Egg</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pic>
        <p:nvPicPr>
          <p:cNvPr id="5" name="EGG_IMG" descr="A labelled egg. The yolk is the content; the albumen is the padding; the shell is the border; the margin is how far the egg sits from anything else, shown by a second tiny egg."/>
          <p:cNvPicPr>
            <a:picLocks noChangeAspect="1"/>
          </p:cNvPicPr>
          <p:nvPr/>
        </p:nvPicPr>
        <p:blipFill>
          <a:blip r:embed="rId2"/>
          <a:stretch>
            <a:fillRect/>
          </a:stretch>
        </p:blipFill>
        <p:spPr>
          <a:xfrm>
            <a:off x="2243440" y="1024128"/>
            <a:ext cx="7704813" cy="4663440"/>
          </a:xfrm>
          <a:prstGeom prst="rect">
            <a:avLst/>
          </a:prstGeom>
        </p:spPr>
      </p:pic>
      <p:sp>
        <p:nvSpPr>
          <p:cNvPr id="6" name="Rounded Rectangle 5"/>
          <p:cNvSpPr/>
          <p:nvPr/>
        </p:nvSpPr>
        <p:spPr>
          <a:xfrm>
            <a:off x="548640" y="585216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5943600"/>
            <a:ext cx="10362895"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FFFFFF"/>
                </a:solidFill>
                <a:latin typeface="Calibri"/>
                <a:ea typeface="Calibri"/>
              </a:rPr>
              <a:t>Yolk, albumen, shell — and the gap to the next egg.</a:t>
            </a:r>
          </a:p>
        </p:txBody>
      </p:sp>
      <p:sp>
        <p:nvSpPr>
          <p:cNvPr id="8" name="TextBox 7"/>
          <p:cNvSpPr txBox="1"/>
          <p:nvPr/>
        </p:nvSpPr>
        <p:spPr>
          <a:xfrm>
            <a:off x="3840480" y="5852160"/>
            <a:ext cx="7436815" cy="475488"/>
          </a:xfrm>
          <a:prstGeom prst="rect">
            <a:avLst/>
          </a:prstGeom>
          <a:noFill/>
        </p:spPr>
        <p:txBody>
          <a:bodyPr wrap="square" lIns="0" tIns="0" rIns="0" bIns="0" anchor="ctr">
            <a:spAutoFit/>
          </a:bodyPr>
          <a:lstStyle/>
          <a:p>
            <a:pPr algn="r">
              <a:lnSpc>
                <a:spcPct val="110000"/>
              </a:lnSpc>
              <a:spcAft>
                <a:spcPts val="400"/>
              </a:spcAft>
            </a:pPr>
            <a:r>
              <a:rPr sz="1050" b="1" i="0">
                <a:solidFill>
                  <a:srgbClr val="9DC0EE"/>
                </a:solidFill>
                <a:latin typeface="Calibri"/>
                <a:ea typeface="Calibri"/>
              </a:rPr>
              <a:t>open in editor →  </a:t>
            </a:r>
            <a:r>
              <a:rPr sz="1050" b="1" i="0">
                <a:solidFill>
                  <a:srgbClr val="61AFEF"/>
                </a:solidFill>
                <a:latin typeface="Calibri"/>
                <a:ea typeface="Calibri"/>
                <a:hlinkClick r:id="rId3"/>
                <a:extLst>
                  <a:ext uri="{A12FA001-AC4F-418D-AE19-62706E023703}">
                    <ahyp:hlinkClr xmlns:ahyp="http://schemas.microsoft.com/office/drawing/2018/hyperlinkcolor" xmlns="" val="tx"/>
                  </a:ext>
                </a:extLst>
              </a:rPr>
              <a:t>css-layout/box-model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The Box in Code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rule, five layers</a:t>
            </a:r>
            <a:br/>
            <a:r>
              <a:rPr sz="1350" b="0" i="0">
                <a:solidFill>
                  <a:srgbClr val="4A5568"/>
                </a:solidFill>
                <a:latin typeface="Calibri"/>
                <a:ea typeface="Calibri"/>
              </a:rPr>
              <a:t>A single div declares its size, its edge, its cushion and its outside space.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Width</a:t>
            </a:r>
            <a:br/>
            <a:r>
              <a:rPr sz="1350" b="0" i="0">
                <a:solidFill>
                  <a:srgbClr val="4A5568"/>
                </a:solidFill>
                <a:latin typeface="Calibri"/>
                <a:ea typeface="Calibri"/>
              </a:rPr>
              <a:t>300px of content area — nothing more, unless box-sizing says otherwise.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Border</a:t>
            </a:r>
            <a:br/>
            <a:r>
              <a:rPr sz="1350" b="0" i="0">
                <a:solidFill>
                  <a:srgbClr val="4A5568"/>
                </a:solidFill>
                <a:latin typeface="Calibri"/>
                <a:ea typeface="Calibri"/>
              </a:rPr>
              <a:t>25px of solid green, drawn around the padding.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Padding</a:t>
            </a:r>
            <a:br/>
            <a:r>
              <a:rPr sz="1350" b="0" i="0">
                <a:solidFill>
                  <a:srgbClr val="4A5568"/>
                </a:solidFill>
                <a:latin typeface="Calibri"/>
                <a:ea typeface="Calibri"/>
              </a:rPr>
              <a:t>25px of cushion on all four sides, inside the edge.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Margin</a:t>
            </a:r>
            <a:br/>
            <a:r>
              <a:rPr sz="1350" b="0" i="0">
                <a:solidFill>
                  <a:srgbClr val="4A5568"/>
                </a:solidFill>
                <a:latin typeface="Calibri"/>
                <a:ea typeface="Calibri"/>
              </a:rPr>
              <a:t>25px of clear space outside the edge — never painted.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div {</a:t>
            </a:r>
          </a:p>
          <a:p>
            <a:pPr>
              <a:spcAft>
                <a:spcPts val="350"/>
              </a:spcAft>
            </a:pPr>
            <a:r>
              <a:rPr sz="1300" b="0" i="0">
                <a:solidFill>
                  <a:srgbClr val="98C379"/>
                </a:solidFill>
                <a:latin typeface="Consolas"/>
                <a:ea typeface="Consolas"/>
              </a:rPr>
              <a:t>  width: 300px;</a:t>
            </a:r>
          </a:p>
          <a:p>
            <a:pPr>
              <a:spcAft>
                <a:spcPts val="350"/>
              </a:spcAft>
            </a:pPr>
            <a:r>
              <a:rPr sz="1300" b="0" i="0">
                <a:solidFill>
                  <a:srgbClr val="E5C07B"/>
                </a:solidFill>
                <a:latin typeface="Consolas"/>
                <a:ea typeface="Consolas"/>
              </a:rPr>
              <a:t>  border: 25px solid green;</a:t>
            </a:r>
          </a:p>
          <a:p>
            <a:pPr>
              <a:spcAft>
                <a:spcPts val="350"/>
              </a:spcAft>
            </a:pPr>
            <a:r>
              <a:rPr sz="1300" b="0" i="0">
                <a:solidFill>
                  <a:srgbClr val="98C379"/>
                </a:solidFill>
                <a:latin typeface="Consolas"/>
                <a:ea typeface="Consolas"/>
              </a:rPr>
              <a:t>  padding: 25px;</a:t>
            </a:r>
          </a:p>
          <a:p>
            <a:pPr>
              <a:spcAft>
                <a:spcPts val="350"/>
              </a:spcAft>
            </a:pPr>
            <a:r>
              <a:rPr sz="1300" b="0" i="0">
                <a:solidFill>
                  <a:srgbClr val="98C379"/>
                </a:solidFill>
                <a:latin typeface="Consolas"/>
                <a:ea typeface="Consolas"/>
              </a:rPr>
              <a:t>  margin: 25px;</a:t>
            </a:r>
          </a:p>
          <a:p>
            <a:pPr>
              <a:spcAft>
                <a:spcPts val="350"/>
              </a:spcAft>
            </a:pPr>
            <a:r>
              <a:rPr sz="1300" b="0" i="0">
                <a:solidFill>
                  <a:srgbClr val="61AFEF"/>
                </a:solidFill>
                <a:latin typeface="Consolas"/>
                <a:ea typeface="Consolas"/>
              </a:rPr>
              <a:t>}</a:t>
            </a:r>
          </a:p>
          <a:p>
            <a:pPr>
              <a:spcAft>
                <a:spcPts val="350"/>
              </a:spcAft>
            </a:pPr>
            <a:endParaRPr sz="1300" b="0" i="0">
              <a:solidFill>
                <a:srgbClr val="61AFEF"/>
              </a:solidFill>
              <a:latin typeface="Consolas"/>
              <a:ea typeface="Consolas"/>
            </a:endParaRPr>
          </a:p>
          <a:p>
            <a:pPr>
              <a:spcAft>
                <a:spcPts val="350"/>
              </a:spcAft>
            </a:pPr>
            <a:r>
              <a:rPr sz="1300" b="0" i="0">
                <a:solidFill>
                  <a:srgbClr val="7F8C98"/>
                </a:solidFill>
                <a:latin typeface="Consolas"/>
                <a:ea typeface="Consolas"/>
              </a:rPr>
              <a:t>/* 300 + 25 edge + 25 cushion = 400px box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editor.html?example=css-layout/box-model</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300px of content, a 25px edge and 25px of cushion — a 400px box, with 25px of margin outside it.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Border — Style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32688"/>
            <a:ext cx="4370832" cy="4599432"/>
          </a:xfrm>
          <a:prstGeom prst="rect">
            <a:avLst/>
          </a:prstGeom>
          <a:noFill/>
        </p:spPr>
        <p:txBody>
          <a:bodyPr wrap="square" lIns="0" tIns="0" rIns="0" bIns="0">
            <a:normAutofit/>
          </a:bodyPr>
          <a:lstStyle/>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border-style</a:t>
            </a:r>
            <a:br/>
            <a:r>
              <a:rPr sz="1300" b="0" i="0">
                <a:solidFill>
                  <a:srgbClr val="4A5568"/>
                </a:solidFill>
                <a:latin typeface="Calibri"/>
                <a:ea typeface="Calibri"/>
              </a:rPr>
              <a:t>The one statement you cannot leave out — set a thickness and a colour without it and nothing is drawn at all.</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solid</a:t>
            </a:r>
            <a:br/>
            <a:r>
              <a:rPr sz="1300" b="0" i="0">
                <a:solidFill>
                  <a:srgbClr val="4A5568"/>
                </a:solidFill>
                <a:latin typeface="Calibri"/>
                <a:ea typeface="Calibri"/>
              </a:rPr>
              <a:t>One even line — the choice for cards, panels and inputs.</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dashed · dotted</a:t>
            </a:r>
            <a:br/>
            <a:r>
              <a:rPr sz="1300" b="0" i="0">
                <a:solidFill>
                  <a:srgbClr val="4A5568"/>
                </a:solidFill>
                <a:latin typeface="Calibri"/>
                <a:ea typeface="Calibri"/>
              </a:rPr>
              <a:t>Broken lines, for drop zones and placeholders.</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double</a:t>
            </a:r>
            <a:br/>
            <a:r>
              <a:rPr sz="1300" b="0" i="0">
                <a:solidFill>
                  <a:srgbClr val="4A5568"/>
                </a:solidFill>
                <a:latin typeface="Calibri"/>
                <a:ea typeface="Calibri"/>
              </a:rPr>
              <a:t>Two lines with a gap; needs about 3px or more to read.</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groove · ridge · inset · outset</a:t>
            </a:r>
            <a:br/>
            <a:r>
              <a:rPr sz="1300" b="0" i="0">
                <a:solidFill>
                  <a:srgbClr val="4A5568"/>
                </a:solidFill>
                <a:latin typeface="Calibri"/>
                <a:ea typeface="Calibri"/>
              </a:rPr>
              <a:t>3D-looking edges the browser draws for you.</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none · hidden</a:t>
            </a:r>
            <a:br/>
            <a:r>
              <a:rPr sz="1300" b="0" i="0">
                <a:solidFill>
                  <a:srgbClr val="4A5568"/>
                </a:solidFill>
                <a:latin typeface="Calibri"/>
                <a:ea typeface="Calibri"/>
              </a:rPr>
              <a:t>No border — and no room reserved for one.</a:t>
            </a:r>
          </a:p>
        </p:txBody>
      </p:sp>
      <p:sp>
        <p:nvSpPr>
          <p:cNvPr id="6" name="Rounded Rectangle 5"/>
          <p:cNvSpPr/>
          <p:nvPr/>
        </p:nvSpPr>
        <p:spPr>
          <a:xfrm>
            <a:off x="5394960" y="932688"/>
            <a:ext cx="624809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05856" y="1115568"/>
            <a:ext cx="5626303"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border-style  </a:t>
            </a:r>
            <a:r>
              <a:rPr sz="1100" b="0" i="0">
                <a:solidFill>
                  <a:srgbClr val="4A5568"/>
                </a:solidFill>
                <a:latin typeface="Calibri"/>
                <a:ea typeface="Calibri"/>
              </a:rPr>
              <a:t>border: 3px solid #185fa5</a:t>
            </a:r>
          </a:p>
        </p:txBody>
      </p:sp>
      <p:sp>
        <p:nvSpPr>
          <p:cNvPr id="8" name="Rectangle 7"/>
          <p:cNvSpPr/>
          <p:nvPr/>
        </p:nvSpPr>
        <p:spPr>
          <a:xfrm>
            <a:off x="5724144"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05856" y="1700784"/>
            <a:ext cx="2103120" cy="548640"/>
          </a:xfrm>
          <a:prstGeom prst="rect">
            <a:avLst/>
          </a:prstGeom>
          <a:solidFill>
            <a:srgbClr val="E8EFF8"/>
          </a:solidFill>
          <a:ln w="381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01583" y="1819655"/>
            <a:ext cx="3230575" cy="310896"/>
          </a:xfrm>
          <a:prstGeom prst="rect">
            <a:avLst/>
          </a:prstGeom>
          <a:noFill/>
        </p:spPr>
        <p:txBody>
          <a:bodyPr wrap="square" lIns="0" tIns="0" rIns="0" bIns="0" anchor="t">
            <a:spAutoFit/>
          </a:bodyPr>
          <a:lstStyle/>
          <a:p>
            <a:pPr algn="l">
              <a:lnSpc>
                <a:spcPct val="110000"/>
              </a:lnSpc>
              <a:spcAft>
                <a:spcPts val="400"/>
              </a:spcAft>
            </a:pPr>
            <a:r>
              <a:rPr sz="1500" b="1" i="0">
                <a:solidFill>
                  <a:srgbClr val="0E3F8C"/>
                </a:solidFill>
                <a:latin typeface="Consolas"/>
                <a:ea typeface="Consolas"/>
              </a:rPr>
              <a:t>solid</a:t>
            </a:r>
          </a:p>
        </p:txBody>
      </p:sp>
      <p:sp>
        <p:nvSpPr>
          <p:cNvPr id="11" name="Rectangle 10"/>
          <p:cNvSpPr/>
          <p:nvPr/>
        </p:nvSpPr>
        <p:spPr>
          <a:xfrm>
            <a:off x="5705856" y="2475737"/>
            <a:ext cx="2103120" cy="548640"/>
          </a:xfrm>
          <a:prstGeom prst="rect">
            <a:avLst/>
          </a:prstGeom>
          <a:solidFill>
            <a:srgbClr val="E8EFF8"/>
          </a:solidFill>
          <a:ln w="38100">
            <a:solidFill>
              <a:srgbClr val="185F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01583" y="2594609"/>
            <a:ext cx="3230575" cy="310896"/>
          </a:xfrm>
          <a:prstGeom prst="rect">
            <a:avLst/>
          </a:prstGeom>
          <a:noFill/>
        </p:spPr>
        <p:txBody>
          <a:bodyPr wrap="square" lIns="0" tIns="0" rIns="0" bIns="0" anchor="t">
            <a:spAutoFit/>
          </a:bodyPr>
          <a:lstStyle/>
          <a:p>
            <a:pPr algn="l">
              <a:lnSpc>
                <a:spcPct val="110000"/>
              </a:lnSpc>
              <a:spcAft>
                <a:spcPts val="400"/>
              </a:spcAft>
            </a:pPr>
            <a:r>
              <a:rPr sz="1500" b="1" i="0">
                <a:solidFill>
                  <a:srgbClr val="0E3F8C"/>
                </a:solidFill>
                <a:latin typeface="Consolas"/>
                <a:ea typeface="Consolas"/>
              </a:rPr>
              <a:t>dashed</a:t>
            </a:r>
          </a:p>
        </p:txBody>
      </p:sp>
      <p:sp>
        <p:nvSpPr>
          <p:cNvPr id="13" name="Rectangle 12"/>
          <p:cNvSpPr/>
          <p:nvPr/>
        </p:nvSpPr>
        <p:spPr>
          <a:xfrm>
            <a:off x="5705856" y="3250691"/>
            <a:ext cx="2103120" cy="548640"/>
          </a:xfrm>
          <a:prstGeom prst="rect">
            <a:avLst/>
          </a:prstGeom>
          <a:solidFill>
            <a:srgbClr val="E8EFF8"/>
          </a:solidFill>
          <a:ln w="38100">
            <a:solidFill>
              <a:srgbClr val="185FA5"/>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1583" y="3369563"/>
            <a:ext cx="3230575" cy="310896"/>
          </a:xfrm>
          <a:prstGeom prst="rect">
            <a:avLst/>
          </a:prstGeom>
          <a:noFill/>
        </p:spPr>
        <p:txBody>
          <a:bodyPr wrap="square" lIns="0" tIns="0" rIns="0" bIns="0" anchor="t">
            <a:spAutoFit/>
          </a:bodyPr>
          <a:lstStyle/>
          <a:p>
            <a:pPr algn="l">
              <a:lnSpc>
                <a:spcPct val="110000"/>
              </a:lnSpc>
              <a:spcAft>
                <a:spcPts val="400"/>
              </a:spcAft>
            </a:pPr>
            <a:r>
              <a:rPr sz="1500" b="1" i="0">
                <a:solidFill>
                  <a:srgbClr val="0E3F8C"/>
                </a:solidFill>
                <a:latin typeface="Consolas"/>
                <a:ea typeface="Consolas"/>
              </a:rPr>
              <a:t>dotted</a:t>
            </a:r>
          </a:p>
        </p:txBody>
      </p:sp>
      <p:sp>
        <p:nvSpPr>
          <p:cNvPr id="15" name="Rectangle 14"/>
          <p:cNvSpPr/>
          <p:nvPr/>
        </p:nvSpPr>
        <p:spPr>
          <a:xfrm>
            <a:off x="5705856" y="4025646"/>
            <a:ext cx="2103120" cy="548640"/>
          </a:xfrm>
          <a:prstGeom prst="rect">
            <a:avLst/>
          </a:prstGeom>
          <a:noFill/>
          <a:ln w="190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756148" y="4075937"/>
            <a:ext cx="2002536" cy="448056"/>
          </a:xfrm>
          <a:prstGeom prst="rect">
            <a:avLst/>
          </a:prstGeom>
          <a:noFill/>
          <a:ln w="190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01583" y="4144518"/>
            <a:ext cx="3230575" cy="310896"/>
          </a:xfrm>
          <a:prstGeom prst="rect">
            <a:avLst/>
          </a:prstGeom>
          <a:noFill/>
        </p:spPr>
        <p:txBody>
          <a:bodyPr wrap="square" lIns="0" tIns="0" rIns="0" bIns="0" anchor="t">
            <a:spAutoFit/>
          </a:bodyPr>
          <a:lstStyle/>
          <a:p>
            <a:pPr algn="l">
              <a:lnSpc>
                <a:spcPct val="110000"/>
              </a:lnSpc>
              <a:spcAft>
                <a:spcPts val="400"/>
              </a:spcAft>
            </a:pPr>
            <a:r>
              <a:rPr sz="1500" b="1" i="0">
                <a:solidFill>
                  <a:srgbClr val="0E3F8C"/>
                </a:solidFill>
                <a:latin typeface="Consolas"/>
                <a:ea typeface="Consolas"/>
              </a:rPr>
              <a:t>double</a:t>
            </a:r>
          </a:p>
        </p:txBody>
      </p:sp>
      <p:sp>
        <p:nvSpPr>
          <p:cNvPr id="18" name="Rectangle 17"/>
          <p:cNvSpPr/>
          <p:nvPr/>
        </p:nvSpPr>
        <p:spPr>
          <a:xfrm>
            <a:off x="5705856" y="4800600"/>
            <a:ext cx="2103120" cy="548640"/>
          </a:xfrm>
          <a:prstGeom prst="rect">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01583" y="4919472"/>
            <a:ext cx="3230575" cy="310896"/>
          </a:xfrm>
          <a:prstGeom prst="rect">
            <a:avLst/>
          </a:prstGeom>
          <a:noFill/>
        </p:spPr>
        <p:txBody>
          <a:bodyPr wrap="square" lIns="0" tIns="0" rIns="0" bIns="0" anchor="t">
            <a:spAutoFit/>
          </a:bodyPr>
          <a:lstStyle/>
          <a:p>
            <a:pPr algn="l">
              <a:lnSpc>
                <a:spcPct val="110000"/>
              </a:lnSpc>
              <a:spcAft>
                <a:spcPts val="400"/>
              </a:spcAft>
            </a:pPr>
            <a:r>
              <a:rPr sz="1500" b="1" i="0">
                <a:solidFill>
                  <a:srgbClr val="0E3F8C"/>
                </a:solidFill>
                <a:latin typeface="Consolas"/>
                <a:ea typeface="Consolas"/>
              </a:rPr>
              <a:t>none</a:t>
            </a:r>
          </a:p>
        </p:txBody>
      </p:sp>
      <p:sp>
        <p:nvSpPr>
          <p:cNvPr id="20" name="Rounded Rectangle 19"/>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Ten possible edges, one property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editor.html?example=css-layout/border-style</a:t>
            </a:r>
          </a:p>
        </p:txBody>
      </p:sp>
      <p:sp>
        <p:nvSpPr>
          <p:cNvPr id="22" name="TextBox 21"/>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border-style: solid;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Border — Width &amp; Colour</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border-width</a:t>
            </a:r>
            <a:br/>
            <a:r>
              <a:rPr sz="1350" b="0" i="0">
                <a:solidFill>
                  <a:srgbClr val="4A5568"/>
                </a:solidFill>
                <a:latin typeface="Calibri"/>
                <a:ea typeface="Calibri"/>
              </a:rPr>
              <a:t>A length in px, em or rem — or the keyword thin, medium or thick.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border-color</a:t>
            </a:r>
            <a:br/>
            <a:r>
              <a:rPr sz="1350" b="0" i="0">
                <a:solidFill>
                  <a:srgbClr val="4A5568"/>
                </a:solidFill>
                <a:latin typeface="Calibri"/>
                <a:ea typeface="Calibri"/>
              </a:rPr>
              <a:t>Any colour you can write anywhere else in CSS.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number, four sides</a:t>
            </a:r>
            <a:br/>
            <a:r>
              <a:rPr sz="1350" b="0" i="0">
                <a:solidFill>
                  <a:srgbClr val="4A5568"/>
                </a:solidFill>
                <a:latin typeface="Calibri"/>
                <a:ea typeface="Calibri"/>
              </a:rPr>
              <a:t>A single length applies to all four edges.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Two numbers</a:t>
            </a:r>
            <a:br/>
            <a:r>
              <a:rPr sz="1350" b="0" i="0">
                <a:solidFill>
                  <a:srgbClr val="4A5568"/>
                </a:solidFill>
                <a:latin typeface="Calibri"/>
                <a:ea typeface="Calibri"/>
              </a:rPr>
              <a:t>Top and bottom first, then left and right.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Keywords are coarse</a:t>
            </a:r>
            <a:br/>
            <a:r>
              <a:rPr sz="1350" b="0" i="0">
                <a:solidFill>
                  <a:srgbClr val="4A5568"/>
                </a:solidFill>
                <a:latin typeface="Calibri"/>
                <a:ea typeface="Calibri"/>
              </a:rPr>
              <a:t>thin, medium and thick are browser-defined — lengths are predictable.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98C379"/>
                </a:solidFill>
                <a:latin typeface="Consolas"/>
                <a:ea typeface="Consolas"/>
              </a:rPr>
              <a:t>p.one { border-style: solid; border-color: red; }</a:t>
            </a:r>
          </a:p>
          <a:p>
            <a:pPr>
              <a:spcAft>
                <a:spcPts val="350"/>
              </a:spcAft>
            </a:pPr>
            <a:r>
              <a:rPr sz="1300" b="0" i="0">
                <a:solidFill>
                  <a:srgbClr val="98C379"/>
                </a:solidFill>
                <a:latin typeface="Consolas"/>
                <a:ea typeface="Consolas"/>
              </a:rPr>
              <a:t>p.two { border-style: solid; border-color: green; }</a:t>
            </a:r>
          </a:p>
          <a:p>
            <a:pPr>
              <a:spcAft>
                <a:spcPts val="350"/>
              </a:spcAft>
            </a:pPr>
            <a:r>
              <a:rPr sz="1300" b="0" i="0">
                <a:solidFill>
                  <a:srgbClr val="98C379"/>
                </a:solidFill>
                <a:latin typeface="Consolas"/>
                <a:ea typeface="Consolas"/>
              </a:rPr>
              <a:t>p.three { border-style: dotted;</a:t>
            </a:r>
          </a:p>
          <a:p>
            <a:pPr>
              <a:spcAft>
                <a:spcPts val="350"/>
              </a:spcAft>
            </a:pPr>
            <a:r>
              <a:rPr sz="1300" b="0" i="0">
                <a:solidFill>
                  <a:srgbClr val="98C379"/>
                </a:solidFill>
                <a:latin typeface="Consolas"/>
                <a:ea typeface="Consolas"/>
              </a:rPr>
              <a:t>          border-color: blue; }</a:t>
            </a:r>
          </a:p>
          <a:p>
            <a:pPr>
              <a:spcAft>
                <a:spcPts val="350"/>
              </a:spcAft>
            </a:pPr>
            <a:endParaRPr sz="1300" b="0" i="0">
              <a:solidFill>
                <a:srgbClr val="98C379"/>
              </a:solidFill>
              <a:latin typeface="Consolas"/>
              <a:ea typeface="Consolas"/>
            </a:endParaRPr>
          </a:p>
          <a:p>
            <a:pPr>
              <a:spcAft>
                <a:spcPts val="350"/>
              </a:spcAft>
            </a:pPr>
            <a:r>
              <a:rPr sz="1300" b="0" i="0">
                <a:solidFill>
                  <a:srgbClr val="E5C07B"/>
                </a:solidFill>
                <a:latin typeface="Consolas"/>
                <a:ea typeface="Consolas"/>
              </a:rPr>
              <a:t>p.w1 { border-style: solid; border-width: 5px; }</a:t>
            </a:r>
          </a:p>
          <a:p>
            <a:pPr>
              <a:spcAft>
                <a:spcPts val="350"/>
              </a:spcAft>
            </a:pPr>
            <a:r>
              <a:rPr sz="1300" b="0" i="0">
                <a:solidFill>
                  <a:srgbClr val="E5C07B"/>
                </a:solidFill>
                <a:latin typeface="Consolas"/>
                <a:ea typeface="Consolas"/>
              </a:rPr>
              <a:t>p.w2 { border-style: solid;</a:t>
            </a:r>
          </a:p>
          <a:p>
            <a:pPr>
              <a:spcAft>
                <a:spcPts val="350"/>
              </a:spcAft>
            </a:pPr>
            <a:r>
              <a:rPr sz="1300" b="0" i="0">
                <a:solidFill>
                  <a:srgbClr val="E5C07B"/>
                </a:solidFill>
                <a:latin typeface="Consolas"/>
                <a:ea typeface="Consolas"/>
              </a:rPr>
              <a:t>        border-width: medium; }</a:t>
            </a:r>
          </a:p>
          <a:p>
            <a:pPr>
              <a:spcAft>
                <a:spcPts val="350"/>
              </a:spcAft>
            </a:pPr>
            <a:r>
              <a:rPr sz="1300" b="0" i="0">
                <a:solidFill>
                  <a:srgbClr val="E5C07B"/>
                </a:solidFill>
                <a:latin typeface="Consolas"/>
                <a:ea typeface="Consolas"/>
              </a:rPr>
              <a:t>p.w3 { border-style: dotted; border-width: 2px; }</a:t>
            </a:r>
          </a:p>
          <a:p>
            <a:pPr>
              <a:spcAft>
                <a:spcPts val="350"/>
              </a:spcAft>
            </a:pPr>
            <a:r>
              <a:rPr sz="1300" b="0" i="0">
                <a:solidFill>
                  <a:srgbClr val="E5C07B"/>
                </a:solidFill>
                <a:latin typeface="Consolas"/>
                <a:ea typeface="Consolas"/>
              </a:rPr>
              <a:t>p.w4 { border-style: dotted; border-width: thick;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editor.html?example=css-layout/border-width-colour</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A border needs all three parts. Width and colour without a style draw nothing.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Border — Sides &amp; the Number Order</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Rectangle 4"/>
          <p:cNvSpPr/>
          <p:nvPr/>
        </p:nvSpPr>
        <p:spPr>
          <a:xfrm>
            <a:off x="548640" y="932688"/>
            <a:ext cx="174209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32688"/>
            <a:ext cx="1412914" cy="512064"/>
          </a:xfrm>
          <a:prstGeom prst="rect">
            <a:avLst/>
          </a:prstGeom>
          <a:noFill/>
        </p:spPr>
        <p:txBody>
          <a:bodyPr wrap="square" lIns="0" tIns="0" rIns="0" bIns="0" anchor="ctr">
            <a:spAutoFit/>
          </a:bodyPr>
          <a:lstStyle/>
          <a:p>
            <a:pPr algn="l">
              <a:lnSpc>
                <a:spcPct val="110000"/>
              </a:lnSpc>
              <a:spcAft>
                <a:spcPts val="0"/>
              </a:spcAft>
            </a:pPr>
            <a:r>
              <a:rPr sz="1300" b="1" i="0">
                <a:solidFill>
                  <a:srgbClr val="FFFFFF"/>
                </a:solidFill>
                <a:latin typeface="Calibri"/>
                <a:ea typeface="Calibri"/>
              </a:rPr>
              <a:t>Numbers</a:t>
            </a:r>
          </a:p>
        </p:txBody>
      </p:sp>
      <p:sp>
        <p:nvSpPr>
          <p:cNvPr id="7" name="Rectangle 6"/>
          <p:cNvSpPr/>
          <p:nvPr/>
        </p:nvSpPr>
        <p:spPr>
          <a:xfrm>
            <a:off x="2290738" y="932688"/>
            <a:ext cx="421771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55330" y="932688"/>
            <a:ext cx="3888527" cy="512064"/>
          </a:xfrm>
          <a:prstGeom prst="rect">
            <a:avLst/>
          </a:prstGeom>
          <a:noFill/>
        </p:spPr>
        <p:txBody>
          <a:bodyPr wrap="square" lIns="0" tIns="0" rIns="0" bIns="0" anchor="ctr">
            <a:spAutoFit/>
          </a:bodyPr>
          <a:lstStyle/>
          <a:p>
            <a:pPr algn="l">
              <a:lnSpc>
                <a:spcPct val="110000"/>
              </a:lnSpc>
              <a:spcAft>
                <a:spcPts val="0"/>
              </a:spcAft>
            </a:pPr>
            <a:r>
              <a:rPr sz="1300" b="1" i="0">
                <a:solidFill>
                  <a:srgbClr val="FFFFFF"/>
                </a:solidFill>
                <a:latin typeface="Calibri"/>
                <a:ea typeface="Calibri"/>
              </a:rPr>
              <a:t>Which side</a:t>
            </a:r>
          </a:p>
        </p:txBody>
      </p:sp>
      <p:sp>
        <p:nvSpPr>
          <p:cNvPr id="9" name="Rectangle 8"/>
          <p:cNvSpPr/>
          <p:nvPr/>
        </p:nvSpPr>
        <p:spPr>
          <a:xfrm>
            <a:off x="6508449" y="932688"/>
            <a:ext cx="513460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3041" y="932688"/>
            <a:ext cx="4805421" cy="512064"/>
          </a:xfrm>
          <a:prstGeom prst="rect">
            <a:avLst/>
          </a:prstGeom>
          <a:noFill/>
        </p:spPr>
        <p:txBody>
          <a:bodyPr wrap="square" lIns="0" tIns="0" rIns="0" bIns="0" anchor="ctr">
            <a:spAutoFit/>
          </a:bodyPr>
          <a:lstStyle/>
          <a:p>
            <a:pPr algn="l">
              <a:lnSpc>
                <a:spcPct val="110000"/>
              </a:lnSpc>
              <a:spcAft>
                <a:spcPts val="0"/>
              </a:spcAft>
            </a:pPr>
            <a:r>
              <a:rPr sz="1300" b="1" i="0">
                <a:solidFill>
                  <a:srgbClr val="FFFFFF"/>
                </a:solidFill>
                <a:latin typeface="Calibri"/>
                <a:ea typeface="Calibri"/>
              </a:rPr>
              <a:t>Example</a:t>
            </a:r>
          </a:p>
        </p:txBody>
      </p:sp>
      <p:sp>
        <p:nvSpPr>
          <p:cNvPr id="11" name="Rectangle 10"/>
          <p:cNvSpPr/>
          <p:nvPr/>
        </p:nvSpPr>
        <p:spPr>
          <a:xfrm>
            <a:off x="548640" y="1444752"/>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444752"/>
            <a:ext cx="1412914"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1</a:t>
            </a:r>
          </a:p>
        </p:txBody>
      </p:sp>
      <p:sp>
        <p:nvSpPr>
          <p:cNvPr id="13" name="Rectangle 12"/>
          <p:cNvSpPr/>
          <p:nvPr/>
        </p:nvSpPr>
        <p:spPr>
          <a:xfrm>
            <a:off x="2290738" y="1444752"/>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55330" y="1444752"/>
            <a:ext cx="388852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all four sides</a:t>
            </a:r>
          </a:p>
        </p:txBody>
      </p:sp>
      <p:sp>
        <p:nvSpPr>
          <p:cNvPr id="15" name="Rectangle 14"/>
          <p:cNvSpPr/>
          <p:nvPr/>
        </p:nvSpPr>
        <p:spPr>
          <a:xfrm>
            <a:off x="6508449" y="1444752"/>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3041" y="1444752"/>
            <a:ext cx="4805421"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border-width: 4px;</a:t>
            </a:r>
          </a:p>
        </p:txBody>
      </p:sp>
      <p:sp>
        <p:nvSpPr>
          <p:cNvPr id="17" name="Rectangle 16"/>
          <p:cNvSpPr/>
          <p:nvPr/>
        </p:nvSpPr>
        <p:spPr>
          <a:xfrm>
            <a:off x="548640" y="2011680"/>
            <a:ext cx="174209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011680"/>
            <a:ext cx="1412914"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2</a:t>
            </a:r>
          </a:p>
        </p:txBody>
      </p:sp>
      <p:sp>
        <p:nvSpPr>
          <p:cNvPr id="19" name="Rectangle 18"/>
          <p:cNvSpPr/>
          <p:nvPr/>
        </p:nvSpPr>
        <p:spPr>
          <a:xfrm>
            <a:off x="2290738" y="2011680"/>
            <a:ext cx="421771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55330" y="2011680"/>
            <a:ext cx="388852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top/bottom · left/right</a:t>
            </a:r>
          </a:p>
        </p:txBody>
      </p:sp>
      <p:sp>
        <p:nvSpPr>
          <p:cNvPr id="21" name="Rectangle 20"/>
          <p:cNvSpPr/>
          <p:nvPr/>
        </p:nvSpPr>
        <p:spPr>
          <a:xfrm>
            <a:off x="6508449" y="2011680"/>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3041" y="2011680"/>
            <a:ext cx="4805421"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border-width: 4px 12px;</a:t>
            </a:r>
          </a:p>
        </p:txBody>
      </p:sp>
      <p:sp>
        <p:nvSpPr>
          <p:cNvPr id="23" name="Rectangle 22"/>
          <p:cNvSpPr/>
          <p:nvPr/>
        </p:nvSpPr>
        <p:spPr>
          <a:xfrm>
            <a:off x="548640" y="2578608"/>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2578608"/>
            <a:ext cx="1412914"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3</a:t>
            </a:r>
          </a:p>
        </p:txBody>
      </p:sp>
      <p:sp>
        <p:nvSpPr>
          <p:cNvPr id="25" name="Rectangle 24"/>
          <p:cNvSpPr/>
          <p:nvPr/>
        </p:nvSpPr>
        <p:spPr>
          <a:xfrm>
            <a:off x="2290738" y="2578608"/>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455330" y="2578608"/>
            <a:ext cx="388852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top · left/right · bottom</a:t>
            </a:r>
          </a:p>
        </p:txBody>
      </p:sp>
      <p:sp>
        <p:nvSpPr>
          <p:cNvPr id="27" name="Rectangle 26"/>
          <p:cNvSpPr/>
          <p:nvPr/>
        </p:nvSpPr>
        <p:spPr>
          <a:xfrm>
            <a:off x="6508449" y="2578608"/>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73041" y="2578608"/>
            <a:ext cx="4805421"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border-width: 4px 12px 20px;</a:t>
            </a:r>
          </a:p>
        </p:txBody>
      </p:sp>
      <p:sp>
        <p:nvSpPr>
          <p:cNvPr id="29" name="Rectangle 28"/>
          <p:cNvSpPr/>
          <p:nvPr/>
        </p:nvSpPr>
        <p:spPr>
          <a:xfrm>
            <a:off x="548640" y="3145536"/>
            <a:ext cx="174209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145536"/>
            <a:ext cx="1412914"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4</a:t>
            </a:r>
          </a:p>
        </p:txBody>
      </p:sp>
      <p:sp>
        <p:nvSpPr>
          <p:cNvPr id="31" name="Rectangle 30"/>
          <p:cNvSpPr/>
          <p:nvPr/>
        </p:nvSpPr>
        <p:spPr>
          <a:xfrm>
            <a:off x="2290738" y="3145536"/>
            <a:ext cx="421771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455330" y="3145536"/>
            <a:ext cx="388852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top · right · bottom · left</a:t>
            </a:r>
          </a:p>
        </p:txBody>
      </p:sp>
      <p:sp>
        <p:nvSpPr>
          <p:cNvPr id="33" name="Rectangle 32"/>
          <p:cNvSpPr/>
          <p:nvPr/>
        </p:nvSpPr>
        <p:spPr>
          <a:xfrm>
            <a:off x="6508449" y="3145536"/>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3041" y="3145536"/>
            <a:ext cx="4805421"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border-width: 4px 12px 20px 8px;</a:t>
            </a:r>
          </a:p>
        </p:txBody>
      </p:sp>
      <p:sp>
        <p:nvSpPr>
          <p:cNvPr id="35" name="Rectangle 34"/>
          <p:cNvSpPr/>
          <p:nvPr/>
        </p:nvSpPr>
        <p:spPr>
          <a:xfrm>
            <a:off x="548640" y="3712464"/>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3712464"/>
            <a:ext cx="1412914"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one side</a:t>
            </a:r>
          </a:p>
        </p:txBody>
      </p:sp>
      <p:sp>
        <p:nvSpPr>
          <p:cNvPr id="37" name="Rectangle 36"/>
          <p:cNvSpPr/>
          <p:nvPr/>
        </p:nvSpPr>
        <p:spPr>
          <a:xfrm>
            <a:off x="2290738" y="3712464"/>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455330" y="3712464"/>
            <a:ext cx="388852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that side only</a:t>
            </a:r>
          </a:p>
        </p:txBody>
      </p:sp>
      <p:sp>
        <p:nvSpPr>
          <p:cNvPr id="39" name="Rectangle 38"/>
          <p:cNvSpPr/>
          <p:nvPr/>
        </p:nvSpPr>
        <p:spPr>
          <a:xfrm>
            <a:off x="6508449" y="3712464"/>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73041" y="3712464"/>
            <a:ext cx="4805421"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border-left-width: 4px;</a:t>
            </a:r>
          </a:p>
        </p:txBody>
      </p:sp>
      <p:sp>
        <p:nvSpPr>
          <p:cNvPr id="41" name="Rounded Rectangle 40"/>
          <p:cNvSpPr/>
          <p:nvPr/>
        </p:nvSpPr>
        <p:spPr>
          <a:xfrm>
            <a:off x="548640" y="4462272"/>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80" y="4553712"/>
            <a:ext cx="10454335" cy="365760"/>
          </a:xfrm>
          <a:prstGeom prst="rect">
            <a:avLst/>
          </a:prstGeom>
          <a:noFill/>
        </p:spPr>
        <p:txBody>
          <a:bodyPr wrap="square" lIns="0" tIns="0" rIns="0" bIns="0" anchor="t">
            <a:spAutoFit/>
          </a:bodyPr>
          <a:lstStyle/>
          <a:p>
            <a:pPr algn="l">
              <a:lnSpc>
                <a:spcPct val="110000"/>
              </a:lnSpc>
              <a:spcAft>
                <a:spcPts val="400"/>
              </a:spcAft>
            </a:pPr>
            <a:r>
              <a:rPr sz="1450" b="1" i="0">
                <a:solidFill>
                  <a:srgbClr val="0E3F8C"/>
                </a:solidFill>
                <a:latin typeface="Calibri"/>
                <a:ea typeface="Calibri"/>
              </a:rPr>
              <a:t>Always clockwise from the top. The same 1-4 order drives padding and margin — learn it once.</a:t>
            </a:r>
          </a:p>
        </p:txBody>
      </p:sp>
      <p:sp>
        <p:nvSpPr>
          <p:cNvPr id="43" name="TextBox 42"/>
          <p:cNvSpPr txBox="1"/>
          <p:nvPr/>
        </p:nvSpPr>
        <p:spPr>
          <a:xfrm>
            <a:off x="868680" y="4937760"/>
            <a:ext cx="10454335" cy="329184"/>
          </a:xfrm>
          <a:prstGeom prst="rect">
            <a:avLst/>
          </a:prstGeom>
          <a:noFill/>
        </p:spPr>
        <p:txBody>
          <a:bodyPr wrap="square" lIns="0" tIns="0" rIns="0" bIns="0" anchor="t">
            <a:spAutoFit/>
          </a:bodyPr>
          <a:lstStyle/>
          <a:p>
            <a:pPr algn="l">
              <a:lnSpc>
                <a:spcPct val="110000"/>
              </a:lnSpc>
              <a:spcAft>
                <a:spcPts val="400"/>
              </a:spcAft>
            </a:pPr>
            <a:r>
              <a:rPr sz="1300" b="1" i="0">
                <a:solidFill>
                  <a:srgbClr val="1E4FA8"/>
                </a:solidFill>
                <a:latin typeface="Calibri"/>
                <a:ea typeface="Calibri"/>
              </a:rPr>
              <a:t>open in editor →  </a:t>
            </a:r>
            <a:r>
              <a:rPr sz="130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editor.html?example=css-layout/border-sides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What a Rounded Corner Is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32688"/>
            <a:ext cx="4370832" cy="4599432"/>
          </a:xfrm>
          <a:prstGeom prst="rect">
            <a:avLst/>
          </a:prstGeom>
          <a:noFill/>
        </p:spPr>
        <p:txBody>
          <a:bodyPr wrap="square" lIns="0" tIns="0" rIns="0" bIns="0">
            <a:normAutofit/>
          </a:bodyPr>
          <a:lstStyle/>
          <a:p>
            <a:pPr marL="256032" indent="-237744">
              <a:lnSpc>
                <a:spcPct val="112000"/>
              </a:lnSpc>
              <a:spcAft>
                <a:spcPts val="2200"/>
              </a:spcAft>
              <a:buClr>
                <a:srgbClr val="1E4FA8"/>
              </a:buClr>
              <a:buSzPct val="90000"/>
              <a:buFont typeface="Arial"/>
              <a:buChar char="▪"/>
            </a:pPr>
            <a:r>
              <a:rPr sz="1700" b="1" i="0">
                <a:solidFill>
                  <a:srgbClr val="1A2230"/>
                </a:solidFill>
                <a:latin typeface="Calibri"/>
                <a:ea typeface="Calibri"/>
              </a:rPr>
              <a:t>A corner is a right angle</a:t>
            </a:r>
            <a:br/>
            <a:r>
              <a:rPr sz="1300" b="0" i="0">
                <a:solidFill>
                  <a:srgbClr val="4A5568"/>
                </a:solidFill>
                <a:latin typeface="Calibri"/>
                <a:ea typeface="Calibri"/>
              </a:rPr>
              <a:t>Two edges meet at 90 degrees. Rounding it means cutting that square corner off.</a:t>
            </a:r>
          </a:p>
          <a:p>
            <a:pPr marL="256032" indent="-237744">
              <a:lnSpc>
                <a:spcPct val="112000"/>
              </a:lnSpc>
              <a:spcAft>
                <a:spcPts val="2200"/>
              </a:spcAft>
              <a:buClr>
                <a:srgbClr val="1E4FA8"/>
              </a:buClr>
              <a:buSzPct val="90000"/>
              <a:buFont typeface="Arial"/>
              <a:buChar char="▪"/>
            </a:pPr>
            <a:r>
              <a:rPr sz="1700" b="1" i="0">
                <a:solidFill>
                  <a:srgbClr val="1A2230"/>
                </a:solidFill>
                <a:latin typeface="Calibri"/>
                <a:ea typeface="Calibri"/>
              </a:rPr>
              <a:t>The radius is a circle's radius</a:t>
            </a:r>
            <a:br/>
            <a:r>
              <a:rPr sz="1300" b="0" i="0">
                <a:solidFill>
                  <a:srgbClr val="4A5568"/>
                </a:solidFill>
                <a:latin typeface="Calibri"/>
                <a:ea typeface="Calibri"/>
              </a:rPr>
              <a:t>border-radius: </a:t>
            </a:r>
            <a:r>
              <a:rPr sz="1300" b="0" i="0">
                <a:solidFill>
                  <a:srgbClr val="B8860B"/>
                </a:solidFill>
                <a:latin typeface="Consolas"/>
                <a:ea typeface="Consolas"/>
              </a:rPr>
              <a:t>r</a:t>
            </a:r>
            <a:r>
              <a:rPr sz="1300" b="0" i="0">
                <a:solidFill>
                  <a:srgbClr val="4A5568"/>
                </a:solidFill>
                <a:latin typeface="Calibri"/>
                <a:ea typeface="Calibri"/>
              </a:rPr>
              <a:t> draws a circle of radius </a:t>
            </a:r>
            <a:r>
              <a:rPr sz="1300" b="0" i="0">
                <a:solidFill>
                  <a:srgbClr val="B8860B"/>
                </a:solidFill>
                <a:latin typeface="Consolas"/>
                <a:ea typeface="Consolas"/>
              </a:rPr>
              <a:t>r</a:t>
            </a:r>
            <a:r>
              <a:rPr sz="1300" b="0" i="0">
                <a:solidFill>
                  <a:srgbClr val="4A5568"/>
                </a:solidFill>
                <a:latin typeface="Calibri"/>
                <a:ea typeface="Calibri"/>
              </a:rPr>
              <a:t> inside the corner.</a:t>
            </a:r>
          </a:p>
          <a:p>
            <a:pPr marL="256032" indent="-237744">
              <a:lnSpc>
                <a:spcPct val="112000"/>
              </a:lnSpc>
              <a:spcAft>
                <a:spcPts val="2200"/>
              </a:spcAft>
              <a:buClr>
                <a:srgbClr val="1E4FA8"/>
              </a:buClr>
              <a:buSzPct val="90000"/>
              <a:buFont typeface="Arial"/>
              <a:buChar char="▪"/>
            </a:pPr>
            <a:r>
              <a:rPr sz="1700" b="1" i="0">
                <a:solidFill>
                  <a:srgbClr val="1A2230"/>
                </a:solidFill>
                <a:latin typeface="Calibri"/>
                <a:ea typeface="Calibri"/>
              </a:rPr>
              <a:t>Its centre is </a:t>
            </a:r>
            <a:r>
              <a:rPr sz="1700" b="1" i="0">
                <a:solidFill>
                  <a:srgbClr val="B8860B"/>
                </a:solidFill>
                <a:latin typeface="Consolas"/>
                <a:ea typeface="Consolas"/>
              </a:rPr>
              <a:t>r</a:t>
            </a:r>
            <a:r>
              <a:rPr sz="1700" b="1" i="0">
                <a:solidFill>
                  <a:srgbClr val="1A2230"/>
                </a:solidFill>
                <a:latin typeface="Calibri"/>
                <a:ea typeface="Calibri"/>
              </a:rPr>
              <a:t> from each edge</a:t>
            </a:r>
            <a:br/>
            <a:r>
              <a:rPr sz="1300" b="0" i="0">
                <a:solidFill>
                  <a:srgbClr val="4A5568"/>
                </a:solidFill>
                <a:latin typeface="Calibri"/>
                <a:ea typeface="Calibri"/>
              </a:rPr>
              <a:t>So the circle touches both edges, and the arc joins them with no seam.</a:t>
            </a:r>
          </a:p>
          <a:p>
            <a:pPr marL="256032" indent="-237744">
              <a:lnSpc>
                <a:spcPct val="112000"/>
              </a:lnSpc>
              <a:spcAft>
                <a:spcPts val="2200"/>
              </a:spcAft>
              <a:buClr>
                <a:srgbClr val="1E4FA8"/>
              </a:buClr>
              <a:buSzPct val="90000"/>
              <a:buFont typeface="Arial"/>
              <a:buChar char="▪"/>
            </a:pPr>
            <a:r>
              <a:rPr sz="1700" b="1" i="0">
                <a:solidFill>
                  <a:srgbClr val="1A2230"/>
                </a:solidFill>
                <a:latin typeface="Calibri"/>
                <a:ea typeface="Calibri"/>
              </a:rPr>
              <a:t>The sharp corner is outside it</a:t>
            </a:r>
            <a:br/>
            <a:r>
              <a:rPr sz="1300" b="0" i="0">
                <a:solidFill>
                  <a:srgbClr val="4A5568"/>
                </a:solidFill>
                <a:latin typeface="Calibri"/>
                <a:ea typeface="Calibri"/>
              </a:rPr>
              <a:t>The corner point is further than </a:t>
            </a:r>
            <a:r>
              <a:rPr sz="1300" b="0" i="0">
                <a:solidFill>
                  <a:srgbClr val="B8860B"/>
                </a:solidFill>
                <a:latin typeface="Consolas"/>
                <a:ea typeface="Consolas"/>
              </a:rPr>
              <a:t>r</a:t>
            </a:r>
            <a:r>
              <a:rPr sz="1300" b="0" i="0">
                <a:solidFill>
                  <a:srgbClr val="4A5568"/>
                </a:solidFill>
                <a:latin typeface="Calibri"/>
                <a:ea typeface="Calibri"/>
              </a:rPr>
              <a:t> from the centre, so it is simply gone.</a:t>
            </a:r>
          </a:p>
        </p:txBody>
      </p:sp>
      <p:sp>
        <p:nvSpPr>
          <p:cNvPr id="6" name="Rounded Rectangle 5"/>
          <p:cNvSpPr/>
          <p:nvPr/>
        </p:nvSpPr>
        <p:spPr>
          <a:xfrm>
            <a:off x="5394960" y="932688"/>
            <a:ext cx="624809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05856" y="1115568"/>
            <a:ext cx="5626303"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one corner, three steps</a:t>
            </a:r>
            <a:r>
              <a:rPr sz="1100" b="0" i="0">
                <a:solidFill>
                  <a:srgbClr val="4A5568"/>
                </a:solidFill>
                <a:latin typeface="Calibri"/>
                <a:ea typeface="Calibri"/>
              </a:rPr>
              <a:t>   box → circle → arc</a:t>
            </a:r>
          </a:p>
        </p:txBody>
      </p:sp>
      <p:sp>
        <p:nvSpPr>
          <p:cNvPr id="8" name="Rectangle 7"/>
          <p:cNvSpPr/>
          <p:nvPr/>
        </p:nvSpPr>
        <p:spPr>
          <a:xfrm>
            <a:off x="5724144"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2487168"/>
            <a:ext cx="2286000" cy="2286000"/>
          </a:xfrm>
          <a:prstGeom prst="rect">
            <a:avLst/>
          </a:prstGeom>
          <a:noFill/>
          <a:ln w="22225">
            <a:solidFill>
              <a:srgbClr val="9DC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5760720" y="2487168"/>
            <a:ext cx="868680" cy="868680"/>
          </a:xfrm>
          <a:custGeom>
            <a:avLst/>
            <a:gdLst/>
            <a:ahLst/>
            <a:cxnLst/>
            <a:rect l="l" t="t" r="r" b="b"/>
            <a:pathLst>
              <a:path w="868680" h="868680">
                <a:moveTo>
                  <a:pt x="0" y="0"/>
                </a:moveTo>
                <a:lnTo>
                  <a:pt x="868680" y="0"/>
                </a:lnTo>
                <a:lnTo>
                  <a:pt x="840258" y="465"/>
                </a:lnTo>
                <a:lnTo>
                  <a:pt x="811866" y="1860"/>
                </a:lnTo>
                <a:lnTo>
                  <a:pt x="783534" y="4183"/>
                </a:lnTo>
                <a:lnTo>
                  <a:pt x="755295" y="7432"/>
                </a:lnTo>
                <a:lnTo>
                  <a:pt x="727176" y="11603"/>
                </a:lnTo>
                <a:lnTo>
                  <a:pt x="699209" y="16691"/>
                </a:lnTo>
                <a:lnTo>
                  <a:pt x="671423" y="22693"/>
                </a:lnTo>
                <a:lnTo>
                  <a:pt x="643849" y="29600"/>
                </a:lnTo>
                <a:lnTo>
                  <a:pt x="616516" y="37405"/>
                </a:lnTo>
                <a:lnTo>
                  <a:pt x="589452" y="46101"/>
                </a:lnTo>
                <a:lnTo>
                  <a:pt x="562687" y="55677"/>
                </a:lnTo>
                <a:lnTo>
                  <a:pt x="536251" y="66124"/>
                </a:lnTo>
                <a:lnTo>
                  <a:pt x="510170" y="77431"/>
                </a:lnTo>
                <a:lnTo>
                  <a:pt x="484473" y="89585"/>
                </a:lnTo>
                <a:lnTo>
                  <a:pt x="459187" y="102573"/>
                </a:lnTo>
                <a:lnTo>
                  <a:pt x="434340" y="116381"/>
                </a:lnTo>
                <a:lnTo>
                  <a:pt x="409958" y="130995"/>
                </a:lnTo>
                <a:lnTo>
                  <a:pt x="386067" y="146399"/>
                </a:lnTo>
                <a:lnTo>
                  <a:pt x="362693" y="162576"/>
                </a:lnTo>
                <a:lnTo>
                  <a:pt x="339861" y="179510"/>
                </a:lnTo>
                <a:lnTo>
                  <a:pt x="317595" y="197181"/>
                </a:lnTo>
                <a:lnTo>
                  <a:pt x="295919" y="215572"/>
                </a:lnTo>
                <a:lnTo>
                  <a:pt x="274857" y="234662"/>
                </a:lnTo>
                <a:lnTo>
                  <a:pt x="254430" y="254430"/>
                </a:lnTo>
                <a:lnTo>
                  <a:pt x="234662" y="274857"/>
                </a:lnTo>
                <a:lnTo>
                  <a:pt x="215572" y="295919"/>
                </a:lnTo>
                <a:lnTo>
                  <a:pt x="197181" y="317595"/>
                </a:lnTo>
                <a:lnTo>
                  <a:pt x="179510" y="339861"/>
                </a:lnTo>
                <a:lnTo>
                  <a:pt x="162576" y="362693"/>
                </a:lnTo>
                <a:lnTo>
                  <a:pt x="146399" y="386067"/>
                </a:lnTo>
                <a:lnTo>
                  <a:pt x="130995" y="409958"/>
                </a:lnTo>
                <a:lnTo>
                  <a:pt x="116381" y="434340"/>
                </a:lnTo>
                <a:lnTo>
                  <a:pt x="102573" y="459187"/>
                </a:lnTo>
                <a:lnTo>
                  <a:pt x="89585" y="484473"/>
                </a:lnTo>
                <a:lnTo>
                  <a:pt x="77431" y="510170"/>
                </a:lnTo>
                <a:lnTo>
                  <a:pt x="66124" y="536251"/>
                </a:lnTo>
                <a:lnTo>
                  <a:pt x="55677" y="562687"/>
                </a:lnTo>
                <a:lnTo>
                  <a:pt x="46101" y="589452"/>
                </a:lnTo>
                <a:lnTo>
                  <a:pt x="37405" y="616516"/>
                </a:lnTo>
                <a:lnTo>
                  <a:pt x="29600" y="643849"/>
                </a:lnTo>
                <a:lnTo>
                  <a:pt x="22693" y="671423"/>
                </a:lnTo>
                <a:lnTo>
                  <a:pt x="16691" y="699209"/>
                </a:lnTo>
                <a:lnTo>
                  <a:pt x="11603" y="727176"/>
                </a:lnTo>
                <a:lnTo>
                  <a:pt x="7432" y="755295"/>
                </a:lnTo>
                <a:lnTo>
                  <a:pt x="4183" y="783534"/>
                </a:lnTo>
                <a:lnTo>
                  <a:pt x="1860" y="811866"/>
                </a:lnTo>
                <a:lnTo>
                  <a:pt x="465" y="840258"/>
                </a:lnTo>
                <a:lnTo>
                  <a:pt x="0" y="868680"/>
                </a:lnTo>
                <a:close/>
              </a:path>
            </a:pathLst>
          </a:custGeom>
          <a:solidFill>
            <a:srgbClr val="E8EFF8"/>
          </a:solidFill>
          <a:ln w="9525">
            <a:solidFill>
              <a:srgbClr val="9DC0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760720" y="2487168"/>
            <a:ext cx="1737360" cy="1737360"/>
          </a:xfrm>
          <a:prstGeom prst="ellipse">
            <a:avLst/>
          </a:prstGeom>
          <a:noFill/>
          <a:ln w="1905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60720" y="3349447"/>
            <a:ext cx="868680" cy="12801"/>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622999" y="2487168"/>
            <a:ext cx="12801" cy="86868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588252" y="3314700"/>
            <a:ext cx="82296" cy="82296"/>
          </a:xfrm>
          <a:prstGeom prst="ellipse">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5760720" y="2487168"/>
            <a:ext cx="868680" cy="868680"/>
          </a:xfrm>
          <a:custGeom>
            <a:avLst/>
            <a:gdLst/>
            <a:ahLst/>
            <a:cxnLst/>
            <a:rect l="l" t="t" r="r" b="b"/>
            <a:pathLst>
              <a:path w="868680" h="868680">
                <a:moveTo>
                  <a:pt x="0" y="868680"/>
                </a:moveTo>
                <a:lnTo>
                  <a:pt x="465" y="840258"/>
                </a:lnTo>
                <a:lnTo>
                  <a:pt x="1860" y="811866"/>
                </a:lnTo>
                <a:lnTo>
                  <a:pt x="4183" y="783534"/>
                </a:lnTo>
                <a:lnTo>
                  <a:pt x="7432" y="755295"/>
                </a:lnTo>
                <a:lnTo>
                  <a:pt x="11603" y="727176"/>
                </a:lnTo>
                <a:lnTo>
                  <a:pt x="16691" y="699209"/>
                </a:lnTo>
                <a:lnTo>
                  <a:pt x="22693" y="671423"/>
                </a:lnTo>
                <a:lnTo>
                  <a:pt x="29600" y="643849"/>
                </a:lnTo>
                <a:lnTo>
                  <a:pt x="37405" y="616516"/>
                </a:lnTo>
                <a:lnTo>
                  <a:pt x="46101" y="589452"/>
                </a:lnTo>
                <a:lnTo>
                  <a:pt x="55677" y="562687"/>
                </a:lnTo>
                <a:lnTo>
                  <a:pt x="66124" y="536251"/>
                </a:lnTo>
                <a:lnTo>
                  <a:pt x="77431" y="510170"/>
                </a:lnTo>
                <a:lnTo>
                  <a:pt x="89585" y="484473"/>
                </a:lnTo>
                <a:lnTo>
                  <a:pt x="102573" y="459187"/>
                </a:lnTo>
                <a:lnTo>
                  <a:pt x="116381" y="434340"/>
                </a:lnTo>
                <a:lnTo>
                  <a:pt x="130995" y="409958"/>
                </a:lnTo>
                <a:lnTo>
                  <a:pt x="146399" y="386067"/>
                </a:lnTo>
                <a:lnTo>
                  <a:pt x="162576" y="362693"/>
                </a:lnTo>
                <a:lnTo>
                  <a:pt x="179510" y="339861"/>
                </a:lnTo>
                <a:lnTo>
                  <a:pt x="197181" y="317595"/>
                </a:lnTo>
                <a:lnTo>
                  <a:pt x="215572" y="295919"/>
                </a:lnTo>
                <a:lnTo>
                  <a:pt x="234662" y="274857"/>
                </a:lnTo>
                <a:lnTo>
                  <a:pt x="254430" y="254430"/>
                </a:lnTo>
                <a:lnTo>
                  <a:pt x="274857" y="234662"/>
                </a:lnTo>
                <a:lnTo>
                  <a:pt x="295919" y="215572"/>
                </a:lnTo>
                <a:lnTo>
                  <a:pt x="317595" y="197181"/>
                </a:lnTo>
                <a:lnTo>
                  <a:pt x="339861" y="179510"/>
                </a:lnTo>
                <a:lnTo>
                  <a:pt x="362693" y="162576"/>
                </a:lnTo>
                <a:lnTo>
                  <a:pt x="386067" y="146399"/>
                </a:lnTo>
                <a:lnTo>
                  <a:pt x="409958" y="130995"/>
                </a:lnTo>
                <a:lnTo>
                  <a:pt x="434340" y="116381"/>
                </a:lnTo>
                <a:lnTo>
                  <a:pt x="459187" y="102573"/>
                </a:lnTo>
                <a:lnTo>
                  <a:pt x="484473" y="89585"/>
                </a:lnTo>
                <a:lnTo>
                  <a:pt x="510170" y="77431"/>
                </a:lnTo>
                <a:lnTo>
                  <a:pt x="536251" y="66124"/>
                </a:lnTo>
                <a:lnTo>
                  <a:pt x="562687" y="55677"/>
                </a:lnTo>
                <a:lnTo>
                  <a:pt x="589452" y="46101"/>
                </a:lnTo>
                <a:lnTo>
                  <a:pt x="616516" y="37405"/>
                </a:lnTo>
                <a:lnTo>
                  <a:pt x="643849" y="29600"/>
                </a:lnTo>
                <a:lnTo>
                  <a:pt x="671423" y="22693"/>
                </a:lnTo>
                <a:lnTo>
                  <a:pt x="699209" y="16691"/>
                </a:lnTo>
                <a:lnTo>
                  <a:pt x="727176" y="11603"/>
                </a:lnTo>
                <a:lnTo>
                  <a:pt x="755295" y="7432"/>
                </a:lnTo>
                <a:lnTo>
                  <a:pt x="783534" y="4183"/>
                </a:lnTo>
                <a:lnTo>
                  <a:pt x="811866" y="1860"/>
                </a:lnTo>
                <a:lnTo>
                  <a:pt x="840258" y="465"/>
                </a:lnTo>
                <a:lnTo>
                  <a:pt x="868680" y="0"/>
                </a:lnTo>
              </a:path>
            </a:pathLst>
          </a:custGeom>
          <a:noFill/>
          <a:ln w="38100">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89904" y="3387852"/>
            <a:ext cx="365760" cy="201168"/>
          </a:xfrm>
          <a:prstGeom prst="rect">
            <a:avLst/>
          </a:prstGeom>
          <a:noFill/>
        </p:spPr>
        <p:txBody>
          <a:bodyPr wrap="square" lIns="0" tIns="0" rIns="0" bIns="0" anchor="t">
            <a:spAutoFit/>
          </a:bodyPr>
          <a:lstStyle/>
          <a:p>
            <a:pPr algn="l">
              <a:lnSpc>
                <a:spcPct val="110000"/>
              </a:lnSpc>
              <a:spcAft>
                <a:spcPts val="400"/>
              </a:spcAft>
            </a:pPr>
            <a:r>
              <a:rPr sz="1200" b="1" i="0">
                <a:solidFill>
                  <a:srgbClr val="D9534F"/>
                </a:solidFill>
                <a:latin typeface="Calibri"/>
                <a:ea typeface="Calibri"/>
              </a:rPr>
              <a:t>r</a:t>
            </a:r>
          </a:p>
        </p:txBody>
      </p:sp>
      <p:sp>
        <p:nvSpPr>
          <p:cNvPr id="17" name="TextBox 16"/>
          <p:cNvSpPr txBox="1"/>
          <p:nvPr/>
        </p:nvSpPr>
        <p:spPr>
          <a:xfrm>
            <a:off x="6679692" y="2761488"/>
            <a:ext cx="365760" cy="201168"/>
          </a:xfrm>
          <a:prstGeom prst="rect">
            <a:avLst/>
          </a:prstGeom>
          <a:noFill/>
        </p:spPr>
        <p:txBody>
          <a:bodyPr wrap="square" lIns="0" tIns="0" rIns="0" bIns="0" anchor="t">
            <a:spAutoFit/>
          </a:bodyPr>
          <a:lstStyle/>
          <a:p>
            <a:pPr algn="l">
              <a:lnSpc>
                <a:spcPct val="110000"/>
              </a:lnSpc>
              <a:spcAft>
                <a:spcPts val="400"/>
              </a:spcAft>
            </a:pPr>
            <a:r>
              <a:rPr sz="1200" b="1" i="0">
                <a:solidFill>
                  <a:srgbClr val="D9534F"/>
                </a:solidFill>
                <a:latin typeface="Calibri"/>
                <a:ea typeface="Calibri"/>
              </a:rPr>
              <a:t>r</a:t>
            </a:r>
          </a:p>
        </p:txBody>
      </p:sp>
      <p:sp>
        <p:nvSpPr>
          <p:cNvPr id="18" name="TextBox 17"/>
          <p:cNvSpPr txBox="1"/>
          <p:nvPr/>
        </p:nvSpPr>
        <p:spPr>
          <a:xfrm>
            <a:off x="6720840" y="3401568"/>
            <a:ext cx="822960" cy="182880"/>
          </a:xfrm>
          <a:prstGeom prst="rect">
            <a:avLst/>
          </a:prstGeom>
          <a:noFill/>
        </p:spPr>
        <p:txBody>
          <a:bodyPr wrap="square" lIns="0" tIns="0" rIns="0" bIns="0" anchor="t">
            <a:spAutoFit/>
          </a:bodyPr>
          <a:lstStyle/>
          <a:p>
            <a:pPr algn="l">
              <a:lnSpc>
                <a:spcPct val="110000"/>
              </a:lnSpc>
              <a:spcAft>
                <a:spcPts val="400"/>
              </a:spcAft>
            </a:pPr>
            <a:r>
              <a:rPr sz="950" b="0" i="0">
                <a:solidFill>
                  <a:srgbClr val="4A5568"/>
                </a:solidFill>
                <a:latin typeface="Calibri"/>
                <a:ea typeface="Calibri"/>
              </a:rPr>
              <a:t>centre</a:t>
            </a:r>
          </a:p>
        </p:txBody>
      </p:sp>
      <p:sp>
        <p:nvSpPr>
          <p:cNvPr id="19" name="TextBox 18"/>
          <p:cNvSpPr txBox="1"/>
          <p:nvPr/>
        </p:nvSpPr>
        <p:spPr>
          <a:xfrm>
            <a:off x="5760720" y="2157984"/>
            <a:ext cx="3200400"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0E3F8C"/>
                </a:solidFill>
                <a:latin typeface="Calibri"/>
                <a:ea typeface="Calibri"/>
              </a:rPr>
              <a:t>the arc replaces the corner</a:t>
            </a:r>
          </a:p>
        </p:txBody>
      </p:sp>
      <p:sp>
        <p:nvSpPr>
          <p:cNvPr id="20" name="Rectangle 19"/>
          <p:cNvSpPr/>
          <p:nvPr/>
        </p:nvSpPr>
        <p:spPr>
          <a:xfrm>
            <a:off x="8430768" y="2414016"/>
            <a:ext cx="155448" cy="155448"/>
          </a:xfrm>
          <a:prstGeom prst="rect">
            <a:avLst/>
          </a:prstGeom>
          <a:solidFill>
            <a:srgbClr val="E8EFF8"/>
          </a:solidFill>
          <a:ln w="12700">
            <a:solidFill>
              <a:srgbClr val="9DC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0" y="2395728"/>
            <a:ext cx="2645359" cy="603504"/>
          </a:xfrm>
          <a:prstGeom prst="rect">
            <a:avLst/>
          </a:prstGeom>
          <a:noFill/>
        </p:spPr>
        <p:txBody>
          <a:bodyPr wrap="square" lIns="0" tIns="0" rIns="0" bIns="0" anchor="t">
            <a:spAutoFit/>
          </a:bodyPr>
          <a:lstStyle/>
          <a:p>
            <a:pPr algn="l">
              <a:lnSpc>
                <a:spcPct val="112000"/>
              </a:lnSpc>
              <a:spcAft>
                <a:spcPts val="400"/>
              </a:spcAft>
            </a:pPr>
            <a:r>
              <a:rPr sz="1100" b="0" i="0">
                <a:solidFill>
                  <a:srgbClr val="4A5568"/>
                </a:solidFill>
                <a:latin typeface="Calibri"/>
                <a:ea typeface="Calibri"/>
              </a:rPr>
              <a:t>the corner square, r by r — the part that is cut away</a:t>
            </a:r>
          </a:p>
        </p:txBody>
      </p:sp>
      <p:sp>
        <p:nvSpPr>
          <p:cNvPr id="22" name="Oval 21"/>
          <p:cNvSpPr/>
          <p:nvPr/>
        </p:nvSpPr>
        <p:spPr>
          <a:xfrm>
            <a:off x="8430768" y="3072384"/>
            <a:ext cx="155448" cy="155448"/>
          </a:xfrm>
          <a:prstGeom prst="ellipse">
            <a:avLst/>
          </a:prstGeom>
          <a:noFill/>
          <a:ln w="15875">
            <a:solidFill>
              <a:srgbClr val="185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86800" y="3054096"/>
            <a:ext cx="2645359" cy="603504"/>
          </a:xfrm>
          <a:prstGeom prst="rect">
            <a:avLst/>
          </a:prstGeom>
          <a:noFill/>
        </p:spPr>
        <p:txBody>
          <a:bodyPr wrap="square" lIns="0" tIns="0" rIns="0" bIns="0" anchor="t">
            <a:spAutoFit/>
          </a:bodyPr>
          <a:lstStyle/>
          <a:p>
            <a:pPr algn="l">
              <a:lnSpc>
                <a:spcPct val="112000"/>
              </a:lnSpc>
              <a:spcAft>
                <a:spcPts val="400"/>
              </a:spcAft>
            </a:pPr>
            <a:r>
              <a:rPr sz="1100" b="0" i="0">
                <a:solidFill>
                  <a:srgbClr val="4A5568"/>
                </a:solidFill>
                <a:latin typeface="Calibri"/>
                <a:ea typeface="Calibri"/>
              </a:rPr>
              <a:t>the inscribed circle: radius r, tangent to both edges</a:t>
            </a:r>
          </a:p>
        </p:txBody>
      </p:sp>
      <p:sp>
        <p:nvSpPr>
          <p:cNvPr id="24" name="Rectangle 23"/>
          <p:cNvSpPr/>
          <p:nvPr/>
        </p:nvSpPr>
        <p:spPr>
          <a:xfrm>
            <a:off x="8430768" y="3785616"/>
            <a:ext cx="155448" cy="45720"/>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86800" y="3712464"/>
            <a:ext cx="2645359" cy="603504"/>
          </a:xfrm>
          <a:prstGeom prst="rect">
            <a:avLst/>
          </a:prstGeom>
          <a:noFill/>
        </p:spPr>
        <p:txBody>
          <a:bodyPr wrap="square" lIns="0" tIns="0" rIns="0" bIns="0" anchor="t">
            <a:spAutoFit/>
          </a:bodyPr>
          <a:lstStyle/>
          <a:p>
            <a:pPr algn="l">
              <a:lnSpc>
                <a:spcPct val="112000"/>
              </a:lnSpc>
              <a:spcAft>
                <a:spcPts val="400"/>
              </a:spcAft>
            </a:pPr>
            <a:r>
              <a:rPr sz="1100" b="0" i="0">
                <a:solidFill>
                  <a:srgbClr val="4A5568"/>
                </a:solidFill>
                <a:latin typeface="Calibri"/>
                <a:ea typeface="Calibri"/>
              </a:rPr>
              <a:t>the arc — this is the new corner</a:t>
            </a:r>
          </a:p>
        </p:txBody>
      </p:sp>
      <p:sp>
        <p:nvSpPr>
          <p:cNvPr id="26" name="TextBox 25"/>
          <p:cNvSpPr txBox="1"/>
          <p:nvPr/>
        </p:nvSpPr>
        <p:spPr>
          <a:xfrm>
            <a:off x="8430768" y="4443984"/>
            <a:ext cx="2901391" cy="640080"/>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The centre sits r from each edge — that is why the arc meets them with no visible seam.</a:t>
            </a:r>
          </a:p>
        </p:txBody>
      </p:sp>
      <p:sp>
        <p:nvSpPr>
          <p:cNvPr id="27" name="Rounded Rectangle 26"/>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The corner it cuts away is a square, r wide and r tall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editor.html?example=css-layout/border-radius</a:t>
            </a:r>
          </a:p>
        </p:txBody>
      </p:sp>
      <p:sp>
        <p:nvSpPr>
          <p:cNvPr id="29" name="TextBox 28"/>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border-radius: 24px;   /* the corner becomes an arc of radius 24px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Rounded Corners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32688"/>
            <a:ext cx="4370832" cy="4599432"/>
          </a:xfrm>
          <a:prstGeom prst="rect">
            <a:avLst/>
          </a:prstGeom>
          <a:noFill/>
        </p:spPr>
        <p:txBody>
          <a:bodyPr wrap="square" lIns="0" tIns="0" rIns="0" bIns="0">
            <a:normAutofit/>
          </a:bodyPr>
          <a:lstStyle/>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border-radius</a:t>
            </a:r>
            <a:br/>
            <a:r>
              <a:rPr sz="1250" b="0" i="0">
                <a:solidFill>
                  <a:srgbClr val="4A5568"/>
                </a:solidFill>
                <a:latin typeface="Calibri"/>
                <a:ea typeface="Calibri"/>
              </a:rPr>
              <a:t>Rounds the corners of the box — one length, or a share of the size.</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12px</a:t>
            </a:r>
            <a:br/>
            <a:r>
              <a:rPr sz="1250" b="0" i="0">
                <a:solidFill>
                  <a:srgbClr val="4A5568"/>
                </a:solidFill>
                <a:latin typeface="Calibri"/>
                <a:ea typeface="Calibri"/>
              </a:rPr>
              <a:t>One radius, every corner.</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8px 24px 8px 24px</a:t>
            </a:r>
            <a:br/>
            <a:r>
              <a:rPr sz="1250" b="0" i="0">
                <a:solidFill>
                  <a:srgbClr val="4A5568"/>
                </a:solidFill>
                <a:latin typeface="Calibri"/>
                <a:ea typeface="Calibri"/>
              </a:rPr>
              <a:t>Four radii, same clockwise order — top-left first.</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50%</a:t>
            </a:r>
            <a:br/>
            <a:r>
              <a:rPr sz="1250" b="0" i="0">
                <a:solidFill>
                  <a:srgbClr val="4A5568"/>
                </a:solidFill>
                <a:latin typeface="Calibri"/>
                <a:ea typeface="Calibri"/>
              </a:rPr>
              <a:t>A share of each side. On a square, 50% gives a circle.</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999px</a:t>
            </a:r>
            <a:br/>
            <a:r>
              <a:rPr sz="1250" b="0" i="0">
                <a:solidFill>
                  <a:srgbClr val="4A5568"/>
                </a:solidFill>
                <a:latin typeface="Calibri"/>
                <a:ea typeface="Calibri"/>
              </a:rPr>
              <a:t>Clamped at half the shortest side — a wide box becomes a pill.</a:t>
            </a:r>
          </a:p>
        </p:txBody>
      </p:sp>
      <p:sp>
        <p:nvSpPr>
          <p:cNvPr id="6" name="Rounded Rectangle 5"/>
          <p:cNvSpPr/>
          <p:nvPr/>
        </p:nvSpPr>
        <p:spPr>
          <a:xfrm>
            <a:off x="5394960" y="932688"/>
            <a:ext cx="624809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05856" y="1115568"/>
            <a:ext cx="5626303"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border-radius  </a:t>
            </a:r>
            <a:r>
              <a:rPr sz="1100" b="0" i="0">
                <a:solidFill>
                  <a:srgbClr val="4A5568"/>
                </a:solidFill>
                <a:latin typeface="Calibri"/>
                <a:ea typeface="Calibri"/>
              </a:rPr>
              <a:t>every box is 144 x 144 CSS px</a:t>
            </a:r>
          </a:p>
        </p:txBody>
      </p:sp>
      <p:sp>
        <p:nvSpPr>
          <p:cNvPr id="8" name="Rectangle 7"/>
          <p:cNvSpPr/>
          <p:nvPr/>
        </p:nvSpPr>
        <p:spPr>
          <a:xfrm>
            <a:off x="5724144"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26631" y="2084831"/>
            <a:ext cx="1371600" cy="1371600"/>
          </a:xfrm>
          <a:prstGeom prst="rect">
            <a:avLst/>
          </a:prstGeom>
          <a:solidFill>
            <a:srgbClr val="E8EFF8"/>
          </a:solidFill>
          <a:ln w="317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05856" y="1792223"/>
            <a:ext cx="2813151" cy="256032"/>
          </a:xfrm>
          <a:prstGeom prst="rect">
            <a:avLst/>
          </a:prstGeom>
          <a:noFill/>
        </p:spPr>
        <p:txBody>
          <a:bodyPr wrap="none" lIns="0" tIns="0" rIns="0" bIns="0" anchor="t">
            <a:spAutoFit/>
          </a:bodyPr>
          <a:lstStyle/>
          <a:p>
            <a:pPr algn="ctr">
              <a:lnSpc>
                <a:spcPct val="110000"/>
              </a:lnSpc>
              <a:spcAft>
                <a:spcPts val="400"/>
              </a:spcAft>
            </a:pPr>
            <a:r>
              <a:rPr sz="1100" b="0" i="0">
                <a:solidFill>
                  <a:srgbClr val="4A5568"/>
                </a:solidFill>
                <a:latin typeface="Consolas"/>
                <a:ea typeface="Consolas"/>
              </a:rPr>
              <a:t>border-radius: 0</a:t>
            </a:r>
          </a:p>
        </p:txBody>
      </p:sp>
      <p:sp>
        <p:nvSpPr>
          <p:cNvPr id="11" name="Rounded Rectangle 10"/>
          <p:cNvSpPr/>
          <p:nvPr/>
        </p:nvSpPr>
        <p:spPr>
          <a:xfrm>
            <a:off x="9239783" y="2084831"/>
            <a:ext cx="1371600" cy="1371600"/>
          </a:xfrm>
          <a:prstGeom prst="roundRect">
            <a:avLst>
              <a:gd name="adj" fmla="val 8333"/>
            </a:avLst>
          </a:prstGeom>
          <a:solidFill>
            <a:srgbClr val="E8EFF8"/>
          </a:solidFill>
          <a:ln w="317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19007" y="1792223"/>
            <a:ext cx="2813151" cy="256032"/>
          </a:xfrm>
          <a:prstGeom prst="rect">
            <a:avLst/>
          </a:prstGeom>
          <a:noFill/>
        </p:spPr>
        <p:txBody>
          <a:bodyPr wrap="none" lIns="0" tIns="0" rIns="0" bIns="0" anchor="t">
            <a:spAutoFit/>
          </a:bodyPr>
          <a:lstStyle/>
          <a:p>
            <a:pPr algn="ctr">
              <a:lnSpc>
                <a:spcPct val="110000"/>
              </a:lnSpc>
              <a:spcAft>
                <a:spcPts val="400"/>
              </a:spcAft>
            </a:pPr>
            <a:r>
              <a:rPr sz="1100" b="0" i="0">
                <a:solidFill>
                  <a:srgbClr val="4A5568"/>
                </a:solidFill>
                <a:latin typeface="Consolas"/>
                <a:ea typeface="Consolas"/>
              </a:rPr>
              <a:t>border-radius: 12px</a:t>
            </a:r>
          </a:p>
        </p:txBody>
      </p:sp>
      <p:sp>
        <p:nvSpPr>
          <p:cNvPr id="13" name="Rounded Rectangle 12"/>
          <p:cNvSpPr/>
          <p:nvPr/>
        </p:nvSpPr>
        <p:spPr>
          <a:xfrm>
            <a:off x="6426631" y="3909059"/>
            <a:ext cx="1371600" cy="1371600"/>
          </a:xfrm>
          <a:prstGeom prst="roundRect">
            <a:avLst>
              <a:gd name="adj" fmla="val 16666"/>
            </a:avLst>
          </a:prstGeom>
          <a:solidFill>
            <a:srgbClr val="E8EFF8"/>
          </a:solidFill>
          <a:ln w="317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05856" y="3616451"/>
            <a:ext cx="2813151" cy="256032"/>
          </a:xfrm>
          <a:prstGeom prst="rect">
            <a:avLst/>
          </a:prstGeom>
          <a:noFill/>
        </p:spPr>
        <p:txBody>
          <a:bodyPr wrap="none" lIns="0" tIns="0" rIns="0" bIns="0" anchor="t">
            <a:spAutoFit/>
          </a:bodyPr>
          <a:lstStyle/>
          <a:p>
            <a:pPr algn="ctr">
              <a:lnSpc>
                <a:spcPct val="110000"/>
              </a:lnSpc>
              <a:spcAft>
                <a:spcPts val="400"/>
              </a:spcAft>
            </a:pPr>
            <a:r>
              <a:rPr sz="1100" b="0" i="0">
                <a:solidFill>
                  <a:srgbClr val="4A5568"/>
                </a:solidFill>
                <a:latin typeface="Consolas"/>
                <a:ea typeface="Consolas"/>
              </a:rPr>
              <a:t>border-radius: 24px</a:t>
            </a:r>
          </a:p>
        </p:txBody>
      </p:sp>
      <p:sp>
        <p:nvSpPr>
          <p:cNvPr id="15" name="Rounded Rectangle 14"/>
          <p:cNvSpPr/>
          <p:nvPr/>
        </p:nvSpPr>
        <p:spPr>
          <a:xfrm>
            <a:off x="9239783" y="3909059"/>
            <a:ext cx="1371600" cy="1371600"/>
          </a:xfrm>
          <a:prstGeom prst="roundRect">
            <a:avLst>
              <a:gd name="adj" fmla="val 50000"/>
            </a:avLst>
          </a:prstGeom>
          <a:solidFill>
            <a:srgbClr val="E8EFF8"/>
          </a:solidFill>
          <a:ln w="317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19007" y="3616451"/>
            <a:ext cx="2813151" cy="256032"/>
          </a:xfrm>
          <a:prstGeom prst="rect">
            <a:avLst/>
          </a:prstGeom>
          <a:noFill/>
        </p:spPr>
        <p:txBody>
          <a:bodyPr wrap="none" lIns="0" tIns="0" rIns="0" bIns="0" anchor="t">
            <a:spAutoFit/>
          </a:bodyPr>
          <a:lstStyle/>
          <a:p>
            <a:pPr algn="ctr">
              <a:lnSpc>
                <a:spcPct val="110000"/>
              </a:lnSpc>
              <a:spcAft>
                <a:spcPts val="400"/>
              </a:spcAft>
            </a:pPr>
            <a:r>
              <a:rPr sz="1100" b="0" i="0">
                <a:solidFill>
                  <a:srgbClr val="4A5568"/>
                </a:solidFill>
                <a:latin typeface="Consolas"/>
                <a:ea typeface="Consolas"/>
              </a:rPr>
              <a:t>border-radius: 999px</a:t>
            </a:r>
          </a:p>
        </p:txBody>
      </p:sp>
      <p:sp>
        <p:nvSpPr>
          <p:cNvPr id="17" name="Rounded Rectangle 16"/>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One property, every corner — the background and the content are clipped to match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editor.html?example=css-layout/border-radius</a:t>
            </a:r>
          </a:p>
        </p:txBody>
      </p:sp>
      <p:sp>
        <p:nvSpPr>
          <p:cNvPr id="19" name="TextBox 18"/>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border-radius: 12px;</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Elliptical Corners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32688"/>
            <a:ext cx="4370832" cy="4599432"/>
          </a:xfrm>
          <a:prstGeom prst="rect">
            <a:avLst/>
          </a:prstGeom>
          <a:noFill/>
        </p:spPr>
        <p:txBody>
          <a:bodyPr wrap="square" lIns="0" tIns="0" rIns="0" bIns="0">
            <a:normAutofit/>
          </a:bodyPr>
          <a:lstStyle/>
          <a:p>
            <a:pPr marL="256032" indent="-237744">
              <a:lnSpc>
                <a:spcPct val="112000"/>
              </a:lnSpc>
              <a:spcAft>
                <a:spcPts val="2200"/>
              </a:spcAft>
              <a:buClr>
                <a:srgbClr val="1E4FA8"/>
              </a:buClr>
              <a:buSzPct val="90000"/>
              <a:buFont typeface="Arial"/>
              <a:buChar char="▪"/>
            </a:pPr>
            <a:r>
              <a:rPr sz="1700" b="1" i="0">
                <a:solidFill>
                  <a:srgbClr val="1A2230"/>
                </a:solidFill>
                <a:latin typeface="Calibri"/>
                <a:ea typeface="Calibri"/>
              </a:rPr>
              <a:t>The circle was the special case</a:t>
            </a:r>
            <a:br/>
            <a:r>
              <a:rPr sz="1300" b="0" i="0">
                <a:solidFill>
                  <a:srgbClr val="4A5568"/>
                </a:solidFill>
                <a:latin typeface="Calibri"/>
                <a:ea typeface="Calibri"/>
              </a:rPr>
              <a:t>An ellipse inscribed in the corner cuts it just as cleanly — it only has to meet both edges.</a:t>
            </a:r>
          </a:p>
          <a:p>
            <a:pPr marL="256032" indent="-237744">
              <a:lnSpc>
                <a:spcPct val="112000"/>
              </a:lnSpc>
              <a:spcAft>
                <a:spcPts val="2200"/>
              </a:spcAft>
              <a:buClr>
                <a:srgbClr val="1E4FA8"/>
              </a:buClr>
              <a:buSzPct val="90000"/>
              <a:buFont typeface="Arial"/>
              <a:buChar char="▪"/>
            </a:pPr>
            <a:r>
              <a:rPr sz="1700" b="1" i="0">
                <a:solidFill>
                  <a:srgbClr val="1A2230"/>
                </a:solidFill>
                <a:latin typeface="Calibri"/>
                <a:ea typeface="Calibri"/>
              </a:rPr>
              <a:t>Two radii instead of one</a:t>
            </a:r>
            <a:br/>
            <a:r>
              <a:rPr sz="1300" b="0" i="0">
                <a:solidFill>
                  <a:srgbClr val="4A5568"/>
                </a:solidFill>
                <a:latin typeface="Calibri"/>
                <a:ea typeface="Calibri"/>
              </a:rPr>
              <a:t>A horizontal radius rx and a vertical radius ry. Make the two equal and you are back to a circle.</a:t>
            </a:r>
          </a:p>
          <a:p>
            <a:pPr marL="256032" indent="-237744">
              <a:lnSpc>
                <a:spcPct val="112000"/>
              </a:lnSpc>
              <a:spcAft>
                <a:spcPts val="2200"/>
              </a:spcAft>
              <a:buClr>
                <a:srgbClr val="1E4FA8"/>
              </a:buClr>
              <a:buSzPct val="90000"/>
              <a:buFont typeface="Arial"/>
              <a:buChar char="▪"/>
            </a:pPr>
            <a:r>
              <a:rPr sz="1700" b="1" i="0">
                <a:solidFill>
                  <a:srgbClr val="1A2230"/>
                </a:solidFill>
                <a:latin typeface="Calibri"/>
                <a:ea typeface="Calibri"/>
              </a:rPr>
              <a:t>The slash splits the two axes</a:t>
            </a:r>
            <a:br/>
            <a:r>
              <a:rPr sz="1300" b="0" i="0">
                <a:solidFill>
                  <a:srgbClr val="4A5568"/>
                </a:solidFill>
                <a:latin typeface="Calibri"/>
                <a:ea typeface="Calibri"/>
              </a:rPr>
              <a:t>border-radius: 60px / 20px — before the slash the horizontal radii, after it the vertical ones. One pair covers all four corners.</a:t>
            </a:r>
          </a:p>
          <a:p>
            <a:pPr marL="256032" indent="-237744">
              <a:lnSpc>
                <a:spcPct val="112000"/>
              </a:lnSpc>
              <a:spcAft>
                <a:spcPts val="2200"/>
              </a:spcAft>
              <a:buClr>
                <a:srgbClr val="1E4FA8"/>
              </a:buClr>
              <a:buSzPct val="90000"/>
              <a:buFont typeface="Arial"/>
              <a:buChar char="▪"/>
            </a:pPr>
            <a:r>
              <a:rPr sz="1700" b="1" i="0">
                <a:solidFill>
                  <a:srgbClr val="1A2230"/>
                </a:solidFill>
                <a:latin typeface="Calibri"/>
                <a:ea typeface="Calibri"/>
              </a:rPr>
              <a:t>Percentages follow each side</a:t>
            </a:r>
            <a:br/>
            <a:r>
              <a:rPr sz="1300" b="0" i="0">
                <a:solidFill>
                  <a:srgbClr val="4A5568"/>
                </a:solidFill>
                <a:latin typeface="Calibri"/>
                <a:ea typeface="Calibri"/>
              </a:rPr>
              <a:t>Each percentage measures its own side: 50% of the </a:t>
            </a:r>
            <a:r>
              <a:rPr sz="1300" b="0" i="0">
                <a:solidFill>
                  <a:srgbClr val="B8860B"/>
                </a:solidFill>
                <a:latin typeface="Consolas"/>
                <a:ea typeface="Consolas"/>
              </a:rPr>
              <a:t>width</a:t>
            </a:r>
            <a:r>
              <a:rPr sz="1300" b="0" i="0">
                <a:solidFill>
                  <a:srgbClr val="4A5568"/>
                </a:solidFill>
                <a:latin typeface="Calibri"/>
                <a:ea typeface="Calibri"/>
              </a:rPr>
              <a:t> across, 30% of the </a:t>
            </a:r>
            <a:r>
              <a:rPr sz="1300" b="0" i="0">
                <a:solidFill>
                  <a:srgbClr val="B8860B"/>
                </a:solidFill>
                <a:latin typeface="Consolas"/>
                <a:ea typeface="Consolas"/>
              </a:rPr>
              <a:t>height</a:t>
            </a:r>
            <a:r>
              <a:rPr sz="1300" b="0" i="0">
                <a:solidFill>
                  <a:srgbClr val="4A5568"/>
                </a:solidFill>
                <a:latin typeface="Calibri"/>
                <a:ea typeface="Calibri"/>
              </a:rPr>
              <a:t> down.</a:t>
            </a:r>
          </a:p>
        </p:txBody>
      </p:sp>
      <p:sp>
        <p:nvSpPr>
          <p:cNvPr id="6" name="Rounded Rectangle 5"/>
          <p:cNvSpPr/>
          <p:nvPr/>
        </p:nvSpPr>
        <p:spPr>
          <a:xfrm>
            <a:off x="5394960" y="932688"/>
            <a:ext cx="624809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05856" y="1115568"/>
            <a:ext cx="5626303"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one corner, an ellipse</a:t>
            </a:r>
            <a:r>
              <a:rPr sz="1100" b="0" i="0">
                <a:solidFill>
                  <a:srgbClr val="4A5568"/>
                </a:solidFill>
                <a:latin typeface="Calibri"/>
                <a:ea typeface="Calibri"/>
              </a:rPr>
              <a:t>   box → ellipse → arc</a:t>
            </a:r>
          </a:p>
        </p:txBody>
      </p:sp>
      <p:sp>
        <p:nvSpPr>
          <p:cNvPr id="8" name="Rectangle 7"/>
          <p:cNvSpPr/>
          <p:nvPr/>
        </p:nvSpPr>
        <p:spPr>
          <a:xfrm>
            <a:off x="5724144"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53328" y="2157984"/>
            <a:ext cx="2286000" cy="2286000"/>
          </a:xfrm>
          <a:prstGeom prst="rect">
            <a:avLst/>
          </a:prstGeom>
          <a:noFill/>
          <a:ln w="22225">
            <a:solidFill>
              <a:srgbClr val="9DC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6053328" y="2157984"/>
            <a:ext cx="822960" cy="365760"/>
          </a:xfrm>
          <a:custGeom>
            <a:avLst/>
            <a:gdLst/>
            <a:ahLst/>
            <a:cxnLst/>
            <a:rect l="l" t="t" r="r" b="b"/>
            <a:pathLst>
              <a:path w="822960" h="365760">
                <a:moveTo>
                  <a:pt x="0" y="0"/>
                </a:moveTo>
                <a:lnTo>
                  <a:pt x="822960" y="0"/>
                </a:lnTo>
                <a:lnTo>
                  <a:pt x="805007" y="87"/>
                </a:lnTo>
                <a:lnTo>
                  <a:pt x="787063" y="348"/>
                </a:lnTo>
                <a:lnTo>
                  <a:pt x="769136" y="783"/>
                </a:lnTo>
                <a:lnTo>
                  <a:pt x="751234" y="1392"/>
                </a:lnTo>
                <a:lnTo>
                  <a:pt x="733367" y="2174"/>
                </a:lnTo>
                <a:lnTo>
                  <a:pt x="715542" y="3129"/>
                </a:lnTo>
                <a:lnTo>
                  <a:pt x="697769" y="4257"/>
                </a:lnTo>
                <a:lnTo>
                  <a:pt x="680054" y="5557"/>
                </a:lnTo>
                <a:lnTo>
                  <a:pt x="662408" y="7028"/>
                </a:lnTo>
                <a:lnTo>
                  <a:pt x="644839" y="8670"/>
                </a:lnTo>
                <a:lnTo>
                  <a:pt x="627354" y="10482"/>
                </a:lnTo>
                <a:lnTo>
                  <a:pt x="609962" y="12463"/>
                </a:lnTo>
                <a:lnTo>
                  <a:pt x="592672" y="14612"/>
                </a:lnTo>
                <a:lnTo>
                  <a:pt x="575491" y="16928"/>
                </a:lnTo>
                <a:lnTo>
                  <a:pt x="558428" y="19411"/>
                </a:lnTo>
                <a:lnTo>
                  <a:pt x="541491" y="22058"/>
                </a:lnTo>
                <a:lnTo>
                  <a:pt x="524688" y="24869"/>
                </a:lnTo>
                <a:lnTo>
                  <a:pt x="508027" y="27842"/>
                </a:lnTo>
                <a:lnTo>
                  <a:pt x="491516" y="30976"/>
                </a:lnTo>
                <a:lnTo>
                  <a:pt x="475162" y="34269"/>
                </a:lnTo>
                <a:lnTo>
                  <a:pt x="458974" y="37720"/>
                </a:lnTo>
                <a:lnTo>
                  <a:pt x="442959" y="41327"/>
                </a:lnTo>
                <a:lnTo>
                  <a:pt x="427125" y="45088"/>
                </a:lnTo>
                <a:lnTo>
                  <a:pt x="411480" y="49003"/>
                </a:lnTo>
                <a:lnTo>
                  <a:pt x="396030" y="53067"/>
                </a:lnTo>
                <a:lnTo>
                  <a:pt x="380784" y="57281"/>
                </a:lnTo>
                <a:lnTo>
                  <a:pt x="365748" y="61642"/>
                </a:lnTo>
                <a:lnTo>
                  <a:pt x="350930" y="66147"/>
                </a:lnTo>
                <a:lnTo>
                  <a:pt x="336336" y="70795"/>
                </a:lnTo>
                <a:lnTo>
                  <a:pt x="321974" y="75583"/>
                </a:lnTo>
                <a:lnTo>
                  <a:pt x="307850" y="80509"/>
                </a:lnTo>
                <a:lnTo>
                  <a:pt x="293972" y="85572"/>
                </a:lnTo>
                <a:lnTo>
                  <a:pt x="280345" y="90767"/>
                </a:lnTo>
                <a:lnTo>
                  <a:pt x="266976" y="96093"/>
                </a:lnTo>
                <a:lnTo>
                  <a:pt x="253872" y="101548"/>
                </a:lnTo>
                <a:lnTo>
                  <a:pt x="241039" y="107129"/>
                </a:lnTo>
                <a:lnTo>
                  <a:pt x="228483" y="112832"/>
                </a:lnTo>
                <a:lnTo>
                  <a:pt x="216210" y="118656"/>
                </a:lnTo>
                <a:lnTo>
                  <a:pt x="204226" y="124598"/>
                </a:lnTo>
                <a:lnTo>
                  <a:pt x="192536" y="130654"/>
                </a:lnTo>
                <a:lnTo>
                  <a:pt x="181146" y="136822"/>
                </a:lnTo>
                <a:lnTo>
                  <a:pt x="170062" y="143099"/>
                </a:lnTo>
                <a:lnTo>
                  <a:pt x="159288" y="149483"/>
                </a:lnTo>
                <a:lnTo>
                  <a:pt x="148831" y="155969"/>
                </a:lnTo>
                <a:lnTo>
                  <a:pt x="138694" y="162555"/>
                </a:lnTo>
                <a:lnTo>
                  <a:pt x="128883" y="169237"/>
                </a:lnTo>
                <a:lnTo>
                  <a:pt x="119402" y="176013"/>
                </a:lnTo>
                <a:lnTo>
                  <a:pt x="110256" y="182880"/>
                </a:lnTo>
                <a:lnTo>
                  <a:pt x="101449" y="189834"/>
                </a:lnTo>
                <a:lnTo>
                  <a:pt x="92986" y="196871"/>
                </a:lnTo>
                <a:lnTo>
                  <a:pt x="84870" y="203988"/>
                </a:lnTo>
                <a:lnTo>
                  <a:pt x="77105" y="211183"/>
                </a:lnTo>
                <a:lnTo>
                  <a:pt x="69695" y="218451"/>
                </a:lnTo>
                <a:lnTo>
                  <a:pt x="62644" y="225790"/>
                </a:lnTo>
                <a:lnTo>
                  <a:pt x="55955" y="233195"/>
                </a:lnTo>
                <a:lnTo>
                  <a:pt x="49631" y="240663"/>
                </a:lnTo>
                <a:lnTo>
                  <a:pt x="43674" y="248190"/>
                </a:lnTo>
                <a:lnTo>
                  <a:pt x="38089" y="255774"/>
                </a:lnTo>
                <a:lnTo>
                  <a:pt x="32877" y="263410"/>
                </a:lnTo>
                <a:lnTo>
                  <a:pt x="28042" y="271094"/>
                </a:lnTo>
                <a:lnTo>
                  <a:pt x="23584" y="278824"/>
                </a:lnTo>
                <a:lnTo>
                  <a:pt x="19507" y="286595"/>
                </a:lnTo>
                <a:lnTo>
                  <a:pt x="15813" y="294404"/>
                </a:lnTo>
                <a:lnTo>
                  <a:pt x="12503" y="302246"/>
                </a:lnTo>
                <a:lnTo>
                  <a:pt x="9578" y="310119"/>
                </a:lnTo>
                <a:lnTo>
                  <a:pt x="7041" y="318019"/>
                </a:lnTo>
                <a:lnTo>
                  <a:pt x="4891" y="325941"/>
                </a:lnTo>
                <a:lnTo>
                  <a:pt x="3132" y="333882"/>
                </a:lnTo>
                <a:lnTo>
                  <a:pt x="1762" y="341838"/>
                </a:lnTo>
                <a:lnTo>
                  <a:pt x="783" y="349806"/>
                </a:lnTo>
                <a:lnTo>
                  <a:pt x="196" y="357781"/>
                </a:lnTo>
                <a:lnTo>
                  <a:pt x="0" y="365760"/>
                </a:lnTo>
                <a:close/>
              </a:path>
            </a:pathLst>
          </a:custGeom>
          <a:solidFill>
            <a:srgbClr val="E8EFF8"/>
          </a:solidFill>
          <a:ln w="9525">
            <a:solidFill>
              <a:srgbClr val="9DC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53328" y="2157984"/>
            <a:ext cx="1645920" cy="731520"/>
          </a:xfrm>
          <a:prstGeom prst="ellipse">
            <a:avLst/>
          </a:prstGeom>
          <a:noFill/>
          <a:ln w="190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53328" y="2517343"/>
            <a:ext cx="822960" cy="12801"/>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69887" y="2157984"/>
            <a:ext cx="12801" cy="365760"/>
          </a:xfrm>
          <a:prstGeom prst="rect">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835140" y="2482596"/>
            <a:ext cx="82296" cy="82296"/>
          </a:xfrm>
          <a:prstGeom prst="ellipse">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6053328" y="2157984"/>
            <a:ext cx="822960" cy="365760"/>
          </a:xfrm>
          <a:custGeom>
            <a:avLst/>
            <a:gdLst/>
            <a:ahLst/>
            <a:cxnLst/>
            <a:rect l="l" t="t" r="r" b="b"/>
            <a:pathLst>
              <a:path w="822960" h="365760">
                <a:moveTo>
                  <a:pt x="0" y="365760"/>
                </a:moveTo>
                <a:lnTo>
                  <a:pt x="196" y="357781"/>
                </a:lnTo>
                <a:lnTo>
                  <a:pt x="783" y="349806"/>
                </a:lnTo>
                <a:lnTo>
                  <a:pt x="1762" y="341838"/>
                </a:lnTo>
                <a:lnTo>
                  <a:pt x="3132" y="333882"/>
                </a:lnTo>
                <a:lnTo>
                  <a:pt x="4891" y="325941"/>
                </a:lnTo>
                <a:lnTo>
                  <a:pt x="7041" y="318019"/>
                </a:lnTo>
                <a:lnTo>
                  <a:pt x="9578" y="310119"/>
                </a:lnTo>
                <a:lnTo>
                  <a:pt x="12503" y="302246"/>
                </a:lnTo>
                <a:lnTo>
                  <a:pt x="15813" y="294404"/>
                </a:lnTo>
                <a:lnTo>
                  <a:pt x="19507" y="286595"/>
                </a:lnTo>
                <a:lnTo>
                  <a:pt x="23584" y="278824"/>
                </a:lnTo>
                <a:lnTo>
                  <a:pt x="28042" y="271094"/>
                </a:lnTo>
                <a:lnTo>
                  <a:pt x="32877" y="263410"/>
                </a:lnTo>
                <a:lnTo>
                  <a:pt x="38089" y="255774"/>
                </a:lnTo>
                <a:lnTo>
                  <a:pt x="43674" y="248190"/>
                </a:lnTo>
                <a:lnTo>
                  <a:pt x="49631" y="240663"/>
                </a:lnTo>
                <a:lnTo>
                  <a:pt x="55955" y="233195"/>
                </a:lnTo>
                <a:lnTo>
                  <a:pt x="62644" y="225790"/>
                </a:lnTo>
                <a:lnTo>
                  <a:pt x="69695" y="218451"/>
                </a:lnTo>
                <a:lnTo>
                  <a:pt x="77105" y="211183"/>
                </a:lnTo>
                <a:lnTo>
                  <a:pt x="84870" y="203988"/>
                </a:lnTo>
                <a:lnTo>
                  <a:pt x="92986" y="196871"/>
                </a:lnTo>
                <a:lnTo>
                  <a:pt x="101449" y="189834"/>
                </a:lnTo>
                <a:lnTo>
                  <a:pt x="110256" y="182880"/>
                </a:lnTo>
                <a:lnTo>
                  <a:pt x="119402" y="176013"/>
                </a:lnTo>
                <a:lnTo>
                  <a:pt x="128883" y="169237"/>
                </a:lnTo>
                <a:lnTo>
                  <a:pt x="138694" y="162555"/>
                </a:lnTo>
                <a:lnTo>
                  <a:pt x="148831" y="155969"/>
                </a:lnTo>
                <a:lnTo>
                  <a:pt x="159288" y="149483"/>
                </a:lnTo>
                <a:lnTo>
                  <a:pt x="170062" y="143099"/>
                </a:lnTo>
                <a:lnTo>
                  <a:pt x="181146" y="136822"/>
                </a:lnTo>
                <a:lnTo>
                  <a:pt x="192536" y="130654"/>
                </a:lnTo>
                <a:lnTo>
                  <a:pt x="204226" y="124598"/>
                </a:lnTo>
                <a:lnTo>
                  <a:pt x="216210" y="118656"/>
                </a:lnTo>
                <a:lnTo>
                  <a:pt x="228483" y="112832"/>
                </a:lnTo>
                <a:lnTo>
                  <a:pt x="241039" y="107129"/>
                </a:lnTo>
                <a:lnTo>
                  <a:pt x="253872" y="101548"/>
                </a:lnTo>
                <a:lnTo>
                  <a:pt x="266976" y="96093"/>
                </a:lnTo>
                <a:lnTo>
                  <a:pt x="280345" y="90767"/>
                </a:lnTo>
                <a:lnTo>
                  <a:pt x="293972" y="85572"/>
                </a:lnTo>
                <a:lnTo>
                  <a:pt x="307850" y="80509"/>
                </a:lnTo>
                <a:lnTo>
                  <a:pt x="321974" y="75583"/>
                </a:lnTo>
                <a:lnTo>
                  <a:pt x="336336" y="70795"/>
                </a:lnTo>
                <a:lnTo>
                  <a:pt x="350930" y="66147"/>
                </a:lnTo>
                <a:lnTo>
                  <a:pt x="365748" y="61642"/>
                </a:lnTo>
                <a:lnTo>
                  <a:pt x="380784" y="57281"/>
                </a:lnTo>
                <a:lnTo>
                  <a:pt x="396030" y="53067"/>
                </a:lnTo>
                <a:lnTo>
                  <a:pt x="411480" y="49003"/>
                </a:lnTo>
                <a:lnTo>
                  <a:pt x="427125" y="45088"/>
                </a:lnTo>
                <a:lnTo>
                  <a:pt x="442959" y="41327"/>
                </a:lnTo>
                <a:lnTo>
                  <a:pt x="458974" y="37720"/>
                </a:lnTo>
                <a:lnTo>
                  <a:pt x="475162" y="34269"/>
                </a:lnTo>
                <a:lnTo>
                  <a:pt x="491516" y="30976"/>
                </a:lnTo>
                <a:lnTo>
                  <a:pt x="508027" y="27842"/>
                </a:lnTo>
                <a:lnTo>
                  <a:pt x="524688" y="24869"/>
                </a:lnTo>
                <a:lnTo>
                  <a:pt x="541491" y="22058"/>
                </a:lnTo>
                <a:lnTo>
                  <a:pt x="558428" y="19411"/>
                </a:lnTo>
                <a:lnTo>
                  <a:pt x="575491" y="16928"/>
                </a:lnTo>
                <a:lnTo>
                  <a:pt x="592672" y="14612"/>
                </a:lnTo>
                <a:lnTo>
                  <a:pt x="609962" y="12463"/>
                </a:lnTo>
                <a:lnTo>
                  <a:pt x="627354" y="10482"/>
                </a:lnTo>
                <a:lnTo>
                  <a:pt x="644839" y="8670"/>
                </a:lnTo>
                <a:lnTo>
                  <a:pt x="662408" y="7028"/>
                </a:lnTo>
                <a:lnTo>
                  <a:pt x="680054" y="5557"/>
                </a:lnTo>
                <a:lnTo>
                  <a:pt x="697769" y="4257"/>
                </a:lnTo>
                <a:lnTo>
                  <a:pt x="715542" y="3129"/>
                </a:lnTo>
                <a:lnTo>
                  <a:pt x="733367" y="2174"/>
                </a:lnTo>
                <a:lnTo>
                  <a:pt x="751234" y="1392"/>
                </a:lnTo>
                <a:lnTo>
                  <a:pt x="769136" y="783"/>
                </a:lnTo>
                <a:lnTo>
                  <a:pt x="787063" y="348"/>
                </a:lnTo>
                <a:lnTo>
                  <a:pt x="805007" y="87"/>
                </a:lnTo>
                <a:lnTo>
                  <a:pt x="822960" y="0"/>
                </a:lnTo>
              </a:path>
            </a:pathLst>
          </a:custGeom>
          <a:noFill/>
          <a:ln w="381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1072" y="2569463"/>
            <a:ext cx="640080" cy="201168"/>
          </a:xfrm>
          <a:prstGeom prst="rect">
            <a:avLst/>
          </a:prstGeom>
          <a:noFill/>
        </p:spPr>
        <p:txBody>
          <a:bodyPr wrap="square" lIns="0" tIns="0" rIns="0" bIns="0" anchor="t">
            <a:spAutoFit/>
          </a:bodyPr>
          <a:lstStyle/>
          <a:p>
            <a:pPr algn="l">
              <a:lnSpc>
                <a:spcPct val="110000"/>
              </a:lnSpc>
              <a:spcAft>
                <a:spcPts val="400"/>
              </a:spcAft>
            </a:pPr>
            <a:r>
              <a:rPr sz="1200" b="1" i="0">
                <a:solidFill>
                  <a:srgbClr val="D9534F"/>
                </a:solidFill>
                <a:latin typeface="Calibri"/>
                <a:ea typeface="Calibri"/>
              </a:rPr>
              <a:t>rx</a:t>
            </a:r>
          </a:p>
        </p:txBody>
      </p:sp>
      <p:sp>
        <p:nvSpPr>
          <p:cNvPr id="17" name="TextBox 16"/>
          <p:cNvSpPr txBox="1"/>
          <p:nvPr/>
        </p:nvSpPr>
        <p:spPr>
          <a:xfrm>
            <a:off x="6940296" y="2203703"/>
            <a:ext cx="640080" cy="201168"/>
          </a:xfrm>
          <a:prstGeom prst="rect">
            <a:avLst/>
          </a:prstGeom>
          <a:noFill/>
        </p:spPr>
        <p:txBody>
          <a:bodyPr wrap="square" lIns="0" tIns="0" rIns="0" bIns="0" anchor="t">
            <a:spAutoFit/>
          </a:bodyPr>
          <a:lstStyle/>
          <a:p>
            <a:pPr algn="l">
              <a:lnSpc>
                <a:spcPct val="110000"/>
              </a:lnSpc>
              <a:spcAft>
                <a:spcPts val="400"/>
              </a:spcAft>
            </a:pPr>
            <a:r>
              <a:rPr sz="1200" b="1" i="0">
                <a:solidFill>
                  <a:srgbClr val="D9534F"/>
                </a:solidFill>
                <a:latin typeface="Calibri"/>
                <a:ea typeface="Calibri"/>
              </a:rPr>
              <a:t>ry</a:t>
            </a:r>
          </a:p>
        </p:txBody>
      </p:sp>
      <p:sp>
        <p:nvSpPr>
          <p:cNvPr id="18" name="TextBox 17"/>
          <p:cNvSpPr txBox="1"/>
          <p:nvPr/>
        </p:nvSpPr>
        <p:spPr>
          <a:xfrm>
            <a:off x="6976872" y="2578608"/>
            <a:ext cx="822960" cy="182880"/>
          </a:xfrm>
          <a:prstGeom prst="rect">
            <a:avLst/>
          </a:prstGeom>
          <a:noFill/>
        </p:spPr>
        <p:txBody>
          <a:bodyPr wrap="square" lIns="0" tIns="0" rIns="0" bIns="0" anchor="t">
            <a:spAutoFit/>
          </a:bodyPr>
          <a:lstStyle/>
          <a:p>
            <a:pPr algn="l">
              <a:lnSpc>
                <a:spcPct val="110000"/>
              </a:lnSpc>
              <a:spcAft>
                <a:spcPts val="400"/>
              </a:spcAft>
            </a:pPr>
            <a:r>
              <a:rPr sz="950" b="0" i="0">
                <a:solidFill>
                  <a:srgbClr val="4A5568"/>
                </a:solidFill>
                <a:latin typeface="Calibri"/>
                <a:ea typeface="Calibri"/>
              </a:rPr>
              <a:t>centre</a:t>
            </a:r>
          </a:p>
        </p:txBody>
      </p:sp>
      <p:sp>
        <p:nvSpPr>
          <p:cNvPr id="19" name="TextBox 18"/>
          <p:cNvSpPr txBox="1"/>
          <p:nvPr/>
        </p:nvSpPr>
        <p:spPr>
          <a:xfrm>
            <a:off x="6053328" y="1892807"/>
            <a:ext cx="2560320"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0E3F8C"/>
                </a:solidFill>
                <a:latin typeface="Calibri"/>
                <a:ea typeface="Calibri"/>
              </a:rPr>
              <a:t>the corner is cut by a quarter ellipse</a:t>
            </a:r>
          </a:p>
        </p:txBody>
      </p:sp>
      <p:sp>
        <p:nvSpPr>
          <p:cNvPr id="20" name="TextBox 19"/>
          <p:cNvSpPr txBox="1"/>
          <p:nvPr/>
        </p:nvSpPr>
        <p:spPr>
          <a:xfrm>
            <a:off x="8631936" y="1920239"/>
            <a:ext cx="2743200" cy="219456"/>
          </a:xfrm>
          <a:prstGeom prst="rect">
            <a:avLst/>
          </a:prstGeom>
          <a:noFill/>
        </p:spPr>
        <p:txBody>
          <a:bodyPr wrap="none" lIns="0" tIns="0" rIns="0" bIns="0" anchor="t">
            <a:spAutoFit/>
          </a:bodyPr>
          <a:lstStyle/>
          <a:p>
            <a:pPr algn="ctr">
              <a:lnSpc>
                <a:spcPct val="110000"/>
              </a:lnSpc>
              <a:spcAft>
                <a:spcPts val="400"/>
              </a:spcAft>
            </a:pPr>
            <a:r>
              <a:rPr sz="1050" b="0" i="0">
                <a:solidFill>
                  <a:srgbClr val="4A5568"/>
                </a:solidFill>
                <a:latin typeface="Consolas"/>
                <a:ea typeface="Consolas"/>
              </a:rPr>
              <a:t>border-radius: 32px;</a:t>
            </a:r>
          </a:p>
        </p:txBody>
      </p:sp>
      <p:sp>
        <p:nvSpPr>
          <p:cNvPr id="21" name="TextBox 20"/>
          <p:cNvSpPr txBox="1"/>
          <p:nvPr/>
        </p:nvSpPr>
        <p:spPr>
          <a:xfrm>
            <a:off x="8631936" y="3291839"/>
            <a:ext cx="2743200" cy="219456"/>
          </a:xfrm>
          <a:prstGeom prst="rect">
            <a:avLst/>
          </a:prstGeom>
          <a:noFill/>
        </p:spPr>
        <p:txBody>
          <a:bodyPr wrap="none" lIns="0" tIns="0" rIns="0" bIns="0" anchor="t">
            <a:spAutoFit/>
          </a:bodyPr>
          <a:lstStyle/>
          <a:p>
            <a:pPr algn="ctr">
              <a:lnSpc>
                <a:spcPct val="110000"/>
              </a:lnSpc>
              <a:spcAft>
                <a:spcPts val="400"/>
              </a:spcAft>
            </a:pPr>
            <a:r>
              <a:rPr sz="1050" b="0" i="0">
                <a:solidFill>
                  <a:srgbClr val="4A5568"/>
                </a:solidFill>
                <a:latin typeface="Consolas"/>
                <a:ea typeface="Consolas"/>
              </a:rPr>
              <a:t>border-radius: 120px / 16px;</a:t>
            </a:r>
          </a:p>
        </p:txBody>
      </p:sp>
      <p:sp>
        <p:nvSpPr>
          <p:cNvPr id="22" name="Rounded Rectangle 21"/>
          <p:cNvSpPr/>
          <p:nvPr/>
        </p:nvSpPr>
        <p:spPr>
          <a:xfrm>
            <a:off x="8631936" y="2157984"/>
            <a:ext cx="2743200" cy="914400"/>
          </a:xfrm>
          <a:prstGeom prst="roundRect">
            <a:avLst>
              <a:gd name="adj" fmla="val 33333"/>
            </a:avLst>
          </a:prstGeom>
          <a:solidFill>
            <a:srgbClr val="E8EFF8"/>
          </a:solidFill>
          <a:ln w="317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8631936" y="3529584"/>
            <a:ext cx="2743200" cy="914400"/>
          </a:xfrm>
          <a:custGeom>
            <a:avLst/>
            <a:gdLst/>
            <a:ahLst/>
            <a:cxnLst/>
            <a:rect l="l" t="t" r="r" b="b"/>
            <a:pathLst>
              <a:path w="2743200" h="914400">
                <a:moveTo>
                  <a:pt x="0" y="152400"/>
                </a:moveTo>
                <a:lnTo>
                  <a:pt x="3523" y="140443"/>
                </a:lnTo>
                <a:lnTo>
                  <a:pt x="14072" y="128559"/>
                </a:lnTo>
                <a:lnTo>
                  <a:pt x="31581" y="116823"/>
                </a:lnTo>
                <a:lnTo>
                  <a:pt x="55942" y="105306"/>
                </a:lnTo>
                <a:lnTo>
                  <a:pt x="87006" y="94079"/>
                </a:lnTo>
                <a:lnTo>
                  <a:pt x="124580" y="83212"/>
                </a:lnTo>
                <a:lnTo>
                  <a:pt x="168432" y="72771"/>
                </a:lnTo>
                <a:lnTo>
                  <a:pt x="218294" y="62822"/>
                </a:lnTo>
                <a:lnTo>
                  <a:pt x="273856" y="53424"/>
                </a:lnTo>
                <a:lnTo>
                  <a:pt x="334777" y="44637"/>
                </a:lnTo>
                <a:lnTo>
                  <a:pt x="400681" y="36514"/>
                </a:lnTo>
                <a:lnTo>
                  <a:pt x="471161" y="29106"/>
                </a:lnTo>
                <a:lnTo>
                  <a:pt x="545784" y="22458"/>
                </a:lnTo>
                <a:lnTo>
                  <a:pt x="624089" y="16611"/>
                </a:lnTo>
                <a:lnTo>
                  <a:pt x="705593" y="11601"/>
                </a:lnTo>
                <a:lnTo>
                  <a:pt x="789794" y="7459"/>
                </a:lnTo>
                <a:lnTo>
                  <a:pt x="876172" y="4211"/>
                </a:lnTo>
                <a:lnTo>
                  <a:pt x="964195" y="1876"/>
                </a:lnTo>
                <a:lnTo>
                  <a:pt x="1053321" y="470"/>
                </a:lnTo>
                <a:lnTo>
                  <a:pt x="1143000" y="0"/>
                </a:lnTo>
                <a:lnTo>
                  <a:pt x="1600200" y="0"/>
                </a:lnTo>
                <a:lnTo>
                  <a:pt x="1689879" y="470"/>
                </a:lnTo>
                <a:lnTo>
                  <a:pt x="1779005" y="1876"/>
                </a:lnTo>
                <a:lnTo>
                  <a:pt x="1867028" y="4211"/>
                </a:lnTo>
                <a:lnTo>
                  <a:pt x="1953406" y="7459"/>
                </a:lnTo>
                <a:lnTo>
                  <a:pt x="2037607" y="11601"/>
                </a:lnTo>
                <a:lnTo>
                  <a:pt x="2119111" y="16611"/>
                </a:lnTo>
                <a:lnTo>
                  <a:pt x="2197416" y="22458"/>
                </a:lnTo>
                <a:lnTo>
                  <a:pt x="2272039" y="29106"/>
                </a:lnTo>
                <a:lnTo>
                  <a:pt x="2342519" y="36514"/>
                </a:lnTo>
                <a:lnTo>
                  <a:pt x="2408423" y="44637"/>
                </a:lnTo>
                <a:lnTo>
                  <a:pt x="2469344" y="53424"/>
                </a:lnTo>
                <a:lnTo>
                  <a:pt x="2524906" y="62822"/>
                </a:lnTo>
                <a:lnTo>
                  <a:pt x="2574768" y="72771"/>
                </a:lnTo>
                <a:lnTo>
                  <a:pt x="2618620" y="83212"/>
                </a:lnTo>
                <a:lnTo>
                  <a:pt x="2656194" y="94079"/>
                </a:lnTo>
                <a:lnTo>
                  <a:pt x="2687258" y="105306"/>
                </a:lnTo>
                <a:lnTo>
                  <a:pt x="2711619" y="116823"/>
                </a:lnTo>
                <a:lnTo>
                  <a:pt x="2729128" y="128559"/>
                </a:lnTo>
                <a:lnTo>
                  <a:pt x="2739677" y="140443"/>
                </a:lnTo>
                <a:lnTo>
                  <a:pt x="2743200" y="152400"/>
                </a:lnTo>
                <a:lnTo>
                  <a:pt x="2743200" y="762000"/>
                </a:lnTo>
                <a:lnTo>
                  <a:pt x="2739677" y="773957"/>
                </a:lnTo>
                <a:lnTo>
                  <a:pt x="2729128" y="785841"/>
                </a:lnTo>
                <a:lnTo>
                  <a:pt x="2711619" y="797577"/>
                </a:lnTo>
                <a:lnTo>
                  <a:pt x="2687258" y="809094"/>
                </a:lnTo>
                <a:lnTo>
                  <a:pt x="2656194" y="820321"/>
                </a:lnTo>
                <a:lnTo>
                  <a:pt x="2618620" y="831188"/>
                </a:lnTo>
                <a:lnTo>
                  <a:pt x="2574768" y="841629"/>
                </a:lnTo>
                <a:lnTo>
                  <a:pt x="2524906" y="851578"/>
                </a:lnTo>
                <a:lnTo>
                  <a:pt x="2469344" y="860976"/>
                </a:lnTo>
                <a:lnTo>
                  <a:pt x="2408423" y="869763"/>
                </a:lnTo>
                <a:lnTo>
                  <a:pt x="2342519" y="877886"/>
                </a:lnTo>
                <a:lnTo>
                  <a:pt x="2272039" y="885294"/>
                </a:lnTo>
                <a:lnTo>
                  <a:pt x="2197416" y="891942"/>
                </a:lnTo>
                <a:lnTo>
                  <a:pt x="2119111" y="897789"/>
                </a:lnTo>
                <a:lnTo>
                  <a:pt x="2037607" y="902799"/>
                </a:lnTo>
                <a:lnTo>
                  <a:pt x="1953406" y="906941"/>
                </a:lnTo>
                <a:lnTo>
                  <a:pt x="1867028" y="910189"/>
                </a:lnTo>
                <a:lnTo>
                  <a:pt x="1779005" y="912524"/>
                </a:lnTo>
                <a:lnTo>
                  <a:pt x="1689879" y="913930"/>
                </a:lnTo>
                <a:lnTo>
                  <a:pt x="1600200" y="914400"/>
                </a:lnTo>
                <a:lnTo>
                  <a:pt x="1143000" y="914400"/>
                </a:lnTo>
                <a:lnTo>
                  <a:pt x="1053321" y="913930"/>
                </a:lnTo>
                <a:lnTo>
                  <a:pt x="964195" y="912524"/>
                </a:lnTo>
                <a:lnTo>
                  <a:pt x="876172" y="910189"/>
                </a:lnTo>
                <a:lnTo>
                  <a:pt x="789794" y="906941"/>
                </a:lnTo>
                <a:lnTo>
                  <a:pt x="705593" y="902799"/>
                </a:lnTo>
                <a:lnTo>
                  <a:pt x="624089" y="897789"/>
                </a:lnTo>
                <a:lnTo>
                  <a:pt x="545784" y="891942"/>
                </a:lnTo>
                <a:lnTo>
                  <a:pt x="471161" y="885294"/>
                </a:lnTo>
                <a:lnTo>
                  <a:pt x="400681" y="877886"/>
                </a:lnTo>
                <a:lnTo>
                  <a:pt x="334777" y="869763"/>
                </a:lnTo>
                <a:lnTo>
                  <a:pt x="273856" y="860976"/>
                </a:lnTo>
                <a:lnTo>
                  <a:pt x="218294" y="851578"/>
                </a:lnTo>
                <a:lnTo>
                  <a:pt x="168432" y="841629"/>
                </a:lnTo>
                <a:lnTo>
                  <a:pt x="124580" y="831188"/>
                </a:lnTo>
                <a:lnTo>
                  <a:pt x="87006" y="820321"/>
                </a:lnTo>
                <a:lnTo>
                  <a:pt x="55942" y="809094"/>
                </a:lnTo>
                <a:lnTo>
                  <a:pt x="31581" y="797577"/>
                </a:lnTo>
                <a:lnTo>
                  <a:pt x="14072" y="785841"/>
                </a:lnTo>
                <a:lnTo>
                  <a:pt x="3523" y="773957"/>
                </a:lnTo>
                <a:lnTo>
                  <a:pt x="0" y="762000"/>
                </a:lnTo>
                <a:close/>
              </a:path>
            </a:pathLst>
          </a:custGeom>
          <a:solidFill>
            <a:srgbClr val="E8EFF8"/>
          </a:solidFill>
          <a:ln w="3175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05856" y="4572000"/>
            <a:ext cx="5626303" cy="402336"/>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Both boxes are 288 x 96 px. The upper one turns its corner with a single radius; the lower one reaches 120px across and only 16px down.</a:t>
            </a:r>
          </a:p>
        </p:txBody>
      </p:sp>
      <p:sp>
        <p:nvSpPr>
          <p:cNvPr id="25" name="TextBox 24"/>
          <p:cNvSpPr txBox="1"/>
          <p:nvPr/>
        </p:nvSpPr>
        <p:spPr>
          <a:xfrm>
            <a:off x="5705856" y="5010912"/>
            <a:ext cx="5626303" cy="256032"/>
          </a:xfrm>
          <a:prstGeom prst="rect">
            <a:avLst/>
          </a:prstGeom>
          <a:noFill/>
        </p:spPr>
        <p:txBody>
          <a:bodyPr wrap="square" lIns="0" tIns="0" rIns="0" bIns="0" anchor="t">
            <a:spAutoFit/>
          </a:bodyPr>
          <a:lstStyle/>
          <a:p>
            <a:pPr algn="l">
              <a:lnSpc>
                <a:spcPct val="110000"/>
              </a:lnSpc>
              <a:spcAft>
                <a:spcPts val="400"/>
              </a:spcAft>
            </a:pPr>
            <a:r>
              <a:rPr sz="1050" b="1" i="0">
                <a:solidFill>
                  <a:srgbClr val="4A5568"/>
                </a:solidFill>
                <a:latin typeface="Calibri"/>
                <a:ea typeface="Calibri"/>
              </a:rPr>
              <a:t>open in editor →  </a:t>
            </a:r>
            <a:r>
              <a:rPr sz="1050" b="1" i="0">
                <a:solidFill>
                  <a:srgbClr val="1E4FA8"/>
                </a:solidFill>
                <a:latin typeface="Calibri"/>
                <a:ea typeface="Calibri"/>
                <a:hlinkClick r:id="rId2"/>
                <a:extLst>
                  <a:ext uri="{A12FA001-AC4F-418D-AE19-62706E023703}">
                    <ahyp:hlinkClr xmlns:ahyp="http://schemas.microsoft.com/office/drawing/2018/hyperlinkcolor" xmlns="" val="tx"/>
                  </a:ext>
                </a:extLst>
              </a:rPr>
              <a:t>css-layout/border-radius</a:t>
            </a:r>
          </a:p>
        </p:txBody>
      </p:sp>
      <p:sp>
        <p:nvSpPr>
          <p:cNvPr id="26" name="Rounded Rectangle 2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Try it — drag the handles and the two radii come apart   </a:t>
            </a:r>
            <a:r>
              <a:rPr sz="1100" b="1" i="0">
                <a:solidFill>
                  <a:srgbClr val="61AFEF"/>
                </a:solidFill>
                <a:latin typeface="Calibri"/>
                <a:ea typeface="Calibri"/>
                <a:hlinkClick r:id="rId3"/>
                <a:extLst>
                  <a:ext uri="{A12FA001-AC4F-418D-AE19-62706E023703}">
                    <ahyp:hlinkClr xmlns:ahyp="http://schemas.microsoft.com/office/drawing/2018/hyperlinkcolor" xmlns="" val="tx"/>
                  </a:ext>
                </a:extLst>
              </a:rPr>
              <a:t>↗ 9elements.github.io/fancy-border-radius</a:t>
            </a:r>
          </a:p>
        </p:txBody>
      </p:sp>
      <p:sp>
        <p:nvSpPr>
          <p:cNvPr id="28" name="TextBox 27"/>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.card { border-radius: 50% / 30%; }   /* half the width across, 30% of the height down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Padding</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Inside the edge</a:t>
            </a:r>
            <a:br/>
            <a:r>
              <a:rPr sz="1350" b="0" i="0">
                <a:solidFill>
                  <a:srgbClr val="4A5568"/>
                </a:solidFill>
                <a:latin typeface="Calibri"/>
                <a:ea typeface="Calibri"/>
              </a:rPr>
              <a:t>Padding clears an area around the content, inside the border.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background paints it</a:t>
            </a:r>
            <a:br/>
            <a:r>
              <a:rPr sz="1350" b="0" i="0">
                <a:solidFill>
                  <a:srgbClr val="4A5568"/>
                </a:solidFill>
                <a:latin typeface="Calibri"/>
                <a:ea typeface="Calibri"/>
              </a:rPr>
              <a:t>Unlike the margin, padding is part of the painted box.</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Part of the element</a:t>
            </a:r>
            <a:br/>
            <a:r>
              <a:rPr sz="1350" b="0" i="0">
                <a:solidFill>
                  <a:srgbClr val="4A5568"/>
                </a:solidFill>
                <a:latin typeface="Calibri"/>
                <a:ea typeface="Calibri"/>
              </a:rPr>
              <a:t>Clicks inside the padding still hit the element.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Four sides, named</a:t>
            </a:r>
            <a:br/>
            <a:r>
              <a:rPr sz="1350" b="0" i="0">
                <a:solidFill>
                  <a:srgbClr val="4A5568"/>
                </a:solidFill>
                <a:latin typeface="Calibri"/>
                <a:ea typeface="Calibri"/>
              </a:rPr>
              <a:t>padding-top, -right, -bottom and -left — one declaration each.</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Padding never collapses</a:t>
            </a:r>
            <a:br/>
            <a:r>
              <a:rPr sz="1350" b="0" i="0">
                <a:solidFill>
                  <a:srgbClr val="4A5568"/>
                </a:solidFill>
                <a:latin typeface="Calibri"/>
                <a:ea typeface="Calibri"/>
              </a:rPr>
              <a:t>Two paddings that meet simply add up.</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div {</a:t>
            </a:r>
          </a:p>
          <a:p>
            <a:pPr>
              <a:spcAft>
                <a:spcPts val="350"/>
              </a:spcAft>
            </a:pPr>
            <a:r>
              <a:rPr sz="1300" b="0" i="0">
                <a:solidFill>
                  <a:srgbClr val="E5C07B"/>
                </a:solidFill>
                <a:latin typeface="Consolas"/>
                <a:ea typeface="Consolas"/>
              </a:rPr>
              <a:t>  border: 1px solid black;</a:t>
            </a:r>
          </a:p>
          <a:p>
            <a:pPr>
              <a:spcAft>
                <a:spcPts val="350"/>
              </a:spcAft>
            </a:pPr>
            <a:r>
              <a:rPr sz="1300" b="0" i="0">
                <a:solidFill>
                  <a:srgbClr val="98C379"/>
                </a:solidFill>
                <a:latin typeface="Consolas"/>
                <a:ea typeface="Consolas"/>
              </a:rPr>
              <a:t>  background-color: lightblue;</a:t>
            </a:r>
          </a:p>
          <a:p>
            <a:pPr>
              <a:spcAft>
                <a:spcPts val="350"/>
              </a:spcAft>
            </a:pPr>
            <a:r>
              <a:rPr sz="1300" b="0" i="0">
                <a:solidFill>
                  <a:srgbClr val="98C379"/>
                </a:solidFill>
                <a:latin typeface="Consolas"/>
                <a:ea typeface="Consolas"/>
              </a:rPr>
              <a:t>  padding-top: 50px;</a:t>
            </a:r>
          </a:p>
          <a:p>
            <a:pPr>
              <a:spcAft>
                <a:spcPts val="350"/>
              </a:spcAft>
            </a:pPr>
            <a:r>
              <a:rPr sz="1300" b="0" i="0">
                <a:solidFill>
                  <a:srgbClr val="98C379"/>
                </a:solidFill>
                <a:latin typeface="Consolas"/>
                <a:ea typeface="Consolas"/>
              </a:rPr>
              <a:t>  padding-right: 30px;</a:t>
            </a:r>
          </a:p>
          <a:p>
            <a:pPr>
              <a:spcAft>
                <a:spcPts val="350"/>
              </a:spcAft>
            </a:pPr>
            <a:r>
              <a:rPr sz="1300" b="0" i="0">
                <a:solidFill>
                  <a:srgbClr val="98C379"/>
                </a:solidFill>
                <a:latin typeface="Consolas"/>
                <a:ea typeface="Consolas"/>
              </a:rPr>
              <a:t>  padding-bottom: 50px;</a:t>
            </a:r>
          </a:p>
          <a:p>
            <a:pPr>
              <a:spcAft>
                <a:spcPts val="350"/>
              </a:spcAft>
            </a:pPr>
            <a:r>
              <a:rPr sz="1300" b="0" i="0">
                <a:solidFill>
                  <a:srgbClr val="98C379"/>
                </a:solidFill>
                <a:latin typeface="Consolas"/>
                <a:ea typeface="Consolas"/>
              </a:rPr>
              <a:t>  padding-left: 80px;</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editor.html?example=css-layout/padding</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Four properties, one per side — the 1-4 order works too: padding: 50px 30px 50px 80px;</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Margin</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Outside the edge</a:t>
            </a:r>
            <a:br/>
            <a:r>
              <a:rPr sz="1350" b="0" i="0">
                <a:solidFill>
                  <a:srgbClr val="4A5568"/>
                </a:solidFill>
                <a:latin typeface="Calibri"/>
                <a:ea typeface="Calibri"/>
              </a:rPr>
              <a:t>Margin clears an area around the element. Nothing is ever painted there.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same 1-4 order</a:t>
            </a:r>
            <a:br/>
            <a:r>
              <a:rPr sz="1350" b="0" i="0">
                <a:solidFill>
                  <a:srgbClr val="4A5568"/>
                </a:solidFill>
                <a:latin typeface="Calibri"/>
                <a:ea typeface="Calibri"/>
              </a:rPr>
              <a:t>Identical to padding — top, right, bottom, left.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auto centres a block</a:t>
            </a:r>
            <a:br/>
            <a:r>
              <a:rPr sz="1350" b="0" i="0">
                <a:solidFill>
                  <a:srgbClr val="4A5568"/>
                </a:solidFill>
                <a:latin typeface="Calibri"/>
                <a:ea typeface="Calibri"/>
              </a:rPr>
              <a:t>A declared </a:t>
            </a:r>
            <a:r>
              <a:rPr sz="1350" b="0" i="0">
                <a:solidFill>
                  <a:srgbClr val="B8860B"/>
                </a:solidFill>
                <a:latin typeface="Consolas"/>
                <a:ea typeface="Consolas"/>
              </a:rPr>
              <a:t>width</a:t>
            </a:r>
            <a:r>
              <a:rPr sz="1350" b="0" i="0">
                <a:solidFill>
                  <a:srgbClr val="4A5568"/>
                </a:solidFill>
                <a:latin typeface="Calibri"/>
                <a:ea typeface="Calibri"/>
              </a:rPr>
              <a:t> plus margin: auto splits the leftover space evenly.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margin can be inherited</a:t>
            </a:r>
            <a:br/>
            <a:r>
              <a:rPr sz="1350" b="0" i="0">
                <a:solidFill>
                  <a:srgbClr val="4A5568"/>
                </a:solidFill>
                <a:latin typeface="Calibri"/>
                <a:ea typeface="Calibri"/>
              </a:rPr>
              <a:t>margin-left: inherit takes the parent's margin-left.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Nothing is painted here</a:t>
            </a:r>
            <a:br/>
            <a:r>
              <a:rPr sz="1350" b="0" i="0">
                <a:solidFill>
                  <a:srgbClr val="4A5568"/>
                </a:solidFill>
                <a:latin typeface="Calibri"/>
                <a:ea typeface="Calibri"/>
              </a:rPr>
              <a:t>If you can see the background, you are looking at padding.</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98C379"/>
                </a:solidFill>
                <a:latin typeface="Consolas"/>
                <a:ea typeface="Consolas"/>
              </a:rPr>
              <a:t>p { margin: 100px 150px 100px 80px; }</a:t>
            </a:r>
          </a:p>
          <a:p>
            <a:pPr>
              <a:spcAft>
                <a:spcPts val="350"/>
              </a:spcAft>
            </a:pPr>
            <a:endParaRPr sz="1300" b="0" i="0">
              <a:solidFill>
                <a:srgbClr val="98C379"/>
              </a:solidFill>
              <a:latin typeface="Consolas"/>
              <a:ea typeface="Consolas"/>
            </a:endParaRPr>
          </a:p>
          <a:p>
            <a:pPr>
              <a:spcAft>
                <a:spcPts val="350"/>
              </a:spcAft>
            </a:pPr>
            <a:r>
              <a:rPr sz="1300" b="0" i="0">
                <a:solidFill>
                  <a:srgbClr val="7F8C98"/>
                </a:solidFill>
                <a:latin typeface="Consolas"/>
                <a:ea typeface="Consolas"/>
              </a:rPr>
              <a:t>/* centred in its parent */</a:t>
            </a:r>
          </a:p>
          <a:p>
            <a:pPr>
              <a:spcAft>
                <a:spcPts val="350"/>
              </a:spcAft>
            </a:pPr>
            <a:r>
              <a:rPr sz="1300" b="0" i="0">
                <a:solidFill>
                  <a:srgbClr val="E5C07B"/>
                </a:solidFill>
                <a:latin typeface="Consolas"/>
                <a:ea typeface="Consolas"/>
              </a:rPr>
              <a:t>div { width: 300px; margin: auto;</a:t>
            </a:r>
          </a:p>
          <a:p>
            <a:pPr>
              <a:spcAft>
                <a:spcPts val="350"/>
              </a:spcAft>
            </a:pPr>
            <a:r>
              <a:rPr sz="1300" b="0" i="0">
                <a:solidFill>
                  <a:srgbClr val="E5C07B"/>
                </a:solidFill>
                <a:latin typeface="Consolas"/>
                <a:ea typeface="Consolas"/>
              </a:rPr>
              <a:t>      border: 1px solid red; }</a:t>
            </a:r>
          </a:p>
          <a:p>
            <a:pPr>
              <a:spcAft>
                <a:spcPts val="350"/>
              </a:spcAft>
            </a:pPr>
            <a:endParaRPr sz="1300" b="0" i="0">
              <a:solidFill>
                <a:srgbClr val="E5C07B"/>
              </a:solidFill>
              <a:latin typeface="Consolas"/>
              <a:ea typeface="Consolas"/>
            </a:endParaRPr>
          </a:p>
          <a:p>
            <a:pPr>
              <a:spcAft>
                <a:spcPts val="350"/>
              </a:spcAft>
            </a:pPr>
            <a:r>
              <a:rPr sz="1300" b="0" i="0">
                <a:solidFill>
                  <a:srgbClr val="7F8C98"/>
                </a:solidFill>
                <a:latin typeface="Consolas"/>
                <a:ea typeface="Consolas"/>
              </a:rPr>
              <a:t>/* the left margin comes from the parent */</a:t>
            </a:r>
          </a:p>
          <a:p>
            <a:pPr>
              <a:spcAft>
                <a:spcPts val="350"/>
              </a:spcAft>
            </a:pPr>
            <a:r>
              <a:rPr sz="1300" b="0" i="0">
                <a:solidFill>
                  <a:srgbClr val="61AFEF"/>
                </a:solidFill>
                <a:latin typeface="Consolas"/>
                <a:ea typeface="Consolas"/>
              </a:rPr>
              <a:t>div.container { border: 1px solid red;</a:t>
            </a:r>
          </a:p>
          <a:p>
            <a:pPr>
              <a:spcAft>
                <a:spcPts val="350"/>
              </a:spcAft>
            </a:pPr>
            <a:r>
              <a:rPr sz="1300" b="0" i="0">
                <a:solidFill>
                  <a:srgbClr val="61AFEF"/>
                </a:solidFill>
                <a:latin typeface="Consolas"/>
                <a:ea typeface="Consolas"/>
              </a:rPr>
              <a:t>                margin-left: 100px; }</a:t>
            </a:r>
          </a:p>
          <a:p>
            <a:pPr>
              <a:spcAft>
                <a:spcPts val="350"/>
              </a:spcAft>
            </a:pPr>
            <a:r>
              <a:rPr sz="1300" b="0" i="0">
                <a:solidFill>
                  <a:srgbClr val="61AFEF"/>
                </a:solidFill>
                <a:latin typeface="Consolas"/>
                <a:ea typeface="Consolas"/>
              </a:rPr>
              <a:t>p.one { margin-left: inherit;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editor.html?example=css-layout/margin</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Margins outside the edge are transparent — the background paints the content and the padding, never the margin.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Margin Collapsing</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Rounded Rectangle 4"/>
          <p:cNvSpPr/>
          <p:nvPr/>
        </p:nvSpPr>
        <p:spPr>
          <a:xfrm>
            <a:off x="548640" y="932688"/>
            <a:ext cx="5396331" cy="29992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078992"/>
            <a:ext cx="4884267" cy="237744"/>
          </a:xfrm>
          <a:prstGeom prst="rect">
            <a:avLst/>
          </a:prstGeom>
          <a:noFill/>
        </p:spPr>
        <p:txBody>
          <a:bodyPr wrap="square" lIns="0" tIns="0" rIns="0" bIns="0" anchor="t">
            <a:spAutoFit/>
          </a:bodyPr>
          <a:lstStyle/>
          <a:p>
            <a:pPr algn="l">
              <a:lnSpc>
                <a:spcPct val="110000"/>
              </a:lnSpc>
              <a:spcAft>
                <a:spcPts val="400"/>
              </a:spcAft>
            </a:pPr>
            <a:r>
              <a:rPr sz="1250" b="1" i="0">
                <a:solidFill>
                  <a:srgbClr val="0E3F8C"/>
                </a:solidFill>
                <a:latin typeface="Calibri"/>
                <a:ea typeface="Calibri"/>
              </a:rPr>
              <a:t>Side by side</a:t>
            </a:r>
          </a:p>
        </p:txBody>
      </p:sp>
      <p:sp>
        <p:nvSpPr>
          <p:cNvPr id="7" name="TextBox 6"/>
          <p:cNvSpPr txBox="1"/>
          <p:nvPr/>
        </p:nvSpPr>
        <p:spPr>
          <a:xfrm>
            <a:off x="804672" y="1325880"/>
            <a:ext cx="4884267" cy="219456"/>
          </a:xfrm>
          <a:prstGeom prst="rect">
            <a:avLst/>
          </a:prstGeom>
          <a:noFill/>
        </p:spPr>
        <p:txBody>
          <a:bodyPr wrap="none" lIns="0" tIns="0" rIns="0" bIns="0" anchor="t">
            <a:spAutoFit/>
          </a:bodyPr>
          <a:lstStyle/>
          <a:p>
            <a:pPr algn="l">
              <a:lnSpc>
                <a:spcPct val="110000"/>
              </a:lnSpc>
              <a:spcAft>
                <a:spcPts val="400"/>
              </a:spcAft>
            </a:pPr>
            <a:r>
              <a:rPr sz="1050" b="0" i="0">
                <a:solidFill>
                  <a:srgbClr val="4A5568"/>
                </a:solidFill>
                <a:latin typeface="Consolas"/>
                <a:ea typeface="Consolas"/>
              </a:rPr>
              <a:t>margin-right: 50px</a:t>
            </a:r>
            <a:r>
              <a:rPr sz="1050" b="0" i="0">
                <a:solidFill>
                  <a:srgbClr val="4A5568"/>
                </a:solidFill>
                <a:latin typeface="Calibri"/>
                <a:ea typeface="Calibri"/>
              </a:rPr>
              <a:t> meets </a:t>
            </a:r>
            <a:r>
              <a:rPr sz="1050" b="0" i="0">
                <a:solidFill>
                  <a:srgbClr val="4A5568"/>
                </a:solidFill>
                <a:latin typeface="Consolas"/>
                <a:ea typeface="Consolas"/>
              </a:rPr>
              <a:t>margin-left: 20px</a:t>
            </a:r>
            <a:r>
              <a:rPr sz="1050" b="1" i="0">
                <a:solidFill>
                  <a:srgbClr val="0E3F8C"/>
                </a:solidFill>
                <a:latin typeface="Calibri"/>
                <a:ea typeface="Calibri"/>
              </a:rPr>
              <a:t> — they add up</a:t>
            </a:r>
          </a:p>
        </p:txBody>
      </p:sp>
      <p:sp>
        <p:nvSpPr>
          <p:cNvPr id="8" name="Rounded Rectangle 7"/>
          <p:cNvSpPr/>
          <p:nvPr/>
        </p:nvSpPr>
        <p:spPr>
          <a:xfrm>
            <a:off x="6246723" y="932688"/>
            <a:ext cx="5396331" cy="29992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02755" y="1078992"/>
            <a:ext cx="4884267" cy="237744"/>
          </a:xfrm>
          <a:prstGeom prst="rect">
            <a:avLst/>
          </a:prstGeom>
          <a:noFill/>
        </p:spPr>
        <p:txBody>
          <a:bodyPr wrap="square" lIns="0" tIns="0" rIns="0" bIns="0" anchor="t">
            <a:spAutoFit/>
          </a:bodyPr>
          <a:lstStyle/>
          <a:p>
            <a:pPr algn="l">
              <a:lnSpc>
                <a:spcPct val="110000"/>
              </a:lnSpc>
              <a:spcAft>
                <a:spcPts val="400"/>
              </a:spcAft>
            </a:pPr>
            <a:r>
              <a:rPr sz="1250" b="1" i="0">
                <a:solidFill>
                  <a:srgbClr val="0E3F8C"/>
                </a:solidFill>
                <a:latin typeface="Calibri"/>
                <a:ea typeface="Calibri"/>
              </a:rPr>
              <a:t>Stacked</a:t>
            </a:r>
          </a:p>
        </p:txBody>
      </p:sp>
      <p:sp>
        <p:nvSpPr>
          <p:cNvPr id="10" name="TextBox 9"/>
          <p:cNvSpPr txBox="1"/>
          <p:nvPr/>
        </p:nvSpPr>
        <p:spPr>
          <a:xfrm>
            <a:off x="6502755" y="1325880"/>
            <a:ext cx="4884267" cy="219456"/>
          </a:xfrm>
          <a:prstGeom prst="rect">
            <a:avLst/>
          </a:prstGeom>
          <a:noFill/>
        </p:spPr>
        <p:txBody>
          <a:bodyPr wrap="none" lIns="0" tIns="0" rIns="0" bIns="0" anchor="t">
            <a:spAutoFit/>
          </a:bodyPr>
          <a:lstStyle/>
          <a:p>
            <a:pPr algn="l">
              <a:lnSpc>
                <a:spcPct val="110000"/>
              </a:lnSpc>
              <a:spcAft>
                <a:spcPts val="400"/>
              </a:spcAft>
            </a:pPr>
            <a:r>
              <a:rPr sz="1050" b="0" i="0">
                <a:solidFill>
                  <a:srgbClr val="4A5568"/>
                </a:solidFill>
                <a:latin typeface="Consolas"/>
                <a:ea typeface="Consolas"/>
              </a:rPr>
              <a:t>margin-bottom: 50px</a:t>
            </a:r>
            <a:r>
              <a:rPr sz="1050" b="0" i="0">
                <a:solidFill>
                  <a:srgbClr val="4A5568"/>
                </a:solidFill>
                <a:latin typeface="Calibri"/>
                <a:ea typeface="Calibri"/>
              </a:rPr>
              <a:t> meets </a:t>
            </a:r>
            <a:r>
              <a:rPr sz="1050" b="0" i="0">
                <a:solidFill>
                  <a:srgbClr val="4A5568"/>
                </a:solidFill>
                <a:latin typeface="Consolas"/>
                <a:ea typeface="Consolas"/>
              </a:rPr>
              <a:t>margin-top: 20px</a:t>
            </a:r>
            <a:r>
              <a:rPr sz="1050" b="1" i="0">
                <a:solidFill>
                  <a:srgbClr val="0E3F8C"/>
                </a:solidFill>
                <a:latin typeface="Calibri"/>
                <a:ea typeface="Calibri"/>
              </a:rPr>
              <a:t> — they merge</a:t>
            </a:r>
          </a:p>
        </p:txBody>
      </p:sp>
      <p:sp>
        <p:nvSpPr>
          <p:cNvPr id="11" name="Rectangle 10"/>
          <p:cNvSpPr/>
          <p:nvPr/>
        </p:nvSpPr>
        <p:spPr>
          <a:xfrm>
            <a:off x="1084630" y="1773936"/>
            <a:ext cx="1828800" cy="1005840"/>
          </a:xfrm>
          <a:prstGeom prst="rect">
            <a:avLst/>
          </a:prstGeom>
          <a:solidFill>
            <a:srgbClr val="E8EFF8"/>
          </a:solidFill>
          <a:ln w="12700">
            <a:solidFill>
              <a:srgbClr val="185FA5"/>
            </a:solidFill>
          </a:ln>
          <a:effectLst/>
        </p:spPr>
        <p:txBody>
          <a:bodyPr rtlCol="0" anchor="ctr"/>
          <a:lstStyle/>
          <a:p>
            <a:pPr algn="ctr"/>
            <a:endParaRPr/>
          </a:p>
        </p:txBody>
      </p:sp>
      <p:sp>
        <p:nvSpPr>
          <p:cNvPr id="12" name="Rectangle 11"/>
          <p:cNvSpPr/>
          <p:nvPr/>
        </p:nvSpPr>
        <p:spPr>
          <a:xfrm>
            <a:off x="3580180" y="1773936"/>
            <a:ext cx="1828800" cy="1005840"/>
          </a:xfrm>
          <a:prstGeom prst="rect">
            <a:avLst/>
          </a:prstGeom>
          <a:solidFill>
            <a:srgbClr val="E8EFF8"/>
          </a:solidFill>
          <a:ln w="12700">
            <a:solidFill>
              <a:srgbClr val="185FA5"/>
            </a:solidFill>
          </a:ln>
          <a:effectLst/>
        </p:spPr>
        <p:txBody>
          <a:bodyPr rtlCol="0" anchor="ctr"/>
          <a:lstStyle/>
          <a:p>
            <a:pPr algn="ctr"/>
            <a:endParaRPr/>
          </a:p>
        </p:txBody>
      </p:sp>
      <p:sp>
        <p:nvSpPr>
          <p:cNvPr id="13" name="TextBox 12"/>
          <p:cNvSpPr txBox="1"/>
          <p:nvPr/>
        </p:nvSpPr>
        <p:spPr>
          <a:xfrm>
            <a:off x="1084630" y="2157984"/>
            <a:ext cx="1828800" cy="237744"/>
          </a:xfrm>
          <a:prstGeom prst="rect">
            <a:avLst/>
          </a:prstGeom>
          <a:noFill/>
        </p:spPr>
        <p:txBody>
          <a:bodyPr wrap="square" lIns="0" tIns="0" rIns="0" bIns="0" anchor="t">
            <a:spAutoFit/>
          </a:bodyPr>
          <a:lstStyle/>
          <a:p>
            <a:pPr algn="ctr">
              <a:lnSpc>
                <a:spcPct val="110000"/>
              </a:lnSpc>
              <a:spcAft>
                <a:spcPts val="400"/>
              </a:spcAft>
            </a:pPr>
            <a:r>
              <a:rPr sz="1100" b="0" i="0">
                <a:solidFill>
                  <a:srgbClr val="1A2230"/>
                </a:solidFill>
                <a:latin typeface="Calibri"/>
                <a:ea typeface="Calibri"/>
              </a:rPr>
              <a:t>box 1</a:t>
            </a:r>
          </a:p>
        </p:txBody>
      </p:sp>
      <p:sp>
        <p:nvSpPr>
          <p:cNvPr id="14" name="TextBox 13"/>
          <p:cNvSpPr txBox="1"/>
          <p:nvPr/>
        </p:nvSpPr>
        <p:spPr>
          <a:xfrm>
            <a:off x="3580180" y="2157984"/>
            <a:ext cx="1828800" cy="237744"/>
          </a:xfrm>
          <a:prstGeom prst="rect">
            <a:avLst/>
          </a:prstGeom>
          <a:noFill/>
        </p:spPr>
        <p:txBody>
          <a:bodyPr wrap="square" lIns="0" tIns="0" rIns="0" bIns="0" anchor="t">
            <a:spAutoFit/>
          </a:bodyPr>
          <a:lstStyle/>
          <a:p>
            <a:pPr algn="ctr">
              <a:lnSpc>
                <a:spcPct val="110000"/>
              </a:lnSpc>
              <a:spcAft>
                <a:spcPts val="400"/>
              </a:spcAft>
            </a:pPr>
            <a:r>
              <a:rPr sz="1100" b="0" i="0">
                <a:solidFill>
                  <a:srgbClr val="1A2230"/>
                </a:solidFill>
                <a:latin typeface="Calibri"/>
                <a:ea typeface="Calibri"/>
              </a:rPr>
              <a:t>box 2</a:t>
            </a:r>
          </a:p>
        </p:txBody>
      </p:sp>
      <p:sp>
        <p:nvSpPr>
          <p:cNvPr id="15" name="Rectangle 14"/>
          <p:cNvSpPr/>
          <p:nvPr/>
        </p:nvSpPr>
        <p:spPr>
          <a:xfrm>
            <a:off x="2913430" y="1773936"/>
            <a:ext cx="476249" cy="1005840"/>
          </a:xfrm>
          <a:prstGeom prst="rect">
            <a:avLst/>
          </a:prstGeom>
          <a:solidFill>
            <a:srgbClr val="D5DAE1"/>
          </a:solidFill>
          <a:ln w="9525">
            <a:solidFill>
              <a:srgbClr val="B6BEC9"/>
            </a:solidFill>
          </a:ln>
          <a:effectLst/>
        </p:spPr>
        <p:txBody>
          <a:bodyPr rtlCol="0" anchor="ctr"/>
          <a:lstStyle/>
          <a:p>
            <a:pPr algn="ctr"/>
            <a:endParaRPr/>
          </a:p>
        </p:txBody>
      </p:sp>
      <p:sp>
        <p:nvSpPr>
          <p:cNvPr id="16" name="Rectangle 15"/>
          <p:cNvSpPr/>
          <p:nvPr/>
        </p:nvSpPr>
        <p:spPr>
          <a:xfrm>
            <a:off x="3389680" y="1773936"/>
            <a:ext cx="190499" cy="1005840"/>
          </a:xfrm>
          <a:prstGeom prst="rect">
            <a:avLst/>
          </a:prstGeom>
          <a:solidFill>
            <a:srgbClr val="D5DAE1"/>
          </a:solidFill>
          <a:ln w="9525">
            <a:solidFill>
              <a:srgbClr val="B6BEC9"/>
            </a:solidFill>
          </a:ln>
          <a:effectLst/>
        </p:spPr>
        <p:txBody>
          <a:bodyPr rtlCol="0" anchor="ctr"/>
          <a:lstStyle/>
          <a:p>
            <a:pPr algn="ctr"/>
            <a:endParaRPr/>
          </a:p>
        </p:txBody>
      </p:sp>
      <p:sp>
        <p:nvSpPr>
          <p:cNvPr id="17" name="Rectangle 16"/>
          <p:cNvSpPr/>
          <p:nvPr/>
        </p:nvSpPr>
        <p:spPr>
          <a:xfrm>
            <a:off x="2913430" y="2864815"/>
            <a:ext cx="666749" cy="12801"/>
          </a:xfrm>
          <a:prstGeom prst="rect">
            <a:avLst/>
          </a:prstGeom>
          <a:solidFill>
            <a:srgbClr val="8B97A8"/>
          </a:solidFill>
          <a:ln>
            <a:noFill/>
          </a:ln>
          <a:effectLst/>
        </p:spPr>
        <p:txBody>
          <a:bodyPr rtlCol="0" anchor="ctr"/>
          <a:lstStyle/>
          <a:p>
            <a:pPr algn="ctr"/>
            <a:endParaRPr/>
          </a:p>
        </p:txBody>
      </p:sp>
      <p:sp>
        <p:nvSpPr>
          <p:cNvPr id="18" name="Rectangle 17"/>
          <p:cNvSpPr/>
          <p:nvPr/>
        </p:nvSpPr>
        <p:spPr>
          <a:xfrm>
            <a:off x="2907030" y="2820924"/>
            <a:ext cx="12801" cy="100584"/>
          </a:xfrm>
          <a:prstGeom prst="rect">
            <a:avLst/>
          </a:prstGeom>
          <a:solidFill>
            <a:srgbClr val="8B97A8"/>
          </a:solidFill>
          <a:ln>
            <a:noFill/>
          </a:ln>
          <a:effectLst/>
        </p:spPr>
        <p:txBody>
          <a:bodyPr rtlCol="0" anchor="ctr"/>
          <a:lstStyle/>
          <a:p>
            <a:pPr algn="ctr"/>
            <a:endParaRPr/>
          </a:p>
        </p:txBody>
      </p:sp>
      <p:sp>
        <p:nvSpPr>
          <p:cNvPr id="19" name="Rectangle 18"/>
          <p:cNvSpPr/>
          <p:nvPr/>
        </p:nvSpPr>
        <p:spPr>
          <a:xfrm>
            <a:off x="3383279" y="2820924"/>
            <a:ext cx="12801" cy="100584"/>
          </a:xfrm>
          <a:prstGeom prst="rect">
            <a:avLst/>
          </a:prstGeom>
          <a:solidFill>
            <a:srgbClr val="8B97A8"/>
          </a:solidFill>
          <a:ln>
            <a:noFill/>
          </a:ln>
          <a:effectLst/>
        </p:spPr>
        <p:txBody>
          <a:bodyPr rtlCol="0" anchor="ctr"/>
          <a:lstStyle/>
          <a:p>
            <a:pPr algn="ctr"/>
            <a:endParaRPr/>
          </a:p>
        </p:txBody>
      </p:sp>
      <p:sp>
        <p:nvSpPr>
          <p:cNvPr id="20" name="Rectangle 19"/>
          <p:cNvSpPr/>
          <p:nvPr/>
        </p:nvSpPr>
        <p:spPr>
          <a:xfrm>
            <a:off x="3573780" y="2820924"/>
            <a:ext cx="12801" cy="100584"/>
          </a:xfrm>
          <a:prstGeom prst="rect">
            <a:avLst/>
          </a:prstGeom>
          <a:solidFill>
            <a:srgbClr val="8B97A8"/>
          </a:solidFill>
          <a:ln>
            <a:noFill/>
          </a:ln>
          <a:effectLst/>
        </p:spPr>
        <p:txBody>
          <a:bodyPr rtlCol="0" anchor="ctr"/>
          <a:lstStyle/>
          <a:p>
            <a:pPr algn="ctr"/>
            <a:endParaRPr/>
          </a:p>
        </p:txBody>
      </p:sp>
      <p:sp>
        <p:nvSpPr>
          <p:cNvPr id="21" name="TextBox 20"/>
          <p:cNvSpPr txBox="1"/>
          <p:nvPr/>
        </p:nvSpPr>
        <p:spPr>
          <a:xfrm>
            <a:off x="2602915" y="2921508"/>
            <a:ext cx="1097280" cy="182880"/>
          </a:xfrm>
          <a:prstGeom prst="rect">
            <a:avLst/>
          </a:prstGeom>
          <a:noFill/>
        </p:spPr>
        <p:txBody>
          <a:bodyPr wrap="none" lIns="0" tIns="0" rIns="0" bIns="0" anchor="t">
            <a:spAutoFit/>
          </a:bodyPr>
          <a:lstStyle/>
          <a:p>
            <a:pPr algn="ctr">
              <a:lnSpc>
                <a:spcPct val="110000"/>
              </a:lnSpc>
              <a:spcAft>
                <a:spcPts val="400"/>
              </a:spcAft>
            </a:pPr>
            <a:r>
              <a:rPr sz="800" b="1" i="0">
                <a:solidFill>
                  <a:srgbClr val="185FA5"/>
                </a:solidFill>
                <a:latin typeface="Calibri"/>
                <a:ea typeface="Calibri"/>
              </a:rPr>
              <a:t>50px</a:t>
            </a:r>
          </a:p>
        </p:txBody>
      </p:sp>
      <p:sp>
        <p:nvSpPr>
          <p:cNvPr id="22" name="TextBox 21"/>
          <p:cNvSpPr txBox="1"/>
          <p:nvPr/>
        </p:nvSpPr>
        <p:spPr>
          <a:xfrm>
            <a:off x="2936290" y="2921508"/>
            <a:ext cx="1097280" cy="182880"/>
          </a:xfrm>
          <a:prstGeom prst="rect">
            <a:avLst/>
          </a:prstGeom>
          <a:noFill/>
        </p:spPr>
        <p:txBody>
          <a:bodyPr wrap="none" lIns="0" tIns="0" rIns="0" bIns="0" anchor="t">
            <a:spAutoFit/>
          </a:bodyPr>
          <a:lstStyle/>
          <a:p>
            <a:pPr algn="ctr">
              <a:lnSpc>
                <a:spcPct val="110000"/>
              </a:lnSpc>
              <a:spcAft>
                <a:spcPts val="400"/>
              </a:spcAft>
            </a:pPr>
            <a:r>
              <a:rPr sz="800" b="1" i="0">
                <a:solidFill>
                  <a:srgbClr val="6B7686"/>
                </a:solidFill>
                <a:latin typeface="Calibri"/>
                <a:ea typeface="Calibri"/>
              </a:rPr>
              <a:t>20px</a:t>
            </a:r>
          </a:p>
        </p:txBody>
      </p:sp>
      <p:sp>
        <p:nvSpPr>
          <p:cNvPr id="23" name="TextBox 22"/>
          <p:cNvSpPr txBox="1"/>
          <p:nvPr/>
        </p:nvSpPr>
        <p:spPr>
          <a:xfrm>
            <a:off x="804672" y="3547872"/>
            <a:ext cx="4884267" cy="219456"/>
          </a:xfrm>
          <a:prstGeom prst="rect">
            <a:avLst/>
          </a:prstGeom>
          <a:noFill/>
        </p:spPr>
        <p:txBody>
          <a:bodyPr wrap="square" lIns="0" tIns="0" rIns="0" bIns="0" anchor="t">
            <a:spAutoFit/>
          </a:bodyPr>
          <a:lstStyle/>
          <a:p>
            <a:pPr algn="l">
              <a:lnSpc>
                <a:spcPct val="110000"/>
              </a:lnSpc>
              <a:spcAft>
                <a:spcPts val="400"/>
              </a:spcAft>
            </a:pPr>
            <a:r>
              <a:rPr sz="1100" b="1" i="0">
                <a:solidFill>
                  <a:srgbClr val="1A2230"/>
                </a:solidFill>
                <a:latin typeface="Calibri"/>
                <a:ea typeface="Calibri"/>
              </a:rPr>
              <a:t>50px + 20px = a 70px gap</a:t>
            </a:r>
            <a:r>
              <a:rPr sz="1050" b="0" i="0">
                <a:solidFill>
                  <a:srgbClr val="4A5568"/>
                </a:solidFill>
                <a:latin typeface="Calibri"/>
                <a:ea typeface="Calibri"/>
              </a:rPr>
              <a:t> — horizontal margins always add up.</a:t>
            </a:r>
          </a:p>
        </p:txBody>
      </p:sp>
      <p:sp>
        <p:nvSpPr>
          <p:cNvPr id="24" name="Rectangle 23"/>
          <p:cNvSpPr/>
          <p:nvPr/>
        </p:nvSpPr>
        <p:spPr>
          <a:xfrm>
            <a:off x="7865211" y="1773936"/>
            <a:ext cx="2743200" cy="603504"/>
          </a:xfrm>
          <a:prstGeom prst="rect">
            <a:avLst/>
          </a:prstGeom>
          <a:solidFill>
            <a:srgbClr val="E8EFF8"/>
          </a:solidFill>
          <a:ln w="12700">
            <a:solidFill>
              <a:srgbClr val="185FA5"/>
            </a:solidFill>
          </a:ln>
          <a:effectLst/>
        </p:spPr>
        <p:txBody>
          <a:bodyPr rtlCol="0" anchor="ctr"/>
          <a:lstStyle/>
          <a:p>
            <a:pPr algn="ctr"/>
            <a:endParaRPr/>
          </a:p>
        </p:txBody>
      </p:sp>
      <p:sp>
        <p:nvSpPr>
          <p:cNvPr id="25" name="Rectangle 24"/>
          <p:cNvSpPr/>
          <p:nvPr/>
        </p:nvSpPr>
        <p:spPr>
          <a:xfrm>
            <a:off x="7865211" y="2853690"/>
            <a:ext cx="2743200" cy="603504"/>
          </a:xfrm>
          <a:prstGeom prst="rect">
            <a:avLst/>
          </a:prstGeom>
          <a:solidFill>
            <a:srgbClr val="E8EFF8"/>
          </a:solidFill>
          <a:ln w="12700">
            <a:solidFill>
              <a:srgbClr val="185FA5"/>
            </a:solidFill>
          </a:ln>
          <a:effectLst/>
        </p:spPr>
        <p:txBody>
          <a:bodyPr rtlCol="0" anchor="ctr"/>
          <a:lstStyle/>
          <a:p>
            <a:pPr algn="ctr"/>
            <a:endParaRPr/>
          </a:p>
        </p:txBody>
      </p:sp>
      <p:sp>
        <p:nvSpPr>
          <p:cNvPr id="26" name="TextBox 25"/>
          <p:cNvSpPr txBox="1"/>
          <p:nvPr/>
        </p:nvSpPr>
        <p:spPr>
          <a:xfrm>
            <a:off x="7865211" y="1956816"/>
            <a:ext cx="2743200" cy="237744"/>
          </a:xfrm>
          <a:prstGeom prst="rect">
            <a:avLst/>
          </a:prstGeom>
          <a:noFill/>
        </p:spPr>
        <p:txBody>
          <a:bodyPr wrap="square" lIns="0" tIns="0" rIns="0" bIns="0" anchor="t">
            <a:spAutoFit/>
          </a:bodyPr>
          <a:lstStyle/>
          <a:p>
            <a:pPr algn="ctr">
              <a:lnSpc>
                <a:spcPct val="110000"/>
              </a:lnSpc>
              <a:spcAft>
                <a:spcPts val="400"/>
              </a:spcAft>
            </a:pPr>
            <a:r>
              <a:rPr sz="1100" b="0" i="0">
                <a:solidFill>
                  <a:srgbClr val="1A2230"/>
                </a:solidFill>
                <a:latin typeface="Calibri"/>
                <a:ea typeface="Calibri"/>
              </a:rPr>
              <a:t>box 1</a:t>
            </a:r>
          </a:p>
        </p:txBody>
      </p:sp>
      <p:sp>
        <p:nvSpPr>
          <p:cNvPr id="27" name="TextBox 26"/>
          <p:cNvSpPr txBox="1"/>
          <p:nvPr/>
        </p:nvSpPr>
        <p:spPr>
          <a:xfrm>
            <a:off x="7865211" y="3036570"/>
            <a:ext cx="2743200" cy="237744"/>
          </a:xfrm>
          <a:prstGeom prst="rect">
            <a:avLst/>
          </a:prstGeom>
          <a:noFill/>
        </p:spPr>
        <p:txBody>
          <a:bodyPr wrap="square" lIns="0" tIns="0" rIns="0" bIns="0" anchor="t">
            <a:spAutoFit/>
          </a:bodyPr>
          <a:lstStyle/>
          <a:p>
            <a:pPr algn="ctr">
              <a:lnSpc>
                <a:spcPct val="110000"/>
              </a:lnSpc>
              <a:spcAft>
                <a:spcPts val="400"/>
              </a:spcAft>
            </a:pPr>
            <a:r>
              <a:rPr sz="1100" b="0" i="0">
                <a:solidFill>
                  <a:srgbClr val="1A2230"/>
                </a:solidFill>
                <a:latin typeface="Calibri"/>
                <a:ea typeface="Calibri"/>
              </a:rPr>
              <a:t>box 2</a:t>
            </a:r>
          </a:p>
        </p:txBody>
      </p:sp>
      <p:sp>
        <p:nvSpPr>
          <p:cNvPr id="28" name="Rectangle 27"/>
          <p:cNvSpPr/>
          <p:nvPr/>
        </p:nvSpPr>
        <p:spPr>
          <a:xfrm>
            <a:off x="7865211" y="2377440"/>
            <a:ext cx="2743200" cy="476249"/>
          </a:xfrm>
          <a:prstGeom prst="rect">
            <a:avLst/>
          </a:prstGeom>
          <a:solidFill>
            <a:srgbClr val="D5DAE1"/>
          </a:solidFill>
          <a:ln w="9525">
            <a:solidFill>
              <a:srgbClr val="B6BEC9"/>
            </a:solidFill>
          </a:ln>
          <a:effectLst/>
        </p:spPr>
        <p:txBody>
          <a:bodyPr rtlCol="0" anchor="ctr"/>
          <a:lstStyle/>
          <a:p>
            <a:pPr algn="ctr"/>
            <a:endParaRPr/>
          </a:p>
        </p:txBody>
      </p:sp>
      <p:sp>
        <p:nvSpPr>
          <p:cNvPr id="29" name="Rectangle 28"/>
          <p:cNvSpPr/>
          <p:nvPr/>
        </p:nvSpPr>
        <p:spPr>
          <a:xfrm>
            <a:off x="7865211" y="2377440"/>
            <a:ext cx="2743200" cy="190499"/>
          </a:xfrm>
          <a:prstGeom prst="rect">
            <a:avLst/>
          </a:prstGeom>
          <a:solidFill>
            <a:srgbClr val="99A2AF"/>
          </a:solidFill>
          <a:ln w="9525">
            <a:solidFill>
              <a:srgbClr val="7E8895"/>
            </a:solidFill>
          </a:ln>
          <a:effectLst/>
        </p:spPr>
        <p:txBody>
          <a:bodyPr rtlCol="0" anchor="ctr"/>
          <a:lstStyle/>
          <a:p>
            <a:pPr algn="ctr"/>
            <a:endParaRPr/>
          </a:p>
        </p:txBody>
      </p:sp>
      <p:sp>
        <p:nvSpPr>
          <p:cNvPr id="30" name="Rectangle 29"/>
          <p:cNvSpPr/>
          <p:nvPr/>
        </p:nvSpPr>
        <p:spPr>
          <a:xfrm>
            <a:off x="6502755" y="1810512"/>
            <a:ext cx="146304" cy="146304"/>
          </a:xfrm>
          <a:prstGeom prst="rect">
            <a:avLst/>
          </a:prstGeom>
          <a:solidFill>
            <a:srgbClr val="D5DAE1"/>
          </a:solidFill>
          <a:ln w="9525">
            <a:solidFill>
              <a:srgbClr val="B6BEC9"/>
            </a:solidFill>
          </a:ln>
          <a:effectLst/>
        </p:spPr>
        <p:txBody>
          <a:bodyPr rtlCol="0" anchor="ctr"/>
          <a:lstStyle/>
          <a:p>
            <a:pPr algn="ctr"/>
            <a:endParaRPr/>
          </a:p>
        </p:txBody>
      </p:sp>
      <p:sp>
        <p:nvSpPr>
          <p:cNvPr id="31" name="TextBox 30"/>
          <p:cNvSpPr txBox="1"/>
          <p:nvPr/>
        </p:nvSpPr>
        <p:spPr>
          <a:xfrm>
            <a:off x="6722211" y="1792224"/>
            <a:ext cx="960120" cy="182880"/>
          </a:xfrm>
          <a:prstGeom prst="rect">
            <a:avLst/>
          </a:prstGeom>
          <a:noFill/>
        </p:spPr>
        <p:txBody>
          <a:bodyPr wrap="none" lIns="0" tIns="0" rIns="0" bIns="0" anchor="t">
            <a:spAutoFit/>
          </a:bodyPr>
          <a:lstStyle/>
          <a:p>
            <a:pPr algn="l">
              <a:lnSpc>
                <a:spcPct val="110000"/>
              </a:lnSpc>
              <a:spcAft>
                <a:spcPts val="400"/>
              </a:spcAft>
            </a:pPr>
            <a:r>
              <a:rPr sz="850" b="0" i="0">
                <a:solidFill>
                  <a:srgbClr val="4A5568"/>
                </a:solidFill>
                <a:latin typeface="Calibri"/>
                <a:ea typeface="Calibri"/>
              </a:rPr>
              <a:t>one margin</a:t>
            </a:r>
          </a:p>
        </p:txBody>
      </p:sp>
      <p:sp>
        <p:nvSpPr>
          <p:cNvPr id="32" name="Rectangle 31"/>
          <p:cNvSpPr/>
          <p:nvPr/>
        </p:nvSpPr>
        <p:spPr>
          <a:xfrm>
            <a:off x="6502755" y="2048256"/>
            <a:ext cx="146304" cy="146304"/>
          </a:xfrm>
          <a:prstGeom prst="rect">
            <a:avLst/>
          </a:prstGeom>
          <a:solidFill>
            <a:srgbClr val="99A2AF"/>
          </a:solidFill>
          <a:ln w="9525">
            <a:solidFill>
              <a:srgbClr val="7E8895"/>
            </a:solidFill>
          </a:ln>
          <a:effectLst/>
        </p:spPr>
        <p:txBody>
          <a:bodyPr rtlCol="0" anchor="ctr"/>
          <a:lstStyle/>
          <a:p>
            <a:pPr algn="ctr"/>
            <a:endParaRPr/>
          </a:p>
        </p:txBody>
      </p:sp>
      <p:sp>
        <p:nvSpPr>
          <p:cNvPr id="33" name="TextBox 32"/>
          <p:cNvSpPr txBox="1"/>
          <p:nvPr/>
        </p:nvSpPr>
        <p:spPr>
          <a:xfrm>
            <a:off x="6722211" y="2029967"/>
            <a:ext cx="960120" cy="182880"/>
          </a:xfrm>
          <a:prstGeom prst="rect">
            <a:avLst/>
          </a:prstGeom>
          <a:noFill/>
        </p:spPr>
        <p:txBody>
          <a:bodyPr wrap="none" lIns="0" tIns="0" rIns="0" bIns="0" anchor="t">
            <a:spAutoFit/>
          </a:bodyPr>
          <a:lstStyle/>
          <a:p>
            <a:pPr algn="l">
              <a:lnSpc>
                <a:spcPct val="110000"/>
              </a:lnSpc>
              <a:spcAft>
                <a:spcPts val="400"/>
              </a:spcAft>
            </a:pPr>
            <a:r>
              <a:rPr sz="850" b="0" i="0">
                <a:solidFill>
                  <a:srgbClr val="4A5568"/>
                </a:solidFill>
                <a:latin typeface="Calibri"/>
                <a:ea typeface="Calibri"/>
              </a:rPr>
              <a:t>two, overlapping</a:t>
            </a:r>
          </a:p>
        </p:txBody>
      </p:sp>
      <p:sp>
        <p:nvSpPr>
          <p:cNvPr id="34" name="Rectangle 33"/>
          <p:cNvSpPr/>
          <p:nvPr/>
        </p:nvSpPr>
        <p:spPr>
          <a:xfrm>
            <a:off x="7694218" y="2377440"/>
            <a:ext cx="12801" cy="190500"/>
          </a:xfrm>
          <a:prstGeom prst="rect">
            <a:avLst/>
          </a:prstGeom>
          <a:solidFill>
            <a:srgbClr val="6B7686"/>
          </a:solidFill>
          <a:ln>
            <a:noFill/>
          </a:ln>
          <a:effectLst/>
        </p:spPr>
        <p:txBody>
          <a:bodyPr rtlCol="0" anchor="ctr"/>
          <a:lstStyle/>
          <a:p>
            <a:pPr algn="ctr"/>
            <a:endParaRPr/>
          </a:p>
        </p:txBody>
      </p:sp>
      <p:sp>
        <p:nvSpPr>
          <p:cNvPr id="35" name="Rectangle 34"/>
          <p:cNvSpPr/>
          <p:nvPr/>
        </p:nvSpPr>
        <p:spPr>
          <a:xfrm>
            <a:off x="7650327" y="2371039"/>
            <a:ext cx="100584" cy="12801"/>
          </a:xfrm>
          <a:prstGeom prst="rect">
            <a:avLst/>
          </a:prstGeom>
          <a:solidFill>
            <a:srgbClr val="6B7686"/>
          </a:solidFill>
          <a:ln>
            <a:noFill/>
          </a:ln>
          <a:effectLst/>
        </p:spPr>
        <p:txBody>
          <a:bodyPr rtlCol="0" anchor="ctr"/>
          <a:lstStyle/>
          <a:p>
            <a:pPr algn="ctr"/>
            <a:endParaRPr/>
          </a:p>
        </p:txBody>
      </p:sp>
      <p:sp>
        <p:nvSpPr>
          <p:cNvPr id="36" name="Rectangle 35"/>
          <p:cNvSpPr/>
          <p:nvPr/>
        </p:nvSpPr>
        <p:spPr>
          <a:xfrm>
            <a:off x="7650327" y="2561539"/>
            <a:ext cx="100584" cy="12801"/>
          </a:xfrm>
          <a:prstGeom prst="rect">
            <a:avLst/>
          </a:prstGeom>
          <a:solidFill>
            <a:srgbClr val="6B7686"/>
          </a:solidFill>
          <a:ln>
            <a:noFill/>
          </a:ln>
          <a:effectLst/>
        </p:spPr>
        <p:txBody>
          <a:bodyPr rtlCol="0" anchor="ctr"/>
          <a:lstStyle/>
          <a:p>
            <a:pPr algn="ctr"/>
            <a:endParaRPr/>
          </a:p>
        </p:txBody>
      </p:sp>
      <p:sp>
        <p:nvSpPr>
          <p:cNvPr id="37" name="Rectangle 36"/>
          <p:cNvSpPr/>
          <p:nvPr/>
        </p:nvSpPr>
        <p:spPr>
          <a:xfrm>
            <a:off x="7365034" y="2377440"/>
            <a:ext cx="12801" cy="476250"/>
          </a:xfrm>
          <a:prstGeom prst="rect">
            <a:avLst/>
          </a:prstGeom>
          <a:solidFill>
            <a:srgbClr val="185FA5"/>
          </a:solidFill>
          <a:ln>
            <a:noFill/>
          </a:ln>
          <a:effectLst/>
        </p:spPr>
        <p:txBody>
          <a:bodyPr rtlCol="0" anchor="ctr"/>
          <a:lstStyle/>
          <a:p>
            <a:pPr algn="ctr"/>
            <a:endParaRPr/>
          </a:p>
        </p:txBody>
      </p:sp>
      <p:sp>
        <p:nvSpPr>
          <p:cNvPr id="38" name="Rectangle 37"/>
          <p:cNvSpPr/>
          <p:nvPr/>
        </p:nvSpPr>
        <p:spPr>
          <a:xfrm>
            <a:off x="7321143" y="2371039"/>
            <a:ext cx="100584" cy="12801"/>
          </a:xfrm>
          <a:prstGeom prst="rect">
            <a:avLst/>
          </a:prstGeom>
          <a:solidFill>
            <a:srgbClr val="185FA5"/>
          </a:solidFill>
          <a:ln>
            <a:noFill/>
          </a:ln>
          <a:effectLst/>
        </p:spPr>
        <p:txBody>
          <a:bodyPr rtlCol="0" anchor="ctr"/>
          <a:lstStyle/>
          <a:p>
            <a:pPr algn="ctr"/>
            <a:endParaRPr/>
          </a:p>
        </p:txBody>
      </p:sp>
      <p:sp>
        <p:nvSpPr>
          <p:cNvPr id="39" name="Rectangle 38"/>
          <p:cNvSpPr/>
          <p:nvPr/>
        </p:nvSpPr>
        <p:spPr>
          <a:xfrm>
            <a:off x="7321143" y="2847289"/>
            <a:ext cx="100584" cy="12801"/>
          </a:xfrm>
          <a:prstGeom prst="rect">
            <a:avLst/>
          </a:prstGeom>
          <a:solidFill>
            <a:srgbClr val="185FA5"/>
          </a:solidFill>
          <a:ln>
            <a:noFill/>
          </a:ln>
          <a:effectLst/>
        </p:spPr>
        <p:txBody>
          <a:bodyPr rtlCol="0" anchor="ctr"/>
          <a:lstStyle/>
          <a:p>
            <a:pPr algn="ctr"/>
            <a:endParaRPr/>
          </a:p>
        </p:txBody>
      </p:sp>
      <p:sp>
        <p:nvSpPr>
          <p:cNvPr id="40" name="TextBox 39"/>
          <p:cNvSpPr txBox="1"/>
          <p:nvPr/>
        </p:nvSpPr>
        <p:spPr>
          <a:xfrm>
            <a:off x="6639915" y="2386584"/>
            <a:ext cx="1005840" cy="182880"/>
          </a:xfrm>
          <a:prstGeom prst="rect">
            <a:avLst/>
          </a:prstGeom>
          <a:noFill/>
        </p:spPr>
        <p:txBody>
          <a:bodyPr wrap="none" lIns="0" tIns="0" rIns="0" bIns="0" anchor="t">
            <a:spAutoFit/>
          </a:bodyPr>
          <a:lstStyle/>
          <a:p>
            <a:pPr algn="r">
              <a:lnSpc>
                <a:spcPct val="110000"/>
              </a:lnSpc>
              <a:spcAft>
                <a:spcPts val="400"/>
              </a:spcAft>
            </a:pPr>
            <a:r>
              <a:rPr sz="900" b="1" i="0">
                <a:solidFill>
                  <a:srgbClr val="6B7686"/>
                </a:solidFill>
                <a:latin typeface="Calibri"/>
                <a:ea typeface="Calibri"/>
              </a:rPr>
              <a:t>20px</a:t>
            </a:r>
          </a:p>
        </p:txBody>
      </p:sp>
      <p:sp>
        <p:nvSpPr>
          <p:cNvPr id="41" name="TextBox 40"/>
          <p:cNvSpPr txBox="1"/>
          <p:nvPr/>
        </p:nvSpPr>
        <p:spPr>
          <a:xfrm>
            <a:off x="6255867" y="2615184"/>
            <a:ext cx="1005840" cy="182880"/>
          </a:xfrm>
          <a:prstGeom prst="rect">
            <a:avLst/>
          </a:prstGeom>
          <a:noFill/>
        </p:spPr>
        <p:txBody>
          <a:bodyPr wrap="none" lIns="0" tIns="0" rIns="0" bIns="0" anchor="t">
            <a:spAutoFit/>
          </a:bodyPr>
          <a:lstStyle/>
          <a:p>
            <a:pPr algn="r">
              <a:lnSpc>
                <a:spcPct val="110000"/>
              </a:lnSpc>
              <a:spcAft>
                <a:spcPts val="400"/>
              </a:spcAft>
            </a:pPr>
            <a:r>
              <a:rPr sz="900" b="1" i="0">
                <a:solidFill>
                  <a:srgbClr val="185FA5"/>
                </a:solidFill>
                <a:latin typeface="Calibri"/>
                <a:ea typeface="Calibri"/>
              </a:rPr>
              <a:t>50px</a:t>
            </a:r>
          </a:p>
        </p:txBody>
      </p:sp>
      <p:sp>
        <p:nvSpPr>
          <p:cNvPr id="42" name="Rectangle 41"/>
          <p:cNvSpPr/>
          <p:nvPr/>
        </p:nvSpPr>
        <p:spPr>
          <a:xfrm>
            <a:off x="11022634" y="2377440"/>
            <a:ext cx="12801" cy="666749"/>
          </a:xfrm>
          <a:prstGeom prst="rect">
            <a:avLst/>
          </a:prstGeom>
          <a:solidFill>
            <a:srgbClr val="D9534F">
              <a:alpha val="60000"/>
            </a:srgbClr>
          </a:solidFill>
          <a:ln>
            <a:noFill/>
          </a:ln>
          <a:effectLst/>
        </p:spPr>
        <p:txBody>
          <a:bodyPr rtlCol="0" anchor="ctr"/>
          <a:lstStyle/>
          <a:p>
            <a:pPr algn="ctr"/>
            <a:endParaRPr/>
          </a:p>
        </p:txBody>
      </p:sp>
      <p:sp>
        <p:nvSpPr>
          <p:cNvPr id="43" name="Rectangle 42"/>
          <p:cNvSpPr/>
          <p:nvPr/>
        </p:nvSpPr>
        <p:spPr>
          <a:xfrm>
            <a:off x="10978743" y="2371039"/>
            <a:ext cx="100584" cy="12801"/>
          </a:xfrm>
          <a:prstGeom prst="rect">
            <a:avLst/>
          </a:prstGeom>
          <a:solidFill>
            <a:srgbClr val="D9534F">
              <a:alpha val="60000"/>
            </a:srgbClr>
          </a:solidFill>
          <a:ln>
            <a:noFill/>
          </a:ln>
          <a:effectLst/>
        </p:spPr>
        <p:txBody>
          <a:bodyPr rtlCol="0" anchor="ctr"/>
          <a:lstStyle/>
          <a:p>
            <a:pPr algn="ctr"/>
            <a:endParaRPr/>
          </a:p>
        </p:txBody>
      </p:sp>
      <p:sp>
        <p:nvSpPr>
          <p:cNvPr id="44" name="Rectangle 43"/>
          <p:cNvSpPr/>
          <p:nvPr/>
        </p:nvSpPr>
        <p:spPr>
          <a:xfrm>
            <a:off x="10978743" y="3037789"/>
            <a:ext cx="100584" cy="12801"/>
          </a:xfrm>
          <a:prstGeom prst="rect">
            <a:avLst/>
          </a:prstGeom>
          <a:solidFill>
            <a:srgbClr val="D9534F">
              <a:alpha val="60000"/>
            </a:srgbClr>
          </a:solidFill>
          <a:ln>
            <a:noFill/>
          </a:ln>
          <a:effectLst/>
        </p:spPr>
        <p:txBody>
          <a:bodyPr rtlCol="0" anchor="ctr"/>
          <a:lstStyle/>
          <a:p>
            <a:pPr algn="ctr"/>
            <a:endParaRPr/>
          </a:p>
        </p:txBody>
      </p:sp>
      <p:sp>
        <p:nvSpPr>
          <p:cNvPr id="45" name="TextBox 44"/>
          <p:cNvSpPr txBox="1"/>
          <p:nvPr/>
        </p:nvSpPr>
        <p:spPr>
          <a:xfrm>
            <a:off x="10608411" y="3071622"/>
            <a:ext cx="786384" cy="182880"/>
          </a:xfrm>
          <a:prstGeom prst="rect">
            <a:avLst/>
          </a:prstGeom>
          <a:noFill/>
        </p:spPr>
        <p:txBody>
          <a:bodyPr wrap="none" lIns="0" tIns="0" rIns="0" bIns="0" anchor="t">
            <a:spAutoFit/>
          </a:bodyPr>
          <a:lstStyle/>
          <a:p>
            <a:pPr algn="l">
              <a:lnSpc>
                <a:spcPct val="110000"/>
              </a:lnSpc>
              <a:spcAft>
                <a:spcPts val="400"/>
              </a:spcAft>
            </a:pPr>
            <a:r>
              <a:rPr sz="900" b="1" i="0">
                <a:solidFill>
                  <a:srgbClr val="D9534F"/>
                </a:solidFill>
                <a:latin typeface="Calibri"/>
                <a:ea typeface="Calibri"/>
              </a:rPr>
              <a:t>not 70px</a:t>
            </a:r>
          </a:p>
        </p:txBody>
      </p:sp>
      <p:sp>
        <p:nvSpPr>
          <p:cNvPr id="46" name="TextBox 45"/>
          <p:cNvSpPr txBox="1"/>
          <p:nvPr/>
        </p:nvSpPr>
        <p:spPr>
          <a:xfrm>
            <a:off x="6502755" y="3547872"/>
            <a:ext cx="4884267" cy="219456"/>
          </a:xfrm>
          <a:prstGeom prst="rect">
            <a:avLst/>
          </a:prstGeom>
          <a:noFill/>
        </p:spPr>
        <p:txBody>
          <a:bodyPr wrap="square" lIns="0" tIns="0" rIns="0" bIns="0" anchor="t">
            <a:spAutoFit/>
          </a:bodyPr>
          <a:lstStyle/>
          <a:p>
            <a:pPr algn="l">
              <a:lnSpc>
                <a:spcPct val="110000"/>
              </a:lnSpc>
              <a:spcAft>
                <a:spcPts val="400"/>
              </a:spcAft>
            </a:pPr>
            <a:r>
              <a:rPr sz="1100" b="1" i="0">
                <a:solidFill>
                  <a:srgbClr val="1A2230"/>
                </a:solidFill>
                <a:latin typeface="Calibri"/>
                <a:ea typeface="Calibri"/>
              </a:rPr>
              <a:t>They overlap, so the gap is 50px</a:t>
            </a:r>
            <a:r>
              <a:rPr sz="1050" b="0" i="0">
                <a:solidFill>
                  <a:srgbClr val="4A5568"/>
                </a:solidFill>
                <a:latin typeface="Calibri"/>
                <a:ea typeface="Calibri"/>
              </a:rPr>
              <a:t> — the larger margin wins.</a:t>
            </a:r>
          </a:p>
        </p:txBody>
      </p:sp>
      <p:sp>
        <p:nvSpPr>
          <p:cNvPr id="47" name="Rounded Rectangle 46"/>
          <p:cNvSpPr/>
          <p:nvPr/>
        </p:nvSpPr>
        <p:spPr>
          <a:xfrm>
            <a:off x="548640" y="4114800"/>
            <a:ext cx="3515258" cy="1298448"/>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68096" y="4315968"/>
            <a:ext cx="91440" cy="32918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69264" y="4315968"/>
            <a:ext cx="2875178" cy="274320"/>
          </a:xfrm>
          <a:prstGeom prst="rect">
            <a:avLst/>
          </a:prstGeom>
          <a:noFill/>
        </p:spPr>
        <p:txBody>
          <a:bodyPr wrap="square" lIns="0" tIns="0" rIns="0" bIns="0" anchor="t">
            <a:spAutoFit/>
          </a:bodyPr>
          <a:lstStyle/>
          <a:p>
            <a:pPr algn="l">
              <a:lnSpc>
                <a:spcPct val="110000"/>
              </a:lnSpc>
              <a:spcAft>
                <a:spcPts val="400"/>
              </a:spcAft>
            </a:pPr>
            <a:r>
              <a:rPr sz="1300" b="1" i="0">
                <a:solidFill>
                  <a:srgbClr val="0E3F8C"/>
                </a:solidFill>
                <a:latin typeface="Calibri"/>
                <a:ea typeface="Calibri"/>
              </a:rPr>
              <a:t>Padding never collapses</a:t>
            </a:r>
          </a:p>
        </p:txBody>
      </p:sp>
      <p:sp>
        <p:nvSpPr>
          <p:cNvPr id="50" name="TextBox 49"/>
          <p:cNvSpPr txBox="1"/>
          <p:nvPr/>
        </p:nvSpPr>
        <p:spPr>
          <a:xfrm>
            <a:off x="969264" y="4645152"/>
            <a:ext cx="2875178" cy="713232"/>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Two paddings that meet simply add up.</a:t>
            </a:r>
          </a:p>
        </p:txBody>
      </p:sp>
      <p:sp>
        <p:nvSpPr>
          <p:cNvPr id="51" name="Rounded Rectangle 50"/>
          <p:cNvSpPr/>
          <p:nvPr/>
        </p:nvSpPr>
        <p:spPr>
          <a:xfrm>
            <a:off x="4338218" y="4114800"/>
            <a:ext cx="3515258" cy="1298448"/>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557674" y="4315968"/>
            <a:ext cx="91440" cy="32918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758842" y="4315968"/>
            <a:ext cx="2875178" cy="274320"/>
          </a:xfrm>
          <a:prstGeom prst="rect">
            <a:avLst/>
          </a:prstGeom>
          <a:noFill/>
        </p:spPr>
        <p:txBody>
          <a:bodyPr wrap="square" lIns="0" tIns="0" rIns="0" bIns="0" anchor="t">
            <a:spAutoFit/>
          </a:bodyPr>
          <a:lstStyle/>
          <a:p>
            <a:pPr algn="l">
              <a:lnSpc>
                <a:spcPct val="110000"/>
              </a:lnSpc>
              <a:spcAft>
                <a:spcPts val="400"/>
              </a:spcAft>
            </a:pPr>
            <a:r>
              <a:rPr sz="1300" b="1" i="0">
                <a:solidFill>
                  <a:srgbClr val="0E3F8C"/>
                </a:solidFill>
                <a:latin typeface="Calibri"/>
                <a:ea typeface="Calibri"/>
              </a:rPr>
              <a:t>A parent and its first child</a:t>
            </a:r>
          </a:p>
        </p:txBody>
      </p:sp>
      <p:sp>
        <p:nvSpPr>
          <p:cNvPr id="54" name="TextBox 53"/>
          <p:cNvSpPr txBox="1"/>
          <p:nvPr/>
        </p:nvSpPr>
        <p:spPr>
          <a:xfrm>
            <a:off x="4758842" y="4645152"/>
            <a:ext cx="2875178" cy="713232"/>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With nothing between them — no border, no padding — the child's margin escapes the parent.</a:t>
            </a:r>
          </a:p>
        </p:txBody>
      </p:sp>
      <p:sp>
        <p:nvSpPr>
          <p:cNvPr id="55" name="Rounded Rectangle 54"/>
          <p:cNvSpPr/>
          <p:nvPr/>
        </p:nvSpPr>
        <p:spPr>
          <a:xfrm>
            <a:off x="8127796" y="4114800"/>
            <a:ext cx="3515258" cy="1298448"/>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347252" y="4315968"/>
            <a:ext cx="91440" cy="32918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548420" y="4315968"/>
            <a:ext cx="2875178" cy="274320"/>
          </a:xfrm>
          <a:prstGeom prst="rect">
            <a:avLst/>
          </a:prstGeom>
          <a:noFill/>
        </p:spPr>
        <p:txBody>
          <a:bodyPr wrap="square" lIns="0" tIns="0" rIns="0" bIns="0" anchor="t">
            <a:spAutoFit/>
          </a:bodyPr>
          <a:lstStyle/>
          <a:p>
            <a:pPr algn="l">
              <a:lnSpc>
                <a:spcPct val="110000"/>
              </a:lnSpc>
              <a:spcAft>
                <a:spcPts val="400"/>
              </a:spcAft>
            </a:pPr>
            <a:r>
              <a:rPr sz="1300" b="1" i="0">
                <a:solidFill>
                  <a:srgbClr val="0E3F8C"/>
                </a:solidFill>
                <a:latin typeface="Calibri"/>
                <a:ea typeface="Calibri"/>
              </a:rPr>
              <a:t>Floated and out-of-flow boxes</a:t>
            </a:r>
          </a:p>
        </p:txBody>
      </p:sp>
      <p:sp>
        <p:nvSpPr>
          <p:cNvPr id="58" name="TextBox 57"/>
          <p:cNvSpPr txBox="1"/>
          <p:nvPr/>
        </p:nvSpPr>
        <p:spPr>
          <a:xfrm>
            <a:off x="8548420" y="4645152"/>
            <a:ext cx="2875178" cy="713232"/>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They never collapse: a floated or absolutely positioned box keeps its own space.</a:t>
            </a:r>
          </a:p>
        </p:txBody>
      </p:sp>
      <p:sp>
        <p:nvSpPr>
          <p:cNvPr id="59" name="Rounded Rectangle 58"/>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Stacked headings: h1's 50px meets h2's 20px — the gap is 50px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editor.html?example=css-layout/margin-collapsing</a:t>
            </a:r>
          </a:p>
        </p:txBody>
      </p:sp>
      <p:sp>
        <p:nvSpPr>
          <p:cNvPr id="61" name="TextBox 60"/>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h1 { margin: 0 0 50px 0; }   h2 { margin: 20px 0 0 0;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Outline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32688"/>
            <a:ext cx="4370832" cy="4599432"/>
          </a:xfrm>
          <a:prstGeom prst="rect">
            <a:avLst/>
          </a:prstGeom>
          <a:noFill/>
        </p:spPr>
        <p:txBody>
          <a:bodyPr wrap="square" lIns="0" tIns="0" rIns="0" bIns="0">
            <a:normAutofit/>
          </a:bodyPr>
          <a:lstStyle/>
          <a:p>
            <a:pPr marL="256032" indent="-237744">
              <a:lnSpc>
                <a:spcPct val="112000"/>
              </a:lnSpc>
              <a:spcAft>
                <a:spcPts val="1800"/>
              </a:spcAft>
              <a:buClr>
                <a:srgbClr val="1E4FA8"/>
              </a:buClr>
              <a:buSzPct val="90000"/>
              <a:buFont typeface="Arial"/>
              <a:buChar char="▪"/>
            </a:pPr>
            <a:r>
              <a:rPr sz="1700" b="1" i="0">
                <a:solidFill>
                  <a:srgbClr val="1A2230"/>
                </a:solidFill>
                <a:latin typeface="Calibri"/>
                <a:ea typeface="Calibri"/>
              </a:rPr>
              <a:t>Outline</a:t>
            </a:r>
            <a:br/>
            <a:r>
              <a:rPr sz="1300" b="0" i="0">
                <a:solidFill>
                  <a:srgbClr val="4A5568"/>
                </a:solidFill>
                <a:latin typeface="Calibri"/>
                <a:ea typeface="Calibri"/>
              </a:rPr>
              <a:t>A line drawn around an element, outside the border, to make it stand out.</a:t>
            </a:r>
          </a:p>
          <a:p>
            <a:pPr marL="256032" indent="-237744">
              <a:lnSpc>
                <a:spcPct val="112000"/>
              </a:lnSpc>
              <a:spcAft>
                <a:spcPts val="1800"/>
              </a:spcAft>
              <a:buClr>
                <a:srgbClr val="1E4FA8"/>
              </a:buClr>
              <a:buSzPct val="90000"/>
              <a:buFont typeface="Arial"/>
              <a:buChar char="▪"/>
            </a:pPr>
            <a:r>
              <a:rPr sz="1700" b="1" i="0">
                <a:solidFill>
                  <a:srgbClr val="1A2230"/>
                </a:solidFill>
                <a:latin typeface="Calibri"/>
                <a:ea typeface="Calibri"/>
              </a:rPr>
              <a:t>Not a border</a:t>
            </a:r>
            <a:br/>
            <a:r>
              <a:rPr sz="1300" b="0" i="0">
                <a:solidFill>
                  <a:srgbClr val="4A5568"/>
                </a:solidFill>
                <a:latin typeface="Calibri"/>
                <a:ea typeface="Calibri"/>
              </a:rPr>
              <a:t>A border is part of the box and pushes the neighbours away; an outline sits outside and may overlap them.</a:t>
            </a:r>
          </a:p>
          <a:p>
            <a:pPr marL="256032" indent="-237744">
              <a:lnSpc>
                <a:spcPct val="112000"/>
              </a:lnSpc>
              <a:spcAft>
                <a:spcPts val="1800"/>
              </a:spcAft>
              <a:buClr>
                <a:srgbClr val="1E4FA8"/>
              </a:buClr>
              <a:buSzPct val="90000"/>
              <a:buFont typeface="Arial"/>
              <a:buChar char="▪"/>
            </a:pPr>
            <a:r>
              <a:rPr sz="1700" b="1" i="0">
                <a:solidFill>
                  <a:srgbClr val="1A2230"/>
                </a:solidFill>
                <a:latin typeface="Calibri"/>
                <a:ea typeface="Calibri"/>
              </a:rPr>
              <a:t>No effect on the size</a:t>
            </a:r>
            <a:br/>
            <a:r>
              <a:rPr sz="1300" b="0" i="0">
                <a:solidFill>
                  <a:srgbClr val="4A5568"/>
                </a:solidFill>
                <a:latin typeface="Calibri"/>
                <a:ea typeface="Calibri"/>
              </a:rPr>
              <a:t>The element's total </a:t>
            </a:r>
            <a:r>
              <a:rPr sz="1300" b="0" i="0">
                <a:solidFill>
                  <a:srgbClr val="B8860B"/>
                </a:solidFill>
                <a:latin typeface="Consolas"/>
                <a:ea typeface="Consolas"/>
              </a:rPr>
              <a:t>width</a:t>
            </a:r>
            <a:r>
              <a:rPr sz="1300" b="0" i="0">
                <a:solidFill>
                  <a:srgbClr val="4A5568"/>
                </a:solidFill>
                <a:latin typeface="Calibri"/>
                <a:ea typeface="Calibri"/>
              </a:rPr>
              <a:t> and </a:t>
            </a:r>
            <a:r>
              <a:rPr sz="1300" b="0" i="0">
                <a:solidFill>
                  <a:srgbClr val="B8860B"/>
                </a:solidFill>
                <a:latin typeface="Consolas"/>
                <a:ea typeface="Consolas"/>
              </a:rPr>
              <a:t>height</a:t>
            </a:r>
            <a:r>
              <a:rPr sz="1300" b="0" i="0">
                <a:solidFill>
                  <a:srgbClr val="4A5568"/>
                </a:solidFill>
                <a:latin typeface="Calibri"/>
                <a:ea typeface="Calibri"/>
              </a:rPr>
              <a:t> are not affected by the outline at all.</a:t>
            </a:r>
          </a:p>
          <a:p>
            <a:pPr marL="256032" indent="-237744">
              <a:lnSpc>
                <a:spcPct val="112000"/>
              </a:lnSpc>
              <a:spcAft>
                <a:spcPts val="1800"/>
              </a:spcAft>
              <a:buClr>
                <a:srgbClr val="1E4FA8"/>
              </a:buClr>
              <a:buSzPct val="90000"/>
              <a:buFont typeface="Arial"/>
              <a:buChar char="▪"/>
            </a:pPr>
            <a:r>
              <a:rPr sz="1700" b="1" i="0">
                <a:solidFill>
                  <a:srgbClr val="1A2230"/>
                </a:solidFill>
                <a:latin typeface="Calibri"/>
                <a:ea typeface="Calibri"/>
              </a:rPr>
              <a:t>outline-offset</a:t>
            </a:r>
            <a:br/>
            <a:r>
              <a:rPr sz="1300" b="0" i="0">
                <a:solidFill>
                  <a:srgbClr val="4A5568"/>
                </a:solidFill>
                <a:latin typeface="Calibri"/>
                <a:ea typeface="Calibri"/>
              </a:rPr>
              <a:t>Adds transparent space between the border and the outline. A negative </a:t>
            </a:r>
            <a:r>
              <a:rPr sz="1300" b="0" i="0">
                <a:solidFill>
                  <a:srgbClr val="B8860B"/>
                </a:solidFill>
                <a:latin typeface="Consolas"/>
                <a:ea typeface="Consolas"/>
              </a:rPr>
              <a:t>value</a:t>
            </a:r>
            <a:r>
              <a:rPr sz="1300" b="0" i="0">
                <a:solidFill>
                  <a:srgbClr val="4A5568"/>
                </a:solidFill>
                <a:latin typeface="Calibri"/>
                <a:ea typeface="Calibri"/>
              </a:rPr>
              <a:t> pulls the outline over the border.</a:t>
            </a:r>
          </a:p>
          <a:p>
            <a:pPr marL="256032" indent="-237744">
              <a:lnSpc>
                <a:spcPct val="112000"/>
              </a:lnSpc>
              <a:spcAft>
                <a:spcPts val="1800"/>
              </a:spcAft>
              <a:buClr>
                <a:srgbClr val="1E4FA8"/>
              </a:buClr>
              <a:buSzPct val="90000"/>
              <a:buFont typeface="Arial"/>
              <a:buChar char="▪"/>
            </a:pPr>
            <a:r>
              <a:rPr sz="1700" b="1" i="0">
                <a:solidFill>
                  <a:srgbClr val="1A2230"/>
                </a:solidFill>
                <a:latin typeface="Calibri"/>
                <a:ea typeface="Calibri"/>
              </a:rPr>
              <a:t>No sides</a:t>
            </a:r>
            <a:br/>
            <a:r>
              <a:rPr sz="1300" b="0" i="0">
                <a:solidFill>
                  <a:srgbClr val="4A5568"/>
                </a:solidFill>
                <a:latin typeface="Calibri"/>
                <a:ea typeface="Calibri"/>
              </a:rPr>
              <a:t>There is no outline-top or outline-left — the whole ring is one </a:t>
            </a:r>
            <a:r>
              <a:rPr sz="1300" b="0" i="0">
                <a:solidFill>
                  <a:srgbClr val="B8860B"/>
                </a:solidFill>
                <a:latin typeface="Consolas"/>
                <a:ea typeface="Consolas"/>
              </a:rPr>
              <a:t>value</a:t>
            </a:r>
            <a:r>
              <a:rPr sz="1300" b="0" i="0">
                <a:solidFill>
                  <a:srgbClr val="4A5568"/>
                </a:solidFill>
                <a:latin typeface="Calibri"/>
                <a:ea typeface="Calibri"/>
              </a:rPr>
              <a:t>. </a:t>
            </a:r>
            <a:r>
              <a:rPr sz="1300" b="0" i="0">
                <a:solidFill>
                  <a:srgbClr val="B8860B"/>
                </a:solidFill>
                <a:latin typeface="Consolas"/>
                <a:ea typeface="Consolas"/>
              </a:rPr>
              <a:t>style</a:t>
            </a:r>
            <a:r>
              <a:rPr sz="1300" b="0" i="0">
                <a:solidFill>
                  <a:srgbClr val="4A5568"/>
                </a:solidFill>
                <a:latin typeface="Calibri"/>
                <a:ea typeface="Calibri"/>
              </a:rPr>
              <a:t>, colour, </a:t>
            </a:r>
            <a:r>
              <a:rPr sz="1300" b="0" i="0">
                <a:solidFill>
                  <a:srgbClr val="B8860B"/>
                </a:solidFill>
                <a:latin typeface="Consolas"/>
                <a:ea typeface="Consolas"/>
              </a:rPr>
              <a:t>width</a:t>
            </a:r>
            <a:r>
              <a:rPr sz="1300" b="0" i="0">
                <a:solidFill>
                  <a:srgbClr val="4A5568"/>
                </a:solidFill>
                <a:latin typeface="Calibri"/>
                <a:ea typeface="Calibri"/>
              </a:rPr>
              <a:t>, offset, then the shorthand.</a:t>
            </a:r>
          </a:p>
        </p:txBody>
      </p:sp>
      <p:sp>
        <p:nvSpPr>
          <p:cNvPr id="6" name="Rounded Rectangle 5"/>
          <p:cNvSpPr/>
          <p:nvPr/>
        </p:nvSpPr>
        <p:spPr>
          <a:xfrm>
            <a:off x="5394960" y="932688"/>
            <a:ext cx="624809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05856" y="1115568"/>
            <a:ext cx="5626303"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outside the border</a:t>
            </a:r>
            <a:r>
              <a:rPr sz="1100" b="0" i="0">
                <a:solidFill>
                  <a:srgbClr val="4A5568"/>
                </a:solidFill>
                <a:latin typeface="Calibri"/>
                <a:ea typeface="Calibri"/>
              </a:rPr>
              <a:t>   the outline is not part of the box</a:t>
            </a:r>
          </a:p>
        </p:txBody>
      </p:sp>
      <p:sp>
        <p:nvSpPr>
          <p:cNvPr id="8" name="Rectangle 7"/>
          <p:cNvSpPr/>
          <p:nvPr/>
        </p:nvSpPr>
        <p:spPr>
          <a:xfrm>
            <a:off x="5724144"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92240" y="2615184"/>
            <a:ext cx="2651760" cy="1389888"/>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675120" y="2798064"/>
            <a:ext cx="2286000" cy="1024128"/>
          </a:xfrm>
          <a:prstGeom prst="rect">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81344" y="2304288"/>
            <a:ext cx="3273552" cy="2011680"/>
          </a:xfrm>
          <a:prstGeom prst="rect">
            <a:avLst/>
          </a:prstGeom>
          <a:noFill/>
          <a:ln w="31750">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3127248"/>
            <a:ext cx="2286000" cy="274320"/>
          </a:xfrm>
          <a:prstGeom prst="rect">
            <a:avLst/>
          </a:prstGeom>
          <a:noFill/>
        </p:spPr>
        <p:txBody>
          <a:bodyPr wrap="square" lIns="0" tIns="0" rIns="0" bIns="0" anchor="t">
            <a:spAutoFit/>
          </a:bodyPr>
          <a:lstStyle/>
          <a:p>
            <a:pPr algn="ctr">
              <a:lnSpc>
                <a:spcPct val="110000"/>
              </a:lnSpc>
              <a:spcAft>
                <a:spcPts val="400"/>
              </a:spcAft>
            </a:pPr>
            <a:r>
              <a:rPr sz="1100" b="0" i="0">
                <a:solidFill>
                  <a:srgbClr val="4A5568"/>
                </a:solidFill>
                <a:latin typeface="Calibri"/>
                <a:ea typeface="Calibri"/>
              </a:rPr>
              <a:t>content</a:t>
            </a:r>
          </a:p>
        </p:txBody>
      </p:sp>
      <p:sp>
        <p:nvSpPr>
          <p:cNvPr id="13" name="TextBox 12"/>
          <p:cNvSpPr txBox="1"/>
          <p:nvPr/>
        </p:nvSpPr>
        <p:spPr>
          <a:xfrm>
            <a:off x="6492240" y="3822191"/>
            <a:ext cx="2651760" cy="182880"/>
          </a:xfrm>
          <a:prstGeom prst="rect">
            <a:avLst/>
          </a:prstGeom>
          <a:noFill/>
        </p:spPr>
        <p:txBody>
          <a:bodyPr wrap="square" lIns="0" tIns="0" rIns="0" bIns="0" anchor="ctr">
            <a:spAutoFit/>
          </a:bodyPr>
          <a:lstStyle/>
          <a:p>
            <a:pPr algn="ctr">
              <a:lnSpc>
                <a:spcPct val="110000"/>
              </a:lnSpc>
              <a:spcAft>
                <a:spcPts val="400"/>
              </a:spcAft>
            </a:pPr>
            <a:r>
              <a:rPr sz="1000" b="0" i="0">
                <a:solidFill>
                  <a:srgbClr val="FFFFFF"/>
                </a:solidFill>
                <a:latin typeface="Calibri"/>
                <a:ea typeface="Calibri"/>
              </a:rPr>
              <a:t>border</a:t>
            </a:r>
          </a:p>
        </p:txBody>
      </p:sp>
      <p:sp>
        <p:nvSpPr>
          <p:cNvPr id="14" name="TextBox 13"/>
          <p:cNvSpPr txBox="1"/>
          <p:nvPr/>
        </p:nvSpPr>
        <p:spPr>
          <a:xfrm>
            <a:off x="6492240" y="2340864"/>
            <a:ext cx="2651760" cy="201168"/>
          </a:xfrm>
          <a:prstGeom prst="rect">
            <a:avLst/>
          </a:prstGeom>
          <a:noFill/>
        </p:spPr>
        <p:txBody>
          <a:bodyPr wrap="square" lIns="0" tIns="0" rIns="0" bIns="0" anchor="t">
            <a:spAutoFit/>
          </a:bodyPr>
          <a:lstStyle/>
          <a:p>
            <a:pPr algn="ctr">
              <a:lnSpc>
                <a:spcPct val="110000"/>
              </a:lnSpc>
              <a:spcAft>
                <a:spcPts val="400"/>
              </a:spcAft>
            </a:pPr>
            <a:r>
              <a:rPr sz="1050" b="1" i="0">
                <a:solidFill>
                  <a:srgbClr val="4CAF50"/>
                </a:solidFill>
                <a:latin typeface="Calibri"/>
                <a:ea typeface="Calibri"/>
              </a:rPr>
              <a:t>outline-offset: 8px</a:t>
            </a:r>
          </a:p>
        </p:txBody>
      </p:sp>
      <p:sp>
        <p:nvSpPr>
          <p:cNvPr id="15" name="TextBox 14"/>
          <p:cNvSpPr txBox="1"/>
          <p:nvPr/>
        </p:nvSpPr>
        <p:spPr>
          <a:xfrm>
            <a:off x="6181344" y="2029968"/>
            <a:ext cx="3273552" cy="237744"/>
          </a:xfrm>
          <a:prstGeom prst="rect">
            <a:avLst/>
          </a:prstGeom>
          <a:noFill/>
        </p:spPr>
        <p:txBody>
          <a:bodyPr wrap="square" lIns="0" tIns="0" rIns="0" bIns="0" anchor="t">
            <a:spAutoFit/>
          </a:bodyPr>
          <a:lstStyle/>
          <a:p>
            <a:pPr algn="ctr">
              <a:lnSpc>
                <a:spcPct val="110000"/>
              </a:lnSpc>
              <a:spcAft>
                <a:spcPts val="400"/>
              </a:spcAft>
            </a:pPr>
            <a:r>
              <a:rPr sz="1150" b="1" i="0">
                <a:solidFill>
                  <a:srgbClr val="4CAF50"/>
                </a:solidFill>
                <a:latin typeface="Calibri"/>
                <a:ea typeface="Calibri"/>
              </a:rPr>
              <a:t>outline</a:t>
            </a:r>
          </a:p>
        </p:txBody>
      </p:sp>
      <p:sp>
        <p:nvSpPr>
          <p:cNvPr id="16" name="TextBox 15"/>
          <p:cNvSpPr txBox="1"/>
          <p:nvPr/>
        </p:nvSpPr>
        <p:spPr>
          <a:xfrm>
            <a:off x="6181344" y="4407407"/>
            <a:ext cx="3273552" cy="475488"/>
          </a:xfrm>
          <a:prstGeom prst="rect">
            <a:avLst/>
          </a:prstGeom>
          <a:noFill/>
        </p:spPr>
        <p:txBody>
          <a:bodyPr wrap="square" lIns="0" tIns="0" rIns="0" bIns="0" anchor="t">
            <a:spAutoFit/>
          </a:bodyPr>
          <a:lstStyle/>
          <a:p>
            <a:pPr algn="l">
              <a:lnSpc>
                <a:spcPct val="115000"/>
              </a:lnSpc>
              <a:spcAft>
                <a:spcPts val="400"/>
              </a:spcAft>
            </a:pPr>
            <a:r>
              <a:rPr sz="1100" b="0" i="0">
                <a:solidFill>
                  <a:srgbClr val="4A5568"/>
                </a:solidFill>
                <a:latin typeface="Calibri"/>
                <a:ea typeface="Calibri"/>
              </a:rPr>
              <a:t>Drawn in the margin area: it can overlap the next element, and it never adds to the box's width or height.</a:t>
            </a:r>
          </a:p>
        </p:txBody>
      </p:sp>
      <p:sp>
        <p:nvSpPr>
          <p:cNvPr id="17" name="Rounded Rectangle 16"/>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An outline is drawn outside the border and never grows the box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editor.html?example=css-layout/outline</a:t>
            </a:r>
          </a:p>
        </p:txBody>
      </p:sp>
      <p:sp>
        <p:nvSpPr>
          <p:cNvPr id="19" name="TextBox 18"/>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outline: #4CAF50 solid 10px;   outline-offset: 8px;</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Width &amp; Height</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 declared size</a:t>
            </a:r>
            <a:br/>
            <a:r>
              <a:rPr sz="1350" b="0" i="0">
                <a:solidFill>
                  <a:srgbClr val="4A5568"/>
                </a:solidFill>
                <a:latin typeface="Calibri"/>
                <a:ea typeface="Calibri"/>
              </a:rPr>
              <a:t>A length or a percentage — it applies to the content area unless box-sizing says otherwise.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auto</a:t>
            </a:r>
            <a:br/>
            <a:r>
              <a:rPr sz="1350" b="0" i="0">
                <a:solidFill>
                  <a:srgbClr val="4A5568"/>
                </a:solidFill>
                <a:latin typeface="Calibri"/>
                <a:ea typeface="Calibri"/>
              </a:rPr>
              <a:t>The default for both: the box grows to fit its content.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Percentages</a:t>
            </a:r>
            <a:br/>
            <a:r>
              <a:rPr sz="1350" b="0" i="0">
                <a:solidFill>
                  <a:srgbClr val="4A5568"/>
                </a:solidFill>
                <a:latin typeface="Calibri"/>
                <a:ea typeface="Calibri"/>
              </a:rPr>
              <a:t>A share of the containing block, so the box scales with its parent.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max-width caps it</a:t>
            </a:r>
            <a:br/>
            <a:r>
              <a:rPr sz="1350" b="0" i="0">
                <a:solidFill>
                  <a:srgbClr val="4A5568"/>
                </a:solidFill>
                <a:latin typeface="Calibri"/>
                <a:ea typeface="Calibri"/>
              </a:rPr>
              <a:t>The box shrinks on a narrow screen instead of forcing a scrollbar.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Compare the two</a:t>
            </a:r>
            <a:br/>
            <a:r>
              <a:rPr sz="1350" b="0" i="0">
                <a:solidFill>
                  <a:srgbClr val="4A5568"/>
                </a:solidFill>
                <a:latin typeface="Calibri"/>
                <a:ea typeface="Calibri"/>
              </a:rPr>
              <a:t>ex1 is a fixed 500px; ex2 is the same box with a 500px ceiling.</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div {</a:t>
            </a:r>
          </a:p>
          <a:p>
            <a:pPr>
              <a:spcAft>
                <a:spcPts val="350"/>
              </a:spcAft>
            </a:pPr>
            <a:r>
              <a:rPr sz="1300" b="0" i="0">
                <a:solidFill>
                  <a:srgbClr val="98C379"/>
                </a:solidFill>
                <a:latin typeface="Consolas"/>
                <a:ea typeface="Consolas"/>
              </a:rPr>
              <a:t>  height: 200px;</a:t>
            </a:r>
          </a:p>
          <a:p>
            <a:pPr>
              <a:spcAft>
                <a:spcPts val="350"/>
              </a:spcAft>
            </a:pPr>
            <a:r>
              <a:rPr sz="1300" b="0" i="0">
                <a:solidFill>
                  <a:srgbClr val="98C379"/>
                </a:solidFill>
                <a:latin typeface="Consolas"/>
                <a:ea typeface="Consolas"/>
              </a:rPr>
              <a:t>  width: 50%;</a:t>
            </a:r>
          </a:p>
          <a:p>
            <a:pPr>
              <a:spcAft>
                <a:spcPts val="350"/>
              </a:spcAft>
            </a:pPr>
            <a:r>
              <a:rPr sz="1300" b="0" i="0">
                <a:solidFill>
                  <a:srgbClr val="E5C07B"/>
                </a:solidFill>
                <a:latin typeface="Consolas"/>
                <a:ea typeface="Consolas"/>
              </a:rPr>
              <a:t>  background-color: powderblue;</a:t>
            </a:r>
          </a:p>
          <a:p>
            <a:pPr>
              <a:spcAft>
                <a:spcPts val="350"/>
              </a:spcAft>
            </a:pPr>
            <a:r>
              <a:rPr sz="1300" b="0" i="0">
                <a:solidFill>
                  <a:srgbClr val="61AFEF"/>
                </a:solidFill>
                <a:latin typeface="Consolas"/>
                <a:ea typeface="Consolas"/>
              </a:rPr>
              <a:t>}</a:t>
            </a:r>
          </a:p>
          <a:p>
            <a:pPr>
              <a:spcAft>
                <a:spcPts val="350"/>
              </a:spcAft>
            </a:pPr>
            <a:endParaRPr sz="1300" b="0" i="0">
              <a:solidFill>
                <a:srgbClr val="61AFEF"/>
              </a:solidFill>
              <a:latin typeface="Consolas"/>
              <a:ea typeface="Consolas"/>
            </a:endParaRPr>
          </a:p>
          <a:p>
            <a:pPr>
              <a:spcAft>
                <a:spcPts val="350"/>
              </a:spcAft>
            </a:pPr>
            <a:r>
              <a:rPr sz="1300" b="0" i="0">
                <a:solidFill>
                  <a:srgbClr val="98C379"/>
                </a:solidFill>
                <a:latin typeface="Consolas"/>
                <a:ea typeface="Consolas"/>
              </a:rPr>
              <a:t>div.ex2 { max-width: 500px;</a:t>
            </a:r>
          </a:p>
          <a:p>
            <a:pPr>
              <a:spcAft>
                <a:spcPts val="350"/>
              </a:spcAft>
            </a:pPr>
            <a:r>
              <a:rPr sz="1300" b="0" i="0">
                <a:solidFill>
                  <a:srgbClr val="98C379"/>
                </a:solidFill>
                <a:latin typeface="Consolas"/>
                <a:ea typeface="Consolas"/>
              </a:rPr>
              <a:t>           margin: auto;</a:t>
            </a:r>
          </a:p>
          <a:p>
            <a:pPr>
              <a:spcAft>
                <a:spcPts val="350"/>
              </a:spcAft>
            </a:pPr>
            <a:r>
              <a:rPr sz="1300" b="0" i="0">
                <a:solidFill>
                  <a:srgbClr val="98C379"/>
                </a:solidFill>
                <a:latin typeface="Consolas"/>
                <a:ea typeface="Consolas"/>
              </a:rPr>
              <a:t>           border: 3px solid #73AD21;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editor.html?example=css-layout/width-height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max-width beats width whenever the two disagree — that is what keeps a layout from overflowing.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box-sizing — What a Size Means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Rounded Rectangle 4"/>
          <p:cNvSpPr/>
          <p:nvPr/>
        </p:nvSpPr>
        <p:spPr>
          <a:xfrm>
            <a:off x="548640" y="932688"/>
            <a:ext cx="5364327" cy="3163824"/>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152144"/>
            <a:ext cx="4779111" cy="457200"/>
          </a:xfrm>
          <a:prstGeom prst="rect">
            <a:avLst/>
          </a:prstGeom>
          <a:noFill/>
        </p:spPr>
        <p:txBody>
          <a:bodyPr wrap="square" lIns="0" tIns="0" rIns="0" bIns="0" anchor="t">
            <a:spAutoFit/>
          </a:bodyPr>
          <a:lstStyle/>
          <a:p>
            <a:pPr algn="l">
              <a:lnSpc>
                <a:spcPct val="110000"/>
              </a:lnSpc>
              <a:spcAft>
                <a:spcPts val="400"/>
              </a:spcAft>
            </a:pPr>
            <a:r>
              <a:rPr sz="2000" b="1" i="0">
                <a:solidFill>
                  <a:srgbClr val="0E3F8C"/>
                </a:solidFill>
                <a:latin typeface="Calibri"/>
                <a:ea typeface="Calibri"/>
              </a:rPr>
              <a:t>content-box (default)</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892808"/>
            <a:ext cx="4779111" cy="2020824"/>
          </a:xfrm>
          <a:prstGeom prst="rect">
            <a:avLst/>
          </a:prstGeom>
          <a:noFill/>
        </p:spPr>
        <p:txBody>
          <a:bodyPr wrap="square" lIns="0" tIns="0" r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Size = the content area</a:t>
            </a:r>
            <a:br/>
            <a:r>
              <a:rPr sz="1400" b="0" i="0">
                <a:solidFill>
                  <a:srgbClr val="4A5568"/>
                </a:solidFill>
                <a:latin typeface="Calibri"/>
                <a:ea typeface="Calibri"/>
              </a:rPr>
              <a:t>Padding and the edge are added on top.</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The box grows</a:t>
            </a:r>
            <a:br/>
            <a:r>
              <a:rPr sz="1400" b="0" i="0">
                <a:solidFill>
                  <a:srgbClr val="4A5568"/>
                </a:solidFill>
                <a:latin typeface="Calibri"/>
                <a:ea typeface="Calibri"/>
              </a:rPr>
              <a:t>A declared 240px plus 20px of padding and 6px of edge is 292px wide.</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Arithmetic every time</a:t>
            </a:r>
            <a:br/>
            <a:r>
              <a:rPr sz="1400" b="0" i="0">
                <a:solidFill>
                  <a:srgbClr val="4A5568"/>
                </a:solidFill>
                <a:latin typeface="Calibri"/>
                <a:ea typeface="Calibri"/>
              </a:rPr>
              <a:t>You subtract before you can hit a size.</a:t>
            </a:r>
          </a:p>
        </p:txBody>
      </p:sp>
      <p:sp>
        <p:nvSpPr>
          <p:cNvPr id="9" name="Rounded Rectangle 8"/>
          <p:cNvSpPr/>
          <p:nvPr/>
        </p:nvSpPr>
        <p:spPr>
          <a:xfrm>
            <a:off x="6278727" y="932688"/>
            <a:ext cx="5364327" cy="3163824"/>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71335" y="1152144"/>
            <a:ext cx="4779111" cy="457200"/>
          </a:xfrm>
          <a:prstGeom prst="rect">
            <a:avLst/>
          </a:prstGeom>
          <a:noFill/>
        </p:spPr>
        <p:txBody>
          <a:bodyPr wrap="square" lIns="0" tIns="0" rIns="0" bIns="0" anchor="t">
            <a:spAutoFit/>
          </a:bodyPr>
          <a:lstStyle/>
          <a:p>
            <a:pPr algn="l">
              <a:lnSpc>
                <a:spcPct val="110000"/>
              </a:lnSpc>
              <a:spcAft>
                <a:spcPts val="400"/>
              </a:spcAft>
            </a:pPr>
            <a:r>
              <a:rPr sz="2000" b="1" i="0">
                <a:solidFill>
                  <a:srgbClr val="0E3F8C"/>
                </a:solidFill>
                <a:latin typeface="Calibri"/>
                <a:ea typeface="Calibri"/>
              </a:rPr>
              <a:t>border-box</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71335" y="1892808"/>
            <a:ext cx="4779111" cy="2020824"/>
          </a:xfrm>
          <a:prstGeom prst="rect">
            <a:avLst/>
          </a:prstGeom>
          <a:noFill/>
        </p:spPr>
        <p:txBody>
          <a:bodyPr wrap="square" lIns="0" tIns="0" r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Size = the whole box</a:t>
            </a:r>
            <a:br/>
            <a:r>
              <a:rPr sz="1400" b="0" i="0">
                <a:solidFill>
                  <a:srgbClr val="4A5568"/>
                </a:solidFill>
                <a:latin typeface="Calibri"/>
                <a:ea typeface="Calibri"/>
              </a:rPr>
              <a:t>Content, padding and edge all fit inside.</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It stays put</a:t>
            </a:r>
            <a:br/>
            <a:r>
              <a:rPr sz="1400" b="0" i="0">
                <a:solidFill>
                  <a:srgbClr val="4A5568"/>
                </a:solidFill>
                <a:latin typeface="Calibri"/>
                <a:ea typeface="Calibri"/>
              </a:rPr>
              <a:t>A declared 240px is 240px, whatever you add to it.</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Set it once</a:t>
            </a:r>
            <a:br/>
            <a:r>
              <a:rPr sz="1400" b="0" i="0">
                <a:solidFill>
                  <a:srgbClr val="4A5568"/>
                </a:solidFill>
                <a:latin typeface="Calibri"/>
                <a:ea typeface="Calibri"/>
              </a:rPr>
              <a:t>* { box-sizing: border-box; } — most projects start here.</a:t>
            </a:r>
          </a:p>
        </p:txBody>
      </p:sp>
      <p:sp>
        <p:nvSpPr>
          <p:cNvPr id="13" name="Rounded Rectangle 12"/>
          <p:cNvSpPr/>
          <p:nvPr/>
        </p:nvSpPr>
        <p:spPr>
          <a:xfrm>
            <a:off x="548640" y="4206240"/>
            <a:ext cx="11094415" cy="128016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4297679"/>
            <a:ext cx="10472623" cy="237744"/>
          </a:xfrm>
          <a:prstGeom prst="rect">
            <a:avLst/>
          </a:prstGeom>
          <a:noFill/>
        </p:spPr>
        <p:txBody>
          <a:bodyPr wrap="square" lIns="0" tIns="0" rIns="0" bIns="0" anchor="t">
            <a:spAutoFit/>
          </a:bodyPr>
          <a:lstStyle/>
          <a:p>
            <a:pPr algn="l">
              <a:lnSpc>
                <a:spcPct val="110000"/>
              </a:lnSpc>
              <a:spcAft>
                <a:spcPts val="400"/>
              </a:spcAft>
            </a:pPr>
            <a:r>
              <a:rPr sz="1150" b="1" i="0">
                <a:solidFill>
                  <a:srgbClr val="0E3F8C"/>
                </a:solidFill>
                <a:latin typeface="Calibri"/>
                <a:ea typeface="Calibri"/>
              </a:rPr>
              <a:t>The whole box, counted   </a:t>
            </a:r>
            <a:r>
              <a:rPr sz="1100" b="0" i="0">
                <a:solidFill>
                  <a:srgbClr val="4A5568"/>
                </a:solidFill>
                <a:latin typeface="Calibri"/>
                <a:ea typeface="Calibri"/>
              </a:rPr>
              <a:t>width 240px · padding 20px · border 6px · margin 24px</a:t>
            </a:r>
          </a:p>
        </p:txBody>
      </p:sp>
      <p:sp>
        <p:nvSpPr>
          <p:cNvPr id="15" name="TextBox 14"/>
          <p:cNvSpPr txBox="1"/>
          <p:nvPr/>
        </p:nvSpPr>
        <p:spPr>
          <a:xfrm>
            <a:off x="859536" y="4572000"/>
            <a:ext cx="10472623" cy="210312"/>
          </a:xfrm>
          <a:prstGeom prst="rect">
            <a:avLst/>
          </a:prstGeom>
          <a:noFill/>
        </p:spPr>
        <p:txBody>
          <a:bodyPr wrap="none" lIns="0" tIns="0" rIns="0" bIns="0" anchor="t">
            <a:spAutoFit/>
          </a:bodyPr>
          <a:lstStyle/>
          <a:p>
            <a:pPr algn="l">
              <a:lnSpc>
                <a:spcPct val="110000"/>
              </a:lnSpc>
              <a:spcAft>
                <a:spcPts val="400"/>
              </a:spcAft>
            </a:pPr>
            <a:r>
              <a:rPr sz="1200" b="0" i="0">
                <a:solidFill>
                  <a:srgbClr val="98C379"/>
                </a:solidFill>
                <a:latin typeface="Consolas"/>
                <a:ea typeface="Consolas"/>
              </a:rPr>
              <a:t>total width  = width  + left/right padding + left/right border + left/right margin</a:t>
            </a:r>
          </a:p>
        </p:txBody>
      </p:sp>
      <p:sp>
        <p:nvSpPr>
          <p:cNvPr id="16" name="TextBox 15"/>
          <p:cNvSpPr txBox="1"/>
          <p:nvPr/>
        </p:nvSpPr>
        <p:spPr>
          <a:xfrm>
            <a:off x="859536" y="4782312"/>
            <a:ext cx="10472623" cy="210312"/>
          </a:xfrm>
          <a:prstGeom prst="rect">
            <a:avLst/>
          </a:prstGeom>
          <a:noFill/>
        </p:spPr>
        <p:txBody>
          <a:bodyPr wrap="none" lIns="0" tIns="0" rIns="0" bIns="0" anchor="t">
            <a:spAutoFit/>
          </a:bodyPr>
          <a:lstStyle/>
          <a:p>
            <a:pPr algn="l">
              <a:lnSpc>
                <a:spcPct val="110000"/>
              </a:lnSpc>
              <a:spcAft>
                <a:spcPts val="400"/>
              </a:spcAft>
            </a:pPr>
            <a:r>
              <a:rPr sz="1200" b="0" i="0">
                <a:solidFill>
                  <a:srgbClr val="98C379"/>
                </a:solidFill>
                <a:latin typeface="Consolas"/>
                <a:ea typeface="Consolas"/>
              </a:rPr>
              <a:t>total height = height + top/bottom padding + top/bottom border + top/bottom margin</a:t>
            </a:r>
          </a:p>
        </p:txBody>
      </p:sp>
      <p:sp>
        <p:nvSpPr>
          <p:cNvPr id="17" name="TextBox 16"/>
          <p:cNvSpPr txBox="1"/>
          <p:nvPr/>
        </p:nvSpPr>
        <p:spPr>
          <a:xfrm>
            <a:off x="859536" y="4992624"/>
            <a:ext cx="10472623" cy="210312"/>
          </a:xfrm>
          <a:prstGeom prst="rect">
            <a:avLst/>
          </a:prstGeom>
          <a:noFill/>
        </p:spPr>
        <p:txBody>
          <a:bodyPr wrap="none" lIns="0" tIns="0" rIns="0" bIns="0" anchor="t">
            <a:spAutoFit/>
          </a:bodyPr>
          <a:lstStyle/>
          <a:p>
            <a:pPr algn="l">
              <a:lnSpc>
                <a:spcPct val="110000"/>
              </a:lnSpc>
              <a:spcAft>
                <a:spcPts val="400"/>
              </a:spcAft>
            </a:pPr>
            <a:r>
              <a:rPr sz="1200" b="0" i="0">
                <a:solidFill>
                  <a:srgbClr val="1A2230"/>
                </a:solidFill>
                <a:latin typeface="Consolas"/>
                <a:ea typeface="Consolas"/>
              </a:rPr>
              <a:t>content-box   240 + 40 + 12 = 292px  the box   + 48px margin = 340px on the page</a:t>
            </a:r>
          </a:p>
        </p:txBody>
      </p:sp>
      <p:sp>
        <p:nvSpPr>
          <p:cNvPr id="18" name="TextBox 17"/>
          <p:cNvSpPr txBox="1"/>
          <p:nvPr/>
        </p:nvSpPr>
        <p:spPr>
          <a:xfrm>
            <a:off x="859536" y="5202936"/>
            <a:ext cx="10472623" cy="210312"/>
          </a:xfrm>
          <a:prstGeom prst="rect">
            <a:avLst/>
          </a:prstGeom>
          <a:noFill/>
        </p:spPr>
        <p:txBody>
          <a:bodyPr wrap="none" lIns="0" tIns="0" rIns="0" bIns="0" anchor="t">
            <a:spAutoFit/>
          </a:bodyPr>
          <a:lstStyle/>
          <a:p>
            <a:pPr algn="l">
              <a:lnSpc>
                <a:spcPct val="110000"/>
              </a:lnSpc>
              <a:spcAft>
                <a:spcPts val="400"/>
              </a:spcAft>
            </a:pPr>
            <a:r>
              <a:rPr sz="1200" b="0" i="0">
                <a:solidFill>
                  <a:srgbClr val="1A2230"/>
                </a:solidFill>
                <a:latin typeface="Consolas"/>
                <a:ea typeface="Consolas"/>
              </a:rPr>
              <a:t>border-box    240             = 240px  the box   + 48px margin = 288px on the page</a:t>
            </a:r>
          </a:p>
        </p:txBody>
      </p:sp>
      <p:sp>
        <p:nvSpPr>
          <p:cNvPr id="19" name="Rounded Rectangle 18"/>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961888"/>
            <a:ext cx="10362895" cy="310896"/>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This is the fix for the arithmetic the box model used to force on everyone.   </a:t>
            </a:r>
            <a:r>
              <a:rPr sz="1300" b="1" i="0">
                <a:solidFill>
                  <a:srgbClr val="B9CDEE"/>
                </a:solidFill>
                <a:latin typeface="Calibri"/>
                <a:ea typeface="Calibri"/>
              </a:rPr>
              <a:t>open in editor → </a:t>
            </a:r>
            <a:r>
              <a:rPr sz="1300" b="1" i="0">
                <a:solidFill>
                  <a:srgbClr val="FFFFFF"/>
                </a:solidFill>
                <a:latin typeface="Calibri"/>
                <a:ea typeface="Calibri"/>
                <a:hlinkClick r:id="rId2"/>
                <a:extLst>
                  <a:ext uri="{A12FA001-AC4F-418D-AE19-62706E023703}">
                    <ahyp:hlinkClr xmlns:ahyp="http://schemas.microsoft.com/office/drawing/2018/hyperlinkcolor" xmlns="" val="tx"/>
                  </a:ext>
                </a:extLst>
              </a:rPr>
              <a:t>editor.html?example=css-layout/box-sizing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Background — the Properties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94360" y="978408"/>
            <a:ext cx="11002975" cy="274320"/>
          </a:xfrm>
          <a:prstGeom prst="rect">
            <a:avLst/>
          </a:prstGeom>
          <a:noFill/>
        </p:spPr>
        <p:txBody>
          <a:bodyPr wrap="square" lIns="0" tIns="0" rIns="0" bIns="0" anchor="t">
            <a:spAutoFit/>
          </a:bodyPr>
          <a:lstStyle/>
          <a:p>
            <a:pPr algn="l">
              <a:lnSpc>
                <a:spcPct val="110000"/>
              </a:lnSpc>
              <a:spcAft>
                <a:spcPts val="400"/>
              </a:spcAft>
            </a:pPr>
            <a:r>
              <a:rPr sz="1300" b="0" i="0">
                <a:solidFill>
                  <a:srgbClr val="4A5568"/>
                </a:solidFill>
                <a:latin typeface="Calibri"/>
                <a:ea typeface="Calibri"/>
              </a:rPr>
              <a:t>The CSS background properties are used to define the background effects for elements.</a:t>
            </a:r>
          </a:p>
        </p:txBody>
      </p:sp>
      <p:sp>
        <p:nvSpPr>
          <p:cNvPr id="6" name="Rounded Rectangle 5"/>
          <p:cNvSpPr/>
          <p:nvPr/>
        </p:nvSpPr>
        <p:spPr>
          <a:xfrm>
            <a:off x="548640" y="1380744"/>
            <a:ext cx="11094415" cy="566928"/>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86384" y="1554480"/>
            <a:ext cx="41148" cy="21945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0976" y="1426464"/>
            <a:ext cx="2423160"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0E3F8C"/>
                </a:solidFill>
                <a:latin typeface="Consolas"/>
                <a:ea typeface="Consolas"/>
              </a:rPr>
              <a:t>background</a:t>
            </a:r>
          </a:p>
        </p:txBody>
      </p:sp>
      <p:sp>
        <p:nvSpPr>
          <p:cNvPr id="9" name="TextBox 8"/>
          <p:cNvSpPr txBox="1"/>
          <p:nvPr/>
        </p:nvSpPr>
        <p:spPr>
          <a:xfrm>
            <a:off x="3831335" y="1426464"/>
            <a:ext cx="7436815" cy="475488"/>
          </a:xfrm>
          <a:prstGeom prst="rect">
            <a:avLst/>
          </a:prstGeom>
          <a:noFill/>
        </p:spPr>
        <p:txBody>
          <a:bodyPr wrap="square" lIns="0" tIns="0" rIns="0" bIns="0" anchor="ctr">
            <a:spAutoFit/>
          </a:bodyPr>
          <a:lstStyle/>
          <a:p>
            <a:pPr algn="l">
              <a:lnSpc>
                <a:spcPct val="105000"/>
              </a:lnSpc>
              <a:spcAft>
                <a:spcPts val="0"/>
              </a:spcAft>
            </a:pPr>
            <a:r>
              <a:rPr sz="1250" b="0" i="0">
                <a:solidFill>
                  <a:srgbClr val="4A5568"/>
                </a:solidFill>
                <a:latin typeface="Calibri"/>
                <a:ea typeface="Calibri"/>
              </a:rPr>
              <a:t>Sets all the background properties in one declaration</a:t>
            </a:r>
          </a:p>
        </p:txBody>
      </p:sp>
      <p:sp>
        <p:nvSpPr>
          <p:cNvPr id="10" name="Rectangle 9"/>
          <p:cNvSpPr/>
          <p:nvPr/>
        </p:nvSpPr>
        <p:spPr>
          <a:xfrm>
            <a:off x="786384" y="2231136"/>
            <a:ext cx="41148" cy="21945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0976" y="2103120"/>
            <a:ext cx="2423160"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0E3F8C"/>
                </a:solidFill>
                <a:latin typeface="Consolas"/>
                <a:ea typeface="Consolas"/>
              </a:rPr>
              <a:t>background-attachment</a:t>
            </a:r>
          </a:p>
        </p:txBody>
      </p:sp>
      <p:sp>
        <p:nvSpPr>
          <p:cNvPr id="12" name="TextBox 11"/>
          <p:cNvSpPr txBox="1"/>
          <p:nvPr/>
        </p:nvSpPr>
        <p:spPr>
          <a:xfrm>
            <a:off x="3831335" y="2103120"/>
            <a:ext cx="7436815" cy="475488"/>
          </a:xfrm>
          <a:prstGeom prst="rect">
            <a:avLst/>
          </a:prstGeom>
          <a:noFill/>
        </p:spPr>
        <p:txBody>
          <a:bodyPr wrap="square" lIns="0" tIns="0" rIns="0" bIns="0" anchor="ctr">
            <a:spAutoFit/>
          </a:bodyPr>
          <a:lstStyle/>
          <a:p>
            <a:pPr algn="l">
              <a:lnSpc>
                <a:spcPct val="105000"/>
              </a:lnSpc>
              <a:spcAft>
                <a:spcPts val="0"/>
              </a:spcAft>
            </a:pPr>
            <a:r>
              <a:rPr sz="1250" b="0" i="0">
                <a:solidFill>
                  <a:srgbClr val="4A5568"/>
                </a:solidFill>
                <a:latin typeface="Calibri"/>
                <a:ea typeface="Calibri"/>
              </a:rPr>
              <a:t>Sets whether a background image is fixed or scrolls with the rest of the page</a:t>
            </a:r>
          </a:p>
        </p:txBody>
      </p:sp>
      <p:sp>
        <p:nvSpPr>
          <p:cNvPr id="13" name="Rounded Rectangle 12"/>
          <p:cNvSpPr/>
          <p:nvPr/>
        </p:nvSpPr>
        <p:spPr>
          <a:xfrm>
            <a:off x="548640" y="2734056"/>
            <a:ext cx="11094415" cy="566928"/>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86384" y="2907792"/>
            <a:ext cx="41148" cy="21945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0976" y="2779776"/>
            <a:ext cx="2423160"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0E3F8C"/>
                </a:solidFill>
                <a:latin typeface="Consolas"/>
                <a:ea typeface="Consolas"/>
              </a:rPr>
              <a:t>background-color</a:t>
            </a:r>
          </a:p>
        </p:txBody>
      </p:sp>
      <p:sp>
        <p:nvSpPr>
          <p:cNvPr id="16" name="TextBox 15"/>
          <p:cNvSpPr txBox="1"/>
          <p:nvPr/>
        </p:nvSpPr>
        <p:spPr>
          <a:xfrm>
            <a:off x="3831335" y="2779776"/>
            <a:ext cx="7436815" cy="475488"/>
          </a:xfrm>
          <a:prstGeom prst="rect">
            <a:avLst/>
          </a:prstGeom>
          <a:noFill/>
        </p:spPr>
        <p:txBody>
          <a:bodyPr wrap="square" lIns="0" tIns="0" rIns="0" bIns="0" anchor="ctr">
            <a:spAutoFit/>
          </a:bodyPr>
          <a:lstStyle/>
          <a:p>
            <a:pPr algn="l">
              <a:lnSpc>
                <a:spcPct val="105000"/>
              </a:lnSpc>
              <a:spcAft>
                <a:spcPts val="0"/>
              </a:spcAft>
            </a:pPr>
            <a:r>
              <a:rPr sz="1250" b="0" i="0">
                <a:solidFill>
                  <a:srgbClr val="4A5568"/>
                </a:solidFill>
                <a:latin typeface="Calibri"/>
                <a:ea typeface="Calibri"/>
              </a:rPr>
              <a:t>Sets the background color of an element</a:t>
            </a:r>
          </a:p>
        </p:txBody>
      </p:sp>
      <p:sp>
        <p:nvSpPr>
          <p:cNvPr id="17" name="Rectangle 16"/>
          <p:cNvSpPr/>
          <p:nvPr/>
        </p:nvSpPr>
        <p:spPr>
          <a:xfrm>
            <a:off x="786384" y="3584447"/>
            <a:ext cx="41148" cy="21945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 y="3456431"/>
            <a:ext cx="2423160"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0E3F8C"/>
                </a:solidFill>
                <a:latin typeface="Consolas"/>
                <a:ea typeface="Consolas"/>
              </a:rPr>
              <a:t>background-image</a:t>
            </a:r>
          </a:p>
        </p:txBody>
      </p:sp>
      <p:sp>
        <p:nvSpPr>
          <p:cNvPr id="19" name="TextBox 18"/>
          <p:cNvSpPr txBox="1"/>
          <p:nvPr/>
        </p:nvSpPr>
        <p:spPr>
          <a:xfrm>
            <a:off x="3831335" y="3456431"/>
            <a:ext cx="7436815" cy="475488"/>
          </a:xfrm>
          <a:prstGeom prst="rect">
            <a:avLst/>
          </a:prstGeom>
          <a:noFill/>
        </p:spPr>
        <p:txBody>
          <a:bodyPr wrap="square" lIns="0" tIns="0" rIns="0" bIns="0" anchor="ctr">
            <a:spAutoFit/>
          </a:bodyPr>
          <a:lstStyle/>
          <a:p>
            <a:pPr algn="l">
              <a:lnSpc>
                <a:spcPct val="105000"/>
              </a:lnSpc>
              <a:spcAft>
                <a:spcPts val="0"/>
              </a:spcAft>
            </a:pPr>
            <a:r>
              <a:rPr sz="1250" b="0" i="0">
                <a:solidFill>
                  <a:srgbClr val="4A5568"/>
                </a:solidFill>
                <a:latin typeface="Calibri"/>
                <a:ea typeface="Calibri"/>
              </a:rPr>
              <a:t>Sets the background image for an element</a:t>
            </a:r>
          </a:p>
        </p:txBody>
      </p:sp>
      <p:sp>
        <p:nvSpPr>
          <p:cNvPr id="20" name="Rounded Rectangle 19"/>
          <p:cNvSpPr/>
          <p:nvPr/>
        </p:nvSpPr>
        <p:spPr>
          <a:xfrm>
            <a:off x="548640" y="4087368"/>
            <a:ext cx="11094415" cy="566928"/>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86384" y="4261103"/>
            <a:ext cx="41148" cy="21945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0976" y="4133087"/>
            <a:ext cx="2423160"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0E3F8C"/>
                </a:solidFill>
                <a:latin typeface="Consolas"/>
                <a:ea typeface="Consolas"/>
              </a:rPr>
              <a:t>background-position</a:t>
            </a:r>
          </a:p>
        </p:txBody>
      </p:sp>
      <p:sp>
        <p:nvSpPr>
          <p:cNvPr id="23" name="TextBox 22"/>
          <p:cNvSpPr txBox="1"/>
          <p:nvPr/>
        </p:nvSpPr>
        <p:spPr>
          <a:xfrm>
            <a:off x="3831335" y="4133087"/>
            <a:ext cx="7436815" cy="475488"/>
          </a:xfrm>
          <a:prstGeom prst="rect">
            <a:avLst/>
          </a:prstGeom>
          <a:noFill/>
        </p:spPr>
        <p:txBody>
          <a:bodyPr wrap="square" lIns="0" tIns="0" rIns="0" bIns="0" anchor="ctr">
            <a:spAutoFit/>
          </a:bodyPr>
          <a:lstStyle/>
          <a:p>
            <a:pPr algn="l">
              <a:lnSpc>
                <a:spcPct val="105000"/>
              </a:lnSpc>
              <a:spcAft>
                <a:spcPts val="0"/>
              </a:spcAft>
            </a:pPr>
            <a:r>
              <a:rPr sz="1250" b="0" i="0">
                <a:solidFill>
                  <a:srgbClr val="4A5568"/>
                </a:solidFill>
                <a:latin typeface="Calibri"/>
                <a:ea typeface="Calibri"/>
              </a:rPr>
              <a:t>Sets the starting position of a background image</a:t>
            </a:r>
          </a:p>
        </p:txBody>
      </p:sp>
      <p:sp>
        <p:nvSpPr>
          <p:cNvPr id="24" name="Rectangle 23"/>
          <p:cNvSpPr/>
          <p:nvPr/>
        </p:nvSpPr>
        <p:spPr>
          <a:xfrm>
            <a:off x="786384" y="4937759"/>
            <a:ext cx="41148" cy="21945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50976" y="4809744"/>
            <a:ext cx="2423160"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0E3F8C"/>
                </a:solidFill>
                <a:latin typeface="Consolas"/>
                <a:ea typeface="Consolas"/>
              </a:rPr>
              <a:t>background-repeat</a:t>
            </a:r>
          </a:p>
        </p:txBody>
      </p:sp>
      <p:sp>
        <p:nvSpPr>
          <p:cNvPr id="26" name="TextBox 25"/>
          <p:cNvSpPr txBox="1"/>
          <p:nvPr/>
        </p:nvSpPr>
        <p:spPr>
          <a:xfrm>
            <a:off x="3831335" y="4809744"/>
            <a:ext cx="7436815" cy="475488"/>
          </a:xfrm>
          <a:prstGeom prst="rect">
            <a:avLst/>
          </a:prstGeom>
          <a:noFill/>
        </p:spPr>
        <p:txBody>
          <a:bodyPr wrap="square" lIns="0" tIns="0" rIns="0" bIns="0" anchor="ctr">
            <a:spAutoFit/>
          </a:bodyPr>
          <a:lstStyle/>
          <a:p>
            <a:pPr algn="l">
              <a:lnSpc>
                <a:spcPct val="105000"/>
              </a:lnSpc>
              <a:spcAft>
                <a:spcPts val="0"/>
              </a:spcAft>
            </a:pPr>
            <a:r>
              <a:rPr sz="1250" b="0" i="0">
                <a:solidFill>
                  <a:srgbClr val="4A5568"/>
                </a:solidFill>
                <a:latin typeface="Calibri"/>
                <a:ea typeface="Calibri"/>
              </a:rPr>
              <a:t>Sets how a background image will be repeated</a:t>
            </a:r>
          </a:p>
        </p:txBody>
      </p:sp>
      <p:sp>
        <p:nvSpPr>
          <p:cNvPr id="27" name="Rounded Rectangle 26"/>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one line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editor.html?example=css-layout/background-shorthand</a:t>
            </a:r>
          </a:p>
        </p:txBody>
      </p:sp>
      <p:sp>
        <p:nvSpPr>
          <p:cNvPr id="29" name="TextBox 28"/>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body { background: #ffffff url("img_tree.png") no-repeat right top;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background-color</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property, any element</a:t>
            </a:r>
            <a:br/>
            <a:r>
              <a:rPr sz="1350" b="0" i="0">
                <a:solidFill>
                  <a:srgbClr val="4A5568"/>
                </a:solidFill>
                <a:latin typeface="Calibri"/>
                <a:ea typeface="Calibri"/>
              </a:rPr>
              <a:t>The colour is painted behind the content and the padding of whatever the selector matches.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Nothing in the markup</a:t>
            </a:r>
            <a:br/>
            <a:r>
              <a:rPr sz="1350" b="0" i="0">
                <a:solidFill>
                  <a:srgbClr val="4A5568"/>
                </a:solidFill>
                <a:latin typeface="Calibri"/>
                <a:ea typeface="Calibri"/>
              </a:rPr>
              <a:t>Not one attribute changes in the HTML — the colour arrives from the </a:t>
            </a:r>
            <a:r>
              <a:rPr sz="1350" b="0" i="0">
                <a:solidFill>
                  <a:srgbClr val="B8860B"/>
                </a:solidFill>
                <a:latin typeface="Consolas"/>
                <a:ea typeface="Consolas"/>
              </a:rPr>
              <a:t>style</a:t>
            </a:r>
            <a:r>
              <a:rPr sz="1350" b="0" i="0">
                <a:solidFill>
                  <a:srgbClr val="4A5568"/>
                </a:solidFill>
                <a:latin typeface="Calibri"/>
                <a:ea typeface="Calibri"/>
              </a:rPr>
              <a:t> sheet alone.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h1 {</a:t>
            </a:r>
          </a:p>
          <a:p>
            <a:pPr>
              <a:spcAft>
                <a:spcPts val="350"/>
              </a:spcAft>
            </a:pPr>
            <a:r>
              <a:rPr sz="1300" b="0" i="0">
                <a:solidFill>
                  <a:srgbClr val="98C379"/>
                </a:solidFill>
                <a:latin typeface="Consolas"/>
                <a:ea typeface="Consolas"/>
              </a:rPr>
              <a:t>  background-color: green;</a:t>
            </a:r>
          </a:p>
          <a:p>
            <a:pPr>
              <a:spcAft>
                <a:spcPts val="350"/>
              </a:spcAft>
            </a:pPr>
            <a:r>
              <a:rPr sz="1300" b="0" i="0">
                <a:solidFill>
                  <a:srgbClr val="61AFEF"/>
                </a:solidFill>
                <a:latin typeface="Consolas"/>
                <a:ea typeface="Consolas"/>
              </a:rPr>
              <a:t>}</a:t>
            </a:r>
          </a:p>
          <a:p>
            <a:pPr>
              <a:spcAft>
                <a:spcPts val="350"/>
              </a:spcAft>
            </a:pPr>
            <a:r>
              <a:rPr sz="1300" b="0" i="0">
                <a:solidFill>
                  <a:srgbClr val="61AFEF"/>
                </a:solidFill>
                <a:latin typeface="Consolas"/>
                <a:ea typeface="Consolas"/>
              </a:rPr>
              <a:t>div {</a:t>
            </a:r>
          </a:p>
          <a:p>
            <a:pPr>
              <a:spcAft>
                <a:spcPts val="350"/>
              </a:spcAft>
            </a:pPr>
            <a:r>
              <a:rPr sz="1300" b="0" i="0">
                <a:solidFill>
                  <a:srgbClr val="98C379"/>
                </a:solidFill>
                <a:latin typeface="Consolas"/>
                <a:ea typeface="Consolas"/>
              </a:rPr>
              <a:t>  background-color: lightblue;</a:t>
            </a:r>
          </a:p>
          <a:p>
            <a:pPr>
              <a:spcAft>
                <a:spcPts val="350"/>
              </a:spcAft>
            </a:pPr>
            <a:r>
              <a:rPr sz="1300" b="0" i="0">
                <a:solidFill>
                  <a:srgbClr val="61AFEF"/>
                </a:solidFill>
                <a:latin typeface="Consolas"/>
                <a:ea typeface="Consolas"/>
              </a:rPr>
              <a:t>}</a:t>
            </a:r>
          </a:p>
          <a:p>
            <a:pPr>
              <a:spcAft>
                <a:spcPts val="350"/>
              </a:spcAft>
            </a:pPr>
            <a:r>
              <a:rPr sz="1300" b="0" i="0">
                <a:solidFill>
                  <a:srgbClr val="61AFEF"/>
                </a:solidFill>
                <a:latin typeface="Consolas"/>
                <a:ea typeface="Consolas"/>
              </a:rPr>
              <a:t>p {</a:t>
            </a:r>
          </a:p>
          <a:p>
            <a:pPr>
              <a:spcAft>
                <a:spcPts val="350"/>
              </a:spcAft>
            </a:pPr>
            <a:r>
              <a:rPr sz="1300" b="0" i="0">
                <a:solidFill>
                  <a:srgbClr val="98C379"/>
                </a:solidFill>
                <a:latin typeface="Consolas"/>
                <a:ea typeface="Consolas"/>
              </a:rPr>
              <a:t>  background-color: yellow;</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editor.html?example=css-layout/background-color</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Three elements, three colours, one property — and they are painted in the order the boxes are met.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background-image</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 file, not a colour</a:t>
            </a:r>
            <a:br/>
            <a:r>
              <a:rPr sz="1350" b="0" i="0">
                <a:solidFill>
                  <a:srgbClr val="4A5568"/>
                </a:solidFill>
                <a:latin typeface="Calibri"/>
                <a:ea typeface="Calibri"/>
              </a:rPr>
              <a:t>url(...) loads an image; the box is painted with it instead of with a flat colour.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Repeated by default</a:t>
            </a:r>
            <a:br/>
            <a:r>
              <a:rPr sz="1350" b="0" i="0">
                <a:solidFill>
                  <a:srgbClr val="4A5568"/>
                </a:solidFill>
                <a:latin typeface="Calibri"/>
                <a:ea typeface="Calibri"/>
              </a:rPr>
              <a:t>Left alone, the image tiles in both directions, so one small file covers a whole page.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body {</a:t>
            </a:r>
          </a:p>
          <a:p>
            <a:pPr>
              <a:spcAft>
                <a:spcPts val="350"/>
              </a:spcAft>
            </a:pPr>
            <a:r>
              <a:rPr sz="1300" b="0" i="0">
                <a:solidFill>
                  <a:srgbClr val="E5C07B"/>
                </a:solidFill>
                <a:latin typeface="Consolas"/>
                <a:ea typeface="Consolas"/>
              </a:rPr>
              <a:t>  background-image: url("paper.gif");</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editor.html?example=css-layout/background-image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By default the image is repeated so it covers the entire element.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background-repeat</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Both directions is the default</a:t>
            </a:r>
            <a:br/>
            <a:r>
              <a:rPr sz="1350" b="0" i="0">
                <a:solidFill>
                  <a:srgbClr val="4A5568"/>
                </a:solidFill>
                <a:latin typeface="Calibri"/>
                <a:ea typeface="Calibri"/>
              </a:rPr>
              <a:t>Tiling up and down as well makes a tall strip out of a one-line image.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repeat-x is one line</a:t>
            </a:r>
            <a:br/>
            <a:r>
              <a:rPr sz="1350" b="0" i="0">
                <a:solidFill>
                  <a:srgbClr val="4A5568"/>
                </a:solidFill>
                <a:latin typeface="Calibri"/>
                <a:ea typeface="Calibri"/>
              </a:rPr>
              <a:t>One extra declaration turns the same file into a header band.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body {</a:t>
            </a:r>
          </a:p>
          <a:p>
            <a:pPr>
              <a:spcAft>
                <a:spcPts val="350"/>
              </a:spcAft>
            </a:pPr>
            <a:r>
              <a:rPr sz="1300" b="0" i="0">
                <a:solidFill>
                  <a:srgbClr val="E5C07B"/>
                </a:solidFill>
                <a:latin typeface="Consolas"/>
                <a:ea typeface="Consolas"/>
              </a:rPr>
              <a:t>  background-image: url("gradient_bg.png");</a:t>
            </a:r>
          </a:p>
          <a:p>
            <a:pPr>
              <a:spcAft>
                <a:spcPts val="350"/>
              </a:spcAft>
            </a:pPr>
            <a:r>
              <a:rPr sz="1300" b="0" i="0">
                <a:solidFill>
                  <a:srgbClr val="98C379"/>
                </a:solidFill>
                <a:latin typeface="Consolas"/>
                <a:ea typeface="Consolas"/>
              </a:rPr>
              <a:t>  background-repeat: repeat-x;</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editor.html?example=css-layout/background-repeat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If the image above is repeated only horizontally (background-repeat: repeat-x), the background will look better.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background-position</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Where the one copy sits</a:t>
            </a:r>
            <a:br/>
            <a:r>
              <a:rPr sz="1350" b="0" i="0">
                <a:solidFill>
                  <a:srgbClr val="4A5568"/>
                </a:solidFill>
                <a:latin typeface="Calibri"/>
                <a:ea typeface="Calibri"/>
              </a:rPr>
              <a:t>With no-repeat there is a single image, and this property says which corner of the box it is anchored to.</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Keep it off the text</a:t>
            </a:r>
            <a:br/>
            <a:r>
              <a:rPr sz="1350" b="0" i="0">
                <a:solidFill>
                  <a:srgbClr val="4A5568"/>
                </a:solidFill>
                <a:latin typeface="Calibri"/>
                <a:ea typeface="Calibri"/>
              </a:rPr>
              <a:t>The right margin is what stops the picture landing on the words.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body {</a:t>
            </a:r>
          </a:p>
          <a:p>
            <a:pPr>
              <a:spcAft>
                <a:spcPts val="350"/>
              </a:spcAft>
            </a:pPr>
            <a:r>
              <a:rPr sz="1300" b="0" i="0">
                <a:solidFill>
                  <a:srgbClr val="E5C07B"/>
                </a:solidFill>
                <a:latin typeface="Consolas"/>
                <a:ea typeface="Consolas"/>
              </a:rPr>
              <a:t>  background-image: url("img_tree.png");</a:t>
            </a:r>
          </a:p>
          <a:p>
            <a:pPr>
              <a:spcAft>
                <a:spcPts val="350"/>
              </a:spcAft>
            </a:pPr>
            <a:r>
              <a:rPr sz="1300" b="0" i="0">
                <a:solidFill>
                  <a:srgbClr val="98C379"/>
                </a:solidFill>
                <a:latin typeface="Consolas"/>
                <a:ea typeface="Consolas"/>
              </a:rPr>
              <a:t>  background-repeat: no-repeat;</a:t>
            </a:r>
          </a:p>
          <a:p>
            <a:pPr>
              <a:spcAft>
                <a:spcPts val="350"/>
              </a:spcAft>
            </a:pPr>
            <a:r>
              <a:rPr sz="1300" b="0" i="0">
                <a:solidFill>
                  <a:srgbClr val="98C379"/>
                </a:solidFill>
                <a:latin typeface="Consolas"/>
                <a:ea typeface="Consolas"/>
              </a:rPr>
              <a:t>  background-position: right top;</a:t>
            </a:r>
          </a:p>
          <a:p>
            <a:pPr>
              <a:spcAft>
                <a:spcPts val="350"/>
              </a:spcAft>
            </a:pPr>
            <a:r>
              <a:rPr sz="1300" b="0" i="0">
                <a:solidFill>
                  <a:srgbClr val="98C379"/>
                </a:solidFill>
                <a:latin typeface="Consolas"/>
                <a:ea typeface="Consolas"/>
              </a:rPr>
              <a:t>  margin-right: 200px;</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editor.html?example=css-layout/background-position</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Here the background image is only shown once — and this is the property that places it.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background-attachment</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4602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scroll or fixed, nothing else</a:t>
            </a:r>
            <a:br/>
            <a:r>
              <a:rPr sz="1350" b="0" i="0">
                <a:solidFill>
                  <a:srgbClr val="4A5568"/>
                </a:solidFill>
                <a:latin typeface="Calibri"/>
                <a:ea typeface="Calibri"/>
              </a:rPr>
              <a:t>scroll carries the image along with the page; fixed pins it to the viewport. Swap the </a:t>
            </a:r>
            <a:r>
              <a:rPr sz="1350" b="0" i="0">
                <a:solidFill>
                  <a:srgbClr val="B8860B"/>
                </a:solidFill>
                <a:latin typeface="Consolas"/>
                <a:ea typeface="Consolas"/>
              </a:rPr>
              <a:t>value</a:t>
            </a:r>
            <a:r>
              <a:rPr sz="1350" b="0" i="0">
                <a:solidFill>
                  <a:srgbClr val="4A5568"/>
                </a:solidFill>
                <a:latin typeface="Calibri"/>
                <a:ea typeface="Calibri"/>
              </a:rPr>
              <a:t> in this one line to see the difference.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page has to be long</a:t>
            </a:r>
            <a:br/>
            <a:r>
              <a:rPr sz="1350" b="0" i="0">
                <a:solidFill>
                  <a:srgbClr val="4A5568"/>
                </a:solidFill>
                <a:latin typeface="Calibri"/>
                <a:ea typeface="Calibri"/>
              </a:rPr>
              <a:t>You cannot see this on a page that fits on one screen — scroll the example.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9223" y="1133856"/>
            <a:ext cx="5257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body {</a:t>
            </a:r>
          </a:p>
          <a:p>
            <a:pPr>
              <a:spcAft>
                <a:spcPts val="350"/>
              </a:spcAft>
            </a:pPr>
            <a:r>
              <a:rPr sz="1300" b="0" i="0">
                <a:solidFill>
                  <a:srgbClr val="E5C07B"/>
                </a:solidFill>
                <a:latin typeface="Consolas"/>
                <a:ea typeface="Consolas"/>
              </a:rPr>
              <a:t>  background-image: url("img_tree.png");</a:t>
            </a:r>
          </a:p>
          <a:p>
            <a:pPr>
              <a:spcAft>
                <a:spcPts val="350"/>
              </a:spcAft>
            </a:pPr>
            <a:r>
              <a:rPr sz="1300" b="0" i="0">
                <a:solidFill>
                  <a:srgbClr val="98C379"/>
                </a:solidFill>
                <a:latin typeface="Consolas"/>
                <a:ea typeface="Consolas"/>
              </a:rPr>
              <a:t>  background-repeat: no-repeat;</a:t>
            </a:r>
          </a:p>
          <a:p>
            <a:pPr>
              <a:spcAft>
                <a:spcPts val="350"/>
              </a:spcAft>
            </a:pPr>
            <a:r>
              <a:rPr sz="1300" b="0" i="0">
                <a:solidFill>
                  <a:srgbClr val="98C379"/>
                </a:solidFill>
                <a:latin typeface="Consolas"/>
                <a:ea typeface="Consolas"/>
              </a:rPr>
              <a:t>  background-position: right top;</a:t>
            </a:r>
          </a:p>
          <a:p>
            <a:pPr>
              <a:spcAft>
                <a:spcPts val="350"/>
              </a:spcAft>
            </a:pPr>
            <a:r>
              <a:rPr sz="1300" b="0" i="0">
                <a:solidFill>
                  <a:srgbClr val="98C379"/>
                </a:solidFill>
                <a:latin typeface="Consolas"/>
                <a:ea typeface="Consolas"/>
              </a:rPr>
              <a:t>  margin-right: 200px;</a:t>
            </a:r>
          </a:p>
          <a:p>
            <a:pPr>
              <a:spcAft>
                <a:spcPts val="350"/>
              </a:spcAft>
            </a:pPr>
            <a:r>
              <a:rPr sz="1300" b="0" i="0">
                <a:solidFill>
                  <a:srgbClr val="98C379"/>
                </a:solidFill>
                <a:latin typeface="Consolas"/>
                <a:ea typeface="Consolas"/>
              </a:rPr>
              <a:t>  background-attachment: fixed;</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2647" y="4919472"/>
            <a:ext cx="5294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editor.html?example=css-layout/background-attachment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With fixed, the background image does not scroll with the rest of the page.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The background Shorthand</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78408"/>
            <a:ext cx="3459175" cy="4937760"/>
          </a:xfrm>
          <a:prstGeom prst="rect">
            <a:avLst/>
          </a:prstGeom>
          <a:noFill/>
        </p:spPr>
        <p:txBody>
          <a:bodyPr wrap="square" lIns="0" tIns="0" r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line, everything</a:t>
            </a:r>
            <a:br/>
            <a:r>
              <a:rPr sz="1350" b="0" i="0">
                <a:solidFill>
                  <a:srgbClr val="4A5568"/>
                </a:solidFill>
                <a:latin typeface="Calibri"/>
                <a:ea typeface="Calibri"/>
              </a:rPr>
              <a:t>background sets colour, image, repeat and position in a single declaration — the order the shorthand reads them in.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What you leave out is reset</a:t>
            </a:r>
            <a:br/>
            <a:r>
              <a:rPr sz="1350" b="0" i="0">
                <a:solidFill>
                  <a:srgbClr val="4A5568"/>
                </a:solidFill>
                <a:latin typeface="Calibri"/>
                <a:ea typeface="Calibri"/>
              </a:rPr>
              <a:t>Every background property the shorthand does not mention goes back to its default.</a:t>
            </a:r>
          </a:p>
        </p:txBody>
      </p:sp>
      <p:sp>
        <p:nvSpPr>
          <p:cNvPr id="6" name="Rounded Rectangle 5"/>
          <p:cNvSpPr/>
          <p:nvPr/>
        </p:nvSpPr>
        <p:spPr>
          <a:xfrm>
            <a:off x="4693615" y="978408"/>
            <a:ext cx="6949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86223" y="1133856"/>
            <a:ext cx="6400800" cy="292608"/>
          </a:xfrm>
          <a:prstGeom prst="rect">
            <a:avLst/>
          </a:prstGeom>
          <a:noFill/>
        </p:spPr>
        <p:txBody>
          <a:bodyPr wrap="square" lIns="0" tIns="0" rIns="0" bIns="0" anchor="t">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4986223" y="1463040"/>
            <a:ext cx="6364224" cy="3108960"/>
          </a:xfrm>
          <a:prstGeom prst="rect">
            <a:avLst/>
          </a:prstGeom>
          <a:noFill/>
        </p:spPr>
        <p:txBody>
          <a:bodyPr wrap="none" lIns="0" tIns="0" rIns="0" bIns="0">
            <a:spAutoFit/>
          </a:bodyPr>
          <a:lstStyle/>
          <a:p>
            <a:pPr>
              <a:spcAft>
                <a:spcPts val="350"/>
              </a:spcAft>
            </a:pPr>
            <a:r>
              <a:rPr sz="1300" b="0" i="0">
                <a:solidFill>
                  <a:srgbClr val="61AFEF"/>
                </a:solidFill>
                <a:latin typeface="Consolas"/>
                <a:ea typeface="Consolas"/>
              </a:rPr>
              <a:t>body {</a:t>
            </a:r>
          </a:p>
          <a:p>
            <a:pPr>
              <a:spcAft>
                <a:spcPts val="350"/>
              </a:spcAft>
            </a:pPr>
            <a:r>
              <a:rPr sz="1300" b="0" i="0">
                <a:solidFill>
                  <a:srgbClr val="98C379"/>
                </a:solidFill>
                <a:latin typeface="Consolas"/>
                <a:ea typeface="Consolas"/>
              </a:rPr>
              <a:t>  background: #ffffff url("img_tree.png") no-repeat right top;</a:t>
            </a:r>
          </a:p>
          <a:p>
            <a:pPr>
              <a:spcAft>
                <a:spcPts val="350"/>
              </a:spcAft>
            </a:pPr>
            <a:r>
              <a:rPr sz="1300" b="0" i="0">
                <a:solidFill>
                  <a:srgbClr val="98C379"/>
                </a:solidFill>
                <a:latin typeface="Consolas"/>
                <a:ea typeface="Consolas"/>
              </a:rPr>
              <a:t>  margin-right: 200px;</a:t>
            </a:r>
          </a:p>
          <a:p>
            <a:pPr>
              <a:spcAft>
                <a:spcPts val="350"/>
              </a:spcAft>
            </a:pPr>
            <a:r>
              <a:rPr sz="1300" b="0" i="0">
                <a:solidFill>
                  <a:srgbClr val="61AFEF"/>
                </a:solidFill>
                <a:latin typeface="Consolas"/>
                <a:ea typeface="Consolas"/>
              </a:rPr>
              <a:t>}</a:t>
            </a:r>
          </a:p>
        </p:txBody>
      </p:sp>
      <p:sp>
        <p:nvSpPr>
          <p:cNvPr id="9" name="Rounded Rectangle 8"/>
          <p:cNvSpPr/>
          <p:nvPr/>
        </p:nvSpPr>
        <p:spPr>
          <a:xfrm>
            <a:off x="4693615" y="4800600"/>
            <a:ext cx="6949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49647" y="4919472"/>
            <a:ext cx="6437375" cy="274320"/>
          </a:xfrm>
          <a:prstGeom prst="rect">
            <a:avLst/>
          </a:prstGeom>
          <a:noFill/>
        </p:spPr>
        <p:txBody>
          <a:bodyPr wrap="square" lIns="0" tIns="0" rIns="0" bIns="0" anchor="t">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xmlns="" val="tx"/>
                  </a:ext>
                </a:extLst>
              </a:rPr>
              <a:t>editor.html?example=css-layout/background-shorthand</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5943600"/>
            <a:ext cx="10591495" cy="475488"/>
          </a:xfrm>
          <a:prstGeom prst="rect">
            <a:avLst/>
          </a:prstGeom>
          <a:noFill/>
        </p:spPr>
        <p:txBody>
          <a:bodyPr wrap="square" lIns="0" tIns="0" rIns="0" bIns="0" anchor="ctr">
            <a:spAutoFit/>
          </a:bodyPr>
          <a:lstStyle/>
          <a:p>
            <a:pPr algn="l">
              <a:lnSpc>
                <a:spcPct val="110000"/>
              </a:lnSpc>
              <a:spcAft>
                <a:spcPts val="400"/>
              </a:spcAft>
            </a:pPr>
            <a:r>
              <a:rPr sz="1400" b="1" i="0">
                <a:solidFill>
                  <a:srgbClr val="FFFFFF"/>
                </a:solidFill>
                <a:latin typeface="Calibri"/>
                <a:ea typeface="Calibri"/>
              </a:rPr>
              <a:t>It does not matter if one of the property values is missing, as long as the other ones are in this order.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Blend Modes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32688"/>
            <a:ext cx="4370832" cy="4599432"/>
          </a:xfrm>
          <a:prstGeom prst="rect">
            <a:avLst/>
          </a:prstGeom>
          <a:noFill/>
        </p:spPr>
        <p:txBody>
          <a:bodyPr wrap="square" lIns="0" tIns="0" rIns="0" bIns="0">
            <a:normAutofit/>
          </a:bodyPr>
          <a:lstStyle/>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mix-blend-mode</a:t>
            </a:r>
            <a:br/>
            <a:r>
              <a:rPr sz="1300" b="0" i="0">
                <a:solidFill>
                  <a:srgbClr val="4A5568"/>
                </a:solidFill>
                <a:latin typeface="Calibri"/>
                <a:ea typeface="Calibri"/>
              </a:rPr>
              <a:t>How an element's content mixes with what is painted behind it — it needs something behind it to blend with.</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normal</a:t>
            </a:r>
            <a:br/>
            <a:r>
              <a:rPr sz="1300" b="0" i="0">
                <a:solidFill>
                  <a:srgbClr val="4A5568"/>
                </a:solidFill>
                <a:latin typeface="Calibri"/>
                <a:ea typeface="Calibri"/>
              </a:rPr>
              <a:t>The default: the top layer simply hides whatever is underneath.</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multiply</a:t>
            </a:r>
            <a:br/>
            <a:r>
              <a:rPr sz="1300" b="0" i="0">
                <a:solidFill>
                  <a:srgbClr val="4A5568"/>
                </a:solidFill>
                <a:latin typeface="Calibri"/>
                <a:ea typeface="Calibri"/>
              </a:rPr>
              <a:t>Darkens — both colours survive. The one you will reach for most.</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screen</a:t>
            </a:r>
            <a:br/>
            <a:r>
              <a:rPr sz="1300" b="0" i="0">
                <a:solidFill>
                  <a:srgbClr val="4A5568"/>
                </a:solidFill>
                <a:latin typeface="Calibri"/>
                <a:ea typeface="Calibri"/>
              </a:rPr>
              <a:t>Lightens — the exact opposite of multiply.</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darken</a:t>
            </a:r>
            <a:br/>
            <a:r>
              <a:rPr sz="1300" b="0" i="0">
                <a:solidFill>
                  <a:srgbClr val="4A5568"/>
                </a:solidFill>
                <a:latin typeface="Calibri"/>
                <a:ea typeface="Calibri"/>
              </a:rPr>
              <a:t>Keeps the darker channel of the two, pixel by pixel.</a:t>
            </a:r>
          </a:p>
          <a:p>
            <a:pPr marL="256032" indent="-237744">
              <a:lnSpc>
                <a:spcPct val="112000"/>
              </a:lnSpc>
              <a:spcAft>
                <a:spcPts val="900"/>
              </a:spcAft>
              <a:buClr>
                <a:srgbClr val="1E4FA8"/>
              </a:buClr>
              <a:buSzPct val="90000"/>
              <a:buFont typeface="Arial"/>
              <a:buChar char="▪"/>
            </a:pPr>
            <a:r>
              <a:rPr sz="1800" b="1" i="0">
                <a:solidFill>
                  <a:srgbClr val="B8860B"/>
                </a:solidFill>
                <a:latin typeface="Calibri"/>
                <a:ea typeface="Calibri"/>
              </a:rPr>
              <a:t>isolation: isolate</a:t>
            </a:r>
            <a:br/>
            <a:r>
              <a:rPr sz="1300" b="0" i="0">
                <a:solidFill>
                  <a:srgbClr val="4A5568"/>
                </a:solidFill>
                <a:latin typeface="Calibri"/>
                <a:ea typeface="Calibri"/>
              </a:rPr>
              <a:t>On a wrapper, stops a blend from reaching further up the page.</a:t>
            </a:r>
          </a:p>
        </p:txBody>
      </p:sp>
      <p:sp>
        <p:nvSpPr>
          <p:cNvPr id="6" name="Rounded Rectangle 5"/>
          <p:cNvSpPr/>
          <p:nvPr/>
        </p:nvSpPr>
        <p:spPr>
          <a:xfrm>
            <a:off x="5394960" y="932688"/>
            <a:ext cx="624809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05856" y="1115568"/>
            <a:ext cx="5626303"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mix-blend-mode  </a:t>
            </a:r>
            <a:r>
              <a:rPr sz="1100" b="0" i="0">
                <a:solidFill>
                  <a:srgbClr val="4A5568"/>
                </a:solidFill>
                <a:latin typeface="Calibri"/>
                <a:ea typeface="Calibri"/>
              </a:rPr>
              <a:t>#ffc107 under #185fa5</a:t>
            </a:r>
          </a:p>
        </p:txBody>
      </p:sp>
      <p:sp>
        <p:nvSpPr>
          <p:cNvPr id="8" name="Rectangle 7"/>
          <p:cNvSpPr/>
          <p:nvPr/>
        </p:nvSpPr>
        <p:spPr>
          <a:xfrm>
            <a:off x="5724144"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05856" y="1700784"/>
            <a:ext cx="475488" cy="475488"/>
          </a:xfrm>
          <a:prstGeom prst="rect">
            <a:avLst/>
          </a:prstGeom>
          <a:solidFill>
            <a:srgbClr val="FFC107"/>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792224"/>
            <a:ext cx="237744"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11" name="Rectangle 10"/>
          <p:cNvSpPr/>
          <p:nvPr/>
        </p:nvSpPr>
        <p:spPr>
          <a:xfrm>
            <a:off x="6510528" y="1700784"/>
            <a:ext cx="475488" cy="475488"/>
          </a:xfrm>
          <a:prstGeom prst="rect">
            <a:avLst/>
          </a:prstGeom>
          <a:solidFill>
            <a:srgbClr val="185FA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22592" y="1792224"/>
            <a:ext cx="274320"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13" name="Rectangle 12"/>
          <p:cNvSpPr/>
          <p:nvPr/>
        </p:nvSpPr>
        <p:spPr>
          <a:xfrm>
            <a:off x="7351776" y="1700784"/>
            <a:ext cx="475488" cy="475488"/>
          </a:xfrm>
          <a:prstGeom prst="rect">
            <a:avLst/>
          </a:prstGeom>
          <a:solidFill>
            <a:srgbClr val="185FA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1673351"/>
            <a:ext cx="3193999" cy="256032"/>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onsolas"/>
                <a:ea typeface="Consolas"/>
              </a:rPr>
              <a:t>normal</a:t>
            </a:r>
          </a:p>
        </p:txBody>
      </p:sp>
      <p:sp>
        <p:nvSpPr>
          <p:cNvPr id="15" name="TextBox 14"/>
          <p:cNvSpPr txBox="1"/>
          <p:nvPr/>
        </p:nvSpPr>
        <p:spPr>
          <a:xfrm>
            <a:off x="8138160" y="1929384"/>
            <a:ext cx="3193999" cy="237744"/>
          </a:xfrm>
          <a:prstGeom prst="rect">
            <a:avLst/>
          </a:prstGeom>
          <a:noFill/>
        </p:spPr>
        <p:txBody>
          <a:bodyPr wrap="none" lIns="0" tIns="0" rIns="0" bIns="0" anchor="t">
            <a:spAutoFit/>
          </a:bodyPr>
          <a:lstStyle/>
          <a:p>
            <a:pPr algn="l">
              <a:lnSpc>
                <a:spcPct val="110000"/>
              </a:lnSpc>
              <a:spcAft>
                <a:spcPts val="400"/>
              </a:spcAft>
            </a:pPr>
            <a:r>
              <a:rPr sz="1100" b="0" i="0">
                <a:solidFill>
                  <a:srgbClr val="1A2230"/>
                </a:solidFill>
                <a:latin typeface="Consolas"/>
                <a:ea typeface="Consolas"/>
              </a:rPr>
              <a:t>b</a:t>
            </a:r>
          </a:p>
        </p:txBody>
      </p:sp>
      <p:sp>
        <p:nvSpPr>
          <p:cNvPr id="16" name="Rectangle 15"/>
          <p:cNvSpPr/>
          <p:nvPr/>
        </p:nvSpPr>
        <p:spPr>
          <a:xfrm>
            <a:off x="5705856" y="2340863"/>
            <a:ext cx="475488" cy="475488"/>
          </a:xfrm>
          <a:prstGeom prst="rect">
            <a:avLst/>
          </a:prstGeom>
          <a:solidFill>
            <a:srgbClr val="FFC107"/>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2432303"/>
            <a:ext cx="237744"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18" name="Rectangle 17"/>
          <p:cNvSpPr/>
          <p:nvPr/>
        </p:nvSpPr>
        <p:spPr>
          <a:xfrm>
            <a:off x="6510528" y="2340863"/>
            <a:ext cx="475488" cy="475488"/>
          </a:xfrm>
          <a:prstGeom prst="rect">
            <a:avLst/>
          </a:prstGeom>
          <a:solidFill>
            <a:srgbClr val="185FA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22592" y="2432303"/>
            <a:ext cx="274320"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20" name="Rectangle 19"/>
          <p:cNvSpPr/>
          <p:nvPr/>
        </p:nvSpPr>
        <p:spPr>
          <a:xfrm>
            <a:off x="7351776" y="2340863"/>
            <a:ext cx="475488" cy="475488"/>
          </a:xfrm>
          <a:prstGeom prst="rect">
            <a:avLst/>
          </a:prstGeom>
          <a:solidFill>
            <a:srgbClr val="18480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38160" y="2313432"/>
            <a:ext cx="3193999" cy="256032"/>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onsolas"/>
                <a:ea typeface="Consolas"/>
              </a:rPr>
              <a:t>multiply</a:t>
            </a:r>
          </a:p>
        </p:txBody>
      </p:sp>
      <p:sp>
        <p:nvSpPr>
          <p:cNvPr id="22" name="TextBox 21"/>
          <p:cNvSpPr txBox="1"/>
          <p:nvPr/>
        </p:nvSpPr>
        <p:spPr>
          <a:xfrm>
            <a:off x="8138160" y="2569463"/>
            <a:ext cx="3193999" cy="237744"/>
          </a:xfrm>
          <a:prstGeom prst="rect">
            <a:avLst/>
          </a:prstGeom>
          <a:noFill/>
        </p:spPr>
        <p:txBody>
          <a:bodyPr wrap="none" lIns="0" tIns="0" rIns="0" bIns="0" anchor="t">
            <a:spAutoFit/>
          </a:bodyPr>
          <a:lstStyle/>
          <a:p>
            <a:pPr algn="l">
              <a:lnSpc>
                <a:spcPct val="110000"/>
              </a:lnSpc>
              <a:spcAft>
                <a:spcPts val="400"/>
              </a:spcAft>
            </a:pPr>
            <a:r>
              <a:rPr sz="1100" b="0" i="0">
                <a:solidFill>
                  <a:srgbClr val="1A2230"/>
                </a:solidFill>
                <a:latin typeface="Consolas"/>
                <a:ea typeface="Consolas"/>
              </a:rPr>
              <a:t>a * b / 255</a:t>
            </a:r>
          </a:p>
        </p:txBody>
      </p:sp>
      <p:sp>
        <p:nvSpPr>
          <p:cNvPr id="23" name="Rectangle 22"/>
          <p:cNvSpPr/>
          <p:nvPr/>
        </p:nvSpPr>
        <p:spPr>
          <a:xfrm>
            <a:off x="5705856" y="2980944"/>
            <a:ext cx="475488" cy="475488"/>
          </a:xfrm>
          <a:prstGeom prst="rect">
            <a:avLst/>
          </a:prstGeom>
          <a:solidFill>
            <a:srgbClr val="FFC107"/>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3072384"/>
            <a:ext cx="237744"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25" name="Rectangle 24"/>
          <p:cNvSpPr/>
          <p:nvPr/>
        </p:nvSpPr>
        <p:spPr>
          <a:xfrm>
            <a:off x="6510528" y="2980944"/>
            <a:ext cx="475488" cy="475488"/>
          </a:xfrm>
          <a:prstGeom prst="rect">
            <a:avLst/>
          </a:prstGeom>
          <a:solidFill>
            <a:srgbClr val="185FA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22592" y="3072384"/>
            <a:ext cx="274320"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27" name="Rectangle 26"/>
          <p:cNvSpPr/>
          <p:nvPr/>
        </p:nvSpPr>
        <p:spPr>
          <a:xfrm>
            <a:off x="7351776" y="2980944"/>
            <a:ext cx="475488" cy="475488"/>
          </a:xfrm>
          <a:prstGeom prst="rect">
            <a:avLst/>
          </a:prstGeom>
          <a:solidFill>
            <a:srgbClr val="FFD8A7"/>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38160" y="2953512"/>
            <a:ext cx="3193999" cy="256032"/>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onsolas"/>
                <a:ea typeface="Consolas"/>
              </a:rPr>
              <a:t>screen</a:t>
            </a:r>
          </a:p>
        </p:txBody>
      </p:sp>
      <p:sp>
        <p:nvSpPr>
          <p:cNvPr id="29" name="TextBox 28"/>
          <p:cNvSpPr txBox="1"/>
          <p:nvPr/>
        </p:nvSpPr>
        <p:spPr>
          <a:xfrm>
            <a:off x="8138160" y="3209544"/>
            <a:ext cx="3193999" cy="237744"/>
          </a:xfrm>
          <a:prstGeom prst="rect">
            <a:avLst/>
          </a:prstGeom>
          <a:noFill/>
        </p:spPr>
        <p:txBody>
          <a:bodyPr wrap="none" lIns="0" tIns="0" rIns="0" bIns="0" anchor="t">
            <a:spAutoFit/>
          </a:bodyPr>
          <a:lstStyle/>
          <a:p>
            <a:pPr algn="l">
              <a:lnSpc>
                <a:spcPct val="110000"/>
              </a:lnSpc>
              <a:spcAft>
                <a:spcPts val="400"/>
              </a:spcAft>
            </a:pPr>
            <a:r>
              <a:rPr sz="1100" b="0" i="0">
                <a:solidFill>
                  <a:srgbClr val="1A2230"/>
                </a:solidFill>
                <a:latin typeface="Consolas"/>
                <a:ea typeface="Consolas"/>
              </a:rPr>
              <a:t>255 - (255-a)*(255-b)/255</a:t>
            </a:r>
          </a:p>
        </p:txBody>
      </p:sp>
      <p:sp>
        <p:nvSpPr>
          <p:cNvPr id="30" name="Rectangle 29"/>
          <p:cNvSpPr/>
          <p:nvPr/>
        </p:nvSpPr>
        <p:spPr>
          <a:xfrm>
            <a:off x="5705856" y="3621023"/>
            <a:ext cx="475488" cy="475488"/>
          </a:xfrm>
          <a:prstGeom prst="rect">
            <a:avLst/>
          </a:prstGeom>
          <a:solidFill>
            <a:srgbClr val="FFC107"/>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17920" y="3712463"/>
            <a:ext cx="237744"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32" name="Rectangle 31"/>
          <p:cNvSpPr/>
          <p:nvPr/>
        </p:nvSpPr>
        <p:spPr>
          <a:xfrm>
            <a:off x="6510528" y="3621023"/>
            <a:ext cx="475488" cy="475488"/>
          </a:xfrm>
          <a:prstGeom prst="rect">
            <a:avLst/>
          </a:prstGeom>
          <a:solidFill>
            <a:srgbClr val="185FA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22592" y="3712463"/>
            <a:ext cx="274320"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34" name="Rectangle 33"/>
          <p:cNvSpPr/>
          <p:nvPr/>
        </p:nvSpPr>
        <p:spPr>
          <a:xfrm>
            <a:off x="7351776" y="3621023"/>
            <a:ext cx="475488" cy="475488"/>
          </a:xfrm>
          <a:prstGeom prst="rect">
            <a:avLst/>
          </a:prstGeom>
          <a:solidFill>
            <a:srgbClr val="185F07"/>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38160" y="3593591"/>
            <a:ext cx="3193999" cy="256032"/>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onsolas"/>
                <a:ea typeface="Consolas"/>
              </a:rPr>
              <a:t>darken</a:t>
            </a:r>
          </a:p>
        </p:txBody>
      </p:sp>
      <p:sp>
        <p:nvSpPr>
          <p:cNvPr id="36" name="TextBox 35"/>
          <p:cNvSpPr txBox="1"/>
          <p:nvPr/>
        </p:nvSpPr>
        <p:spPr>
          <a:xfrm>
            <a:off x="8138160" y="3849623"/>
            <a:ext cx="3193999" cy="237744"/>
          </a:xfrm>
          <a:prstGeom prst="rect">
            <a:avLst/>
          </a:prstGeom>
          <a:noFill/>
        </p:spPr>
        <p:txBody>
          <a:bodyPr wrap="none" lIns="0" tIns="0" rIns="0" bIns="0" anchor="t">
            <a:spAutoFit/>
          </a:bodyPr>
          <a:lstStyle/>
          <a:p>
            <a:pPr algn="l">
              <a:lnSpc>
                <a:spcPct val="110000"/>
              </a:lnSpc>
              <a:spcAft>
                <a:spcPts val="400"/>
              </a:spcAft>
            </a:pPr>
            <a:r>
              <a:rPr sz="1100" b="0" i="0">
                <a:solidFill>
                  <a:srgbClr val="1A2230"/>
                </a:solidFill>
                <a:latin typeface="Consolas"/>
                <a:ea typeface="Consolas"/>
              </a:rPr>
              <a:t>min(a, b)</a:t>
            </a:r>
          </a:p>
        </p:txBody>
      </p:sp>
      <p:sp>
        <p:nvSpPr>
          <p:cNvPr id="37" name="Rectangle 36"/>
          <p:cNvSpPr/>
          <p:nvPr/>
        </p:nvSpPr>
        <p:spPr>
          <a:xfrm>
            <a:off x="5705856" y="4261104"/>
            <a:ext cx="475488" cy="475488"/>
          </a:xfrm>
          <a:prstGeom prst="rect">
            <a:avLst/>
          </a:prstGeom>
          <a:solidFill>
            <a:srgbClr val="FFC107"/>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17920" y="4352544"/>
            <a:ext cx="237744"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39" name="Rectangle 38"/>
          <p:cNvSpPr/>
          <p:nvPr/>
        </p:nvSpPr>
        <p:spPr>
          <a:xfrm>
            <a:off x="6510528" y="4261104"/>
            <a:ext cx="475488" cy="475488"/>
          </a:xfrm>
          <a:prstGeom prst="rect">
            <a:avLst/>
          </a:prstGeom>
          <a:solidFill>
            <a:srgbClr val="185FA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022592" y="4352544"/>
            <a:ext cx="274320" cy="310896"/>
          </a:xfrm>
          <a:prstGeom prst="rect">
            <a:avLst/>
          </a:prstGeom>
          <a:noFill/>
        </p:spPr>
        <p:txBody>
          <a:bodyPr wrap="square" lIns="0" tIns="0" rIns="0" bIns="0" anchor="t">
            <a:spAutoFit/>
          </a:bodyPr>
          <a:lstStyle/>
          <a:p>
            <a:pPr algn="l">
              <a:lnSpc>
                <a:spcPct val="110000"/>
              </a:lnSpc>
              <a:spcAft>
                <a:spcPts val="400"/>
              </a:spcAft>
            </a:pPr>
            <a:r>
              <a:rPr sz="1400" b="1" i="0">
                <a:solidFill>
                  <a:srgbClr val="4A5568"/>
                </a:solidFill>
                <a:latin typeface="Calibri"/>
                <a:ea typeface="Calibri"/>
              </a:rPr>
              <a:t>→</a:t>
            </a:r>
          </a:p>
        </p:txBody>
      </p:sp>
      <p:sp>
        <p:nvSpPr>
          <p:cNvPr id="41" name="Rectangle 40"/>
          <p:cNvSpPr/>
          <p:nvPr/>
        </p:nvSpPr>
        <p:spPr>
          <a:xfrm>
            <a:off x="7351776" y="4261104"/>
            <a:ext cx="475488" cy="475488"/>
          </a:xfrm>
          <a:prstGeom prst="rect">
            <a:avLst/>
          </a:prstGeom>
          <a:solidFill>
            <a:srgbClr val="FFC1A5"/>
          </a:solid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38160" y="4233672"/>
            <a:ext cx="3193999" cy="256032"/>
          </a:xfrm>
          <a:prstGeom prst="rect">
            <a:avLst/>
          </a:prstGeom>
          <a:noFill/>
        </p:spPr>
        <p:txBody>
          <a:bodyPr wrap="square" lIns="0" tIns="0" rIns="0" bIns="0" anchor="t">
            <a:spAutoFit/>
          </a:bodyPr>
          <a:lstStyle/>
          <a:p>
            <a:pPr algn="l">
              <a:lnSpc>
                <a:spcPct val="110000"/>
              </a:lnSpc>
              <a:spcAft>
                <a:spcPts val="400"/>
              </a:spcAft>
            </a:pPr>
            <a:r>
              <a:rPr sz="1400" b="1" i="0">
                <a:solidFill>
                  <a:srgbClr val="0E3F8C"/>
                </a:solidFill>
                <a:latin typeface="Consolas"/>
                <a:ea typeface="Consolas"/>
              </a:rPr>
              <a:t>lighten</a:t>
            </a:r>
          </a:p>
        </p:txBody>
      </p:sp>
      <p:sp>
        <p:nvSpPr>
          <p:cNvPr id="43" name="TextBox 42"/>
          <p:cNvSpPr txBox="1"/>
          <p:nvPr/>
        </p:nvSpPr>
        <p:spPr>
          <a:xfrm>
            <a:off x="8138160" y="4489704"/>
            <a:ext cx="3193999" cy="237744"/>
          </a:xfrm>
          <a:prstGeom prst="rect">
            <a:avLst/>
          </a:prstGeom>
          <a:noFill/>
        </p:spPr>
        <p:txBody>
          <a:bodyPr wrap="none" lIns="0" tIns="0" rIns="0" bIns="0" anchor="t">
            <a:spAutoFit/>
          </a:bodyPr>
          <a:lstStyle/>
          <a:p>
            <a:pPr algn="l">
              <a:lnSpc>
                <a:spcPct val="110000"/>
              </a:lnSpc>
              <a:spcAft>
                <a:spcPts val="400"/>
              </a:spcAft>
            </a:pPr>
            <a:r>
              <a:rPr sz="1100" b="0" i="0">
                <a:solidFill>
                  <a:srgbClr val="1A2230"/>
                </a:solidFill>
                <a:latin typeface="Consolas"/>
                <a:ea typeface="Consolas"/>
              </a:rPr>
              <a:t>max(a, b)</a:t>
            </a:r>
          </a:p>
        </p:txBody>
      </p:sp>
      <p:sp>
        <p:nvSpPr>
          <p:cNvPr id="44" name="TextBox 43"/>
          <p:cNvSpPr txBox="1"/>
          <p:nvPr/>
        </p:nvSpPr>
        <p:spPr>
          <a:xfrm>
            <a:off x="5705856" y="4956047"/>
            <a:ext cx="5626303" cy="256032"/>
          </a:xfrm>
          <a:prstGeom prst="rect">
            <a:avLst/>
          </a:prstGeom>
          <a:noFill/>
        </p:spPr>
        <p:txBody>
          <a:bodyPr wrap="none" lIns="0" tIns="0" rIns="0" bIns="0" anchor="t">
            <a:spAutoFit/>
          </a:bodyPr>
          <a:lstStyle/>
          <a:p>
            <a:pPr algn="l">
              <a:lnSpc>
                <a:spcPct val="110000"/>
              </a:lnSpc>
              <a:spcAft>
                <a:spcPts val="400"/>
              </a:spcAft>
            </a:pPr>
            <a:r>
              <a:rPr sz="1050" b="1" i="0">
                <a:solidFill>
                  <a:srgbClr val="4A5568"/>
                </a:solidFill>
                <a:latin typeface="Consolas"/>
                <a:ea typeface="Consolas"/>
              </a:rPr>
              <a:t>a</a:t>
            </a:r>
            <a:r>
              <a:rPr sz="1050" b="0" i="0">
                <a:solidFill>
                  <a:srgbClr val="4A5568"/>
                </a:solidFill>
                <a:latin typeface="Calibri"/>
                <a:ea typeface="Calibri"/>
              </a:rPr>
              <a:t> is the layer behind, </a:t>
            </a:r>
            <a:r>
              <a:rPr sz="1050" b="1" i="0">
                <a:solidFill>
                  <a:srgbClr val="4A5568"/>
                </a:solidFill>
                <a:latin typeface="Consolas"/>
                <a:ea typeface="Consolas"/>
              </a:rPr>
              <a:t>b</a:t>
            </a:r>
            <a:r>
              <a:rPr sz="1050" b="0" i="0">
                <a:solidFill>
                  <a:srgbClr val="4A5568"/>
                </a:solidFill>
                <a:latin typeface="Calibri"/>
                <a:ea typeface="Calibri"/>
              </a:rPr>
              <a:t> the layer on top — one channel at a time, 0 to 255.</a:t>
            </a:r>
          </a:p>
        </p:txBody>
      </p:sp>
      <p:sp>
        <p:nvSpPr>
          <p:cNvPr id="45" name="Rounded Rectangle 44"/>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Two colours, five results — computed, not picked by hand   </a:t>
            </a:r>
            <a:r>
              <a:rPr sz="1100" b="1" i="0">
                <a:solidFill>
                  <a:srgbClr val="61AFEF"/>
                </a:solidFill>
                <a:latin typeface="Calibri"/>
                <a:ea typeface="Calibri"/>
                <a:hlinkClick r:id="rId2"/>
                <a:extLst>
                  <a:ext uri="{A12FA001-AC4F-418D-AE19-62706E023703}">
                    <ahyp:hlinkClr xmlns:ahyp="http://schemas.microsoft.com/office/drawing/2018/hyperlinkcolor" xmlns="" val="tx"/>
                  </a:ext>
                </a:extLst>
              </a:rPr>
              <a:t>↗ editor.html?example=css-layout/blend-modes</a:t>
            </a:r>
          </a:p>
        </p:txBody>
      </p:sp>
      <p:sp>
        <p:nvSpPr>
          <p:cNvPr id="47" name="TextBox 46"/>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mix-blend-mode: multiply;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Image Sprites — One File, Many Pictures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32688"/>
            <a:ext cx="3822191" cy="4599432"/>
          </a:xfrm>
          <a:prstGeom prst="rect">
            <a:avLst/>
          </a:prstGeom>
          <a:noFill/>
        </p:spPr>
        <p:txBody>
          <a:bodyPr wrap="square" lIns="0" tIns="0" rIns="0" bIns="0">
            <a:normAutofit/>
          </a:bodyPr>
          <a:lstStyle/>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A sheet is one file of frames</a:t>
            </a:r>
            <a:br/>
            <a:r>
              <a:rPr sz="1250" b="0" i="0">
                <a:solidFill>
                  <a:srgbClr val="4A5568"/>
                </a:solidFill>
                <a:latin typeface="Calibri"/>
                <a:ea typeface="Calibri"/>
              </a:rPr>
              <a:t>Twelve frames of a character, or ninety icons, laid out on a regular grid inside a single image: one request, one cache entry, no flicker.</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The box is the window</a:t>
            </a:r>
            <a:br/>
            <a:r>
              <a:rPr sz="1250" b="0" i="0">
                <a:solidFill>
                  <a:srgbClr val="4A5568"/>
                </a:solidFill>
                <a:latin typeface="Calibri"/>
                <a:ea typeface="Calibri"/>
              </a:rPr>
              <a:t>Make the box the size of one cell and the file is painted into it from its top-left corner — you see the rectangle the box happens to cover.</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background-position picks the cell</a:t>
            </a:r>
            <a:br/>
            <a:r>
              <a:rPr sz="1250" b="0" i="0">
                <a:solidFill>
                  <a:srgbClr val="4A5568"/>
                </a:solidFill>
                <a:latin typeface="Calibri"/>
                <a:ea typeface="Calibri"/>
              </a:rPr>
              <a:t>Slide the picture left and up by whole cells. The numbers go negative, the box never moves, and nothing is cropped or copied.</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steps() turns it into a sprite</a:t>
            </a:r>
            <a:br/>
            <a:r>
              <a:rPr sz="1250" b="0" i="0">
                <a:solidFill>
                  <a:srgbClr val="4A5568"/>
                </a:solidFill>
                <a:latin typeface="Calibri"/>
                <a:ea typeface="Calibri"/>
              </a:rPr>
              <a:t>Leave it out and the background slides smoothly, showing two half-frames at once. steps(4) means four frames, no blending, no in-betweens.</a:t>
            </a:r>
          </a:p>
        </p:txBody>
      </p:sp>
      <p:sp>
        <p:nvSpPr>
          <p:cNvPr id="6" name="Rounded Rectangle 5"/>
          <p:cNvSpPr/>
          <p:nvPr/>
        </p:nvSpPr>
        <p:spPr>
          <a:xfrm>
            <a:off x="4846320" y="932688"/>
            <a:ext cx="679673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57216" y="1115568"/>
            <a:ext cx="6174943"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one cell = one picture  </a:t>
            </a:r>
            <a:r>
              <a:rPr sz="1100" b="0" i="0">
                <a:solidFill>
                  <a:srgbClr val="4A5568"/>
                </a:solidFill>
                <a:latin typeface="Calibri"/>
                <a:ea typeface="Calibri"/>
              </a:rPr>
              <a:t>128 × 128, out of a 512 × 384 file</a:t>
            </a:r>
          </a:p>
        </p:txBody>
      </p:sp>
      <p:sp>
        <p:nvSpPr>
          <p:cNvPr id="8" name="Rectangle 7"/>
          <p:cNvSpPr/>
          <p:nvPr/>
        </p:nvSpPr>
        <p:spPr>
          <a:xfrm>
            <a:off x="5175503"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haracter.png"/>
          <p:cNvPicPr>
            <a:picLocks noChangeAspect="1"/>
          </p:cNvPicPr>
          <p:nvPr/>
        </p:nvPicPr>
        <p:blipFill>
          <a:blip r:embed="rId2"/>
          <a:stretch>
            <a:fillRect/>
          </a:stretch>
        </p:blipFill>
        <p:spPr>
          <a:xfrm>
            <a:off x="5157216" y="1755648"/>
            <a:ext cx="2560320" cy="1920239"/>
          </a:xfrm>
          <a:prstGeom prst="rect">
            <a:avLst/>
          </a:prstGeom>
        </p:spPr>
      </p:pic>
      <p:sp>
        <p:nvSpPr>
          <p:cNvPr id="10" name="Rectangle 9"/>
          <p:cNvSpPr/>
          <p:nvPr/>
        </p:nvSpPr>
        <p:spPr>
          <a:xfrm>
            <a:off x="5789980" y="1755648"/>
            <a:ext cx="14630" cy="1920239"/>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30060" y="1755648"/>
            <a:ext cx="14630" cy="1920239"/>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70140" y="1755648"/>
            <a:ext cx="14630" cy="1920239"/>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157216" y="2388412"/>
            <a:ext cx="2560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157216" y="3028492"/>
            <a:ext cx="2560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46243" y="1744675"/>
            <a:ext cx="2582265" cy="1942185"/>
          </a:xfrm>
          <a:prstGeom prst="rect">
            <a:avLst/>
          </a:prstGeom>
          <a:no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157216" y="1755648"/>
            <a:ext cx="640080" cy="640080"/>
          </a:xfrm>
          <a:prstGeom prst="rect">
            <a:avLst/>
          </a:prstGeom>
          <a:no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19" y="1737360"/>
            <a:ext cx="3285439" cy="1737360"/>
          </a:xfrm>
          <a:prstGeom prst="rect">
            <a:avLst/>
          </a:prstGeom>
          <a:noFill/>
        </p:spPr>
        <p:txBody>
          <a:bodyPr wrap="square" lIns="0" tIns="0" rIns="0" bIns="0" anchor="t">
            <a:spAutoFit/>
          </a:bodyPr>
          <a:lstStyle/>
          <a:p>
            <a:pPr algn="l">
              <a:lnSpc>
                <a:spcPct val="110000"/>
              </a:lnSpc>
              <a:spcAft>
                <a:spcPts val="200"/>
              </a:spcAft>
            </a:pPr>
            <a:r>
              <a:rPr sz="1350" b="1" i="0">
                <a:solidFill>
                  <a:srgbClr val="0E3F8C"/>
                </a:solidFill>
                <a:latin typeface="Consolas"/>
                <a:ea typeface="Consolas"/>
              </a:rPr>
              <a:t>character.png</a:t>
            </a:r>
          </a:p>
          <a:p>
            <a:pPr algn="l">
              <a:lnSpc>
                <a:spcPct val="110000"/>
              </a:lnSpc>
              <a:spcAft>
                <a:spcPts val="200"/>
              </a:spcAft>
            </a:pPr>
            <a:r>
              <a:rPr sz="1250" b="0" i="0">
                <a:solidFill>
                  <a:srgbClr val="1A2230"/>
                </a:solidFill>
                <a:latin typeface="Calibri"/>
                <a:ea typeface="Calibri"/>
              </a:rPr>
              <a:t>512 × 384</a:t>
            </a:r>
          </a:p>
          <a:p>
            <a:pPr algn="l">
              <a:lnSpc>
                <a:spcPct val="110000"/>
              </a:lnSpc>
              <a:spcAft>
                <a:spcPts val="200"/>
              </a:spcAft>
            </a:pPr>
            <a:r>
              <a:rPr sz="1250" b="0" i="0">
                <a:solidFill>
                  <a:srgbClr val="1A2230"/>
                </a:solidFill>
                <a:latin typeface="Calibri"/>
                <a:ea typeface="Calibri"/>
              </a:rPr>
              <a:t>twelve frames, 128 × 128</a:t>
            </a:r>
          </a:p>
          <a:p>
            <a:pPr algn="l">
              <a:lnSpc>
                <a:spcPct val="110000"/>
              </a:lnSpc>
              <a:spcAft>
                <a:spcPts val="200"/>
              </a:spcAft>
            </a:pPr>
            <a:r>
              <a:rPr sz="1250" b="0" i="0">
                <a:solidFill>
                  <a:srgbClr val="4A5568"/>
                </a:solidFill>
                <a:latin typeface="Calibri"/>
                <a:ea typeface="Calibri"/>
              </a:rPr>
              <a:t>23 KB · one request</a:t>
            </a:r>
          </a:p>
          <a:p>
            <a:pPr algn="l">
              <a:lnSpc>
                <a:spcPct val="110000"/>
              </a:lnSpc>
              <a:spcAft>
                <a:spcPts val="200"/>
              </a:spcAft>
            </a:pPr>
            <a:endParaRPr sz="1250" b="0" i="0">
              <a:solidFill>
                <a:srgbClr val="4A5568"/>
              </a:solidFill>
              <a:latin typeface="Calibri"/>
              <a:ea typeface="Calibri"/>
            </a:endParaRPr>
          </a:p>
          <a:p>
            <a:pPr algn="l">
              <a:lnSpc>
                <a:spcPct val="110000"/>
              </a:lnSpc>
              <a:spcAft>
                <a:spcPts val="200"/>
              </a:spcAft>
            </a:pPr>
            <a:r>
              <a:rPr sz="1200" b="0" i="0">
                <a:solidFill>
                  <a:srgbClr val="4A5568"/>
                </a:solidFill>
                <a:latin typeface="Calibri"/>
                <a:ea typeface="Calibri"/>
              </a:rPr>
              <a:t>The red square is one cell.</a:t>
            </a:r>
          </a:p>
          <a:p>
            <a:pPr algn="l">
              <a:lnSpc>
                <a:spcPct val="110000"/>
              </a:lnSpc>
              <a:spcAft>
                <a:spcPts val="200"/>
              </a:spcAft>
            </a:pPr>
            <a:r>
              <a:rPr sz="1200" b="0" i="0">
                <a:solidFill>
                  <a:srgbClr val="4A5568"/>
                </a:solidFill>
                <a:latin typeface="Calibri"/>
                <a:ea typeface="Calibri"/>
              </a:rPr>
              <a:t>Every window below is that</a:t>
            </a:r>
          </a:p>
          <a:p>
            <a:pPr algn="l">
              <a:lnSpc>
                <a:spcPct val="110000"/>
              </a:lnSpc>
              <a:spcAft>
                <a:spcPts val="200"/>
              </a:spcAft>
            </a:pPr>
            <a:r>
              <a:rPr sz="1200" b="0" i="0">
                <a:solidFill>
                  <a:srgbClr val="4A5568"/>
                </a:solidFill>
                <a:latin typeface="Calibri"/>
                <a:ea typeface="Calibri"/>
              </a:rPr>
              <a:t>square, moved somewhere else.</a:t>
            </a:r>
          </a:p>
        </p:txBody>
      </p:sp>
      <p:pic>
        <p:nvPicPr>
          <p:cNvPr id="18" name="Picture 17" descr="character.png"/>
          <p:cNvPicPr>
            <a:picLocks noChangeAspect="1"/>
          </p:cNvPicPr>
          <p:nvPr/>
        </p:nvPicPr>
        <p:blipFill>
          <a:blip r:embed="rId2"/>
          <a:srcRect r="75000" b="66667"/>
          <a:stretch>
            <a:fillRect/>
          </a:stretch>
        </p:blipFill>
        <p:spPr>
          <a:xfrm>
            <a:off x="5157216" y="3986783"/>
            <a:ext cx="640080" cy="640080"/>
          </a:xfrm>
          <a:prstGeom prst="rect">
            <a:avLst/>
          </a:prstGeom>
        </p:spPr>
      </p:pic>
      <p:sp>
        <p:nvSpPr>
          <p:cNvPr id="19" name="Rectangle 18"/>
          <p:cNvSpPr/>
          <p:nvPr/>
        </p:nvSpPr>
        <p:spPr>
          <a:xfrm>
            <a:off x="5148072" y="3977639"/>
            <a:ext cx="658368" cy="658368"/>
          </a:xfrm>
          <a:prstGeom prst="rect">
            <a:avLst/>
          </a:prstGeom>
          <a:no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0" y="4681727"/>
            <a:ext cx="896112" cy="201168"/>
          </a:xfrm>
          <a:prstGeom prst="rect">
            <a:avLst/>
          </a:prstGeom>
          <a:noFill/>
        </p:spPr>
        <p:txBody>
          <a:bodyPr wrap="none" lIns="0" tIns="0" rIns="0" bIns="0" anchor="t">
            <a:spAutoFit/>
          </a:bodyPr>
          <a:lstStyle/>
          <a:p>
            <a:pPr algn="ctr">
              <a:lnSpc>
                <a:spcPct val="110000"/>
              </a:lnSpc>
              <a:spcAft>
                <a:spcPts val="400"/>
              </a:spcAft>
            </a:pPr>
            <a:r>
              <a:rPr sz="950" b="0" i="0">
                <a:solidFill>
                  <a:srgbClr val="4A5568"/>
                </a:solidFill>
                <a:latin typeface="Consolas"/>
                <a:ea typeface="Consolas"/>
              </a:rPr>
              <a:t>0 0</a:t>
            </a:r>
          </a:p>
        </p:txBody>
      </p:sp>
      <p:pic>
        <p:nvPicPr>
          <p:cNvPr id="21" name="Picture 20" descr="character.png"/>
          <p:cNvPicPr>
            <a:picLocks noChangeAspect="1"/>
          </p:cNvPicPr>
          <p:nvPr/>
        </p:nvPicPr>
        <p:blipFill>
          <a:blip r:embed="rId2"/>
          <a:srcRect l="25000" r="50000" b="66667"/>
          <a:stretch>
            <a:fillRect/>
          </a:stretch>
        </p:blipFill>
        <p:spPr>
          <a:xfrm>
            <a:off x="5961888" y="3986783"/>
            <a:ext cx="640080" cy="640080"/>
          </a:xfrm>
          <a:prstGeom prst="rect">
            <a:avLst/>
          </a:prstGeom>
        </p:spPr>
      </p:pic>
      <p:sp>
        <p:nvSpPr>
          <p:cNvPr id="22" name="Rectangle 21"/>
          <p:cNvSpPr/>
          <p:nvPr/>
        </p:nvSpPr>
        <p:spPr>
          <a:xfrm>
            <a:off x="5952744" y="3977639"/>
            <a:ext cx="658368" cy="658368"/>
          </a:xfrm>
          <a:prstGeom prst="rect">
            <a:avLst/>
          </a:prstGeom>
          <a:no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33872" y="4681727"/>
            <a:ext cx="896112" cy="201168"/>
          </a:xfrm>
          <a:prstGeom prst="rect">
            <a:avLst/>
          </a:prstGeom>
          <a:noFill/>
        </p:spPr>
        <p:txBody>
          <a:bodyPr wrap="none" lIns="0" tIns="0" rIns="0" bIns="0" anchor="t">
            <a:spAutoFit/>
          </a:bodyPr>
          <a:lstStyle/>
          <a:p>
            <a:pPr algn="ctr">
              <a:lnSpc>
                <a:spcPct val="110000"/>
              </a:lnSpc>
              <a:spcAft>
                <a:spcPts val="400"/>
              </a:spcAft>
            </a:pPr>
            <a:r>
              <a:rPr sz="950" b="0" i="0">
                <a:solidFill>
                  <a:srgbClr val="4A5568"/>
                </a:solidFill>
                <a:latin typeface="Consolas"/>
                <a:ea typeface="Consolas"/>
              </a:rPr>
              <a:t>-128px 0</a:t>
            </a:r>
          </a:p>
        </p:txBody>
      </p:sp>
      <p:pic>
        <p:nvPicPr>
          <p:cNvPr id="24" name="Picture 23" descr="character.png"/>
          <p:cNvPicPr>
            <a:picLocks noChangeAspect="1"/>
          </p:cNvPicPr>
          <p:nvPr/>
        </p:nvPicPr>
        <p:blipFill>
          <a:blip r:embed="rId2"/>
          <a:srcRect l="50000" r="25000" b="66667"/>
          <a:stretch>
            <a:fillRect/>
          </a:stretch>
        </p:blipFill>
        <p:spPr>
          <a:xfrm>
            <a:off x="6766559" y="3986783"/>
            <a:ext cx="640080" cy="640080"/>
          </a:xfrm>
          <a:prstGeom prst="rect">
            <a:avLst/>
          </a:prstGeom>
        </p:spPr>
      </p:pic>
      <p:sp>
        <p:nvSpPr>
          <p:cNvPr id="25" name="Rectangle 24"/>
          <p:cNvSpPr/>
          <p:nvPr/>
        </p:nvSpPr>
        <p:spPr>
          <a:xfrm>
            <a:off x="6757416" y="3977639"/>
            <a:ext cx="658368" cy="658368"/>
          </a:xfrm>
          <a:prstGeom prst="rect">
            <a:avLst/>
          </a:prstGeom>
          <a:no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38544" y="4681727"/>
            <a:ext cx="896112" cy="201168"/>
          </a:xfrm>
          <a:prstGeom prst="rect">
            <a:avLst/>
          </a:prstGeom>
          <a:noFill/>
        </p:spPr>
        <p:txBody>
          <a:bodyPr wrap="none" lIns="0" tIns="0" rIns="0" bIns="0" anchor="t">
            <a:spAutoFit/>
          </a:bodyPr>
          <a:lstStyle/>
          <a:p>
            <a:pPr algn="ctr">
              <a:lnSpc>
                <a:spcPct val="110000"/>
              </a:lnSpc>
              <a:spcAft>
                <a:spcPts val="400"/>
              </a:spcAft>
            </a:pPr>
            <a:r>
              <a:rPr sz="950" b="0" i="0">
                <a:solidFill>
                  <a:srgbClr val="4A5568"/>
                </a:solidFill>
                <a:latin typeface="Consolas"/>
                <a:ea typeface="Consolas"/>
              </a:rPr>
              <a:t>-256px 0</a:t>
            </a:r>
          </a:p>
        </p:txBody>
      </p:sp>
      <p:pic>
        <p:nvPicPr>
          <p:cNvPr id="27" name="Picture 26" descr="character.png"/>
          <p:cNvPicPr>
            <a:picLocks noChangeAspect="1"/>
          </p:cNvPicPr>
          <p:nvPr/>
        </p:nvPicPr>
        <p:blipFill>
          <a:blip r:embed="rId2"/>
          <a:srcRect l="75000" b="66667"/>
          <a:stretch>
            <a:fillRect/>
          </a:stretch>
        </p:blipFill>
        <p:spPr>
          <a:xfrm>
            <a:off x="7571231" y="3986783"/>
            <a:ext cx="640080" cy="640080"/>
          </a:xfrm>
          <a:prstGeom prst="rect">
            <a:avLst/>
          </a:prstGeom>
        </p:spPr>
      </p:pic>
      <p:sp>
        <p:nvSpPr>
          <p:cNvPr id="28" name="Rectangle 27"/>
          <p:cNvSpPr/>
          <p:nvPr/>
        </p:nvSpPr>
        <p:spPr>
          <a:xfrm>
            <a:off x="7562088" y="3977639"/>
            <a:ext cx="658368" cy="658368"/>
          </a:xfrm>
          <a:prstGeom prst="rect">
            <a:avLst/>
          </a:prstGeom>
          <a:no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43215" y="4681727"/>
            <a:ext cx="896112" cy="201168"/>
          </a:xfrm>
          <a:prstGeom prst="rect">
            <a:avLst/>
          </a:prstGeom>
          <a:noFill/>
        </p:spPr>
        <p:txBody>
          <a:bodyPr wrap="none" lIns="0" tIns="0" rIns="0" bIns="0" anchor="t">
            <a:spAutoFit/>
          </a:bodyPr>
          <a:lstStyle/>
          <a:p>
            <a:pPr algn="ctr">
              <a:lnSpc>
                <a:spcPct val="110000"/>
              </a:lnSpc>
              <a:spcAft>
                <a:spcPts val="400"/>
              </a:spcAft>
            </a:pPr>
            <a:r>
              <a:rPr sz="950" b="0" i="0">
                <a:solidFill>
                  <a:srgbClr val="4A5568"/>
                </a:solidFill>
                <a:latin typeface="Consolas"/>
                <a:ea typeface="Consolas"/>
              </a:rPr>
              <a:t>-384px 0</a:t>
            </a:r>
          </a:p>
        </p:txBody>
      </p:sp>
      <p:sp>
        <p:nvSpPr>
          <p:cNvPr id="30" name="TextBox 29"/>
          <p:cNvSpPr txBox="1"/>
          <p:nvPr/>
        </p:nvSpPr>
        <p:spPr>
          <a:xfrm>
            <a:off x="8430768" y="4041647"/>
            <a:ext cx="1371600" cy="822960"/>
          </a:xfrm>
          <a:prstGeom prst="rect">
            <a:avLst/>
          </a:prstGeom>
          <a:noFill/>
        </p:spPr>
        <p:txBody>
          <a:bodyPr wrap="square" lIns="0" tIns="0" rIns="0" bIns="0" anchor="t">
            <a:spAutoFit/>
          </a:bodyPr>
          <a:lstStyle/>
          <a:p>
            <a:pPr algn="l">
              <a:lnSpc>
                <a:spcPct val="110000"/>
              </a:lnSpc>
              <a:spcAft>
                <a:spcPts val="200"/>
              </a:spcAft>
            </a:pPr>
            <a:r>
              <a:rPr sz="1150" b="0" i="0">
                <a:solidFill>
                  <a:srgbClr val="4A5568"/>
                </a:solidFill>
                <a:latin typeface="Calibri"/>
                <a:ea typeface="Calibri"/>
              </a:rPr>
              <a:t>one file,</a:t>
            </a:r>
          </a:p>
          <a:p>
            <a:pPr algn="l">
              <a:lnSpc>
                <a:spcPct val="110000"/>
              </a:lnSpc>
              <a:spcAft>
                <a:spcPts val="200"/>
              </a:spcAft>
            </a:pPr>
            <a:r>
              <a:rPr sz="1150" b="0" i="0">
                <a:solidFill>
                  <a:srgbClr val="4A5568"/>
                </a:solidFill>
                <a:latin typeface="Calibri"/>
                <a:ea typeface="Calibri"/>
              </a:rPr>
              <a:t>four pictures,</a:t>
            </a:r>
          </a:p>
          <a:p>
            <a:pPr algn="l">
              <a:lnSpc>
                <a:spcPct val="110000"/>
              </a:lnSpc>
              <a:spcAft>
                <a:spcPts val="200"/>
              </a:spcAft>
            </a:pPr>
            <a:r>
              <a:rPr sz="1150" b="0" i="0">
                <a:solidFill>
                  <a:srgbClr val="4A5568"/>
                </a:solidFill>
                <a:latin typeface="Calibri"/>
                <a:ea typeface="Calibri"/>
              </a:rPr>
              <a:t>four boxes</a:t>
            </a:r>
          </a:p>
        </p:txBody>
      </p:sp>
      <p:sp>
        <p:nvSpPr>
          <p:cNvPr id="31" name="Rounded Rectangle 30"/>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Same file, four boxes — the only thing that changes is one declaration   </a:t>
            </a:r>
            <a:r>
              <a:rPr sz="1100" b="1" i="0">
                <a:solidFill>
                  <a:srgbClr val="61AFEF"/>
                </a:solidFill>
                <a:latin typeface="Calibri"/>
                <a:ea typeface="Calibri"/>
                <a:hlinkClick r:id="rId3"/>
                <a:extLst>
                  <a:ext uri="{A12FA001-AC4F-418D-AE19-62706E023703}">
                    <ahyp:hlinkClr xmlns:ahyp="http://schemas.microsoft.com/office/drawing/2018/hyperlinkcolor" xmlns="" val="tx"/>
                  </a:ext>
                </a:extLst>
              </a:rPr>
              <a:t>↗ editor.html?example=css-layout/image-sprites</a:t>
            </a:r>
          </a:p>
        </p:txBody>
      </p:sp>
      <p:sp>
        <p:nvSpPr>
          <p:cNvPr id="33" name="TextBox 32"/>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background-position: -128px 0;</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Sprites in Practice — Icons and Animation</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TextBox 4"/>
          <p:cNvSpPr txBox="1"/>
          <p:nvPr/>
        </p:nvSpPr>
        <p:spPr>
          <a:xfrm>
            <a:off x="548640" y="932688"/>
            <a:ext cx="3822191" cy="4599432"/>
          </a:xfrm>
          <a:prstGeom prst="rect">
            <a:avLst/>
          </a:prstGeom>
          <a:noFill/>
        </p:spPr>
        <p:txBody>
          <a:bodyPr wrap="square" lIns="0" tIns="0" rIns="0" bIns="0">
            <a:normAutofit/>
          </a:bodyPr>
          <a:lstStyle/>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Ninety icons, one </a:t>
            </a:r>
            <a:r>
              <a:rPr sz="1700" b="1" i="0">
                <a:solidFill>
                  <a:srgbClr val="B8860B"/>
                </a:solidFill>
                <a:latin typeface="Consolas"/>
                <a:ea typeface="Consolas"/>
              </a:rPr>
              <a:t>download</a:t>
            </a:r>
            <a:br/>
            <a:r>
              <a:rPr sz="1250" b="0" i="0">
                <a:solidFill>
                  <a:srgbClr val="4A5568"/>
                </a:solidFill>
                <a:latin typeface="Calibri"/>
                <a:ea typeface="Calibri"/>
              </a:rPr>
              <a:t>icons.png is 960 × 864: ninety cells of 96 × 96, fetched once and drawn ninety times out of the browser's own cache.</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The second state is already there</a:t>
            </a:r>
            <a:br/>
            <a:r>
              <a:rPr sz="1250" b="0" i="0">
                <a:solidFill>
                  <a:srgbClr val="4A5568"/>
                </a:solidFill>
                <a:latin typeface="Calibri"/>
                <a:ea typeface="Calibri"/>
              </a:rPr>
              <a:t>A hover state is one more background-position, not another request — which is exactly what sprites were invented for.</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One variable scales everything</a:t>
            </a:r>
            <a:br/>
            <a:r>
              <a:rPr sz="1250" b="0" i="0">
                <a:solidFill>
                  <a:srgbClr val="4A5568"/>
                </a:solidFill>
                <a:latin typeface="Calibri"/>
                <a:ea typeface="Calibri"/>
              </a:rPr>
              <a:t>--s multiplies the cell, the sheet and the travel distance together, so the geometry and the animation cannot disagree: 24px or 72px from one file.</a:t>
            </a:r>
          </a:p>
          <a:p>
            <a:pPr marL="256032" indent="-237744">
              <a:lnSpc>
                <a:spcPct val="112000"/>
              </a:lnSpc>
              <a:spcAft>
                <a:spcPts val="900"/>
              </a:spcAft>
              <a:buClr>
                <a:srgbClr val="1E4FA8"/>
              </a:buClr>
              <a:buSzPct val="90000"/>
              <a:buFont typeface="Arial"/>
              <a:buChar char="▪"/>
            </a:pPr>
            <a:r>
              <a:rPr sz="1700" b="1" i="0">
                <a:solidFill>
                  <a:srgbClr val="B8860B"/>
                </a:solidFill>
                <a:latin typeface="Calibri"/>
                <a:ea typeface="Calibri"/>
              </a:rPr>
              <a:t>And what it costs</a:t>
            </a:r>
            <a:br/>
            <a:r>
              <a:rPr sz="1250" b="0" i="0">
                <a:solidFill>
                  <a:srgbClr val="4A5568"/>
                </a:solidFill>
                <a:latin typeface="Calibri"/>
                <a:ea typeface="Calibri"/>
              </a:rPr>
              <a:t>Every cell has to be the same shape, a page downloads the icons it never shows, and a background image can carry no </a:t>
            </a:r>
            <a:r>
              <a:rPr sz="1250" b="0" i="0">
                <a:solidFill>
                  <a:srgbClr val="B8860B"/>
                </a:solidFill>
                <a:latin typeface="Consolas"/>
                <a:ea typeface="Consolas"/>
              </a:rPr>
              <a:t>alt</a:t>
            </a:r>
            <a:r>
              <a:rPr sz="1250" b="0" i="0">
                <a:solidFill>
                  <a:srgbClr val="4A5568"/>
                </a:solidFill>
                <a:latin typeface="Calibri"/>
                <a:ea typeface="Calibri"/>
              </a:rPr>
              <a:t> text of its own.</a:t>
            </a:r>
          </a:p>
        </p:txBody>
      </p:sp>
      <p:sp>
        <p:nvSpPr>
          <p:cNvPr id="6" name="Rounded Rectangle 5"/>
          <p:cNvSpPr/>
          <p:nvPr/>
        </p:nvSpPr>
        <p:spPr>
          <a:xfrm>
            <a:off x="4846320" y="932688"/>
            <a:ext cx="679673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57216" y="1115568"/>
            <a:ext cx="6174943" cy="274320"/>
          </a:xfrm>
          <a:prstGeom prst="rect">
            <a:avLst/>
          </a:prstGeom>
          <a:noFill/>
        </p:spPr>
        <p:txBody>
          <a:bodyPr wrap="square" lIns="0" tIns="0" rIns="0" bIns="0" anchor="t">
            <a:spAutoFit/>
          </a:bodyPr>
          <a:lstStyle/>
          <a:p>
            <a:pPr algn="l">
              <a:lnSpc>
                <a:spcPct val="110000"/>
              </a:lnSpc>
              <a:spcAft>
                <a:spcPts val="400"/>
              </a:spcAft>
            </a:pPr>
            <a:r>
              <a:rPr sz="1150" b="1" i="0">
                <a:solidFill>
                  <a:srgbClr val="1E4FA8"/>
                </a:solidFill>
                <a:latin typeface="Calibri"/>
                <a:ea typeface="Calibri"/>
              </a:rPr>
              <a:t>90 pictures, 44 KB  </a:t>
            </a:r>
            <a:r>
              <a:rPr sz="1100" b="0" i="0">
                <a:solidFill>
                  <a:srgbClr val="4A5568"/>
                </a:solidFill>
                <a:latin typeface="Calibri"/>
                <a:ea typeface="Calibri"/>
              </a:rPr>
              <a:t>one file, every size, every state</a:t>
            </a:r>
          </a:p>
        </p:txBody>
      </p:sp>
      <p:sp>
        <p:nvSpPr>
          <p:cNvPr id="8" name="Rectangle 7"/>
          <p:cNvSpPr/>
          <p:nvPr/>
        </p:nvSpPr>
        <p:spPr>
          <a:xfrm>
            <a:off x="5175503"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cons.png"/>
          <p:cNvPicPr>
            <a:picLocks noChangeAspect="1"/>
          </p:cNvPicPr>
          <p:nvPr/>
        </p:nvPicPr>
        <p:blipFill>
          <a:blip r:embed="rId2"/>
          <a:stretch>
            <a:fillRect/>
          </a:stretch>
        </p:blipFill>
        <p:spPr>
          <a:xfrm>
            <a:off x="5157216" y="1737360"/>
            <a:ext cx="1417320" cy="1275588"/>
          </a:xfrm>
          <a:prstGeom prst="rect">
            <a:avLst/>
          </a:prstGeom>
        </p:spPr>
      </p:pic>
      <p:sp>
        <p:nvSpPr>
          <p:cNvPr id="10" name="Rectangle 9"/>
          <p:cNvSpPr/>
          <p:nvPr/>
        </p:nvSpPr>
        <p:spPr>
          <a:xfrm>
            <a:off x="5291632"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33364"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75096"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716828"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858560"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00292"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42024"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83756"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25488" y="1737360"/>
            <a:ext cx="14630" cy="1275588"/>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7216" y="1871776"/>
            <a:ext cx="1417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157216" y="2013508"/>
            <a:ext cx="1417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157216" y="2155240"/>
            <a:ext cx="1417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157216" y="2296972"/>
            <a:ext cx="1417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57216" y="2438704"/>
            <a:ext cx="1417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157216" y="2580436"/>
            <a:ext cx="1417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57216" y="2722168"/>
            <a:ext cx="1417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157216" y="2863900"/>
            <a:ext cx="1417320" cy="14630"/>
          </a:xfrm>
          <a:prstGeom prst="rect">
            <a:avLst/>
          </a:prstGeom>
          <a:solidFill>
            <a:srgbClr val="C9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46243" y="1726387"/>
            <a:ext cx="1439265" cy="1297533"/>
          </a:xfrm>
          <a:prstGeom prst="rect">
            <a:avLst/>
          </a:prstGeom>
          <a:noFill/>
          <a:ln w="12700">
            <a:solidFill>
              <a:srgbClr val="C9D2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157216" y="1737360"/>
            <a:ext cx="141732" cy="141732"/>
          </a:xfrm>
          <a:prstGeom prst="rect">
            <a:avLst/>
          </a:prstGeom>
          <a:no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57216" y="3104388"/>
            <a:ext cx="1965960" cy="731520"/>
          </a:xfrm>
          <a:prstGeom prst="rect">
            <a:avLst/>
          </a:prstGeom>
          <a:noFill/>
        </p:spPr>
        <p:txBody>
          <a:bodyPr wrap="square" lIns="0" tIns="0" rIns="0" bIns="0" anchor="t">
            <a:spAutoFit/>
          </a:bodyPr>
          <a:lstStyle/>
          <a:p>
            <a:pPr algn="l">
              <a:lnSpc>
                <a:spcPct val="110000"/>
              </a:lnSpc>
              <a:spcAft>
                <a:spcPts val="200"/>
              </a:spcAft>
            </a:pPr>
            <a:r>
              <a:rPr sz="1250" b="1" i="0">
                <a:solidFill>
                  <a:srgbClr val="0E3F8C"/>
                </a:solidFill>
                <a:latin typeface="Consolas"/>
                <a:ea typeface="Consolas"/>
              </a:rPr>
              <a:t>icons.png</a:t>
            </a:r>
          </a:p>
          <a:p>
            <a:pPr algn="l">
              <a:lnSpc>
                <a:spcPct val="110000"/>
              </a:lnSpc>
              <a:spcAft>
                <a:spcPts val="200"/>
              </a:spcAft>
            </a:pPr>
            <a:r>
              <a:rPr sz="1100" b="0" i="0">
                <a:solidFill>
                  <a:srgbClr val="4A5568"/>
                </a:solidFill>
                <a:latin typeface="Calibri"/>
                <a:ea typeface="Calibri"/>
              </a:rPr>
              <a:t>960 × 864</a:t>
            </a:r>
          </a:p>
          <a:p>
            <a:pPr algn="l">
              <a:lnSpc>
                <a:spcPct val="110000"/>
              </a:lnSpc>
              <a:spcAft>
                <a:spcPts val="200"/>
              </a:spcAft>
            </a:pPr>
            <a:r>
              <a:rPr sz="1100" b="0" i="0">
                <a:solidFill>
                  <a:srgbClr val="4A5568"/>
                </a:solidFill>
                <a:latin typeface="Calibri"/>
                <a:ea typeface="Calibri"/>
              </a:rPr>
              <a:t>ninety cells of 96 × 96</a:t>
            </a:r>
          </a:p>
          <a:p>
            <a:pPr algn="l">
              <a:lnSpc>
                <a:spcPct val="110000"/>
              </a:lnSpc>
              <a:spcAft>
                <a:spcPts val="200"/>
              </a:spcAft>
            </a:pPr>
            <a:r>
              <a:rPr sz="1100" b="0" i="0">
                <a:solidFill>
                  <a:srgbClr val="4A5568"/>
                </a:solidFill>
                <a:latin typeface="Calibri"/>
                <a:ea typeface="Calibri"/>
              </a:rPr>
              <a:t>44 KB · one request</a:t>
            </a:r>
          </a:p>
        </p:txBody>
      </p:sp>
      <p:pic>
        <p:nvPicPr>
          <p:cNvPr id="30" name="Picture 29" descr="icons.png"/>
          <p:cNvPicPr>
            <a:picLocks noChangeAspect="1"/>
          </p:cNvPicPr>
          <p:nvPr/>
        </p:nvPicPr>
        <p:blipFill>
          <a:blip r:embed="rId2"/>
          <a:srcRect r="90000" b="88889"/>
          <a:stretch>
            <a:fillRect/>
          </a:stretch>
        </p:blipFill>
        <p:spPr>
          <a:xfrm>
            <a:off x="7031736" y="1737360"/>
            <a:ext cx="384048" cy="384048"/>
          </a:xfrm>
          <a:prstGeom prst="rect">
            <a:avLst/>
          </a:prstGeom>
        </p:spPr>
      </p:pic>
      <p:pic>
        <p:nvPicPr>
          <p:cNvPr id="31" name="Picture 30" descr="icons.png"/>
          <p:cNvPicPr>
            <a:picLocks noChangeAspect="1"/>
          </p:cNvPicPr>
          <p:nvPr/>
        </p:nvPicPr>
        <p:blipFill>
          <a:blip r:embed="rId2"/>
          <a:srcRect l="10000" r="80000" b="88889"/>
          <a:stretch>
            <a:fillRect/>
          </a:stretch>
        </p:blipFill>
        <p:spPr>
          <a:xfrm>
            <a:off x="7479792" y="1737360"/>
            <a:ext cx="384048" cy="384048"/>
          </a:xfrm>
          <a:prstGeom prst="rect">
            <a:avLst/>
          </a:prstGeom>
        </p:spPr>
      </p:pic>
      <p:pic>
        <p:nvPicPr>
          <p:cNvPr id="32" name="Picture 31" descr="icons.png"/>
          <p:cNvPicPr>
            <a:picLocks noChangeAspect="1"/>
          </p:cNvPicPr>
          <p:nvPr/>
        </p:nvPicPr>
        <p:blipFill>
          <a:blip r:embed="rId2"/>
          <a:srcRect l="20000" r="70000" b="88889"/>
          <a:stretch>
            <a:fillRect/>
          </a:stretch>
        </p:blipFill>
        <p:spPr>
          <a:xfrm>
            <a:off x="7927848" y="1737360"/>
            <a:ext cx="384048" cy="384048"/>
          </a:xfrm>
          <a:prstGeom prst="rect">
            <a:avLst/>
          </a:prstGeom>
        </p:spPr>
      </p:pic>
      <p:pic>
        <p:nvPicPr>
          <p:cNvPr id="33" name="Picture 32" descr="icons.png"/>
          <p:cNvPicPr>
            <a:picLocks noChangeAspect="1"/>
          </p:cNvPicPr>
          <p:nvPr/>
        </p:nvPicPr>
        <p:blipFill>
          <a:blip r:embed="rId2"/>
          <a:srcRect l="30000" r="60000" b="88889"/>
          <a:stretch>
            <a:fillRect/>
          </a:stretch>
        </p:blipFill>
        <p:spPr>
          <a:xfrm>
            <a:off x="8375904" y="1737360"/>
            <a:ext cx="384048" cy="384048"/>
          </a:xfrm>
          <a:prstGeom prst="rect">
            <a:avLst/>
          </a:prstGeom>
        </p:spPr>
      </p:pic>
      <p:pic>
        <p:nvPicPr>
          <p:cNvPr id="34" name="Picture 33" descr="icons.png"/>
          <p:cNvPicPr>
            <a:picLocks noChangeAspect="1"/>
          </p:cNvPicPr>
          <p:nvPr/>
        </p:nvPicPr>
        <p:blipFill>
          <a:blip r:embed="rId2"/>
          <a:srcRect l="40000" r="50000" b="88889"/>
          <a:stretch>
            <a:fillRect/>
          </a:stretch>
        </p:blipFill>
        <p:spPr>
          <a:xfrm>
            <a:off x="8823959" y="1737360"/>
            <a:ext cx="384048" cy="384048"/>
          </a:xfrm>
          <a:prstGeom prst="rect">
            <a:avLst/>
          </a:prstGeom>
        </p:spPr>
      </p:pic>
      <p:pic>
        <p:nvPicPr>
          <p:cNvPr id="35" name="Picture 34" descr="icons.png"/>
          <p:cNvPicPr>
            <a:picLocks noChangeAspect="1"/>
          </p:cNvPicPr>
          <p:nvPr/>
        </p:nvPicPr>
        <p:blipFill>
          <a:blip r:embed="rId2"/>
          <a:srcRect l="50000" r="40000" b="88889"/>
          <a:stretch>
            <a:fillRect/>
          </a:stretch>
        </p:blipFill>
        <p:spPr>
          <a:xfrm>
            <a:off x="9272016" y="1737360"/>
            <a:ext cx="384048" cy="384048"/>
          </a:xfrm>
          <a:prstGeom prst="rect">
            <a:avLst/>
          </a:prstGeom>
        </p:spPr>
      </p:pic>
      <p:pic>
        <p:nvPicPr>
          <p:cNvPr id="36" name="Picture 35" descr="icons.png"/>
          <p:cNvPicPr>
            <a:picLocks noChangeAspect="1"/>
          </p:cNvPicPr>
          <p:nvPr/>
        </p:nvPicPr>
        <p:blipFill>
          <a:blip r:embed="rId2"/>
          <a:srcRect l="60000" r="30000" b="88889"/>
          <a:stretch>
            <a:fillRect/>
          </a:stretch>
        </p:blipFill>
        <p:spPr>
          <a:xfrm>
            <a:off x="9720072" y="1737360"/>
            <a:ext cx="384048" cy="384048"/>
          </a:xfrm>
          <a:prstGeom prst="rect">
            <a:avLst/>
          </a:prstGeom>
        </p:spPr>
      </p:pic>
      <p:pic>
        <p:nvPicPr>
          <p:cNvPr id="37" name="Picture 36" descr="icons.png"/>
          <p:cNvPicPr>
            <a:picLocks noChangeAspect="1"/>
          </p:cNvPicPr>
          <p:nvPr/>
        </p:nvPicPr>
        <p:blipFill>
          <a:blip r:embed="rId2"/>
          <a:srcRect l="70000" r="20000" b="88889"/>
          <a:stretch>
            <a:fillRect/>
          </a:stretch>
        </p:blipFill>
        <p:spPr>
          <a:xfrm>
            <a:off x="10168128" y="1737360"/>
            <a:ext cx="384048" cy="384048"/>
          </a:xfrm>
          <a:prstGeom prst="rect">
            <a:avLst/>
          </a:prstGeom>
        </p:spPr>
      </p:pic>
      <p:pic>
        <p:nvPicPr>
          <p:cNvPr id="38" name="Picture 37" descr="icons.png"/>
          <p:cNvPicPr>
            <a:picLocks noChangeAspect="1"/>
          </p:cNvPicPr>
          <p:nvPr/>
        </p:nvPicPr>
        <p:blipFill>
          <a:blip r:embed="rId2"/>
          <a:srcRect l="80000" r="10000" b="88889"/>
          <a:stretch>
            <a:fillRect/>
          </a:stretch>
        </p:blipFill>
        <p:spPr>
          <a:xfrm>
            <a:off x="10616184" y="1737360"/>
            <a:ext cx="384048" cy="384048"/>
          </a:xfrm>
          <a:prstGeom prst="rect">
            <a:avLst/>
          </a:prstGeom>
        </p:spPr>
      </p:pic>
      <p:pic>
        <p:nvPicPr>
          <p:cNvPr id="39" name="Picture 38" descr="icons.png"/>
          <p:cNvPicPr>
            <a:picLocks noChangeAspect="1"/>
          </p:cNvPicPr>
          <p:nvPr/>
        </p:nvPicPr>
        <p:blipFill>
          <a:blip r:embed="rId2"/>
          <a:srcRect t="11111" r="90000" b="77778"/>
          <a:stretch>
            <a:fillRect/>
          </a:stretch>
        </p:blipFill>
        <p:spPr>
          <a:xfrm>
            <a:off x="7031736" y="2185415"/>
            <a:ext cx="384048" cy="384048"/>
          </a:xfrm>
          <a:prstGeom prst="rect">
            <a:avLst/>
          </a:prstGeom>
        </p:spPr>
      </p:pic>
      <p:pic>
        <p:nvPicPr>
          <p:cNvPr id="40" name="Picture 39" descr="icons.png"/>
          <p:cNvPicPr>
            <a:picLocks noChangeAspect="1"/>
          </p:cNvPicPr>
          <p:nvPr/>
        </p:nvPicPr>
        <p:blipFill>
          <a:blip r:embed="rId2"/>
          <a:srcRect l="10000" t="11111" r="80000" b="77778"/>
          <a:stretch>
            <a:fillRect/>
          </a:stretch>
        </p:blipFill>
        <p:spPr>
          <a:xfrm>
            <a:off x="7479792" y="2185415"/>
            <a:ext cx="384048" cy="384048"/>
          </a:xfrm>
          <a:prstGeom prst="rect">
            <a:avLst/>
          </a:prstGeom>
        </p:spPr>
      </p:pic>
      <p:pic>
        <p:nvPicPr>
          <p:cNvPr id="41" name="Picture 40" descr="icons.png"/>
          <p:cNvPicPr>
            <a:picLocks noChangeAspect="1"/>
          </p:cNvPicPr>
          <p:nvPr/>
        </p:nvPicPr>
        <p:blipFill>
          <a:blip r:embed="rId2"/>
          <a:srcRect l="20000" t="11111" r="70000" b="77778"/>
          <a:stretch>
            <a:fillRect/>
          </a:stretch>
        </p:blipFill>
        <p:spPr>
          <a:xfrm>
            <a:off x="7927848" y="2185415"/>
            <a:ext cx="384048" cy="384048"/>
          </a:xfrm>
          <a:prstGeom prst="rect">
            <a:avLst/>
          </a:prstGeom>
        </p:spPr>
      </p:pic>
      <p:pic>
        <p:nvPicPr>
          <p:cNvPr id="42" name="Picture 41" descr="icons.png"/>
          <p:cNvPicPr>
            <a:picLocks noChangeAspect="1"/>
          </p:cNvPicPr>
          <p:nvPr/>
        </p:nvPicPr>
        <p:blipFill>
          <a:blip r:embed="rId2"/>
          <a:srcRect l="30000" t="11111" r="60000" b="77778"/>
          <a:stretch>
            <a:fillRect/>
          </a:stretch>
        </p:blipFill>
        <p:spPr>
          <a:xfrm>
            <a:off x="8375904" y="2185415"/>
            <a:ext cx="384048" cy="384048"/>
          </a:xfrm>
          <a:prstGeom prst="rect">
            <a:avLst/>
          </a:prstGeom>
        </p:spPr>
      </p:pic>
      <p:pic>
        <p:nvPicPr>
          <p:cNvPr id="43" name="Picture 42" descr="icons.png"/>
          <p:cNvPicPr>
            <a:picLocks noChangeAspect="1"/>
          </p:cNvPicPr>
          <p:nvPr/>
        </p:nvPicPr>
        <p:blipFill>
          <a:blip r:embed="rId2"/>
          <a:srcRect l="40000" t="11111" r="50000" b="77778"/>
          <a:stretch>
            <a:fillRect/>
          </a:stretch>
        </p:blipFill>
        <p:spPr>
          <a:xfrm>
            <a:off x="8823959" y="2185415"/>
            <a:ext cx="384048" cy="384048"/>
          </a:xfrm>
          <a:prstGeom prst="rect">
            <a:avLst/>
          </a:prstGeom>
        </p:spPr>
      </p:pic>
      <p:pic>
        <p:nvPicPr>
          <p:cNvPr id="44" name="Picture 43" descr="icons.png"/>
          <p:cNvPicPr>
            <a:picLocks noChangeAspect="1"/>
          </p:cNvPicPr>
          <p:nvPr/>
        </p:nvPicPr>
        <p:blipFill>
          <a:blip r:embed="rId2"/>
          <a:srcRect l="50000" t="11111" r="40000" b="77778"/>
          <a:stretch>
            <a:fillRect/>
          </a:stretch>
        </p:blipFill>
        <p:spPr>
          <a:xfrm>
            <a:off x="9272016" y="2185415"/>
            <a:ext cx="384048" cy="384048"/>
          </a:xfrm>
          <a:prstGeom prst="rect">
            <a:avLst/>
          </a:prstGeom>
        </p:spPr>
      </p:pic>
      <p:pic>
        <p:nvPicPr>
          <p:cNvPr id="45" name="Picture 44" descr="icons.png"/>
          <p:cNvPicPr>
            <a:picLocks noChangeAspect="1"/>
          </p:cNvPicPr>
          <p:nvPr/>
        </p:nvPicPr>
        <p:blipFill>
          <a:blip r:embed="rId2"/>
          <a:srcRect l="60000" t="11111" r="30000" b="77778"/>
          <a:stretch>
            <a:fillRect/>
          </a:stretch>
        </p:blipFill>
        <p:spPr>
          <a:xfrm>
            <a:off x="9720072" y="2185415"/>
            <a:ext cx="384048" cy="384048"/>
          </a:xfrm>
          <a:prstGeom prst="rect">
            <a:avLst/>
          </a:prstGeom>
        </p:spPr>
      </p:pic>
      <p:pic>
        <p:nvPicPr>
          <p:cNvPr id="46" name="Picture 45" descr="icons.png"/>
          <p:cNvPicPr>
            <a:picLocks noChangeAspect="1"/>
          </p:cNvPicPr>
          <p:nvPr/>
        </p:nvPicPr>
        <p:blipFill>
          <a:blip r:embed="rId2"/>
          <a:srcRect l="70000" t="11111" r="20000" b="77778"/>
          <a:stretch>
            <a:fillRect/>
          </a:stretch>
        </p:blipFill>
        <p:spPr>
          <a:xfrm>
            <a:off x="10168128" y="2185415"/>
            <a:ext cx="384048" cy="384048"/>
          </a:xfrm>
          <a:prstGeom prst="rect">
            <a:avLst/>
          </a:prstGeom>
        </p:spPr>
      </p:pic>
      <p:pic>
        <p:nvPicPr>
          <p:cNvPr id="47" name="Picture 46" descr="icons.png"/>
          <p:cNvPicPr>
            <a:picLocks noChangeAspect="1"/>
          </p:cNvPicPr>
          <p:nvPr/>
        </p:nvPicPr>
        <p:blipFill>
          <a:blip r:embed="rId2"/>
          <a:srcRect l="80000" t="11111" r="10000" b="77778"/>
          <a:stretch>
            <a:fillRect/>
          </a:stretch>
        </p:blipFill>
        <p:spPr>
          <a:xfrm>
            <a:off x="10616184" y="2185415"/>
            <a:ext cx="384048" cy="384048"/>
          </a:xfrm>
          <a:prstGeom prst="rect">
            <a:avLst/>
          </a:prstGeom>
        </p:spPr>
      </p:pic>
      <p:pic>
        <p:nvPicPr>
          <p:cNvPr id="48" name="Picture 47" descr="icons.png"/>
          <p:cNvPicPr>
            <a:picLocks noChangeAspect="1"/>
          </p:cNvPicPr>
          <p:nvPr/>
        </p:nvPicPr>
        <p:blipFill>
          <a:blip r:embed="rId2"/>
          <a:srcRect l="50000" t="88889" r="40000"/>
          <a:stretch>
            <a:fillRect/>
          </a:stretch>
        </p:blipFill>
        <p:spPr>
          <a:xfrm>
            <a:off x="7031736" y="3337559"/>
            <a:ext cx="228600" cy="228600"/>
          </a:xfrm>
          <a:prstGeom prst="rect">
            <a:avLst/>
          </a:prstGeom>
        </p:spPr>
      </p:pic>
      <p:sp>
        <p:nvSpPr>
          <p:cNvPr id="49" name="TextBox 48"/>
          <p:cNvSpPr txBox="1"/>
          <p:nvPr/>
        </p:nvSpPr>
        <p:spPr>
          <a:xfrm>
            <a:off x="6885431" y="3621024"/>
            <a:ext cx="521208" cy="182880"/>
          </a:xfrm>
          <a:prstGeom prst="rect">
            <a:avLst/>
          </a:prstGeom>
          <a:noFill/>
        </p:spPr>
        <p:txBody>
          <a:bodyPr wrap="none" lIns="0" tIns="0" rIns="0" bIns="0" anchor="t">
            <a:spAutoFit/>
          </a:bodyPr>
          <a:lstStyle/>
          <a:p>
            <a:pPr algn="ctr">
              <a:lnSpc>
                <a:spcPct val="110000"/>
              </a:lnSpc>
              <a:spcAft>
                <a:spcPts val="400"/>
              </a:spcAft>
            </a:pPr>
            <a:r>
              <a:rPr sz="950" b="0" i="0">
                <a:solidFill>
                  <a:srgbClr val="4A5568"/>
                </a:solidFill>
                <a:latin typeface="Consolas"/>
                <a:ea typeface="Consolas"/>
              </a:rPr>
              <a:t>24px</a:t>
            </a:r>
          </a:p>
        </p:txBody>
      </p:sp>
      <p:pic>
        <p:nvPicPr>
          <p:cNvPr id="50" name="Picture 49" descr="icons.png"/>
          <p:cNvPicPr>
            <a:picLocks noChangeAspect="1"/>
          </p:cNvPicPr>
          <p:nvPr/>
        </p:nvPicPr>
        <p:blipFill>
          <a:blip r:embed="rId2"/>
          <a:srcRect l="50000" t="88889" r="40000"/>
          <a:stretch>
            <a:fillRect/>
          </a:stretch>
        </p:blipFill>
        <p:spPr>
          <a:xfrm>
            <a:off x="7872983" y="3182111"/>
            <a:ext cx="384048" cy="384048"/>
          </a:xfrm>
          <a:prstGeom prst="rect">
            <a:avLst/>
          </a:prstGeom>
        </p:spPr>
      </p:pic>
      <p:sp>
        <p:nvSpPr>
          <p:cNvPr id="51" name="TextBox 50"/>
          <p:cNvSpPr txBox="1"/>
          <p:nvPr/>
        </p:nvSpPr>
        <p:spPr>
          <a:xfrm>
            <a:off x="7726679" y="3621024"/>
            <a:ext cx="676656" cy="182880"/>
          </a:xfrm>
          <a:prstGeom prst="rect">
            <a:avLst/>
          </a:prstGeom>
          <a:noFill/>
        </p:spPr>
        <p:txBody>
          <a:bodyPr wrap="none" lIns="0" tIns="0" rIns="0" bIns="0" anchor="t">
            <a:spAutoFit/>
          </a:bodyPr>
          <a:lstStyle/>
          <a:p>
            <a:pPr algn="ctr">
              <a:lnSpc>
                <a:spcPct val="110000"/>
              </a:lnSpc>
              <a:spcAft>
                <a:spcPts val="400"/>
              </a:spcAft>
            </a:pPr>
            <a:r>
              <a:rPr sz="950" b="0" i="0">
                <a:solidFill>
                  <a:srgbClr val="4A5568"/>
                </a:solidFill>
                <a:latin typeface="Consolas"/>
                <a:ea typeface="Consolas"/>
              </a:rPr>
              <a:t>48px</a:t>
            </a:r>
          </a:p>
        </p:txBody>
      </p:sp>
      <p:pic>
        <p:nvPicPr>
          <p:cNvPr id="52" name="Picture 51" descr="icons.png"/>
          <p:cNvPicPr>
            <a:picLocks noChangeAspect="1"/>
          </p:cNvPicPr>
          <p:nvPr/>
        </p:nvPicPr>
        <p:blipFill>
          <a:blip r:embed="rId2"/>
          <a:srcRect l="50000" t="88889" r="40000"/>
          <a:stretch>
            <a:fillRect/>
          </a:stretch>
        </p:blipFill>
        <p:spPr>
          <a:xfrm>
            <a:off x="8714232" y="2907791"/>
            <a:ext cx="658368" cy="658368"/>
          </a:xfrm>
          <a:prstGeom prst="rect">
            <a:avLst/>
          </a:prstGeom>
        </p:spPr>
      </p:pic>
      <p:sp>
        <p:nvSpPr>
          <p:cNvPr id="53" name="TextBox 52"/>
          <p:cNvSpPr txBox="1"/>
          <p:nvPr/>
        </p:nvSpPr>
        <p:spPr>
          <a:xfrm>
            <a:off x="8567928" y="3621024"/>
            <a:ext cx="950976" cy="182880"/>
          </a:xfrm>
          <a:prstGeom prst="rect">
            <a:avLst/>
          </a:prstGeom>
          <a:noFill/>
        </p:spPr>
        <p:txBody>
          <a:bodyPr wrap="none" lIns="0" tIns="0" rIns="0" bIns="0" anchor="t">
            <a:spAutoFit/>
          </a:bodyPr>
          <a:lstStyle/>
          <a:p>
            <a:pPr algn="ctr">
              <a:lnSpc>
                <a:spcPct val="110000"/>
              </a:lnSpc>
              <a:spcAft>
                <a:spcPts val="400"/>
              </a:spcAft>
            </a:pPr>
            <a:r>
              <a:rPr sz="950" b="0" i="0">
                <a:solidFill>
                  <a:srgbClr val="4A5568"/>
                </a:solidFill>
                <a:latin typeface="Consolas"/>
                <a:ea typeface="Consolas"/>
              </a:rPr>
              <a:t>72px</a:t>
            </a:r>
          </a:p>
        </p:txBody>
      </p:sp>
      <p:pic>
        <p:nvPicPr>
          <p:cNvPr id="54" name="Picture 53" descr="icons.png"/>
          <p:cNvPicPr>
            <a:picLocks noChangeAspect="1"/>
          </p:cNvPicPr>
          <p:nvPr/>
        </p:nvPicPr>
        <p:blipFill>
          <a:blip r:embed="rId2"/>
          <a:srcRect l="50000" t="55556" r="40000" b="33333"/>
          <a:stretch>
            <a:fillRect/>
          </a:stretch>
        </p:blipFill>
        <p:spPr>
          <a:xfrm>
            <a:off x="9774936" y="3182111"/>
            <a:ext cx="384048" cy="384048"/>
          </a:xfrm>
          <a:prstGeom prst="rect">
            <a:avLst/>
          </a:prstGeom>
        </p:spPr>
      </p:pic>
      <p:sp>
        <p:nvSpPr>
          <p:cNvPr id="55" name="TextBox 54"/>
          <p:cNvSpPr txBox="1"/>
          <p:nvPr/>
        </p:nvSpPr>
        <p:spPr>
          <a:xfrm>
            <a:off x="10287000" y="3218687"/>
            <a:ext cx="329184" cy="292608"/>
          </a:xfrm>
          <a:prstGeom prst="rect">
            <a:avLst/>
          </a:prstGeom>
          <a:noFill/>
        </p:spPr>
        <p:txBody>
          <a:bodyPr wrap="none" lIns="0" tIns="0" rIns="0" bIns="0" anchor="t">
            <a:spAutoFit/>
          </a:bodyPr>
          <a:lstStyle/>
          <a:p>
            <a:pPr algn="l">
              <a:lnSpc>
                <a:spcPct val="110000"/>
              </a:lnSpc>
              <a:spcAft>
                <a:spcPts val="400"/>
              </a:spcAft>
            </a:pPr>
            <a:r>
              <a:rPr sz="1500" b="1" i="0">
                <a:solidFill>
                  <a:srgbClr val="4A5568"/>
                </a:solidFill>
                <a:latin typeface="Calibri"/>
                <a:ea typeface="Calibri"/>
              </a:rPr>
              <a:t>→</a:t>
            </a:r>
          </a:p>
        </p:txBody>
      </p:sp>
      <p:pic>
        <p:nvPicPr>
          <p:cNvPr id="56" name="Picture 55" descr="icons.png"/>
          <p:cNvPicPr>
            <a:picLocks noChangeAspect="1"/>
          </p:cNvPicPr>
          <p:nvPr/>
        </p:nvPicPr>
        <p:blipFill>
          <a:blip r:embed="rId2"/>
          <a:srcRect t="22222" r="90000" b="66667"/>
          <a:stretch>
            <a:fillRect/>
          </a:stretch>
        </p:blipFill>
        <p:spPr>
          <a:xfrm>
            <a:off x="10689336" y="3182111"/>
            <a:ext cx="384048" cy="384048"/>
          </a:xfrm>
          <a:prstGeom prst="rect">
            <a:avLst/>
          </a:prstGeom>
        </p:spPr>
      </p:pic>
      <p:sp>
        <p:nvSpPr>
          <p:cNvPr id="57" name="TextBox 56"/>
          <p:cNvSpPr txBox="1"/>
          <p:nvPr/>
        </p:nvSpPr>
        <p:spPr>
          <a:xfrm>
            <a:off x="9628632" y="3621024"/>
            <a:ext cx="1828800" cy="182880"/>
          </a:xfrm>
          <a:prstGeom prst="rect">
            <a:avLst/>
          </a:prstGeom>
          <a:noFill/>
        </p:spPr>
        <p:txBody>
          <a:bodyPr wrap="none" lIns="0" tIns="0" rIns="0" bIns="0" anchor="t">
            <a:spAutoFit/>
          </a:bodyPr>
          <a:lstStyle/>
          <a:p>
            <a:pPr algn="l">
              <a:lnSpc>
                <a:spcPct val="110000"/>
              </a:lnSpc>
              <a:spcAft>
                <a:spcPts val="400"/>
              </a:spcAft>
            </a:pPr>
            <a:r>
              <a:rPr sz="950" b="0" i="0">
                <a:solidFill>
                  <a:srgbClr val="4A5568"/>
                </a:solidFill>
                <a:latin typeface="Consolas"/>
                <a:ea typeface="Consolas"/>
              </a:rPr>
              <a:t>hover: one more cell, no request</a:t>
            </a:r>
          </a:p>
        </p:txBody>
      </p:sp>
      <p:sp>
        <p:nvSpPr>
          <p:cNvPr id="58" name="Rounded Rectangle 57"/>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Where sprites still win: the frames of an animation, already in the cache   </a:t>
            </a:r>
            <a:r>
              <a:rPr sz="1100" b="1" i="0">
                <a:solidFill>
                  <a:srgbClr val="61AFEF"/>
                </a:solidFill>
                <a:latin typeface="Calibri"/>
                <a:ea typeface="Calibri"/>
                <a:hlinkClick r:id="rId3"/>
                <a:extLst>
                  <a:ext uri="{A12FA001-AC4F-418D-AE19-62706E023703}">
                    <ahyp:hlinkClr xmlns:ahyp="http://schemas.microsoft.com/office/drawing/2018/hyperlinkcolor" xmlns="" val="tx"/>
                  </a:ext>
                </a:extLst>
              </a:rPr>
              <a:t>↗ editor.html?example=css-layout/image-sprites</a:t>
            </a:r>
          </a:p>
        </p:txBody>
      </p:sp>
      <p:sp>
        <p:nvSpPr>
          <p:cNvPr id="60" name="TextBox 59"/>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animation: face 1.2s steps(4) infinite;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Box Model Cheatsheet</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Box Model</a:t>
            </a:r>
          </a:p>
        </p:txBody>
      </p:sp>
      <p:sp>
        <p:nvSpPr>
          <p:cNvPr id="5" name="Rectangle 4"/>
          <p:cNvSpPr/>
          <p:nvPr/>
        </p:nvSpPr>
        <p:spPr>
          <a:xfrm>
            <a:off x="548640" y="932688"/>
            <a:ext cx="2705954"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32688"/>
            <a:ext cx="2376770" cy="512064"/>
          </a:xfrm>
          <a:prstGeom prst="rect">
            <a:avLst/>
          </a:prstGeom>
          <a:noFill/>
        </p:spPr>
        <p:txBody>
          <a:bodyPr wrap="square" lIns="0" tIns="0" rIns="0" bIns="0" anchor="ctr">
            <a:spAutoFit/>
          </a:bodyPr>
          <a:lstStyle/>
          <a:p>
            <a:pPr algn="l">
              <a:lnSpc>
                <a:spcPct val="110000"/>
              </a:lnSpc>
              <a:spcAft>
                <a:spcPts val="0"/>
              </a:spcAft>
            </a:pPr>
            <a:r>
              <a:rPr sz="1300" b="1" i="0">
                <a:solidFill>
                  <a:srgbClr val="FFFFFF"/>
                </a:solidFill>
                <a:latin typeface="Calibri"/>
                <a:ea typeface="Calibri"/>
              </a:rPr>
              <a:t>Property</a:t>
            </a:r>
          </a:p>
        </p:txBody>
      </p:sp>
      <p:sp>
        <p:nvSpPr>
          <p:cNvPr id="7" name="Rectangle 6"/>
          <p:cNvSpPr/>
          <p:nvPr/>
        </p:nvSpPr>
        <p:spPr>
          <a:xfrm>
            <a:off x="3254594" y="932688"/>
            <a:ext cx="487071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19186" y="932688"/>
            <a:ext cx="4541534" cy="512064"/>
          </a:xfrm>
          <a:prstGeom prst="rect">
            <a:avLst/>
          </a:prstGeom>
          <a:noFill/>
        </p:spPr>
        <p:txBody>
          <a:bodyPr wrap="square" lIns="0" tIns="0" rIns="0" bIns="0" anchor="ctr">
            <a:spAutoFit/>
          </a:bodyPr>
          <a:lstStyle/>
          <a:p>
            <a:pPr algn="l">
              <a:lnSpc>
                <a:spcPct val="110000"/>
              </a:lnSpc>
              <a:spcAft>
                <a:spcPts val="0"/>
              </a:spcAft>
            </a:pPr>
            <a:r>
              <a:rPr sz="1300" b="1" i="0">
                <a:solidFill>
                  <a:srgbClr val="FFFFFF"/>
                </a:solidFill>
                <a:latin typeface="Calibri"/>
                <a:ea typeface="Calibri"/>
              </a:rPr>
              <a:t>What it does</a:t>
            </a:r>
          </a:p>
        </p:txBody>
      </p:sp>
      <p:sp>
        <p:nvSpPr>
          <p:cNvPr id="9" name="Rectangle 8"/>
          <p:cNvSpPr/>
          <p:nvPr/>
        </p:nvSpPr>
        <p:spPr>
          <a:xfrm>
            <a:off x="8125313" y="932688"/>
            <a:ext cx="351774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89905" y="932688"/>
            <a:ext cx="3188557" cy="512064"/>
          </a:xfrm>
          <a:prstGeom prst="rect">
            <a:avLst/>
          </a:prstGeom>
          <a:noFill/>
        </p:spPr>
        <p:txBody>
          <a:bodyPr wrap="square" lIns="0" tIns="0" rIns="0" bIns="0" anchor="ctr">
            <a:spAutoFit/>
          </a:bodyPr>
          <a:lstStyle/>
          <a:p>
            <a:pPr algn="l">
              <a:lnSpc>
                <a:spcPct val="110000"/>
              </a:lnSpc>
              <a:spcAft>
                <a:spcPts val="0"/>
              </a:spcAft>
            </a:pPr>
            <a:r>
              <a:rPr sz="1300" b="1" i="0">
                <a:solidFill>
                  <a:srgbClr val="FFFFFF"/>
                </a:solidFill>
                <a:latin typeface="Calibri"/>
                <a:ea typeface="Calibri"/>
              </a:rPr>
              <a:t>Example</a:t>
            </a:r>
          </a:p>
        </p:txBody>
      </p:sp>
      <p:sp>
        <p:nvSpPr>
          <p:cNvPr id="11" name="Rectangle 10"/>
          <p:cNvSpPr/>
          <p:nvPr/>
        </p:nvSpPr>
        <p:spPr>
          <a:xfrm>
            <a:off x="548640" y="1444752"/>
            <a:ext cx="2705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444752"/>
            <a:ext cx="2376770"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padding</a:t>
            </a:r>
          </a:p>
        </p:txBody>
      </p:sp>
      <p:sp>
        <p:nvSpPr>
          <p:cNvPr id="13" name="Rectangle 12"/>
          <p:cNvSpPr/>
          <p:nvPr/>
        </p:nvSpPr>
        <p:spPr>
          <a:xfrm>
            <a:off x="3254594" y="1444752"/>
            <a:ext cx="487071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19186" y="1444752"/>
            <a:ext cx="4541534"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space inside the edge</a:t>
            </a:r>
          </a:p>
        </p:txBody>
      </p:sp>
      <p:sp>
        <p:nvSpPr>
          <p:cNvPr id="15" name="Rectangle 14"/>
          <p:cNvSpPr/>
          <p:nvPr/>
        </p:nvSpPr>
        <p:spPr>
          <a:xfrm>
            <a:off x="8125313" y="1444752"/>
            <a:ext cx="351774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89905" y="1444752"/>
            <a:ext cx="318855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padding: 16px 24px;</a:t>
            </a:r>
          </a:p>
        </p:txBody>
      </p:sp>
      <p:sp>
        <p:nvSpPr>
          <p:cNvPr id="17" name="Rectangle 16"/>
          <p:cNvSpPr/>
          <p:nvPr/>
        </p:nvSpPr>
        <p:spPr>
          <a:xfrm>
            <a:off x="548640" y="2011680"/>
            <a:ext cx="2705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011680"/>
            <a:ext cx="2376770"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border</a:t>
            </a:r>
          </a:p>
        </p:txBody>
      </p:sp>
      <p:sp>
        <p:nvSpPr>
          <p:cNvPr id="19" name="Rectangle 18"/>
          <p:cNvSpPr/>
          <p:nvPr/>
        </p:nvSpPr>
        <p:spPr>
          <a:xfrm>
            <a:off x="3254594" y="2011680"/>
            <a:ext cx="487071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19186" y="2011680"/>
            <a:ext cx="4541534"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the edge — style, width and colour</a:t>
            </a:r>
          </a:p>
        </p:txBody>
      </p:sp>
      <p:sp>
        <p:nvSpPr>
          <p:cNvPr id="21" name="Rectangle 20"/>
          <p:cNvSpPr/>
          <p:nvPr/>
        </p:nvSpPr>
        <p:spPr>
          <a:xfrm>
            <a:off x="8125313" y="2011680"/>
            <a:ext cx="351774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89905" y="2011680"/>
            <a:ext cx="318855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border: 2px solid #185fa5;</a:t>
            </a:r>
          </a:p>
        </p:txBody>
      </p:sp>
      <p:sp>
        <p:nvSpPr>
          <p:cNvPr id="23" name="Rectangle 22"/>
          <p:cNvSpPr/>
          <p:nvPr/>
        </p:nvSpPr>
        <p:spPr>
          <a:xfrm>
            <a:off x="548640" y="2578608"/>
            <a:ext cx="2705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2578608"/>
            <a:ext cx="2376770"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border-radius</a:t>
            </a:r>
          </a:p>
        </p:txBody>
      </p:sp>
      <p:sp>
        <p:nvSpPr>
          <p:cNvPr id="25" name="Rectangle 24"/>
          <p:cNvSpPr/>
          <p:nvPr/>
        </p:nvSpPr>
        <p:spPr>
          <a:xfrm>
            <a:off x="3254594" y="2578608"/>
            <a:ext cx="487071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19186" y="2578608"/>
            <a:ext cx="4541534"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rounds the corners</a:t>
            </a:r>
          </a:p>
        </p:txBody>
      </p:sp>
      <p:sp>
        <p:nvSpPr>
          <p:cNvPr id="27" name="Rectangle 26"/>
          <p:cNvSpPr/>
          <p:nvPr/>
        </p:nvSpPr>
        <p:spPr>
          <a:xfrm>
            <a:off x="8125313" y="2578608"/>
            <a:ext cx="351774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89905" y="2578608"/>
            <a:ext cx="318855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border-radius: 12px;</a:t>
            </a:r>
          </a:p>
        </p:txBody>
      </p:sp>
      <p:sp>
        <p:nvSpPr>
          <p:cNvPr id="29" name="Rectangle 28"/>
          <p:cNvSpPr/>
          <p:nvPr/>
        </p:nvSpPr>
        <p:spPr>
          <a:xfrm>
            <a:off x="548640" y="3145536"/>
            <a:ext cx="2705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3145536"/>
            <a:ext cx="2376770"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margin</a:t>
            </a:r>
          </a:p>
        </p:txBody>
      </p:sp>
      <p:sp>
        <p:nvSpPr>
          <p:cNvPr id="31" name="Rectangle 30"/>
          <p:cNvSpPr/>
          <p:nvPr/>
        </p:nvSpPr>
        <p:spPr>
          <a:xfrm>
            <a:off x="3254594" y="3145536"/>
            <a:ext cx="487071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19186" y="3145536"/>
            <a:ext cx="4541534"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space outside the edge</a:t>
            </a:r>
          </a:p>
        </p:txBody>
      </p:sp>
      <p:sp>
        <p:nvSpPr>
          <p:cNvPr id="33" name="Rectangle 32"/>
          <p:cNvSpPr/>
          <p:nvPr/>
        </p:nvSpPr>
        <p:spPr>
          <a:xfrm>
            <a:off x="8125313" y="3145536"/>
            <a:ext cx="351774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89905" y="3145536"/>
            <a:ext cx="318855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margin: 0 auto;</a:t>
            </a:r>
          </a:p>
        </p:txBody>
      </p:sp>
      <p:sp>
        <p:nvSpPr>
          <p:cNvPr id="35" name="Rectangle 34"/>
          <p:cNvSpPr/>
          <p:nvPr/>
        </p:nvSpPr>
        <p:spPr>
          <a:xfrm>
            <a:off x="548640" y="3712464"/>
            <a:ext cx="27059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3712464"/>
            <a:ext cx="2376770"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background</a:t>
            </a:r>
          </a:p>
        </p:txBody>
      </p:sp>
      <p:sp>
        <p:nvSpPr>
          <p:cNvPr id="37" name="Rectangle 36"/>
          <p:cNvSpPr/>
          <p:nvPr/>
        </p:nvSpPr>
        <p:spPr>
          <a:xfrm>
            <a:off x="3254594" y="3712464"/>
            <a:ext cx="487071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19186" y="3712464"/>
            <a:ext cx="4541534"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colour and image behind the content</a:t>
            </a:r>
          </a:p>
        </p:txBody>
      </p:sp>
      <p:sp>
        <p:nvSpPr>
          <p:cNvPr id="39" name="Rectangle 38"/>
          <p:cNvSpPr/>
          <p:nvPr/>
        </p:nvSpPr>
        <p:spPr>
          <a:xfrm>
            <a:off x="8125313" y="3712464"/>
            <a:ext cx="351774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89905" y="3712464"/>
            <a:ext cx="318855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background: #eef3fb;</a:t>
            </a:r>
          </a:p>
        </p:txBody>
      </p:sp>
      <p:sp>
        <p:nvSpPr>
          <p:cNvPr id="41" name="Rectangle 40"/>
          <p:cNvSpPr/>
          <p:nvPr/>
        </p:nvSpPr>
        <p:spPr>
          <a:xfrm>
            <a:off x="548640" y="4279392"/>
            <a:ext cx="27059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4279392"/>
            <a:ext cx="2376770" cy="566928"/>
          </a:xfrm>
          <a:prstGeom prst="rect">
            <a:avLst/>
          </a:prstGeom>
          <a:noFill/>
        </p:spPr>
        <p:txBody>
          <a:bodyPr wrap="square" lIns="0" tIns="0" rIns="0" bIns="0" anchor="ctr">
            <a:spAutoFit/>
          </a:bodyPr>
          <a:lstStyle/>
          <a:p>
            <a:pPr algn="l">
              <a:lnSpc>
                <a:spcPct val="110000"/>
              </a:lnSpc>
              <a:spcAft>
                <a:spcPts val="0"/>
              </a:spcAft>
            </a:pPr>
            <a:r>
              <a:rPr sz="1300" b="1" i="0">
                <a:solidFill>
                  <a:srgbClr val="1A2230"/>
                </a:solidFill>
                <a:latin typeface="Calibri"/>
                <a:ea typeface="Calibri"/>
              </a:rPr>
              <a:t>box-sizing</a:t>
            </a:r>
          </a:p>
        </p:txBody>
      </p:sp>
      <p:sp>
        <p:nvSpPr>
          <p:cNvPr id="43" name="Rectangle 42"/>
          <p:cNvSpPr/>
          <p:nvPr/>
        </p:nvSpPr>
        <p:spPr>
          <a:xfrm>
            <a:off x="3254594" y="4279392"/>
            <a:ext cx="487071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19186" y="4279392"/>
            <a:ext cx="4541534"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what a declared size includes</a:t>
            </a:r>
          </a:p>
        </p:txBody>
      </p:sp>
      <p:sp>
        <p:nvSpPr>
          <p:cNvPr id="45" name="Rectangle 44"/>
          <p:cNvSpPr/>
          <p:nvPr/>
        </p:nvSpPr>
        <p:spPr>
          <a:xfrm>
            <a:off x="8125313" y="4279392"/>
            <a:ext cx="351774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89905" y="4279392"/>
            <a:ext cx="3188557" cy="566928"/>
          </a:xfrm>
          <a:prstGeom prst="rect">
            <a:avLst/>
          </a:prstGeom>
          <a:noFill/>
        </p:spPr>
        <p:txBody>
          <a:bodyPr wrap="square" lIns="0" tIns="0" rIns="0" bIns="0" anchor="ctr">
            <a:spAutoFit/>
          </a:bodyPr>
          <a:lstStyle/>
          <a:p>
            <a:pPr algn="l">
              <a:lnSpc>
                <a:spcPct val="110000"/>
              </a:lnSpc>
              <a:spcAft>
                <a:spcPts val="0"/>
              </a:spcAft>
            </a:pPr>
            <a:r>
              <a:rPr sz="1300" b="0" i="0">
                <a:solidFill>
                  <a:srgbClr val="1A2230"/>
                </a:solidFill>
                <a:latin typeface="Calibri"/>
                <a:ea typeface="Calibri"/>
              </a:rPr>
              <a:t>box-sizing: border-box;</a:t>
            </a:r>
          </a:p>
        </p:txBody>
      </p:sp>
      <p:sp>
        <p:nvSpPr>
          <p:cNvPr id="47" name="Rounded Rectangle 46"/>
          <p:cNvSpPr/>
          <p:nvPr/>
        </p:nvSpPr>
        <p:spPr>
          <a:xfrm>
            <a:off x="548640" y="5029200"/>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68680" y="5120640"/>
            <a:ext cx="10454335" cy="365760"/>
          </a:xfrm>
          <a:prstGeom prst="rect">
            <a:avLst/>
          </a:prstGeom>
          <a:noFill/>
        </p:spPr>
        <p:txBody>
          <a:bodyPr wrap="square" lIns="0" tIns="0" rIns="0" bIns="0" anchor="t">
            <a:spAutoFit/>
          </a:bodyPr>
          <a:lstStyle/>
          <a:p>
            <a:pPr algn="l">
              <a:lnSpc>
                <a:spcPct val="110000"/>
              </a:lnSpc>
              <a:spcAft>
                <a:spcPts val="400"/>
              </a:spcAft>
            </a:pPr>
            <a:r>
              <a:rPr sz="1450" b="1" i="0">
                <a:solidFill>
                  <a:srgbClr val="0E3F8C"/>
                </a:solidFill>
                <a:latin typeface="Calibri"/>
                <a:ea typeface="Calibri"/>
              </a:rPr>
              <a:t>1-4 numbers always read clockwise from the top: top, right, bottom, left.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143000"/>
            <a:ext cx="3840480" cy="1828800"/>
          </a:xfrm>
          <a:prstGeom prst="rect">
            <a:avLst/>
          </a:prstGeom>
          <a:noFill/>
        </p:spPr>
        <p:txBody>
          <a:bodyPr wrap="square" lIns="0" tIns="0" rIns="0" bIns="0" anchor="t">
            <a:spAutoFit/>
          </a:bodyPr>
          <a:lstStyle/>
          <a:p>
            <a:pPr algn="l">
              <a:lnSpc>
                <a:spcPct val="110000"/>
              </a:lnSpc>
              <a:spcAft>
                <a:spcPts val="400"/>
              </a:spcAft>
            </a:pPr>
            <a:r>
              <a:rPr sz="9200" b="1" i="0">
                <a:solidFill>
                  <a:srgbClr val="9DC0EE"/>
                </a:solidFill>
                <a:latin typeface="Calibri"/>
                <a:ea typeface="Calibri"/>
              </a:rPr>
              <a:t>05</a:t>
            </a:r>
          </a:p>
        </p:txBody>
      </p:sp>
      <p:sp>
        <p:nvSpPr>
          <p:cNvPr id="5" name="TextBox 4"/>
          <p:cNvSpPr txBox="1"/>
          <p:nvPr/>
        </p:nvSpPr>
        <p:spPr>
          <a:xfrm>
            <a:off x="685800" y="3063240"/>
            <a:ext cx="10607040" cy="822960"/>
          </a:xfrm>
          <a:prstGeom prst="rect">
            <a:avLst/>
          </a:prstGeom>
          <a:noFill/>
        </p:spPr>
        <p:txBody>
          <a:bodyPr wrap="square" lIns="0" tIns="0" rIns="0" bIns="0" anchor="t">
            <a:spAutoFit/>
          </a:bodyPr>
          <a:lstStyle/>
          <a:p>
            <a:pPr algn="l">
              <a:lnSpc>
                <a:spcPct val="110000"/>
              </a:lnSpc>
              <a:spcAft>
                <a:spcPts val="400"/>
              </a:spcAft>
            </a:pPr>
            <a:r>
              <a:rPr sz="3800" b="1" i="0">
                <a:solidFill>
                  <a:srgbClr val="FFFFFF"/>
                </a:solidFill>
                <a:latin typeface="Calibri"/>
                <a:ea typeface="Calibri"/>
              </a:rPr>
              <a:t>Recap</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4251960"/>
            <a:ext cx="10058400" cy="1645920"/>
          </a:xfrm>
          <a:prstGeom prst="rect">
            <a:avLst/>
          </a:prstGeom>
          <a:noFill/>
        </p:spPr>
        <p:txBody>
          <a:bodyPr wrap="square" lIns="0" tIns="0" r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Common mistakes to avoid</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Best practices to keep</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What to remember</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Common Mistakes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Lecture 4</a:t>
            </a:r>
          </a:p>
        </p:txBody>
      </p:sp>
      <p:sp>
        <p:nvSpPr>
          <p:cNvPr id="5" name="Rounded Rectangle 4"/>
          <p:cNvSpPr/>
          <p:nvPr/>
        </p:nvSpPr>
        <p:spPr>
          <a:xfrm>
            <a:off x="548640" y="932688"/>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59" y="1207008"/>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 y="1207008"/>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Forgetting border-box</a:t>
            </a:r>
          </a:p>
        </p:txBody>
      </p:sp>
      <p:sp>
        <p:nvSpPr>
          <p:cNvPr id="8" name="TextBox 7"/>
          <p:cNvSpPr txBox="1"/>
          <p:nvPr/>
        </p:nvSpPr>
        <p:spPr>
          <a:xfrm>
            <a:off x="1115568" y="1773936"/>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Widths add up unexpectedly and the layout breaks.</a:t>
            </a:r>
          </a:p>
        </p:txBody>
      </p:sp>
      <p:sp>
        <p:nvSpPr>
          <p:cNvPr id="9" name="Rounded Rectangle 8"/>
          <p:cNvSpPr/>
          <p:nvPr/>
        </p:nvSpPr>
        <p:spPr>
          <a:xfrm>
            <a:off x="4338218" y="932688"/>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12538" y="1207008"/>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05146" y="1207008"/>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Margin or padding?</a:t>
            </a:r>
          </a:p>
        </p:txBody>
      </p:sp>
      <p:sp>
        <p:nvSpPr>
          <p:cNvPr id="12" name="TextBox 11"/>
          <p:cNvSpPr txBox="1"/>
          <p:nvPr/>
        </p:nvSpPr>
        <p:spPr>
          <a:xfrm>
            <a:off x="4905146" y="1773936"/>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Space inside the border is padding; outside it is margin.</a:t>
            </a:r>
          </a:p>
        </p:txBody>
      </p:sp>
      <p:sp>
        <p:nvSpPr>
          <p:cNvPr id="13" name="Rounded Rectangle 12"/>
          <p:cNvSpPr/>
          <p:nvPr/>
        </p:nvSpPr>
        <p:spPr>
          <a:xfrm>
            <a:off x="8127796" y="932688"/>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402116" y="1207008"/>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94724" y="1207008"/>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Guessing specificity</a:t>
            </a:r>
          </a:p>
        </p:txBody>
      </p:sp>
      <p:sp>
        <p:nvSpPr>
          <p:cNvPr id="16" name="TextBox 15"/>
          <p:cNvSpPr txBox="1"/>
          <p:nvPr/>
        </p:nvSpPr>
        <p:spPr>
          <a:xfrm>
            <a:off x="8694724" y="1773936"/>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When two rules tie, the later one wins — not the one you meant.</a:t>
            </a:r>
          </a:p>
        </p:txBody>
      </p:sp>
      <p:sp>
        <p:nvSpPr>
          <p:cNvPr id="17" name="Rounded Rectangle 16"/>
          <p:cNvSpPr/>
          <p:nvPr/>
        </p:nvSpPr>
        <p:spPr>
          <a:xfrm>
            <a:off x="548640" y="3415284"/>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59" y="3689604"/>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5568" y="3689604"/>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Reaching for !important</a:t>
            </a:r>
          </a:p>
        </p:txBody>
      </p:sp>
      <p:sp>
        <p:nvSpPr>
          <p:cNvPr id="20" name="TextBox 19"/>
          <p:cNvSpPr txBox="1"/>
          <p:nvPr/>
        </p:nvSpPr>
        <p:spPr>
          <a:xfrm>
            <a:off x="1115568" y="4256532"/>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It wins today and starts a fight tomorrow.</a:t>
            </a:r>
          </a:p>
        </p:txBody>
      </p:sp>
      <p:sp>
        <p:nvSpPr>
          <p:cNvPr id="21" name="Rounded Rectangle 20"/>
          <p:cNvSpPr/>
          <p:nvPr/>
        </p:nvSpPr>
        <p:spPr>
          <a:xfrm>
            <a:off x="4338218" y="3415284"/>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612538" y="3689604"/>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05146" y="3689604"/>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Targeting by #id</a:t>
            </a:r>
          </a:p>
        </p:txBody>
      </p:sp>
      <p:sp>
        <p:nvSpPr>
          <p:cNvPr id="24" name="TextBox 23"/>
          <p:cNvSpPr txBox="1"/>
          <p:nvPr/>
        </p:nvSpPr>
        <p:spPr>
          <a:xfrm>
            <a:off x="4905146" y="4256532"/>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An id outranks every class, so the next fix gets harder.</a:t>
            </a:r>
          </a:p>
        </p:txBody>
      </p:sp>
      <p:sp>
        <p:nvSpPr>
          <p:cNvPr id="25" name="Rounded Rectangle 24"/>
          <p:cNvSpPr/>
          <p:nvPr/>
        </p:nvSpPr>
        <p:spPr>
          <a:xfrm>
            <a:off x="8127796" y="3415284"/>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402116" y="3689604"/>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94724" y="3689604"/>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Margin collapsing</a:t>
            </a:r>
          </a:p>
        </p:txBody>
      </p:sp>
      <p:sp>
        <p:nvSpPr>
          <p:cNvPr id="28" name="TextBox 27"/>
          <p:cNvSpPr txBox="1"/>
          <p:nvPr/>
        </p:nvSpPr>
        <p:spPr>
          <a:xfrm>
            <a:off x="8694724" y="4256532"/>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Vertical margins between siblings merge — don't double them.</a:t>
            </a:r>
          </a:p>
        </p:txBody>
      </p:sp>
      <p:sp>
        <p:nvSpPr>
          <p:cNvPr id="29" name="Rounded Rectangle 28"/>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Catch them early, in DevTools</a:t>
            </a:r>
          </a:p>
        </p:txBody>
      </p:sp>
      <p:sp>
        <p:nvSpPr>
          <p:cNvPr id="31" name="TextBox 30"/>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border-box  →  margin  →  specificity  →  !important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Best Practices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Lecture 4</a:t>
            </a:r>
          </a:p>
        </p:txBody>
      </p:sp>
      <p:sp>
        <p:nvSpPr>
          <p:cNvPr id="5" name="Rounded Rectangle 4"/>
          <p:cNvSpPr/>
          <p:nvPr/>
        </p:nvSpPr>
        <p:spPr>
          <a:xfrm>
            <a:off x="548640" y="932688"/>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59" y="1207008"/>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5568" y="1207008"/>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border-box by default</a:t>
            </a:r>
          </a:p>
        </p:txBody>
      </p:sp>
      <p:sp>
        <p:nvSpPr>
          <p:cNvPr id="8" name="TextBox 7"/>
          <p:cNvSpPr txBox="1"/>
          <p:nvPr/>
        </p:nvSpPr>
        <p:spPr>
          <a:xfrm>
            <a:off x="1115568" y="1773936"/>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Set it once on * — predictable sizes.</a:t>
            </a:r>
          </a:p>
        </p:txBody>
      </p:sp>
      <p:sp>
        <p:nvSpPr>
          <p:cNvPr id="9" name="Rounded Rectangle 8"/>
          <p:cNvSpPr/>
          <p:nvPr/>
        </p:nvSpPr>
        <p:spPr>
          <a:xfrm>
            <a:off x="4338218" y="932688"/>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12538" y="1207008"/>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05146" y="1207008"/>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Small classes, one job each</a:t>
            </a:r>
          </a:p>
        </p:txBody>
      </p:sp>
      <p:sp>
        <p:nvSpPr>
          <p:cNvPr id="12" name="TextBox 11"/>
          <p:cNvSpPr txBox="1"/>
          <p:nvPr/>
        </p:nvSpPr>
        <p:spPr>
          <a:xfrm>
            <a:off x="4905146" y="1773936"/>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A short reusable rule beats a long selector chain.</a:t>
            </a:r>
          </a:p>
        </p:txBody>
      </p:sp>
      <p:sp>
        <p:nvSpPr>
          <p:cNvPr id="13" name="Rounded Rectangle 12"/>
          <p:cNvSpPr/>
          <p:nvPr/>
        </p:nvSpPr>
        <p:spPr>
          <a:xfrm>
            <a:off x="8127796" y="932688"/>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402116" y="1207008"/>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94724" y="1207008"/>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Keep specificity flat</a:t>
            </a:r>
          </a:p>
        </p:txBody>
      </p:sp>
      <p:sp>
        <p:nvSpPr>
          <p:cNvPr id="16" name="TextBox 15"/>
          <p:cNvSpPr txBox="1"/>
          <p:nvPr/>
        </p:nvSpPr>
        <p:spPr>
          <a:xfrm>
            <a:off x="8694724" y="1773936"/>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Prefer classes over ids, and don't nest for the sake of it.</a:t>
            </a:r>
          </a:p>
        </p:txBody>
      </p:sp>
      <p:sp>
        <p:nvSpPr>
          <p:cNvPr id="17" name="Rounded Rectangle 16"/>
          <p:cNvSpPr/>
          <p:nvPr/>
        </p:nvSpPr>
        <p:spPr>
          <a:xfrm>
            <a:off x="548640" y="3415284"/>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59" y="3689604"/>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5568" y="3689604"/>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Name by role, not by look</a:t>
            </a:r>
          </a:p>
        </p:txBody>
      </p:sp>
      <p:sp>
        <p:nvSpPr>
          <p:cNvPr id="20" name="TextBox 19"/>
          <p:cNvSpPr txBox="1"/>
          <p:nvPr/>
        </p:nvSpPr>
        <p:spPr>
          <a:xfrm>
            <a:off x="1115568" y="4256532"/>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.notice, not .blue-box.</a:t>
            </a:r>
          </a:p>
        </p:txBody>
      </p:sp>
      <p:sp>
        <p:nvSpPr>
          <p:cNvPr id="21" name="Rounded Rectangle 20"/>
          <p:cNvSpPr/>
          <p:nvPr/>
        </p:nvSpPr>
        <p:spPr>
          <a:xfrm>
            <a:off x="4338218" y="3415284"/>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612538" y="3689604"/>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05146" y="3689604"/>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Shorthand reads clockwise</a:t>
            </a:r>
          </a:p>
        </p:txBody>
      </p:sp>
      <p:sp>
        <p:nvSpPr>
          <p:cNvPr id="24" name="TextBox 23"/>
          <p:cNvSpPr txBox="1"/>
          <p:nvPr/>
        </p:nvSpPr>
        <p:spPr>
          <a:xfrm>
            <a:off x="4905146" y="4256532"/>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1-4 values always start at the top.</a:t>
            </a:r>
          </a:p>
        </p:txBody>
      </p:sp>
      <p:sp>
        <p:nvSpPr>
          <p:cNvPr id="25" name="Rounded Rectangle 24"/>
          <p:cNvSpPr/>
          <p:nvPr/>
        </p:nvSpPr>
        <p:spPr>
          <a:xfrm>
            <a:off x="8127796" y="3415284"/>
            <a:ext cx="3515258"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402116" y="3689604"/>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94724" y="3689604"/>
            <a:ext cx="2646578" cy="457200"/>
          </a:xfrm>
          <a:prstGeom prst="rect">
            <a:avLst/>
          </a:prstGeom>
          <a:noFill/>
        </p:spPr>
        <p:txBody>
          <a:bodyPr wrap="square" lIns="0" tIns="0" rIns="0" bIns="0" anchor="t">
            <a:spAutoFit/>
          </a:bodyPr>
          <a:lstStyle/>
          <a:p>
            <a:pPr algn="l">
              <a:lnSpc>
                <a:spcPct val="110000"/>
              </a:lnSpc>
              <a:spcAft>
                <a:spcPts val="400"/>
              </a:spcAft>
            </a:pPr>
            <a:r>
              <a:rPr sz="1900" b="1" i="0">
                <a:solidFill>
                  <a:srgbClr val="0E3F8C"/>
                </a:solidFill>
                <a:latin typeface="Calibri"/>
                <a:ea typeface="Calibri"/>
              </a:rPr>
              <a:t>Read the computed values</a:t>
            </a:r>
          </a:p>
        </p:txBody>
      </p:sp>
      <p:sp>
        <p:nvSpPr>
          <p:cNvPr id="28" name="TextBox 27"/>
          <p:cNvSpPr txBox="1"/>
          <p:nvPr/>
        </p:nvSpPr>
        <p:spPr>
          <a:xfrm>
            <a:off x="8694724" y="4256532"/>
            <a:ext cx="2646578" cy="1156716"/>
          </a:xfrm>
          <a:prstGeom prst="rect">
            <a:avLst/>
          </a:prstGeom>
          <a:noFill/>
        </p:spPr>
        <p:txBody>
          <a:bodyPr wrap="square" lIns="0" tIns="0" rIns="0" bIns="0" anchor="t">
            <a:spAutoFit/>
          </a:bodyPr>
          <a:lstStyle/>
          <a:p>
            <a:pPr algn="l">
              <a:lnSpc>
                <a:spcPct val="120000"/>
              </a:lnSpc>
              <a:spcAft>
                <a:spcPts val="400"/>
              </a:spcAft>
            </a:pPr>
            <a:r>
              <a:rPr sz="1400" b="0" i="0">
                <a:solidFill>
                  <a:srgbClr val="4A5568"/>
                </a:solidFill>
                <a:latin typeface="Calibri"/>
                <a:ea typeface="Calibri"/>
              </a:rPr>
              <a:t>DevTools shows which rule each value actually came from.</a:t>
            </a:r>
          </a:p>
        </p:txBody>
      </p:sp>
      <p:sp>
        <p:nvSpPr>
          <p:cNvPr id="29" name="Rounded Rectangle 28"/>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5696712"/>
            <a:ext cx="10454335" cy="256032"/>
          </a:xfrm>
          <a:prstGeom prst="rect">
            <a:avLst/>
          </a:prstGeom>
          <a:noFill/>
        </p:spPr>
        <p:txBody>
          <a:bodyPr wrap="square" lIns="0" tIns="0" rIns="0" bIns="0" anchor="t">
            <a:spAutoFit/>
          </a:bodyPr>
          <a:lstStyle/>
          <a:p>
            <a:pPr algn="l">
              <a:lnSpc>
                <a:spcPct val="110000"/>
              </a:lnSpc>
              <a:spcAft>
                <a:spcPts val="400"/>
              </a:spcAft>
            </a:pPr>
            <a:r>
              <a:rPr sz="1100" b="1" i="0">
                <a:solidFill>
                  <a:srgbClr val="9DC0EE"/>
                </a:solidFill>
                <a:latin typeface="Calibri"/>
                <a:ea typeface="Calibri"/>
              </a:rPr>
              <a:t>The habits that keep a stylesheet sane</a:t>
            </a:r>
          </a:p>
        </p:txBody>
      </p:sp>
      <p:sp>
        <p:nvSpPr>
          <p:cNvPr id="31" name="TextBox 30"/>
          <p:cNvSpPr txBox="1"/>
          <p:nvPr/>
        </p:nvSpPr>
        <p:spPr>
          <a:xfrm>
            <a:off x="868680" y="5961888"/>
            <a:ext cx="10454335" cy="274320"/>
          </a:xfrm>
          <a:prstGeom prst="rect">
            <a:avLst/>
          </a:prstGeom>
          <a:noFill/>
        </p:spPr>
        <p:txBody>
          <a:bodyPr wrap="square" lIns="0" tIns="0" rIns="0" bIns="0" anchor="t">
            <a:spAutoFit/>
          </a:bodyPr>
          <a:lstStyle/>
          <a:p>
            <a:pPr algn="l">
              <a:lnSpc>
                <a:spcPct val="110000"/>
              </a:lnSpc>
              <a:spcAft>
                <a:spcPts val="400"/>
              </a:spcAft>
            </a:pPr>
            <a:r>
              <a:rPr sz="1350" b="0" i="0">
                <a:solidFill>
                  <a:srgbClr val="98C379"/>
                </a:solidFill>
                <a:latin typeface="Consolas"/>
                <a:ea typeface="Consolas"/>
              </a:rPr>
              <a:t>box  →  selector  →  specificity  →  devtools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6979615" cy="365760"/>
          </a:xfrm>
          <a:prstGeom prst="rect">
            <a:avLst/>
          </a:prstGeom>
          <a:noFill/>
        </p:spPr>
        <p:txBody>
          <a:bodyPr wrap="square" lIns="0" tIns="0" rIns="0" bIns="0" anchor="ctr">
            <a:spAutoFit/>
          </a:bodyPr>
          <a:lstStyle/>
          <a:p>
            <a:pPr algn="l">
              <a:lnSpc>
                <a:spcPct val="110000"/>
              </a:lnSpc>
              <a:spcAft>
                <a:spcPts val="400"/>
              </a:spcAft>
            </a:pPr>
            <a:r>
              <a:rPr sz="2100" b="1" i="0">
                <a:solidFill>
                  <a:srgbClr val="FFFFFF"/>
                </a:solidFill>
                <a:latin typeface="Calibri"/>
                <a:ea typeface="Calibri"/>
              </a:rPr>
              <a:t>Key Takeaways</a:t>
            </a:r>
          </a:p>
        </p:txBody>
      </p:sp>
      <p:sp>
        <p:nvSpPr>
          <p:cNvPr id="4" name="TextBox 3"/>
          <p:cNvSpPr txBox="1"/>
          <p:nvPr/>
        </p:nvSpPr>
        <p:spPr>
          <a:xfrm>
            <a:off x="7436815" y="109728"/>
            <a:ext cx="4206240" cy="365760"/>
          </a:xfrm>
          <a:prstGeom prst="rect">
            <a:avLst/>
          </a:prstGeom>
          <a:noFill/>
        </p:spPr>
        <p:txBody>
          <a:bodyPr wrap="square" lIns="0" tIns="0" rIns="0" bIns="0" anchor="ctr">
            <a:spAutoFit/>
          </a:bodyPr>
          <a:lstStyle/>
          <a:p>
            <a:pPr algn="r">
              <a:lnSpc>
                <a:spcPct val="110000"/>
              </a:lnSpc>
              <a:spcAft>
                <a:spcPts val="400"/>
              </a:spcAft>
            </a:pPr>
            <a:r>
              <a:rPr sz="1100" b="1" i="0">
                <a:solidFill>
                  <a:srgbClr val="B9CDEE"/>
                </a:solidFill>
                <a:latin typeface="Calibri"/>
                <a:ea typeface="Calibri"/>
              </a:rPr>
              <a:t>COMP3421 · Lecture 4</a:t>
            </a:r>
          </a:p>
        </p:txBody>
      </p:sp>
      <p:sp>
        <p:nvSpPr>
          <p:cNvPr id="5" name="TextBox 4"/>
          <p:cNvSpPr txBox="1"/>
          <p:nvPr/>
        </p:nvSpPr>
        <p:spPr>
          <a:xfrm>
            <a:off x="822959" y="1207008"/>
            <a:ext cx="10545775" cy="658368"/>
          </a:xfrm>
          <a:prstGeom prst="rect">
            <a:avLst/>
          </a:prstGeom>
          <a:noFill/>
        </p:spPr>
        <p:txBody>
          <a:bodyPr wrap="square" lIns="0" tIns="0" rIns="0" bIns="0" anchor="t">
            <a:spAutoFit/>
          </a:bodyPr>
          <a:lstStyle/>
          <a:p>
            <a:pPr algn="l">
              <a:lnSpc>
                <a:spcPct val="120000"/>
              </a:lnSpc>
              <a:spcAft>
                <a:spcPts val="400"/>
              </a:spcAft>
            </a:pPr>
            <a:r>
              <a:rPr sz="1800" b="0" i="0">
                <a:solidFill>
                  <a:srgbClr val="1A2230"/>
                </a:solidFill>
                <a:latin typeface="Calibri"/>
                <a:ea typeface="Calibri"/>
              </a:rPr>
              <a:t>Selectors </a:t>
            </a:r>
            <a:r>
              <a:rPr sz="1800" b="1" i="0">
                <a:solidFill>
                  <a:srgbClr val="1E4FA8"/>
                </a:solidFill>
                <a:latin typeface="Calibri"/>
                <a:ea typeface="Calibri"/>
              </a:rPr>
              <a:t>target elements</a:t>
            </a:r>
            <a:r>
              <a:rPr sz="1800" b="0" i="0">
                <a:solidFill>
                  <a:srgbClr val="1A2230"/>
                </a:solidFill>
                <a:latin typeface="Calibri"/>
                <a:ea typeface="Calibri"/>
              </a:rPr>
              <a:t> — simple, combinator, attribute and pseudo-*.</a:t>
            </a:r>
          </a:p>
        </p:txBody>
      </p:sp>
      <p:sp>
        <p:nvSpPr>
          <p:cNvPr id="6" name="TextBox 5"/>
          <p:cNvSpPr txBox="1"/>
          <p:nvPr/>
        </p:nvSpPr>
        <p:spPr>
          <a:xfrm>
            <a:off x="822959" y="1938528"/>
            <a:ext cx="10545775" cy="658368"/>
          </a:xfrm>
          <a:prstGeom prst="rect">
            <a:avLst/>
          </a:prstGeom>
          <a:noFill/>
        </p:spPr>
        <p:txBody>
          <a:bodyPr wrap="square" lIns="0" tIns="0" rIns="0" bIns="0" anchor="t">
            <a:spAutoFit/>
          </a:bodyPr>
          <a:lstStyle/>
          <a:p>
            <a:pPr algn="l">
              <a:lnSpc>
                <a:spcPct val="120000"/>
              </a:lnSpc>
              <a:spcAft>
                <a:spcPts val="400"/>
              </a:spcAft>
            </a:pPr>
            <a:r>
              <a:rPr sz="1800" b="0" i="0">
                <a:solidFill>
                  <a:srgbClr val="1A2230"/>
                </a:solidFill>
                <a:latin typeface="Calibri"/>
                <a:ea typeface="Calibri"/>
              </a:rPr>
              <a:t>Specificity </a:t>
            </a:r>
            <a:r>
              <a:rPr sz="1800" b="1" i="0">
                <a:solidFill>
                  <a:srgbClr val="1E4FA8"/>
                </a:solidFill>
                <a:latin typeface="Calibri"/>
                <a:ea typeface="Calibri"/>
              </a:rPr>
              <a:t>is a weight</a:t>
            </a:r>
            <a:r>
              <a:rPr sz="1800" b="0" i="0">
                <a:solidFill>
                  <a:srgbClr val="1A2230"/>
                </a:solidFill>
                <a:latin typeface="Calibri"/>
                <a:ea typeface="Calibri"/>
              </a:rPr>
              <a:t> — an id beats a class, a class beats a tag.</a:t>
            </a:r>
          </a:p>
        </p:txBody>
      </p:sp>
      <p:sp>
        <p:nvSpPr>
          <p:cNvPr id="7" name="TextBox 6"/>
          <p:cNvSpPr txBox="1"/>
          <p:nvPr/>
        </p:nvSpPr>
        <p:spPr>
          <a:xfrm>
            <a:off x="822959" y="2670048"/>
            <a:ext cx="10545775" cy="658368"/>
          </a:xfrm>
          <a:prstGeom prst="rect">
            <a:avLst/>
          </a:prstGeom>
          <a:noFill/>
        </p:spPr>
        <p:txBody>
          <a:bodyPr wrap="square" lIns="0" tIns="0" rIns="0" bIns="0" anchor="t">
            <a:spAutoFit/>
          </a:bodyPr>
          <a:lstStyle/>
          <a:p>
            <a:pPr algn="l">
              <a:lnSpc>
                <a:spcPct val="120000"/>
              </a:lnSpc>
              <a:spcAft>
                <a:spcPts val="400"/>
              </a:spcAft>
            </a:pPr>
            <a:r>
              <a:rPr sz="1800" b="0" i="0">
                <a:solidFill>
                  <a:srgbClr val="1A2230"/>
                </a:solidFill>
                <a:latin typeface="Calibri"/>
                <a:ea typeface="Calibri"/>
              </a:rPr>
              <a:t>The cascade </a:t>
            </a:r>
            <a:r>
              <a:rPr sz="1800" b="1" i="0">
                <a:solidFill>
                  <a:srgbClr val="1E4FA8"/>
                </a:solidFill>
                <a:latin typeface="Calibri"/>
                <a:ea typeface="Calibri"/>
              </a:rPr>
              <a:t>weighs every rule</a:t>
            </a:r>
            <a:r>
              <a:rPr sz="1800" b="0" i="0">
                <a:solidFill>
                  <a:srgbClr val="1A2230"/>
                </a:solidFill>
                <a:latin typeface="Calibri"/>
                <a:ea typeface="Calibri"/>
              </a:rPr>
              <a:t> — heaviest wins; a tie goes to the later one.</a:t>
            </a:r>
          </a:p>
        </p:txBody>
      </p:sp>
      <p:sp>
        <p:nvSpPr>
          <p:cNvPr id="8" name="TextBox 7"/>
          <p:cNvSpPr txBox="1"/>
          <p:nvPr/>
        </p:nvSpPr>
        <p:spPr>
          <a:xfrm>
            <a:off x="822959" y="3401568"/>
            <a:ext cx="10545775" cy="658368"/>
          </a:xfrm>
          <a:prstGeom prst="rect">
            <a:avLst/>
          </a:prstGeom>
          <a:noFill/>
        </p:spPr>
        <p:txBody>
          <a:bodyPr wrap="square" lIns="0" tIns="0" rIns="0" bIns="0" anchor="t">
            <a:spAutoFit/>
          </a:bodyPr>
          <a:lstStyle/>
          <a:p>
            <a:pPr algn="l">
              <a:lnSpc>
                <a:spcPct val="120000"/>
              </a:lnSpc>
              <a:spcAft>
                <a:spcPts val="400"/>
              </a:spcAft>
            </a:pPr>
            <a:r>
              <a:rPr sz="1800" b="0" i="0">
                <a:solidFill>
                  <a:srgbClr val="1A2230"/>
                </a:solidFill>
                <a:latin typeface="Calibri"/>
                <a:ea typeface="Calibri"/>
              </a:rPr>
              <a:t>Every element is </a:t>
            </a:r>
            <a:r>
              <a:rPr sz="1800" b="1" i="0">
                <a:solidFill>
                  <a:srgbClr val="1E4FA8"/>
                </a:solidFill>
                <a:latin typeface="Calibri"/>
                <a:ea typeface="Calibri"/>
              </a:rPr>
              <a:t>a box</a:t>
            </a:r>
            <a:r>
              <a:rPr sz="1800" b="0" i="0">
                <a:solidFill>
                  <a:srgbClr val="1A2230"/>
                </a:solidFill>
                <a:latin typeface="Calibri"/>
                <a:ea typeface="Calibri"/>
              </a:rPr>
              <a:t> — content, padding, border, margin, corners and background.</a:t>
            </a:r>
          </a:p>
        </p:txBody>
      </p:sp>
      <p:sp>
        <p:nvSpPr>
          <p:cNvPr id="9" name="TextBox 8"/>
          <p:cNvSpPr txBox="1"/>
          <p:nvPr/>
        </p:nvSpPr>
        <p:spPr>
          <a:xfrm>
            <a:off x="822959" y="4133087"/>
            <a:ext cx="10545775" cy="658368"/>
          </a:xfrm>
          <a:prstGeom prst="rect">
            <a:avLst/>
          </a:prstGeom>
          <a:noFill/>
        </p:spPr>
        <p:txBody>
          <a:bodyPr wrap="square" lIns="0" tIns="0" rIns="0" bIns="0" anchor="t">
            <a:spAutoFit/>
          </a:bodyPr>
          <a:lstStyle/>
          <a:p>
            <a:pPr algn="l">
              <a:lnSpc>
                <a:spcPct val="120000"/>
              </a:lnSpc>
              <a:spcAft>
                <a:spcPts val="400"/>
              </a:spcAft>
            </a:pPr>
            <a:r>
              <a:rPr sz="1800" b="0" i="0">
                <a:solidFill>
                  <a:srgbClr val="1A2230"/>
                </a:solidFill>
                <a:latin typeface="Calibri"/>
                <a:ea typeface="Calibri"/>
              </a:rPr>
              <a:t>box-sizing </a:t>
            </a:r>
            <a:r>
              <a:rPr sz="1800" b="1" i="0">
                <a:solidFill>
                  <a:srgbClr val="1E4FA8"/>
                </a:solidFill>
                <a:latin typeface="Calibri"/>
                <a:ea typeface="Calibri"/>
              </a:rPr>
              <a:t>decides what a size means</a:t>
            </a:r>
            <a:r>
              <a:rPr sz="1800" b="0" i="0">
                <a:solidFill>
                  <a:srgbClr val="1A2230"/>
                </a:solidFill>
                <a:latin typeface="Calibri"/>
                <a:ea typeface="Calibri"/>
              </a:rPr>
              <a:t> — set border-box once and stop doing arithmetic.</a:t>
            </a:r>
          </a:p>
        </p:txBody>
      </p:sp>
      <p:sp>
        <p:nvSpPr>
          <p:cNvPr id="10" name="TextBox 9"/>
          <p:cNvSpPr txBox="1"/>
          <p:nvPr/>
        </p:nvSpPr>
        <p:spPr>
          <a:xfrm>
            <a:off x="822959" y="4864607"/>
            <a:ext cx="10545775" cy="658368"/>
          </a:xfrm>
          <a:prstGeom prst="rect">
            <a:avLst/>
          </a:prstGeom>
          <a:noFill/>
        </p:spPr>
        <p:txBody>
          <a:bodyPr wrap="square" lIns="0" tIns="0" rIns="0" bIns="0" anchor="t">
            <a:spAutoFit/>
          </a:bodyPr>
          <a:lstStyle/>
          <a:p>
            <a:pPr algn="l">
              <a:lnSpc>
                <a:spcPct val="120000"/>
              </a:lnSpc>
              <a:spcAft>
                <a:spcPts val="400"/>
              </a:spcAft>
            </a:pPr>
            <a:r>
              <a:rPr sz="1800" b="0" i="0">
                <a:solidFill>
                  <a:srgbClr val="1A2230"/>
                </a:solidFill>
                <a:latin typeface="Calibri"/>
                <a:ea typeface="Calibri"/>
              </a:rPr>
              <a:t>The background </a:t>
            </a:r>
            <a:r>
              <a:rPr sz="1800" b="1" i="0">
                <a:solidFill>
                  <a:srgbClr val="1E4FA8"/>
                </a:solidFill>
                <a:latin typeface="Calibri"/>
                <a:ea typeface="Calibri"/>
              </a:rPr>
              <a:t>paints the box</a:t>
            </a:r>
            <a:r>
              <a:rPr sz="1800" b="0" i="0">
                <a:solidFill>
                  <a:srgbClr val="1A2230"/>
                </a:solidFill>
                <a:latin typeface="Calibri"/>
                <a:ea typeface="Calibri"/>
              </a:rPr>
              <a:t> — colour, image, repeat, position and blend mode.</a:t>
            </a:r>
          </a:p>
        </p:txBody>
      </p:sp>
      <p:sp>
        <p:nvSpPr>
          <p:cNvPr id="11" name="Rounded Rectangle 10"/>
          <p:cNvSpPr/>
          <p:nvPr/>
        </p:nvSpPr>
        <p:spPr>
          <a:xfrm>
            <a:off x="548640" y="5760720"/>
            <a:ext cx="11094415" cy="502920"/>
          </a:xfrm>
          <a:prstGeom prst="roundRect">
            <a:avLst>
              <a:gd name="adj" fmla="val 12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870448"/>
            <a:ext cx="10362895" cy="329184"/>
          </a:xfrm>
          <a:prstGeom prst="rect">
            <a:avLst/>
          </a:prstGeom>
          <a:noFill/>
        </p:spPr>
        <p:txBody>
          <a:bodyPr wrap="square" lIns="0" tIns="0" rIns="0" bIns="0" anchor="t">
            <a:spAutoFit/>
          </a:bodyPr>
          <a:lstStyle/>
          <a:p>
            <a:pPr algn="l">
              <a:lnSpc>
                <a:spcPct val="110000"/>
              </a:lnSpc>
              <a:spcAft>
                <a:spcPts val="400"/>
              </a:spcAft>
            </a:pPr>
            <a:r>
              <a:rPr sz="1400" b="1" i="0">
                <a:solidFill>
                  <a:srgbClr val="FFFFFF"/>
                </a:solidFill>
                <a:latin typeface="Calibri"/>
                <a:ea typeface="Calibri"/>
              </a:rPr>
              <a:t>Next week: CSS III — layout, animation and variables.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554480"/>
            <a:ext cx="9966960" cy="365760"/>
          </a:xfrm>
          <a:prstGeom prst="rect">
            <a:avLst/>
          </a:prstGeom>
          <a:noFill/>
        </p:spPr>
        <p:txBody>
          <a:bodyPr wrap="square" lIns="0" tIns="0" rIns="0" bIns="0" anchor="t">
            <a:spAutoFit/>
          </a:bodyPr>
          <a:lstStyle/>
          <a:p>
            <a:pPr algn="ctr">
              <a:lnSpc>
                <a:spcPct val="110000"/>
              </a:lnSpc>
              <a:spcAft>
                <a:spcPts val="400"/>
              </a:spcAft>
            </a:pPr>
            <a:r>
              <a:rPr sz="1400" b="1" i="0">
                <a:solidFill>
                  <a:srgbClr val="B9CDEE"/>
                </a:solidFill>
                <a:latin typeface="Calibri"/>
                <a:ea typeface="Calibri"/>
              </a:rPr>
              <a:t>COMP3421 · LECTURE 04 · WEEK 4</a:t>
            </a:r>
          </a:p>
        </p:txBody>
      </p:sp>
      <p:sp>
        <p:nvSpPr>
          <p:cNvPr id="4" name="TextBox 3"/>
          <p:cNvSpPr txBox="1"/>
          <p:nvPr/>
        </p:nvSpPr>
        <p:spPr>
          <a:xfrm>
            <a:off x="1097280" y="2103120"/>
            <a:ext cx="9966960" cy="1005840"/>
          </a:xfrm>
          <a:prstGeom prst="rect">
            <a:avLst/>
          </a:prstGeom>
          <a:noFill/>
        </p:spPr>
        <p:txBody>
          <a:bodyPr wrap="square" lIns="0" tIns="0" rIns="0" bIns="0" anchor="t">
            <a:spAutoFit/>
          </a:bodyPr>
          <a:lstStyle/>
          <a:p>
            <a:pPr algn="ctr">
              <a:lnSpc>
                <a:spcPct val="110000"/>
              </a:lnSpc>
              <a:spcAft>
                <a:spcPts val="400"/>
              </a:spcAft>
            </a:pPr>
            <a:r>
              <a:rPr sz="5800" b="1" i="0">
                <a:solidFill>
                  <a:srgbClr val="FFFFFF"/>
                </a:solidFill>
                <a:latin typeface="Calibri"/>
                <a:ea typeface="Calibri"/>
              </a:rPr>
              <a:t>Thank You</a:t>
            </a:r>
          </a:p>
        </p:txBody>
      </p:sp>
      <p:sp>
        <p:nvSpPr>
          <p:cNvPr id="5" name="Rectangle 4"/>
          <p:cNvSpPr/>
          <p:nvPr/>
        </p:nvSpPr>
        <p:spPr>
          <a:xfrm>
            <a:off x="5410047" y="3383280"/>
            <a:ext cx="1371600" cy="6400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678527" y="3794760"/>
            <a:ext cx="2834640" cy="566928"/>
          </a:xfrm>
          <a:prstGeom prst="roundRect">
            <a:avLst>
              <a:gd name="adj" fmla="val 5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78527" y="3913632"/>
            <a:ext cx="2834640" cy="347472"/>
          </a:xfrm>
          <a:prstGeom prst="rect">
            <a:avLst/>
          </a:prstGeom>
          <a:noFill/>
        </p:spPr>
        <p:txBody>
          <a:bodyPr wrap="square" lIns="0" tIns="0" rIns="0" bIns="0" anchor="t">
            <a:spAutoFit/>
          </a:bodyPr>
          <a:lstStyle/>
          <a:p>
            <a:pPr algn="ctr">
              <a:lnSpc>
                <a:spcPct val="110000"/>
              </a:lnSpc>
              <a:spcAft>
                <a:spcPts val="400"/>
              </a:spcAft>
            </a:pPr>
            <a:r>
              <a:rPr sz="1600" b="1" i="0">
                <a:solidFill>
                  <a:srgbClr val="0E3F8C"/>
                </a:solidFill>
                <a:latin typeface="Calibri"/>
                <a:ea typeface="Calibri"/>
              </a:rPr>
              <a:t>Questions &amp; Discussion</a:t>
            </a:r>
          </a:p>
        </p:txBody>
      </p:sp>
      <p:sp>
        <p:nvSpPr>
          <p:cNvPr id="8" name="TextBox 7"/>
          <p:cNvSpPr txBox="1"/>
          <p:nvPr/>
        </p:nvSpPr>
        <p:spPr>
          <a:xfrm>
            <a:off x="1097280" y="4892040"/>
            <a:ext cx="9966960" cy="365760"/>
          </a:xfrm>
          <a:prstGeom prst="rect">
            <a:avLst/>
          </a:prstGeom>
          <a:noFill/>
        </p:spPr>
        <p:txBody>
          <a:bodyPr wrap="square" lIns="0" tIns="0" rIns="0" bIns="0" anchor="t">
            <a:spAutoFit/>
          </a:bodyPr>
          <a:lstStyle/>
          <a:p>
            <a:pPr algn="ctr">
              <a:lnSpc>
                <a:spcPct val="110000"/>
              </a:lnSpc>
              <a:spcAft>
                <a:spcPts val="400"/>
              </a:spcAft>
            </a:pPr>
            <a:r>
              <a:rPr sz="1450" b="0" i="0">
                <a:solidFill>
                  <a:srgbClr val="B9CDEE"/>
                </a:solidFill>
                <a:latin typeface="Calibri"/>
                <a:ea typeface="Calibri"/>
              </a:rPr>
              <a:t>Prof. Lei Yang · ray.yang@polyu.edu.hk</a:t>
            </a:r>
          </a:p>
        </p:txBody>
      </p:sp>
      <p:sp>
        <p:nvSpPr>
          <p:cNvPr id="9" name="TextBox 8"/>
          <p:cNvSpPr txBox="1"/>
          <p:nvPr/>
        </p:nvSpPr>
        <p:spPr>
          <a:xfrm>
            <a:off x="1097280" y="5303520"/>
            <a:ext cx="9966960" cy="365760"/>
          </a:xfrm>
          <a:prstGeom prst="rect">
            <a:avLst/>
          </a:prstGeom>
          <a:noFill/>
        </p:spPr>
        <p:txBody>
          <a:bodyPr wrap="square" lIns="0" tIns="0" rIns="0" bIns="0" anchor="t">
            <a:spAutoFit/>
          </a:bodyPr>
          <a:lstStyle/>
          <a:p>
            <a:pPr algn="ctr">
              <a:lnSpc>
                <a:spcPct val="110000"/>
              </a:lnSpc>
              <a:spcAft>
                <a:spcPts val="400"/>
              </a:spcAft>
            </a:pPr>
            <a:r>
              <a:rPr sz="1450" b="0" i="0">
                <a:solidFill>
                  <a:srgbClr val="B9CDEE"/>
                </a:solidFill>
                <a:latin typeface="Calibri"/>
                <a:ea typeface="Calibri"/>
              </a:rPr>
              <a:t>Next: Week 5 — CSS III: layout, animation &amp; variables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B9BD5"/>
      </a:hlink>
      <a:folHlink>
        <a:srgbClr val="5B9BD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9404</Words>
  <Application>Microsoft Macintosh PowerPoint</Application>
  <PresentationFormat>Widescreen</PresentationFormat>
  <Paragraphs>1093</Paragraphs>
  <Slides>69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YANG, Ray [COMP]</cp:lastModifiedBy>
  <cp:revision>1</cp:revision>
  <dcterms:created xsi:type="dcterms:W3CDTF">2013-01-27T09:14:16Z</dcterms:created>
  <dcterms:modified xsi:type="dcterms:W3CDTF">2026-09-29T15:08:02Z</dcterms:modified>
  <cp:category/>
</cp:coreProperties>
</file>