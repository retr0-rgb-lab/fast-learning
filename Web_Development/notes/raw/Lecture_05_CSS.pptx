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600" name="Footer Left"/>
          <p:cNvSpPr/>
          <p:nvPr/>
        </p:nvSpPr>
        <p:spPr>
          <a:xfrm>
            <a:off x="548640" y="6473952"/>
            <a:ext cx="8686800" cy="274320"/>
          </a:xfrm>
          <a:prstGeom prst="rect">
            <a:avLst/>
          </a:prstGeom>
        </p:spPr>
        <p:txBody>
          <a:bodyPr wrap="none"/>
          <a:lstStyle/>
          <a:p>
            <a:r>
              <a:rPr lang="en-US" sz="950">
                <a:solidFill>
                  <a:srgbClr val="8B97A8"/>
                </a:solidFill>
              </a:rPr>
              <a:t>COMP3421 Web Application Design and Development · The Hong Kong Polytechnic University · Department of Computing</a:t>
            </a:r>
          </a:p>
        </p:txBody>
      </p:sp>
      <p:sp>
        <p:nvSpPr>
          <p:cNvPr id="601" name="Footer Page"/>
          <p:cNvSpPr/>
          <p:nvPr/>
        </p:nvSpPr>
        <p:spPr>
          <a:xfrm>
            <a:off x="9265615" y="6473952"/>
            <a:ext cx="2377440" cy="274320"/>
          </a:xfrm>
          <a:prstGeom prst="rect">
            <a:avLst/>
          </a:prstGeom>
        </p:spPr>
        <p:txBody>
          <a:bodyPr wrap="none"/>
          <a:lstStyle/>
          <a:p>
            <a:pPr algn="r"/>
            <a:fld id="{62C73E8A-1AFE-490F-94C5-1544B97E7B3A}" type="slidenum">
              <a:rPr lang="en-US" sz="1050" b="1">
                <a:solidFill>
                  <a:srgbClr val="1E4FA8"/>
                </a:solidFill>
              </a:rPr>
              <a:t>1</a:t>
            </a:fld>
            <a:r>
              <a:rPr lang="en-US" sz="950">
                <a:solidFill>
                  <a:srgbClr val="8B97A8"/>
                </a:solidFill>
              </a:rPr>
              <a:t> / 72</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normal-flow-5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normal-flow"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positionin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position-static"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position-relativ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position-absolut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position-fixed"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position-sticky"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z-index"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flexbox" TargetMode="External"/><Relationship Id="rId3" Type="http://schemas.openxmlformats.org/officeDocument/2006/relationships/hyperlink" Target="https://www.w3schools.com/css/css3_flexbox.asp"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grid" TargetMode="External"/><Relationship Id="rId3" Type="http://schemas.openxmlformats.org/officeDocument/2006/relationships/hyperlink" Target="https://www.w3schools.com/css/css_grid.asp"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responsive"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responsive"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responsive"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media-recipes"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transform"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transform"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transform"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transform"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transform"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transition"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transition"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timing-function"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transition-recipes"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keyframes"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animation-shorthand"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animation-direction"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keyframes"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looping-motion"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image-sprites"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reduced-motion"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custom-properties"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var-fallback"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var-scope"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variables"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shadow"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shadow-recipes"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display-outer-box"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display"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hiding"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icons"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icon-font"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777240"/>
            <a:ext cx="10972800" cy="731520"/>
          </a:xfrm>
          <a:prstGeom prst="rect">
            <a:avLst/>
          </a:prstGeom>
          <a:noFill/>
        </p:spPr>
        <p:txBody>
          <a:bodyPr wrap="square" anchor="t" lIns="0" rIns="0" tIns="0" bIns="0">
            <a:spAutoFit/>
          </a:bodyPr>
          <a:lstStyle/>
          <a:p>
            <a:pPr algn="l">
              <a:lnSpc>
                <a:spcPct val="110000"/>
              </a:lnSpc>
              <a:spcAft>
                <a:spcPts val="200"/>
              </a:spcAft>
            </a:pPr>
            <a:r>
              <a:rPr sz="1300" b="1" i="0">
                <a:solidFill>
                  <a:srgbClr val="B9CDEE"/>
                </a:solidFill>
                <a:latin typeface="Calibri"/>
                <a:ea typeface="Calibri"/>
              </a:rPr>
              <a:t>THE HONG KONG POLYTECHNIC UNIVERSITY · DEPARTMENT OF COMPUTING</a:t>
            </a:r>
            <a:r>
              <a:rPr sz="1700" b="1" i="0">
                <a:solidFill>
                  <a:srgbClr val="FFFFFF"/>
                </a:solidFill>
                <a:latin typeface="Calibri"/>
                <a:ea typeface="Calibri"/>
              </a:rPr>
              <a:t>
COMP3421 Web Application Design and Development</a:t>
            </a:r>
          </a:p>
        </p:txBody>
      </p:sp>
      <p:sp>
        <p:nvSpPr>
          <p:cNvPr id="5" name="Rounded Rectangle 4"/>
          <p:cNvSpPr/>
          <p:nvPr/>
        </p:nvSpPr>
        <p:spPr>
          <a:xfrm>
            <a:off x="548640" y="1783080"/>
            <a:ext cx="1691640" cy="457200"/>
          </a:xfrm>
          <a:prstGeom prst="roundRect">
            <a:avLst>
              <a:gd name="adj" fmla="val 50000"/>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47088"/>
            <a:ext cx="1691640" cy="329184"/>
          </a:xfrm>
          <a:prstGeom prst="rect">
            <a:avLst/>
          </a:prstGeom>
          <a:noFill/>
        </p:spPr>
        <p:txBody>
          <a:bodyPr wrap="square" anchor="t" lIns="0" rIns="0" tIns="0" bIns="0">
            <a:spAutoFit/>
          </a:bodyPr>
          <a:lstStyle/>
          <a:p>
            <a:pPr algn="ctr">
              <a:lnSpc>
                <a:spcPct val="110000"/>
              </a:lnSpc>
              <a:spcAft>
                <a:spcPts val="400"/>
              </a:spcAft>
            </a:pPr>
            <a:r>
              <a:rPr sz="1600" b="1" i="0">
                <a:solidFill>
                  <a:srgbClr val="FFFFFF"/>
                </a:solidFill>
                <a:latin typeface="Calibri"/>
                <a:ea typeface="Calibri"/>
              </a:rPr>
              <a:t>COMP3421</a:t>
            </a:r>
          </a:p>
        </p:txBody>
      </p:sp>
      <p:sp>
        <p:nvSpPr>
          <p:cNvPr id="7" name="TextBox 6"/>
          <p:cNvSpPr txBox="1"/>
          <p:nvPr/>
        </p:nvSpPr>
        <p:spPr>
          <a:xfrm>
            <a:off x="548640" y="2514600"/>
            <a:ext cx="11064240" cy="1463040"/>
          </a:xfrm>
          <a:prstGeom prst="rect">
            <a:avLst/>
          </a:prstGeom>
          <a:noFill/>
        </p:spPr>
        <p:txBody>
          <a:bodyPr wrap="square" anchor="t" lIns="0" rIns="0" tIns="0" bIns="0">
            <a:spAutoFit/>
          </a:bodyPr>
          <a:lstStyle/>
          <a:p>
            <a:pPr algn="l">
              <a:lnSpc>
                <a:spcPct val="105000"/>
              </a:lnSpc>
              <a:spcAft>
                <a:spcPts val="400"/>
              </a:spcAft>
            </a:pPr>
            <a:r>
              <a:rPr sz="4400" b="1" i="0">
                <a:solidFill>
                  <a:srgbClr val="FFFFFF"/>
                </a:solidFill>
                <a:latin typeface="Calibri"/>
                <a:ea typeface="Calibri"/>
              </a:rPr>
              <a:t>CSS III — Layout, Animation &amp; Miscellaneous</a:t>
            </a:r>
          </a:p>
        </p:txBody>
      </p:sp>
      <p:sp>
        <p:nvSpPr>
          <p:cNvPr id="8" name="TextBox 7"/>
          <p:cNvSpPr txBox="1"/>
          <p:nvPr/>
        </p:nvSpPr>
        <p:spPr>
          <a:xfrm>
            <a:off x="548640" y="3794760"/>
            <a:ext cx="11064240" cy="822960"/>
          </a:xfrm>
          <a:prstGeom prst="rect">
            <a:avLst/>
          </a:prstGeom>
          <a:noFill/>
        </p:spPr>
        <p:txBody>
          <a:bodyPr wrap="square" anchor="t" lIns="0" rIns="0" tIns="0" bIns="0">
            <a:spAutoFit/>
          </a:bodyPr>
          <a:lstStyle/>
          <a:p>
            <a:pPr algn="l">
              <a:lnSpc>
                <a:spcPct val="125000"/>
              </a:lnSpc>
              <a:spcAft>
                <a:spcPts val="400"/>
              </a:spcAft>
            </a:pPr>
            <a:r>
              <a:rPr sz="1900" b="0" i="0">
                <a:solidFill>
                  <a:srgbClr val="B9CDEE"/>
                </a:solidFill>
                <a:latin typeface="Calibri"/>
                <a:ea typeface="Calibri"/>
              </a:rPr>
              <a:t>Normal flow, positioning and responsive layout; transforms, transitions and keyframes for motion; variables, shadows, display and icons for everything else.</a:t>
            </a:r>
          </a:p>
        </p:txBody>
      </p:sp>
      <p:sp>
        <p:nvSpPr>
          <p:cNvPr id="9" name="TextBox 8"/>
          <p:cNvSpPr txBox="1"/>
          <p:nvPr/>
        </p:nvSpPr>
        <p:spPr>
          <a:xfrm>
            <a:off x="548640" y="4846320"/>
            <a:ext cx="11064240" cy="365760"/>
          </a:xfrm>
          <a:prstGeom prst="rect">
            <a:avLst/>
          </a:prstGeom>
          <a:noFill/>
        </p:spPr>
        <p:txBody>
          <a:bodyPr wrap="square" anchor="t" lIns="0" rIns="0" tIns="0" bIns="0">
            <a:spAutoFit/>
          </a:bodyPr>
          <a:lstStyle/>
          <a:p>
            <a:pPr algn="l">
              <a:lnSpc>
                <a:spcPct val="110000"/>
              </a:lnSpc>
              <a:spcAft>
                <a:spcPts val="400"/>
              </a:spcAft>
            </a:pPr>
            <a:r>
              <a:rPr sz="1400" b="1" i="0">
                <a:solidFill>
                  <a:srgbClr val="FFFFFF"/>
                </a:solidFill>
                <a:latin typeface="Calibri"/>
                <a:ea typeface="Calibri"/>
              </a:rPr>
              <a:t>COMP3421 · LECTURE 05 · WEEK 5</a:t>
            </a:r>
          </a:p>
        </p:txBody>
      </p:sp>
      <p:sp>
        <p:nvSpPr>
          <p:cNvPr id="10" name="TextBox 9"/>
          <p:cNvSpPr txBox="1"/>
          <p:nvPr/>
        </p:nvSpPr>
        <p:spPr>
          <a:xfrm>
            <a:off x="548640" y="5257800"/>
            <a:ext cx="11064240" cy="292608"/>
          </a:xfrm>
          <a:prstGeom prst="rect">
            <a:avLst/>
          </a:prstGeom>
          <a:noFill/>
        </p:spPr>
        <p:txBody>
          <a:bodyPr wrap="square" anchor="t" lIns="0" rIns="0" tIns="0" bIns="0">
            <a:spAutoFit/>
          </a:bodyPr>
          <a:lstStyle/>
          <a:p>
            <a:pPr algn="l">
              <a:lnSpc>
                <a:spcPct val="110000"/>
              </a:lnSpc>
              <a:spcAft>
                <a:spcPts val="400"/>
              </a:spcAft>
            </a:pPr>
            <a:r>
              <a:rPr sz="1300" b="0" i="0">
                <a:solidFill>
                  <a:srgbClr val="B9CDEE"/>
                </a:solidFill>
                <a:latin typeface="Calibri"/>
                <a:ea typeface="Calibri"/>
              </a:rPr>
              <a:t>Lecture 5 · Week 5 · Wed 12:30–14:20 · HHBUG06</a:t>
            </a:r>
          </a:p>
        </p:txBody>
      </p:sp>
      <p:sp>
        <p:nvSpPr>
          <p:cNvPr id="11" name="TextBox 10"/>
          <p:cNvSpPr txBox="1"/>
          <p:nvPr/>
        </p:nvSpPr>
        <p:spPr>
          <a:xfrm>
            <a:off x="548640" y="5605272"/>
            <a:ext cx="11064240" cy="292608"/>
          </a:xfrm>
          <a:prstGeom prst="rect">
            <a:avLst/>
          </a:prstGeom>
          <a:noFill/>
        </p:spPr>
        <p:txBody>
          <a:bodyPr wrap="square" anchor="t" lIns="0" rIns="0" tIns="0" bIns="0">
            <a:spAutoFit/>
          </a:bodyPr>
          <a:lstStyle/>
          <a:p>
            <a:pPr algn="l">
              <a:lnSpc>
                <a:spcPct val="110000"/>
              </a:lnSpc>
              <a:spcAft>
                <a:spcPts val="400"/>
              </a:spcAft>
            </a:pPr>
            <a:r>
              <a:rPr sz="1300" b="0" i="0">
                <a:solidFill>
                  <a:srgbClr val="B9CDEE"/>
                </a:solidFill>
                <a:latin typeface="Calibri"/>
                <a:ea typeface="Calibri"/>
              </a:rPr>
              <a:t>Examples &amp; code:  </a:t>
            </a:r>
            <a:r>
              <a:rPr sz="1300" b="1" i="0">
                <a:solidFill>
                  <a:srgbClr val="FFFFFF"/>
                </a:solidFill>
                <a:latin typeface="Calibri"/>
                <a:ea typeface="Calibri"/>
                <a:hlinkClick r:id="rId2"/>
                <a:extLst>
                  <a:ext uri="{A12FA001-AC4F-418D-AE19-62706E023703}">
                    <ahyp:hlinkClr xmlns:ahyp="http://schemas.microsoft.com/office/drawing/2018/hyperlinkcolor" val="tx"/>
                  </a:ext>
                </a:extLst>
              </a:rPr>
              <a:t>tagsysx.github.io/comp3421/</a:t>
            </a:r>
          </a:p>
        </p:txBody>
      </p:sp>
      <p:sp>
        <p:nvSpPr>
          <p:cNvPr id="12" name="TextBox 11"/>
          <p:cNvSpPr txBox="1"/>
          <p:nvPr/>
        </p:nvSpPr>
        <p:spPr>
          <a:xfrm>
            <a:off x="548640" y="5952744"/>
            <a:ext cx="11064240" cy="292608"/>
          </a:xfrm>
          <a:prstGeom prst="rect">
            <a:avLst/>
          </a:prstGeom>
          <a:noFill/>
        </p:spPr>
        <p:txBody>
          <a:bodyPr wrap="square" anchor="t" lIns="0" rIns="0" tIns="0" bIns="0">
            <a:spAutoFit/>
          </a:bodyPr>
          <a:lstStyle/>
          <a:p>
            <a:pPr algn="l">
              <a:lnSpc>
                <a:spcPct val="110000"/>
              </a:lnSpc>
              <a:spcAft>
                <a:spcPts val="400"/>
              </a:spcAft>
            </a:pPr>
            <a:r>
              <a:rPr sz="1300" b="1" i="0">
                <a:solidFill>
                  <a:srgbClr val="FFFFFF"/>
                </a:solidFill>
                <a:latin typeface="Calibri"/>
                <a:ea typeface="Calibri"/>
              </a:rPr>
              <a:t>Prof. Lei Yang</a:t>
            </a:r>
          </a:p>
        </p:txBody>
      </p:sp>
      <p:sp>
        <p:nvSpPr>
          <p:cNvPr id="13" name="TextBox 12"/>
          <p:cNvSpPr txBox="1"/>
          <p:nvPr/>
        </p:nvSpPr>
        <p:spPr>
          <a:xfrm>
            <a:off x="548640" y="6053328"/>
            <a:ext cx="11064240" cy="274320"/>
          </a:xfrm>
          <a:prstGeom prst="rect">
            <a:avLst/>
          </a:prstGeom>
          <a:noFill/>
        </p:spPr>
        <p:txBody>
          <a:bodyPr wrap="square" anchor="t" lIns="0" rIns="0" tIns="0" bIns="0">
            <a:spAutoFit/>
          </a:bodyPr>
          <a:lstStyle/>
          <a:p>
            <a:pPr algn="r">
              <a:lnSpc>
                <a:spcPct val="110000"/>
              </a:lnSpc>
              <a:spcAft>
                <a:spcPts val="400"/>
              </a:spcAft>
            </a:pPr>
            <a:r>
              <a:rPr sz="1100" b="0" i="0">
                <a:solidFill>
                  <a:srgbClr val="9DC0EE"/>
                </a:solidFill>
                <a:latin typeface="Calibri"/>
                <a:ea typeface="Calibri"/>
              </a:rPr>
              <a:t>version  </a:t>
            </a:r>
            <a:r>
              <a:rPr sz="1100" b="1" i="0">
                <a:solidFill>
                  <a:srgbClr val="FFFFFF"/>
                </a:solidFill>
                <a:latin typeface="Calibri"/>
                <a:ea typeface="Calibri"/>
              </a:rPr>
              <a:t>202609300900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85800"/>
            <a:ext cx="5486400" cy="320040"/>
          </a:xfrm>
          <a:prstGeom prst="rect">
            <a:avLst/>
          </a:prstGeom>
          <a:noFill/>
        </p:spPr>
        <p:txBody>
          <a:bodyPr wrap="square" anchor="t" lIns="0" rIns="0" tIns="0" bIns="0">
            <a:spAutoFit/>
          </a:bodyPr>
          <a:lstStyle/>
          <a:p>
            <a:pPr algn="l">
              <a:lnSpc>
                <a:spcPct val="110000"/>
              </a:lnSpc>
              <a:spcAft>
                <a:spcPts val="400"/>
              </a:spcAft>
            </a:pPr>
            <a:r>
              <a:rPr sz="1200" b="1" i="0">
                <a:solidFill>
                  <a:srgbClr val="1E4FA8"/>
                </a:solidFill>
                <a:latin typeface="Calibri"/>
                <a:ea typeface="Calibri"/>
              </a:rPr>
              <a:t>COMP3421</a:t>
            </a:r>
          </a:p>
        </p:txBody>
      </p:sp>
      <p:sp>
        <p:nvSpPr>
          <p:cNvPr id="3" name="TextBox 2"/>
          <p:cNvSpPr txBox="1"/>
          <p:nvPr/>
        </p:nvSpPr>
        <p:spPr>
          <a:xfrm>
            <a:off x="548640" y="1234440"/>
            <a:ext cx="11094415" cy="822960"/>
          </a:xfrm>
          <a:prstGeom prst="rect">
            <a:avLst/>
          </a:prstGeom>
          <a:noFill/>
        </p:spPr>
        <p:txBody>
          <a:bodyPr wrap="square" anchor="t" lIns="0" rIns="0" tIns="0" bIns="0">
            <a:spAutoFit/>
          </a:bodyPr>
          <a:lstStyle/>
          <a:p>
            <a:pPr algn="l">
              <a:lnSpc>
                <a:spcPct val="110000"/>
              </a:lnSpc>
              <a:spcAft>
                <a:spcPts val="400"/>
              </a:spcAft>
            </a:pPr>
            <a:r>
              <a:rPr sz="3000" b="1" i="0">
                <a:solidFill>
                  <a:srgbClr val="1A2230"/>
                </a:solidFill>
                <a:latin typeface="Calibri"/>
                <a:ea typeface="Calibri"/>
              </a:rPr>
              <a:t>Classroom Recording &amp; Sharing Policy</a:t>
            </a:r>
          </a:p>
        </p:txBody>
      </p:sp>
      <p:sp>
        <p:nvSpPr>
          <p:cNvPr id="4" name="Rectangle 3"/>
          <p:cNvSpPr/>
          <p:nvPr/>
        </p:nvSpPr>
        <p:spPr>
          <a:xfrm>
            <a:off x="548640" y="2331720"/>
            <a:ext cx="1463040" cy="4572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880360"/>
            <a:ext cx="9448495" cy="1463040"/>
          </a:xfrm>
          <a:prstGeom prst="rect">
            <a:avLst/>
          </a:prstGeom>
          <a:noFill/>
        </p:spPr>
        <p:txBody>
          <a:bodyPr wrap="square" anchor="t" lIns="0" rIns="0" tIns="0" bIns="0">
            <a:spAutoFit/>
          </a:bodyPr>
          <a:lstStyle/>
          <a:p>
            <a:pPr algn="ctr">
              <a:lnSpc>
                <a:spcPct val="145000"/>
              </a:lnSpc>
              <a:spcAft>
                <a:spcPts val="400"/>
              </a:spcAft>
            </a:pPr>
            <a:r>
              <a:rPr sz="1700" b="0" i="0">
                <a:solidFill>
                  <a:srgbClr val="4A5568"/>
                </a:solidFill>
                <a:latin typeface="Calibri"/>
                <a:ea typeface="Calibri"/>
              </a:rPr>
              <a:t>Please do not photograph, audio/video record, or upload any lecture content to the Internet or social media without prior permission from the instructor. Course materials are provided for personal learning only and should not be redistributed without authorization.</a:t>
            </a:r>
          </a:p>
        </p:txBody>
      </p:sp>
      <p:sp>
        <p:nvSpPr>
          <p:cNvPr id="6" name="Rounded Rectangle 5"/>
          <p:cNvSpPr/>
          <p:nvPr/>
        </p:nvSpPr>
        <p:spPr>
          <a:xfrm>
            <a:off x="548640" y="4892040"/>
            <a:ext cx="11094415" cy="777240"/>
          </a:xfrm>
          <a:prstGeom prst="roundRect">
            <a:avLst>
              <a:gd name="adj" fmla="val 8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892040"/>
            <a:ext cx="10362895" cy="777240"/>
          </a:xfrm>
          <a:prstGeom prst="rect">
            <a:avLst/>
          </a:prstGeom>
          <a:noFill/>
        </p:spPr>
        <p:txBody>
          <a:bodyPr wrap="square" anchor="ctr" lIns="0" rIns="0" tIns="0" bIns="0">
            <a:spAutoFit/>
          </a:bodyPr>
          <a:lstStyle/>
          <a:p>
            <a:pPr algn="ctr">
              <a:lnSpc>
                <a:spcPct val="110000"/>
              </a:lnSpc>
              <a:spcAft>
                <a:spcPts val="400"/>
              </a:spcAft>
            </a:pPr>
            <a:r>
              <a:rPr sz="1700" b="1" i="0">
                <a:solidFill>
                  <a:srgbClr val="FFFFFF"/>
                </a:solidFill>
                <a:latin typeface="Calibri"/>
                <a:ea typeface="Calibri"/>
              </a:rPr>
              <a:t>Do not photograph, record, reproduce, or upload classroom content without permission.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85800"/>
            <a:ext cx="5486400" cy="320040"/>
          </a:xfrm>
          <a:prstGeom prst="rect">
            <a:avLst/>
          </a:prstGeom>
          <a:noFill/>
        </p:spPr>
        <p:txBody>
          <a:bodyPr wrap="square" anchor="t" lIns="0" rIns="0" tIns="0" bIns="0">
            <a:spAutoFit/>
          </a:bodyPr>
          <a:lstStyle/>
          <a:p>
            <a:pPr algn="l">
              <a:lnSpc>
                <a:spcPct val="110000"/>
              </a:lnSpc>
              <a:spcAft>
                <a:spcPts val="400"/>
              </a:spcAft>
            </a:pPr>
            <a:r>
              <a:rPr sz="1200" b="1" i="0">
                <a:solidFill>
                  <a:srgbClr val="1E4FA8"/>
                </a:solidFill>
                <a:latin typeface="Calibri"/>
                <a:ea typeface="Calibri"/>
              </a:rPr>
              <a:t>COMP3421 · LECTURE 05</a:t>
            </a:r>
          </a:p>
        </p:txBody>
      </p:sp>
      <p:sp>
        <p:nvSpPr>
          <p:cNvPr id="3" name="TextBox 2"/>
          <p:cNvSpPr txBox="1"/>
          <p:nvPr/>
        </p:nvSpPr>
        <p:spPr>
          <a:xfrm>
            <a:off x="548640" y="1024128"/>
            <a:ext cx="10972800" cy="731520"/>
          </a:xfrm>
          <a:prstGeom prst="rect">
            <a:avLst/>
          </a:prstGeom>
          <a:noFill/>
        </p:spPr>
        <p:txBody>
          <a:bodyPr wrap="square" anchor="t" lIns="0" rIns="0" tIns="0" bIns="0">
            <a:spAutoFit/>
          </a:bodyPr>
          <a:lstStyle/>
          <a:p>
            <a:pPr algn="l">
              <a:lnSpc>
                <a:spcPct val="110000"/>
              </a:lnSpc>
              <a:spcAft>
                <a:spcPts val="400"/>
              </a:spcAft>
            </a:pPr>
            <a:r>
              <a:rPr sz="4000" b="1" i="0">
                <a:solidFill>
                  <a:srgbClr val="1A2230"/>
                </a:solidFill>
                <a:latin typeface="Calibri"/>
                <a:ea typeface="Calibri"/>
              </a:rPr>
              <a:t>Agenda</a:t>
            </a:r>
          </a:p>
        </p:txBody>
      </p:sp>
      <p:sp>
        <p:nvSpPr>
          <p:cNvPr id="4" name="TextBox 3"/>
          <p:cNvSpPr txBox="1"/>
          <p:nvPr/>
        </p:nvSpPr>
        <p:spPr>
          <a:xfrm>
            <a:off x="594360" y="1874519"/>
            <a:ext cx="10820095" cy="4343400"/>
          </a:xfrm>
          <a:prstGeom prst="rect">
            <a:avLst/>
          </a:prstGeom>
          <a:noFill/>
        </p:spPr>
        <p:txBody>
          <a:bodyPr wrap="square" lIns="0" rIns="0" tIns="0" bIns="0">
            <a:normAutofit/>
          </a:bodyPr>
          <a:lstStyle/>
          <a:p>
            <a:pPr>
              <a:lnSpc>
                <a:spcPct val="110000"/>
              </a:lnSpc>
              <a:spcAft>
                <a:spcPts val="800"/>
              </a:spcAft>
            </a:pPr>
            <a:r>
              <a:rPr sz="2000" b="1" i="0">
                <a:solidFill>
                  <a:srgbClr val="1A2230"/>
                </a:solidFill>
                <a:latin typeface="Calibri"/>
                <a:ea typeface="Calibri"/>
              </a:rPr>
              <a:t>01. CSS Layout</a:t>
            </a:r>
            <a:br/>
            <a:r>
              <a:rPr sz="1350" b="0" i="0">
                <a:solidFill>
                  <a:srgbClr val="4A5568"/>
                </a:solidFill>
                <a:latin typeface="Calibri"/>
                <a:ea typeface="Calibri"/>
              </a:rPr>
              <a:t>Normal flow, the five position values and z-index. Responsive design: fluid layout, media queries and breakpoints. Flexbox and Grid to read on your own, one page each.</a:t>
            </a:r>
          </a:p>
          <a:p>
            <a:pPr>
              <a:lnSpc>
                <a:spcPct val="110000"/>
              </a:lnSpc>
              <a:spcAft>
                <a:spcPts val="800"/>
              </a:spcAft>
            </a:pPr>
            <a:r>
              <a:rPr sz="2000" b="1" i="0">
                <a:solidFill>
                  <a:srgbClr val="1A2230"/>
                </a:solidFill>
                <a:latin typeface="Calibri"/>
                <a:ea typeface="Calibri"/>
              </a:rPr>
              <a:t>02. Animation</a:t>
            </a:r>
            <a:br/>
            <a:r>
              <a:rPr sz="1350" b="0" i="0">
                <a:solidFill>
                  <a:srgbClr val="B8860B"/>
                </a:solidFill>
                <a:latin typeface="Consolas"/>
                <a:ea typeface="Consolas"/>
              </a:rPr>
              <a:t>transform</a:t>
            </a:r>
            <a:r>
              <a:rPr sz="1350" b="0" i="0">
                <a:solidFill>
                  <a:srgbClr val="4A5568"/>
                </a:solidFill>
                <a:latin typeface="Calibri"/>
                <a:ea typeface="Calibri"/>
              </a:rPr>
              <a:t> reshapes a box; transition smooths a change you trigger; @keyframes plus animation runs a whole sequence on its own.</a:t>
            </a:r>
          </a:p>
          <a:p>
            <a:pPr>
              <a:lnSpc>
                <a:spcPct val="110000"/>
              </a:lnSpc>
              <a:spcAft>
                <a:spcPts val="800"/>
              </a:spcAft>
            </a:pPr>
            <a:r>
              <a:rPr sz="2000" b="1" i="0">
                <a:solidFill>
                  <a:srgbClr val="1A2230"/>
                </a:solidFill>
                <a:latin typeface="Calibri"/>
                <a:ea typeface="Calibri"/>
              </a:rPr>
              <a:t>03. Miscellaneous</a:t>
            </a:r>
            <a:br/>
            <a:r>
              <a:rPr sz="1350" b="0" i="0">
                <a:solidFill>
                  <a:srgbClr val="4A5568"/>
                </a:solidFill>
                <a:latin typeface="Calibri"/>
                <a:ea typeface="Calibri"/>
              </a:rPr>
              <a:t>CSS variables. Icons, box-shadow. display, visibility and opacity.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01</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CSS Layout</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Normal flow — and the five ways to leave it</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Responsive design: media queries and breakpoints</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Flexbox and Grid — a self-study page each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Normal Flow — Boxes in Order</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Layout</a:t>
            </a:r>
          </a:p>
        </p:txBody>
      </p:sp>
      <p:sp>
        <p:nvSpPr>
          <p:cNvPr id="5" name="TextBox 4"/>
          <p:cNvSpPr txBox="1"/>
          <p:nvPr/>
        </p:nvSpPr>
        <p:spPr>
          <a:xfrm>
            <a:off x="548640" y="914400"/>
            <a:ext cx="11094415" cy="329184"/>
          </a:xfrm>
          <a:prstGeom prst="rect">
            <a:avLst/>
          </a:prstGeom>
          <a:noFill/>
        </p:spPr>
        <p:txBody>
          <a:bodyPr wrap="square" anchor="t" lIns="0" rIns="0" tIns="0" bIns="0">
            <a:spAutoFit/>
          </a:bodyPr>
          <a:lstStyle/>
          <a:p>
            <a:pPr algn="l">
              <a:lnSpc>
                <a:spcPct val="110000"/>
              </a:lnSpc>
              <a:spcAft>
                <a:spcPts val="0"/>
              </a:spcAft>
            </a:pPr>
            <a:r>
              <a:rPr sz="1350" b="0" i="0">
                <a:solidFill>
                  <a:srgbClr val="4A5568"/>
                </a:solidFill>
                <a:latin typeface="Calibri"/>
                <a:ea typeface="Calibri"/>
              </a:rPr>
              <a:t>Nowhere on this page is a position set. The browser fills each line from the left, and starts a new line when the line is full.</a:t>
            </a:r>
          </a:p>
        </p:txBody>
      </p:sp>
      <p:sp>
        <p:nvSpPr>
          <p:cNvPr id="6" name="Rounded Rectangle 5"/>
          <p:cNvSpPr/>
          <p:nvPr/>
        </p:nvSpPr>
        <p:spPr>
          <a:xfrm>
            <a:off x="548640" y="1371600"/>
            <a:ext cx="11094415" cy="4041648"/>
          </a:xfrm>
          <a:prstGeom prst="roundRect">
            <a:avLst>
              <a:gd name="adj" fmla="val 3000"/>
            </a:avLst>
          </a:prstGeom>
          <a:solidFill>
            <a:srgbClr val="FFFFFF"/>
          </a:solidFill>
          <a:ln w="12700">
            <a:solidFill>
              <a:srgbClr val="C9D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449324"/>
            <a:ext cx="10655503" cy="237744"/>
          </a:xfrm>
          <a:prstGeom prst="rect">
            <a:avLst/>
          </a:prstGeom>
          <a:noFill/>
        </p:spPr>
        <p:txBody>
          <a:bodyPr wrap="square" anchor="t" lIns="0" rIns="0" tIns="0" bIns="0">
            <a:spAutoFit/>
          </a:bodyPr>
          <a:lstStyle/>
          <a:p>
            <a:pPr algn="l">
              <a:lnSpc>
                <a:spcPct val="110000"/>
              </a:lnSpc>
              <a:spcAft>
                <a:spcPts val="0"/>
              </a:spcAft>
            </a:pPr>
            <a:r>
              <a:rPr sz="1050" b="1" i="0">
                <a:solidFill>
                  <a:srgbClr val="4A5568"/>
                </a:solidFill>
                <a:latin typeface="Calibri"/>
                <a:ea typeface="Calibri"/>
              </a:rPr>
              <a:t>THE PAGE · no position set · (0, 0) is the top-left corner · the numbers are the order the browser fills them in</a:t>
            </a:r>
          </a:p>
        </p:txBody>
      </p:sp>
      <p:sp>
        <p:nvSpPr>
          <p:cNvPr id="8" name="Rounded Rectangle 7"/>
          <p:cNvSpPr/>
          <p:nvPr/>
        </p:nvSpPr>
        <p:spPr>
          <a:xfrm>
            <a:off x="768096" y="1737360"/>
            <a:ext cx="1882749" cy="896112"/>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37360"/>
            <a:ext cx="1882749" cy="896112"/>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1</a:t>
            </a:r>
          </a:p>
        </p:txBody>
      </p:sp>
      <p:sp>
        <p:nvSpPr>
          <p:cNvPr id="10" name="TextBox 9"/>
          <p:cNvSpPr txBox="1"/>
          <p:nvPr/>
        </p:nvSpPr>
        <p:spPr>
          <a:xfrm>
            <a:off x="2650845" y="1737360"/>
            <a:ext cx="310896" cy="896112"/>
          </a:xfrm>
          <a:prstGeom prst="rect">
            <a:avLst/>
          </a:prstGeom>
          <a:noFill/>
        </p:spPr>
        <p:txBody>
          <a:bodyPr wrap="square" anchor="ctr" lIns="0" rIns="0" tIns="0" bIns="0">
            <a:spAutoFit/>
          </a:bodyPr>
          <a:lstStyle/>
          <a:p>
            <a:pPr algn="ctr">
              <a:lnSpc>
                <a:spcPct val="110000"/>
              </a:lnSpc>
              <a:spcAft>
                <a:spcPts val="0"/>
              </a:spcAft>
            </a:pPr>
            <a:r>
              <a:rPr sz="1400" b="0" i="0">
                <a:solidFill>
                  <a:srgbClr val="1E4FA8"/>
                </a:solidFill>
                <a:latin typeface="Calibri"/>
                <a:ea typeface="Calibri"/>
              </a:rPr>
              <a:t>→</a:t>
            </a:r>
          </a:p>
        </p:txBody>
      </p:sp>
      <p:sp>
        <p:nvSpPr>
          <p:cNvPr id="11" name="Rounded Rectangle 10"/>
          <p:cNvSpPr/>
          <p:nvPr/>
        </p:nvSpPr>
        <p:spPr>
          <a:xfrm>
            <a:off x="2961741" y="1737360"/>
            <a:ext cx="1882749" cy="896112"/>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61741" y="1737360"/>
            <a:ext cx="1882749" cy="896112"/>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2</a:t>
            </a:r>
          </a:p>
        </p:txBody>
      </p:sp>
      <p:sp>
        <p:nvSpPr>
          <p:cNvPr id="13" name="TextBox 12"/>
          <p:cNvSpPr txBox="1"/>
          <p:nvPr/>
        </p:nvSpPr>
        <p:spPr>
          <a:xfrm>
            <a:off x="4844491" y="1737360"/>
            <a:ext cx="310896" cy="896112"/>
          </a:xfrm>
          <a:prstGeom prst="rect">
            <a:avLst/>
          </a:prstGeom>
          <a:noFill/>
        </p:spPr>
        <p:txBody>
          <a:bodyPr wrap="square" anchor="ctr" lIns="0" rIns="0" tIns="0" bIns="0">
            <a:spAutoFit/>
          </a:bodyPr>
          <a:lstStyle/>
          <a:p>
            <a:pPr algn="ctr">
              <a:lnSpc>
                <a:spcPct val="110000"/>
              </a:lnSpc>
              <a:spcAft>
                <a:spcPts val="0"/>
              </a:spcAft>
            </a:pPr>
            <a:r>
              <a:rPr sz="1400" b="0" i="0">
                <a:solidFill>
                  <a:srgbClr val="1E4FA8"/>
                </a:solidFill>
                <a:latin typeface="Calibri"/>
                <a:ea typeface="Calibri"/>
              </a:rPr>
              <a:t>→</a:t>
            </a:r>
          </a:p>
        </p:txBody>
      </p:sp>
      <p:sp>
        <p:nvSpPr>
          <p:cNvPr id="14" name="Rounded Rectangle 13"/>
          <p:cNvSpPr/>
          <p:nvPr/>
        </p:nvSpPr>
        <p:spPr>
          <a:xfrm>
            <a:off x="5154472" y="1737360"/>
            <a:ext cx="1882749" cy="896112"/>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54472" y="1737360"/>
            <a:ext cx="1882749" cy="896112"/>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3</a:t>
            </a:r>
          </a:p>
        </p:txBody>
      </p:sp>
      <p:sp>
        <p:nvSpPr>
          <p:cNvPr id="16" name="TextBox 15"/>
          <p:cNvSpPr txBox="1"/>
          <p:nvPr/>
        </p:nvSpPr>
        <p:spPr>
          <a:xfrm>
            <a:off x="7037222" y="1737360"/>
            <a:ext cx="310896" cy="896112"/>
          </a:xfrm>
          <a:prstGeom prst="rect">
            <a:avLst/>
          </a:prstGeom>
          <a:noFill/>
        </p:spPr>
        <p:txBody>
          <a:bodyPr wrap="square" anchor="ctr" lIns="0" rIns="0" tIns="0" bIns="0">
            <a:spAutoFit/>
          </a:bodyPr>
          <a:lstStyle/>
          <a:p>
            <a:pPr algn="ctr">
              <a:lnSpc>
                <a:spcPct val="110000"/>
              </a:lnSpc>
              <a:spcAft>
                <a:spcPts val="0"/>
              </a:spcAft>
            </a:pPr>
            <a:r>
              <a:rPr sz="1400" b="0" i="0">
                <a:solidFill>
                  <a:srgbClr val="1E4FA8"/>
                </a:solidFill>
                <a:latin typeface="Calibri"/>
                <a:ea typeface="Calibri"/>
              </a:rPr>
              <a:t>→</a:t>
            </a:r>
          </a:p>
        </p:txBody>
      </p:sp>
      <p:sp>
        <p:nvSpPr>
          <p:cNvPr id="17" name="Rounded Rectangle 16"/>
          <p:cNvSpPr/>
          <p:nvPr/>
        </p:nvSpPr>
        <p:spPr>
          <a:xfrm>
            <a:off x="7348118" y="1737360"/>
            <a:ext cx="1882749" cy="896112"/>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48118" y="1737360"/>
            <a:ext cx="1882749" cy="896112"/>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4</a:t>
            </a:r>
          </a:p>
        </p:txBody>
      </p:sp>
      <p:sp>
        <p:nvSpPr>
          <p:cNvPr id="19" name="TextBox 18"/>
          <p:cNvSpPr txBox="1"/>
          <p:nvPr/>
        </p:nvSpPr>
        <p:spPr>
          <a:xfrm>
            <a:off x="9230868" y="1737360"/>
            <a:ext cx="310896" cy="896112"/>
          </a:xfrm>
          <a:prstGeom prst="rect">
            <a:avLst/>
          </a:prstGeom>
          <a:noFill/>
        </p:spPr>
        <p:txBody>
          <a:bodyPr wrap="square" anchor="ctr" lIns="0" rIns="0" tIns="0" bIns="0">
            <a:spAutoFit/>
          </a:bodyPr>
          <a:lstStyle/>
          <a:p>
            <a:pPr algn="ctr">
              <a:lnSpc>
                <a:spcPct val="110000"/>
              </a:lnSpc>
              <a:spcAft>
                <a:spcPts val="0"/>
              </a:spcAft>
            </a:pPr>
            <a:r>
              <a:rPr sz="1400" b="0" i="0">
                <a:solidFill>
                  <a:srgbClr val="1E4FA8"/>
                </a:solidFill>
                <a:latin typeface="Calibri"/>
                <a:ea typeface="Calibri"/>
              </a:rPr>
              <a:t>→</a:t>
            </a:r>
          </a:p>
        </p:txBody>
      </p:sp>
      <p:sp>
        <p:nvSpPr>
          <p:cNvPr id="20" name="Rounded Rectangle 19"/>
          <p:cNvSpPr/>
          <p:nvPr/>
        </p:nvSpPr>
        <p:spPr>
          <a:xfrm>
            <a:off x="9540849" y="1737360"/>
            <a:ext cx="1882749" cy="896112"/>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40849" y="1737360"/>
            <a:ext cx="1882749" cy="896112"/>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5</a:t>
            </a:r>
          </a:p>
        </p:txBody>
      </p:sp>
      <p:sp>
        <p:nvSpPr>
          <p:cNvPr id="22" name="Rounded Rectangle 21"/>
          <p:cNvSpPr/>
          <p:nvPr/>
        </p:nvSpPr>
        <p:spPr>
          <a:xfrm>
            <a:off x="768096" y="3017520"/>
            <a:ext cx="1882749" cy="896112"/>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3017520"/>
            <a:ext cx="1882749" cy="896112"/>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6</a:t>
            </a:r>
          </a:p>
        </p:txBody>
      </p:sp>
      <p:sp>
        <p:nvSpPr>
          <p:cNvPr id="24" name="TextBox 23"/>
          <p:cNvSpPr txBox="1"/>
          <p:nvPr/>
        </p:nvSpPr>
        <p:spPr>
          <a:xfrm>
            <a:off x="2650845" y="3017520"/>
            <a:ext cx="310896" cy="896112"/>
          </a:xfrm>
          <a:prstGeom prst="rect">
            <a:avLst/>
          </a:prstGeom>
          <a:noFill/>
        </p:spPr>
        <p:txBody>
          <a:bodyPr wrap="square" anchor="ctr" lIns="0" rIns="0" tIns="0" bIns="0">
            <a:spAutoFit/>
          </a:bodyPr>
          <a:lstStyle/>
          <a:p>
            <a:pPr algn="ctr">
              <a:lnSpc>
                <a:spcPct val="110000"/>
              </a:lnSpc>
              <a:spcAft>
                <a:spcPts val="0"/>
              </a:spcAft>
            </a:pPr>
            <a:r>
              <a:rPr sz="1400" b="0" i="0">
                <a:solidFill>
                  <a:srgbClr val="1E4FA8"/>
                </a:solidFill>
                <a:latin typeface="Calibri"/>
                <a:ea typeface="Calibri"/>
              </a:rPr>
              <a:t>→</a:t>
            </a:r>
          </a:p>
        </p:txBody>
      </p:sp>
      <p:sp>
        <p:nvSpPr>
          <p:cNvPr id="25" name="Rounded Rectangle 24"/>
          <p:cNvSpPr/>
          <p:nvPr/>
        </p:nvSpPr>
        <p:spPr>
          <a:xfrm>
            <a:off x="2961741" y="3017520"/>
            <a:ext cx="1882749" cy="896112"/>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61741" y="3017520"/>
            <a:ext cx="1882749" cy="896112"/>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7</a:t>
            </a:r>
          </a:p>
        </p:txBody>
      </p:sp>
      <p:sp>
        <p:nvSpPr>
          <p:cNvPr id="27" name="TextBox 26"/>
          <p:cNvSpPr txBox="1"/>
          <p:nvPr/>
        </p:nvSpPr>
        <p:spPr>
          <a:xfrm>
            <a:off x="4844491" y="3017520"/>
            <a:ext cx="310896" cy="896112"/>
          </a:xfrm>
          <a:prstGeom prst="rect">
            <a:avLst/>
          </a:prstGeom>
          <a:noFill/>
        </p:spPr>
        <p:txBody>
          <a:bodyPr wrap="square" anchor="ctr" lIns="0" rIns="0" tIns="0" bIns="0">
            <a:spAutoFit/>
          </a:bodyPr>
          <a:lstStyle/>
          <a:p>
            <a:pPr algn="ctr">
              <a:lnSpc>
                <a:spcPct val="110000"/>
              </a:lnSpc>
              <a:spcAft>
                <a:spcPts val="0"/>
              </a:spcAft>
            </a:pPr>
            <a:r>
              <a:rPr sz="1400" b="0" i="0">
                <a:solidFill>
                  <a:srgbClr val="1E4FA8"/>
                </a:solidFill>
                <a:latin typeface="Calibri"/>
                <a:ea typeface="Calibri"/>
              </a:rPr>
              <a:t>→</a:t>
            </a:r>
          </a:p>
        </p:txBody>
      </p:sp>
      <p:sp>
        <p:nvSpPr>
          <p:cNvPr id="28" name="Rounded Rectangle 27"/>
          <p:cNvSpPr/>
          <p:nvPr/>
        </p:nvSpPr>
        <p:spPr>
          <a:xfrm>
            <a:off x="5154472" y="3017520"/>
            <a:ext cx="1882749" cy="896112"/>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54472" y="3017520"/>
            <a:ext cx="1882749" cy="896112"/>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8</a:t>
            </a:r>
          </a:p>
        </p:txBody>
      </p:sp>
      <p:sp>
        <p:nvSpPr>
          <p:cNvPr id="30" name="TextBox 29"/>
          <p:cNvSpPr txBox="1"/>
          <p:nvPr/>
        </p:nvSpPr>
        <p:spPr>
          <a:xfrm>
            <a:off x="7037222" y="3017520"/>
            <a:ext cx="310896" cy="896112"/>
          </a:xfrm>
          <a:prstGeom prst="rect">
            <a:avLst/>
          </a:prstGeom>
          <a:noFill/>
        </p:spPr>
        <p:txBody>
          <a:bodyPr wrap="square" anchor="ctr" lIns="0" rIns="0" tIns="0" bIns="0">
            <a:spAutoFit/>
          </a:bodyPr>
          <a:lstStyle/>
          <a:p>
            <a:pPr algn="ctr">
              <a:lnSpc>
                <a:spcPct val="110000"/>
              </a:lnSpc>
              <a:spcAft>
                <a:spcPts val="0"/>
              </a:spcAft>
            </a:pPr>
            <a:r>
              <a:rPr sz="1400" b="0" i="0">
                <a:solidFill>
                  <a:srgbClr val="1E4FA8"/>
                </a:solidFill>
                <a:latin typeface="Calibri"/>
                <a:ea typeface="Calibri"/>
              </a:rPr>
              <a:t>→</a:t>
            </a:r>
          </a:p>
        </p:txBody>
      </p:sp>
      <p:sp>
        <p:nvSpPr>
          <p:cNvPr id="31" name="Rounded Rectangle 30"/>
          <p:cNvSpPr/>
          <p:nvPr/>
        </p:nvSpPr>
        <p:spPr>
          <a:xfrm>
            <a:off x="7348118" y="3017520"/>
            <a:ext cx="1882749" cy="896112"/>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48118" y="3017520"/>
            <a:ext cx="1882749" cy="896112"/>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9</a:t>
            </a:r>
          </a:p>
        </p:txBody>
      </p:sp>
      <p:sp>
        <p:nvSpPr>
          <p:cNvPr id="33" name="TextBox 32"/>
          <p:cNvSpPr txBox="1"/>
          <p:nvPr/>
        </p:nvSpPr>
        <p:spPr>
          <a:xfrm>
            <a:off x="9230868" y="3017520"/>
            <a:ext cx="310896" cy="896112"/>
          </a:xfrm>
          <a:prstGeom prst="rect">
            <a:avLst/>
          </a:prstGeom>
          <a:noFill/>
        </p:spPr>
        <p:txBody>
          <a:bodyPr wrap="square" anchor="ctr" lIns="0" rIns="0" tIns="0" bIns="0">
            <a:spAutoFit/>
          </a:bodyPr>
          <a:lstStyle/>
          <a:p>
            <a:pPr algn="ctr">
              <a:lnSpc>
                <a:spcPct val="110000"/>
              </a:lnSpc>
              <a:spcAft>
                <a:spcPts val="0"/>
              </a:spcAft>
            </a:pPr>
            <a:r>
              <a:rPr sz="1400" b="0" i="0">
                <a:solidFill>
                  <a:srgbClr val="1E4FA8"/>
                </a:solidFill>
                <a:latin typeface="Calibri"/>
                <a:ea typeface="Calibri"/>
              </a:rPr>
              <a:t>→</a:t>
            </a:r>
          </a:p>
        </p:txBody>
      </p:sp>
      <p:sp>
        <p:nvSpPr>
          <p:cNvPr id="34" name="Rounded Rectangle 33"/>
          <p:cNvSpPr/>
          <p:nvPr/>
        </p:nvSpPr>
        <p:spPr>
          <a:xfrm>
            <a:off x="9540849" y="3017520"/>
            <a:ext cx="1882749" cy="896112"/>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40849" y="3017520"/>
            <a:ext cx="1882749" cy="896112"/>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10</a:t>
            </a:r>
          </a:p>
        </p:txBody>
      </p:sp>
      <p:sp>
        <p:nvSpPr>
          <p:cNvPr id="36" name="Rounded Rectangle 35"/>
          <p:cNvSpPr/>
          <p:nvPr/>
        </p:nvSpPr>
        <p:spPr>
          <a:xfrm>
            <a:off x="768096" y="4297680"/>
            <a:ext cx="1882749" cy="896112"/>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297680"/>
            <a:ext cx="1882749" cy="896112"/>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11</a:t>
            </a:r>
          </a:p>
        </p:txBody>
      </p:sp>
      <p:sp>
        <p:nvSpPr>
          <p:cNvPr id="38" name="TextBox 37"/>
          <p:cNvSpPr txBox="1"/>
          <p:nvPr/>
        </p:nvSpPr>
        <p:spPr>
          <a:xfrm>
            <a:off x="2650845" y="4297680"/>
            <a:ext cx="310896" cy="896112"/>
          </a:xfrm>
          <a:prstGeom prst="rect">
            <a:avLst/>
          </a:prstGeom>
          <a:noFill/>
        </p:spPr>
        <p:txBody>
          <a:bodyPr wrap="square" anchor="ctr" lIns="0" rIns="0" tIns="0" bIns="0">
            <a:spAutoFit/>
          </a:bodyPr>
          <a:lstStyle/>
          <a:p>
            <a:pPr algn="ctr">
              <a:lnSpc>
                <a:spcPct val="110000"/>
              </a:lnSpc>
              <a:spcAft>
                <a:spcPts val="0"/>
              </a:spcAft>
            </a:pPr>
            <a:r>
              <a:rPr sz="1400" b="0" i="0">
                <a:solidFill>
                  <a:srgbClr val="1E4FA8"/>
                </a:solidFill>
                <a:latin typeface="Calibri"/>
                <a:ea typeface="Calibri"/>
              </a:rPr>
              <a:t>→</a:t>
            </a:r>
          </a:p>
        </p:txBody>
      </p:sp>
      <p:sp>
        <p:nvSpPr>
          <p:cNvPr id="39" name="Rounded Rectangle 38"/>
          <p:cNvSpPr/>
          <p:nvPr/>
        </p:nvSpPr>
        <p:spPr>
          <a:xfrm>
            <a:off x="2961741" y="4297680"/>
            <a:ext cx="1882749" cy="896112"/>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61741" y="4297680"/>
            <a:ext cx="1882749" cy="896112"/>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12</a:t>
            </a:r>
          </a:p>
        </p:txBody>
      </p:sp>
      <p:sp>
        <p:nvSpPr>
          <p:cNvPr id="41" name="TextBox 40"/>
          <p:cNvSpPr txBox="1"/>
          <p:nvPr/>
        </p:nvSpPr>
        <p:spPr>
          <a:xfrm>
            <a:off x="4844491" y="4297680"/>
            <a:ext cx="310896" cy="896112"/>
          </a:xfrm>
          <a:prstGeom prst="rect">
            <a:avLst/>
          </a:prstGeom>
          <a:noFill/>
        </p:spPr>
        <p:txBody>
          <a:bodyPr wrap="square" anchor="ctr" lIns="0" rIns="0" tIns="0" bIns="0">
            <a:spAutoFit/>
          </a:bodyPr>
          <a:lstStyle/>
          <a:p>
            <a:pPr algn="ctr">
              <a:lnSpc>
                <a:spcPct val="110000"/>
              </a:lnSpc>
              <a:spcAft>
                <a:spcPts val="0"/>
              </a:spcAft>
            </a:pPr>
            <a:r>
              <a:rPr sz="1400" b="0" i="0">
                <a:solidFill>
                  <a:srgbClr val="1E4FA8"/>
                </a:solidFill>
                <a:latin typeface="Calibri"/>
                <a:ea typeface="Calibri"/>
              </a:rPr>
              <a:t>→</a:t>
            </a:r>
          </a:p>
        </p:txBody>
      </p:sp>
      <p:sp>
        <p:nvSpPr>
          <p:cNvPr id="42" name="Rounded Rectangle 41"/>
          <p:cNvSpPr/>
          <p:nvPr/>
        </p:nvSpPr>
        <p:spPr>
          <a:xfrm>
            <a:off x="5154472" y="4297680"/>
            <a:ext cx="1882749" cy="896112"/>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54472" y="4297680"/>
            <a:ext cx="1882749" cy="896112"/>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13</a:t>
            </a:r>
          </a:p>
        </p:txBody>
      </p:sp>
      <p:sp>
        <p:nvSpPr>
          <p:cNvPr id="44" name="TextBox 43"/>
          <p:cNvSpPr txBox="1"/>
          <p:nvPr/>
        </p:nvSpPr>
        <p:spPr>
          <a:xfrm>
            <a:off x="7037222" y="4297680"/>
            <a:ext cx="310896" cy="896112"/>
          </a:xfrm>
          <a:prstGeom prst="rect">
            <a:avLst/>
          </a:prstGeom>
          <a:noFill/>
        </p:spPr>
        <p:txBody>
          <a:bodyPr wrap="square" anchor="ctr" lIns="0" rIns="0" tIns="0" bIns="0">
            <a:spAutoFit/>
          </a:bodyPr>
          <a:lstStyle/>
          <a:p>
            <a:pPr algn="ctr">
              <a:lnSpc>
                <a:spcPct val="110000"/>
              </a:lnSpc>
              <a:spcAft>
                <a:spcPts val="0"/>
              </a:spcAft>
            </a:pPr>
            <a:r>
              <a:rPr sz="1400" b="0" i="0">
                <a:solidFill>
                  <a:srgbClr val="1E4FA8"/>
                </a:solidFill>
                <a:latin typeface="Calibri"/>
                <a:ea typeface="Calibri"/>
              </a:rPr>
              <a:t>→</a:t>
            </a:r>
          </a:p>
        </p:txBody>
      </p:sp>
      <p:sp>
        <p:nvSpPr>
          <p:cNvPr id="45" name="Rounded Rectangle 44"/>
          <p:cNvSpPr/>
          <p:nvPr/>
        </p:nvSpPr>
        <p:spPr>
          <a:xfrm>
            <a:off x="7348118" y="4297680"/>
            <a:ext cx="1882749" cy="896112"/>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48118" y="4297680"/>
            <a:ext cx="1882749" cy="896112"/>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14</a:t>
            </a:r>
          </a:p>
        </p:txBody>
      </p:sp>
      <p:sp>
        <p:nvSpPr>
          <p:cNvPr id="47" name="TextBox 46"/>
          <p:cNvSpPr txBox="1"/>
          <p:nvPr/>
        </p:nvSpPr>
        <p:spPr>
          <a:xfrm>
            <a:off x="9230868" y="4297680"/>
            <a:ext cx="310896" cy="896112"/>
          </a:xfrm>
          <a:prstGeom prst="rect">
            <a:avLst/>
          </a:prstGeom>
          <a:noFill/>
        </p:spPr>
        <p:txBody>
          <a:bodyPr wrap="square" anchor="ctr" lIns="0" rIns="0" tIns="0" bIns="0">
            <a:spAutoFit/>
          </a:bodyPr>
          <a:lstStyle/>
          <a:p>
            <a:pPr algn="ctr">
              <a:lnSpc>
                <a:spcPct val="110000"/>
              </a:lnSpc>
              <a:spcAft>
                <a:spcPts val="0"/>
              </a:spcAft>
            </a:pPr>
            <a:r>
              <a:rPr sz="1400" b="0" i="0">
                <a:solidFill>
                  <a:srgbClr val="1E4FA8"/>
                </a:solidFill>
                <a:latin typeface="Calibri"/>
                <a:ea typeface="Calibri"/>
              </a:rPr>
              <a:t>→</a:t>
            </a:r>
          </a:p>
        </p:txBody>
      </p:sp>
      <p:sp>
        <p:nvSpPr>
          <p:cNvPr id="48" name="Rounded Rectangle 47"/>
          <p:cNvSpPr/>
          <p:nvPr/>
        </p:nvSpPr>
        <p:spPr>
          <a:xfrm>
            <a:off x="9540849" y="4297680"/>
            <a:ext cx="1882749" cy="896112"/>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540849" y="4297680"/>
            <a:ext cx="1882749" cy="896112"/>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15</a:t>
            </a:r>
          </a:p>
        </p:txBody>
      </p:sp>
      <p:sp>
        <p:nvSpPr>
          <p:cNvPr id="50" name="Rectangle 49"/>
          <p:cNvSpPr/>
          <p:nvPr/>
        </p:nvSpPr>
        <p:spPr>
          <a:xfrm>
            <a:off x="11409883" y="2633472"/>
            <a:ext cx="27432" cy="192024"/>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68096" y="2811779"/>
            <a:ext cx="10655503" cy="27432"/>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167567" y="2834640"/>
            <a:ext cx="237744" cy="182880"/>
          </a:xfrm>
          <a:prstGeom prst="rect">
            <a:avLst/>
          </a:prstGeom>
          <a:noFill/>
        </p:spPr>
        <p:txBody>
          <a:bodyPr wrap="square" anchor="ctr" lIns="0" rIns="0" tIns="0" bIns="0">
            <a:spAutoFit/>
          </a:bodyPr>
          <a:lstStyle/>
          <a:p>
            <a:pPr algn="ctr">
              <a:lnSpc>
                <a:spcPct val="110000"/>
              </a:lnSpc>
              <a:spcAft>
                <a:spcPts val="0"/>
              </a:spcAft>
            </a:pPr>
            <a:r>
              <a:rPr sz="1300" b="0" i="0">
                <a:solidFill>
                  <a:srgbClr val="1E4FA8"/>
                </a:solidFill>
                <a:latin typeface="Calibri"/>
                <a:ea typeface="Calibri"/>
              </a:rPr>
              <a:t>↓</a:t>
            </a:r>
          </a:p>
        </p:txBody>
      </p:sp>
      <p:sp>
        <p:nvSpPr>
          <p:cNvPr id="53" name="Rectangle 52"/>
          <p:cNvSpPr/>
          <p:nvPr/>
        </p:nvSpPr>
        <p:spPr>
          <a:xfrm>
            <a:off x="11409883" y="3913631"/>
            <a:ext cx="27432" cy="192024"/>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68096" y="4091939"/>
            <a:ext cx="10655503" cy="27432"/>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167567" y="4114800"/>
            <a:ext cx="237744" cy="182880"/>
          </a:xfrm>
          <a:prstGeom prst="rect">
            <a:avLst/>
          </a:prstGeom>
          <a:noFill/>
        </p:spPr>
        <p:txBody>
          <a:bodyPr wrap="square" anchor="ctr" lIns="0" rIns="0" tIns="0" bIns="0">
            <a:spAutoFit/>
          </a:bodyPr>
          <a:lstStyle/>
          <a:p>
            <a:pPr algn="ctr">
              <a:lnSpc>
                <a:spcPct val="110000"/>
              </a:lnSpc>
              <a:spcAft>
                <a:spcPts val="0"/>
              </a:spcAft>
            </a:pPr>
            <a:r>
              <a:rPr sz="1300" b="0" i="0">
                <a:solidFill>
                  <a:srgbClr val="1E4FA8"/>
                </a:solidFill>
                <a:latin typeface="Calibri"/>
                <a:ea typeface="Calibri"/>
              </a:rPr>
              <a:t>↓</a:t>
            </a:r>
          </a:p>
        </p:txBody>
      </p:sp>
      <p:sp>
        <p:nvSpPr>
          <p:cNvPr id="56" name="Rounded Rectangle 55"/>
          <p:cNvSpPr/>
          <p:nvPr/>
        </p:nvSpPr>
        <p:spPr>
          <a:xfrm>
            <a:off x="548640" y="5486400"/>
            <a:ext cx="3931920" cy="38404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49808" y="5486400"/>
            <a:ext cx="3529584" cy="384048"/>
          </a:xfrm>
          <a:prstGeom prst="rect">
            <a:avLst/>
          </a:prstGeom>
          <a:noFill/>
        </p:spPr>
        <p:txBody>
          <a:bodyPr wrap="square" anchor="ctr" lIns="0" rIns="0" tIns="0" bIns="0">
            <a:spAutoFit/>
          </a:bodyPr>
          <a:lstStyle/>
          <a:p>
            <a:pPr algn="l">
              <a:lnSpc>
                <a:spcPct val="110000"/>
              </a:lnSpc>
              <a:spcAft>
                <a:spcPts val="400"/>
              </a:spcAft>
            </a:pPr>
            <a:r>
              <a:rPr sz="1100" b="1" i="0">
                <a:solidFill>
                  <a:srgbClr val="4A5568"/>
                </a:solidFill>
                <a:latin typeface="Calibri"/>
                <a:ea typeface="Calibri"/>
              </a:rPr>
              <a:t>open in editor →  </a:t>
            </a:r>
            <a:r>
              <a:rPr sz="1100" b="1" i="0">
                <a:solidFill>
                  <a:srgbClr val="1E4FA8"/>
                </a:solidFill>
                <a:latin typeface="Calibri"/>
                <a:ea typeface="Calibri"/>
                <a:hlinkClick r:id="rId2"/>
                <a:extLst>
                  <a:ext uri="{A12FA001-AC4F-418D-AE19-62706E023703}">
                    <ahyp:hlinkClr xmlns:ahyp="http://schemas.microsoft.com/office/drawing/2018/hyperlinkcolor" val="tx"/>
                  </a:ext>
                </a:extLst>
              </a:rPr>
              <a:t>css-layout/normal-flow-50</a:t>
            </a:r>
          </a:p>
        </p:txBody>
      </p:sp>
      <p:sp>
        <p:nvSpPr>
          <p:cNvPr id="58" name="Rounded Rectangle 57"/>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Left to right, top to bottom — that is the whole of normal flow.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Normal Flow — No Positioning At All</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Layout</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Top to bottom</a:t>
            </a:r>
            <a:br/>
            <a:r>
              <a:rPr sz="1500" b="0" i="0">
                <a:solidFill>
                  <a:srgbClr val="4A5568"/>
                </a:solidFill>
                <a:latin typeface="Calibri"/>
                <a:ea typeface="Calibri"/>
              </a:rPr>
              <a:t>Block boxes stack in document order.</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Left to right</a:t>
            </a:r>
            <a:br/>
            <a:r>
              <a:rPr sz="1500" b="0" i="0">
                <a:solidFill>
                  <a:srgbClr val="4A5568"/>
                </a:solidFill>
                <a:latin typeface="Calibri"/>
                <a:ea typeface="Calibri"/>
              </a:rPr>
              <a:t>Inline boxes flow along the line.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(0, 0) is the top left</a:t>
            </a:r>
            <a:br/>
            <a:r>
              <a:rPr sz="1500" b="0" i="0">
                <a:solidFill>
                  <a:srgbClr val="4A5568"/>
                </a:solidFill>
                <a:latin typeface="Calibri"/>
                <a:ea typeface="Calibri"/>
              </a:rPr>
              <a:t>The page's origin is its top-left corner.</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Too wide? It drops</a:t>
            </a:r>
            <a:br/>
            <a:r>
              <a:rPr sz="1500" b="0" i="0">
                <a:solidFill>
                  <a:srgbClr val="4A5568"/>
                </a:solidFill>
                <a:latin typeface="Calibri"/>
                <a:ea typeface="Calibri"/>
              </a:rPr>
              <a:t>A box that does not fit moves to the next line.</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With no position set, the browser lays the page out for you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css-layout/normal-flow</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static  —  the default for every element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Interrupting the Flow</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Layout</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Normal flow</a:t>
            </a:r>
            <a:br/>
            <a:r>
              <a:rPr sz="1500" b="0" i="0">
                <a:solidFill>
                  <a:srgbClr val="4A5568"/>
                </a:solidFill>
                <a:latin typeface="Calibri"/>
                <a:ea typeface="Calibri"/>
              </a:rPr>
              <a:t>top to bottom, left to right. Every element starts here.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float</a:t>
            </a:r>
            <a:br/>
            <a:r>
              <a:rPr sz="1500" b="0" i="0">
                <a:solidFill>
                  <a:srgbClr val="4A5568"/>
                </a:solidFill>
                <a:latin typeface="Calibri"/>
                <a:ea typeface="Calibri"/>
              </a:rPr>
              <a:t>Pushes a box to one side and lets text wrap around it — a legacy tool, still useful for a figure inside a paragraph.</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relative</a:t>
            </a:r>
            <a:br/>
            <a:r>
              <a:rPr sz="1500" b="0" i="0">
                <a:solidFill>
                  <a:srgbClr val="4A5568"/>
                </a:solidFill>
                <a:latin typeface="Calibri"/>
                <a:ea typeface="Calibri"/>
              </a:rPr>
              <a:t>Nudges a box from where it already was. It keeps its space.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absolute</a:t>
            </a:r>
            <a:br/>
            <a:r>
              <a:rPr sz="1500" b="0" i="0">
                <a:solidFill>
                  <a:srgbClr val="4A5568"/>
                </a:solidFill>
                <a:latin typeface="Calibri"/>
                <a:ea typeface="Calibri"/>
              </a:rPr>
              <a:t>Lifts a box out of the flow and pins it to an ancestor.</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flexbox</a:t>
            </a:r>
            <a:br/>
            <a:r>
              <a:rPr sz="1500" b="0" i="0">
                <a:solidFill>
                  <a:srgbClr val="4A5568"/>
                </a:solidFill>
                <a:latin typeface="Calibri"/>
                <a:ea typeface="Calibri"/>
              </a:rPr>
              <a:t>The modern answer. You describe the layout instead of nudging boxes.</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The 2025 deck listed three ways; today there are four</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float · relative · absolute · flexbox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The Five Position Values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Positioning</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static</a:t>
            </a:r>
            <a:br/>
            <a:r>
              <a:rPr sz="1500" b="0" i="0">
                <a:solidFill>
                  <a:srgbClr val="4A5568"/>
                </a:solidFill>
                <a:latin typeface="Calibri"/>
                <a:ea typeface="Calibri"/>
              </a:rPr>
              <a:t>The default — normal flow, ignores offsets.</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relative</a:t>
            </a:r>
            <a:br/>
            <a:r>
              <a:rPr sz="1500" b="0" i="0">
                <a:solidFill>
                  <a:srgbClr val="4A5568"/>
                </a:solidFill>
                <a:latin typeface="Calibri"/>
                <a:ea typeface="Calibri"/>
              </a:rPr>
              <a:t>Offset from its normal spot; space is kept.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absolute</a:t>
            </a:r>
            <a:br/>
            <a:r>
              <a:rPr sz="1500" b="0" i="0">
                <a:solidFill>
                  <a:srgbClr val="4A5568"/>
                </a:solidFill>
                <a:latin typeface="Calibri"/>
                <a:ea typeface="Calibri"/>
              </a:rPr>
              <a:t>Out of flow — anchored to the nearest positioned ancestor.</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fixed</a:t>
            </a:r>
            <a:br/>
            <a:r>
              <a:rPr sz="1500" b="0" i="0">
                <a:solidFill>
                  <a:srgbClr val="4A5568"/>
                </a:solidFill>
                <a:latin typeface="Calibri"/>
                <a:ea typeface="Calibri"/>
              </a:rPr>
              <a:t>Anchored to the viewport — stays put while scrolling.</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sticky</a:t>
            </a:r>
            <a:br/>
            <a:r>
              <a:rPr sz="1500" b="0" i="0">
                <a:solidFill>
                  <a:srgbClr val="4A5568"/>
                </a:solidFill>
                <a:latin typeface="Calibri"/>
                <a:ea typeface="Calibri"/>
              </a:rPr>
              <a:t>Scrolls until it hits an edge, then sticks.</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Offsets</a:t>
            </a:r>
            <a:br/>
            <a:r>
              <a:rPr sz="1500" b="0" i="0">
                <a:solidFill>
                  <a:srgbClr val="4A5568"/>
                </a:solidFill>
                <a:latin typeface="Calibri"/>
                <a:ea typeface="Calibri"/>
              </a:rPr>
              <a:t>top, right, bottom, left move a positioned box.</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One property, five very different behaviours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editor.html?example=css-layout/positioning</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position: static | relative | absolute | fixed | sticky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static</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Positioning</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The default</a:t>
            </a:r>
            <a:br/>
            <a:r>
              <a:rPr sz="1350" b="0" i="0">
                <a:solidFill>
                  <a:srgbClr val="4A5568"/>
                </a:solidFill>
                <a:latin typeface="Calibri"/>
                <a:ea typeface="Calibri"/>
              </a:rPr>
              <a:t>Every element starts here — you never declare it.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Offsets are ignored</a:t>
            </a:r>
            <a:br/>
            <a:r>
              <a:rPr sz="1350" b="0" i="0">
                <a:solidFill>
                  <a:srgbClr val="4A5568"/>
                </a:solidFill>
                <a:latin typeface="Calibri"/>
                <a:ea typeface="Calibri"/>
              </a:rPr>
              <a:t>top, right, bottom and left change nothing.</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Still in normal flow</a:t>
            </a:r>
            <a:br/>
            <a:r>
              <a:rPr sz="1350" b="0" i="0">
                <a:solidFill>
                  <a:srgbClr val="4A5568"/>
                </a:solidFill>
                <a:latin typeface="Calibri"/>
                <a:ea typeface="Calibri"/>
              </a:rPr>
              <a:t>Boxes stack top to bottom, left to right.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No surprises</a:t>
            </a:r>
            <a:br/>
            <a:r>
              <a:rPr sz="1350" b="0" i="0">
                <a:solidFill>
                  <a:srgbClr val="4A5568"/>
                </a:solidFill>
                <a:latin typeface="Calibri"/>
                <a:ea typeface="Calibri"/>
              </a:rPr>
              <a:t>A static box can never displace the ones around it.</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the default — you never write it */</a:t>
            </a:r>
          </a:p>
          <a:p>
            <a:pPr>
              <a:spcAft>
                <a:spcPts val="350"/>
              </a:spcAft>
            </a:pPr>
            <a:r>
              <a:rPr sz="1300" b="0" i="0">
                <a:solidFill>
                  <a:srgbClr val="61AFEF"/>
                </a:solidFill>
                <a:latin typeface="Consolas"/>
                <a:ea typeface="Consolas"/>
              </a:rPr>
              <a:t>.box { position: static; }</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offsets on a static box go nowhere */</a:t>
            </a:r>
          </a:p>
          <a:p>
            <a:pPr>
              <a:spcAft>
                <a:spcPts val="350"/>
              </a:spcAft>
            </a:pPr>
            <a:r>
              <a:rPr sz="1300" b="0" i="0">
                <a:solidFill>
                  <a:srgbClr val="61AFEF"/>
                </a:solidFill>
                <a:latin typeface="Consolas"/>
                <a:ea typeface="Consolas"/>
              </a:rPr>
              <a:t>.box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top</a:t>
            </a:r>
            <a:r>
              <a:rPr sz="1300" b="0" i="0">
                <a:solidFill>
                  <a:srgbClr val="98C379"/>
                </a:solidFill>
                <a:latin typeface="Consolas"/>
                <a:ea typeface="Consolas"/>
              </a:rPr>
              <a:t>: 24px;</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left</a:t>
            </a:r>
            <a:r>
              <a:rPr sz="1300" b="0" i="0">
                <a:solidFill>
                  <a:srgbClr val="98C379"/>
                </a:solidFill>
                <a:latin typeface="Consolas"/>
                <a:ea typeface="Consolas"/>
              </a:rPr>
              <a:t>: 24px;</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declared, then never used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editor.html?example=css-layout/position-static</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static is what you get for free — declaring offsets on it changes nothing.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relative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Positioning</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An element with position: relative; is positioned relative to its normal position.</a:t>
            </a:r>
            <a:br/>
            <a:r>
              <a:rPr sz="1350" b="0" i="0">
                <a:solidFill>
                  <a:srgbClr val="4A5568"/>
                </a:solidFill>
                <a:latin typeface="Calibri"/>
                <a:ea typeface="Calibri"/>
              </a:rPr>
              <a:t>Setting the top, right, bottom, and left properties of a relatively-positioned element will cause it to be adjusted away from its normal position. Other content will not be adjusted to fit into any gap left by the element.</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three boxes of the same size */</a:t>
            </a:r>
          </a:p>
          <a:p>
            <a:pPr>
              <a:spcAft>
                <a:spcPts val="350"/>
              </a:spcAft>
            </a:pPr>
            <a:r>
              <a:rPr sz="1300" b="0" i="0">
                <a:solidFill>
                  <a:srgbClr val="61AFEF"/>
                </a:solidFill>
                <a:latin typeface="Consolas"/>
                <a:ea typeface="Consolas"/>
              </a:rPr>
              <a:t>div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display</a:t>
            </a:r>
            <a:r>
              <a:rPr sz="1300" b="0" i="0">
                <a:solidFill>
                  <a:srgbClr val="98C379"/>
                </a:solidFill>
                <a:latin typeface="Consolas"/>
                <a:ea typeface="Consolas"/>
              </a:rPr>
              <a:t>: inline-block;</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width</a:t>
            </a:r>
            <a:r>
              <a:rPr sz="1300" b="0" i="0">
                <a:solidFill>
                  <a:srgbClr val="98C379"/>
                </a:solidFill>
                <a:latin typeface="Consolas"/>
                <a:ea typeface="Consolas"/>
              </a:rPr>
              <a:t>: 300px;</a:t>
            </a:r>
          </a:p>
          <a:p>
            <a:pPr>
              <a:spcAft>
                <a:spcPts val="350"/>
              </a:spcAft>
            </a:pPr>
            <a:r>
              <a:rPr sz="1300" b="0" i="0">
                <a:solidFill>
                  <a:srgbClr val="E5C07B"/>
                </a:solidFill>
                <a:latin typeface="Consolas"/>
                <a:ea typeface="Consolas"/>
              </a:rPr>
              <a:t>  border: 3px solid black;</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the middle one: nudged 30px right */</a:t>
            </a:r>
          </a:p>
          <a:p>
            <a:pPr>
              <a:spcAft>
                <a:spcPts val="350"/>
              </a:spcAft>
            </a:pPr>
            <a:r>
              <a:rPr sz="1300" b="0" i="0">
                <a:solidFill>
                  <a:srgbClr val="61AFEF"/>
                </a:solidFill>
                <a:latin typeface="Consolas"/>
                <a:ea typeface="Consolas"/>
              </a:rPr>
              <a:t>div.relative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position</a:t>
            </a:r>
            <a:r>
              <a:rPr sz="1300" b="0" i="0">
                <a:solidFill>
                  <a:srgbClr val="98C379"/>
                </a:solidFill>
                <a:latin typeface="Consolas"/>
                <a:ea typeface="Consolas"/>
              </a:rPr>
              <a:t>: relative;</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left</a:t>
            </a:r>
            <a:r>
              <a:rPr sz="1300" b="0" i="0">
                <a:solidFill>
                  <a:srgbClr val="98C379"/>
                </a:solidFill>
                <a:latin typeface="Consolas"/>
                <a:ea typeface="Consolas"/>
              </a:rPr>
              <a:t>: 30px;</a:t>
            </a:r>
          </a:p>
          <a:p>
            <a:pPr>
              <a:spcAft>
                <a:spcPts val="350"/>
              </a:spcAft>
            </a:pPr>
            <a:r>
              <a:rPr sz="1300" b="0" i="0">
                <a:solidFill>
                  <a:srgbClr val="61AFEF"/>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editor.html?example=css-layout/position-relative</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relative nudges the box and keeps its slot — the layout never notices.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relative — Where the Box Ends Up</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Positioning</a:t>
            </a:r>
          </a:p>
        </p:txBody>
      </p:sp>
      <p:sp>
        <p:nvSpPr>
          <p:cNvPr id="5" name="TextBox 4"/>
          <p:cNvSpPr txBox="1"/>
          <p:nvPr/>
        </p:nvSpPr>
        <p:spPr>
          <a:xfrm>
            <a:off x="548640" y="978408"/>
            <a:ext cx="4206240" cy="4617720"/>
          </a:xfrm>
          <a:prstGeom prst="rect">
            <a:avLst/>
          </a:prstGeom>
          <a:noFill/>
        </p:spPr>
        <p:txBody>
          <a:bodyPr wrap="square" lIns="0" rIns="0" tIns="0" bIns="0">
            <a:normAutofit/>
          </a:bodyPr>
          <a:lstStyle/>
          <a:p>
            <a:pPr marL="237744"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Obeyed</a:t>
            </a:r>
            <a:br/>
            <a:r>
              <a:rPr sz="1350" b="0" i="0">
                <a:solidFill>
                  <a:srgbClr val="4A5568"/>
                </a:solidFill>
                <a:latin typeface="Calibri"/>
                <a:ea typeface="Calibri"/>
              </a:rPr>
              <a:t>the same two declarations move box 7 down and right.</a:t>
            </a:r>
          </a:p>
          <a:p>
            <a:pPr marL="237744"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The slot stays</a:t>
            </a:r>
            <a:br/>
            <a:r>
              <a:rPr sz="1350" b="0" i="0">
                <a:solidFill>
                  <a:srgbClr val="4A5568"/>
                </a:solidFill>
                <a:latin typeface="Calibri"/>
                <a:ea typeface="Calibri"/>
              </a:rPr>
              <a:t>a dashed outline marks the space it still occupies.</a:t>
            </a:r>
          </a:p>
          <a:p>
            <a:pPr marL="237744"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Neighbours</a:t>
            </a:r>
            <a:br/>
            <a:r>
              <a:rPr sz="1350" b="0" i="0">
                <a:solidFill>
                  <a:srgbClr val="4A5568"/>
                </a:solidFill>
                <a:latin typeface="Calibri"/>
                <a:ea typeface="Calibri"/>
              </a:rPr>
              <a:t>8 … 12 do not move — relative disturbs no layout.</a:t>
            </a:r>
          </a:p>
        </p:txBody>
      </p:sp>
      <p:sp>
        <p:nvSpPr>
          <p:cNvPr id="6" name="Rounded Rectangle 5"/>
          <p:cNvSpPr/>
          <p:nvPr/>
        </p:nvSpPr>
        <p:spPr>
          <a:xfrm>
            <a:off x="5120640" y="978408"/>
            <a:ext cx="6522415" cy="4754880"/>
          </a:xfrm>
          <a:prstGeom prst="roundRect">
            <a:avLst>
              <a:gd name="adj" fmla="val 3000"/>
            </a:avLst>
          </a:prstGeom>
          <a:solidFill>
            <a:srgbClr val="FFFFFF"/>
          </a:solidFill>
          <a:ln w="12700">
            <a:solidFill>
              <a:srgbClr val="C9D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40096" y="1056132"/>
            <a:ext cx="6083503" cy="237744"/>
          </a:xfrm>
          <a:prstGeom prst="rect">
            <a:avLst/>
          </a:prstGeom>
          <a:noFill/>
        </p:spPr>
        <p:txBody>
          <a:bodyPr wrap="square" anchor="t" lIns="0" rIns="0" tIns="0" bIns="0">
            <a:spAutoFit/>
          </a:bodyPr>
          <a:lstStyle/>
          <a:p>
            <a:pPr algn="l">
              <a:lnSpc>
                <a:spcPct val="110000"/>
              </a:lnSpc>
              <a:spcAft>
                <a:spcPts val="0"/>
              </a:spcAft>
            </a:pPr>
            <a:r>
              <a:rPr sz="1050" b="1" i="0">
                <a:solidFill>
                  <a:srgbClr val="4A5568"/>
                </a:solidFill>
                <a:latin typeface="Calibri"/>
                <a:ea typeface="Calibri"/>
              </a:rPr>
              <a:t>THE PAGE · box 7 is relative · the same offset, obeyed</a:t>
            </a:r>
          </a:p>
        </p:txBody>
      </p:sp>
      <p:sp>
        <p:nvSpPr>
          <p:cNvPr id="8" name="Rounded Rectangle 7"/>
          <p:cNvSpPr/>
          <p:nvPr/>
        </p:nvSpPr>
        <p:spPr>
          <a:xfrm>
            <a:off x="5468112" y="1636776"/>
            <a:ext cx="5827471" cy="3785615"/>
          </a:xfrm>
          <a:prstGeom prst="roundRect">
            <a:avLst>
              <a:gd name="adj" fmla="val 3000"/>
            </a:avLst>
          </a:prstGeom>
          <a:solidFill>
            <a:srgbClr val="F0F5FC"/>
          </a:solidFill>
          <a:ln w="12700">
            <a:solidFill>
              <a:srgbClr val="1E4F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14416" y="1682496"/>
            <a:ext cx="5534863" cy="201168"/>
          </a:xfrm>
          <a:prstGeom prst="rect">
            <a:avLst/>
          </a:prstGeom>
          <a:noFill/>
        </p:spPr>
        <p:txBody>
          <a:bodyPr wrap="square" anchor="t" lIns="0" rIns="0" tIns="0" bIns="0">
            <a:spAutoFit/>
          </a:bodyPr>
          <a:lstStyle/>
          <a:p>
            <a:pPr algn="l">
              <a:lnSpc>
                <a:spcPct val="110000"/>
              </a:lnSpc>
              <a:spcAft>
                <a:spcPts val="0"/>
              </a:spcAft>
            </a:pPr>
            <a:r>
              <a:rPr sz="950" b="1" i="0">
                <a:solidFill>
                  <a:srgbClr val="1E4FA8"/>
                </a:solidFill>
                <a:latin typeface="Calibri"/>
                <a:ea typeface="Calibri"/>
              </a:rPr>
              <a:t>the container</a:t>
            </a:r>
          </a:p>
        </p:txBody>
      </p:sp>
      <p:sp>
        <p:nvSpPr>
          <p:cNvPr id="10" name="Rounded Rectangle 9"/>
          <p:cNvSpPr/>
          <p:nvPr/>
        </p:nvSpPr>
        <p:spPr>
          <a:xfrm>
            <a:off x="5650992" y="1911095"/>
            <a:ext cx="1241755" cy="1024128"/>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50992" y="1911095"/>
            <a:ext cx="1241755" cy="1024128"/>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1</a:t>
            </a:r>
          </a:p>
        </p:txBody>
      </p:sp>
      <p:sp>
        <p:nvSpPr>
          <p:cNvPr id="12" name="Rounded Rectangle 11"/>
          <p:cNvSpPr/>
          <p:nvPr/>
        </p:nvSpPr>
        <p:spPr>
          <a:xfrm>
            <a:off x="7057339" y="1911095"/>
            <a:ext cx="1241755" cy="1024128"/>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57339" y="1911095"/>
            <a:ext cx="1241755" cy="1024128"/>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2</a:t>
            </a:r>
          </a:p>
        </p:txBody>
      </p:sp>
      <p:sp>
        <p:nvSpPr>
          <p:cNvPr id="14" name="Rounded Rectangle 13"/>
          <p:cNvSpPr/>
          <p:nvPr/>
        </p:nvSpPr>
        <p:spPr>
          <a:xfrm>
            <a:off x="8463686" y="1911095"/>
            <a:ext cx="1241755" cy="1024128"/>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63686" y="1911095"/>
            <a:ext cx="1241755" cy="1024128"/>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3</a:t>
            </a:r>
          </a:p>
        </p:txBody>
      </p:sp>
      <p:sp>
        <p:nvSpPr>
          <p:cNvPr id="16" name="Rounded Rectangle 15"/>
          <p:cNvSpPr/>
          <p:nvPr/>
        </p:nvSpPr>
        <p:spPr>
          <a:xfrm>
            <a:off x="9870948" y="1911095"/>
            <a:ext cx="1241755" cy="1024128"/>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0948" y="1911095"/>
            <a:ext cx="1241755" cy="1024128"/>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4</a:t>
            </a:r>
          </a:p>
        </p:txBody>
      </p:sp>
      <p:sp>
        <p:nvSpPr>
          <p:cNvPr id="18" name="Rounded Rectangle 17"/>
          <p:cNvSpPr/>
          <p:nvPr/>
        </p:nvSpPr>
        <p:spPr>
          <a:xfrm>
            <a:off x="5650992" y="3081528"/>
            <a:ext cx="1241755" cy="1024128"/>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50992" y="3081528"/>
            <a:ext cx="1241755" cy="1024128"/>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5</a:t>
            </a:r>
          </a:p>
        </p:txBody>
      </p:sp>
      <p:sp>
        <p:nvSpPr>
          <p:cNvPr id="20" name="Rounded Rectangle 19"/>
          <p:cNvSpPr/>
          <p:nvPr/>
        </p:nvSpPr>
        <p:spPr>
          <a:xfrm>
            <a:off x="7057339" y="3081528"/>
            <a:ext cx="1241755" cy="1024128"/>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57339" y="3081528"/>
            <a:ext cx="1241755" cy="1024128"/>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6</a:t>
            </a:r>
          </a:p>
        </p:txBody>
      </p:sp>
      <p:sp>
        <p:nvSpPr>
          <p:cNvPr id="22" name="Rounded Rectangle 21"/>
          <p:cNvSpPr/>
          <p:nvPr/>
        </p:nvSpPr>
        <p:spPr>
          <a:xfrm>
            <a:off x="9870948" y="3081528"/>
            <a:ext cx="1241755" cy="1024128"/>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0948" y="3081528"/>
            <a:ext cx="1241755" cy="1024128"/>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8</a:t>
            </a:r>
          </a:p>
        </p:txBody>
      </p:sp>
      <p:sp>
        <p:nvSpPr>
          <p:cNvPr id="24" name="Rounded Rectangle 23"/>
          <p:cNvSpPr/>
          <p:nvPr/>
        </p:nvSpPr>
        <p:spPr>
          <a:xfrm>
            <a:off x="5650992" y="4251960"/>
            <a:ext cx="1241755" cy="1024128"/>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50992" y="4251960"/>
            <a:ext cx="1241755" cy="1024128"/>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9</a:t>
            </a:r>
          </a:p>
        </p:txBody>
      </p:sp>
      <p:sp>
        <p:nvSpPr>
          <p:cNvPr id="26" name="Rounded Rectangle 25"/>
          <p:cNvSpPr/>
          <p:nvPr/>
        </p:nvSpPr>
        <p:spPr>
          <a:xfrm>
            <a:off x="7057339" y="4251960"/>
            <a:ext cx="1241755" cy="1024128"/>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57339" y="4251960"/>
            <a:ext cx="1241755" cy="1024128"/>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10</a:t>
            </a:r>
          </a:p>
        </p:txBody>
      </p:sp>
      <p:sp>
        <p:nvSpPr>
          <p:cNvPr id="28" name="Rounded Rectangle 27"/>
          <p:cNvSpPr/>
          <p:nvPr/>
        </p:nvSpPr>
        <p:spPr>
          <a:xfrm>
            <a:off x="8463686" y="4251960"/>
            <a:ext cx="1241755" cy="1024128"/>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63686" y="4251960"/>
            <a:ext cx="1241755" cy="1024128"/>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11</a:t>
            </a:r>
          </a:p>
        </p:txBody>
      </p:sp>
      <p:sp>
        <p:nvSpPr>
          <p:cNvPr id="30" name="Rounded Rectangle 29"/>
          <p:cNvSpPr/>
          <p:nvPr/>
        </p:nvSpPr>
        <p:spPr>
          <a:xfrm>
            <a:off x="9870948" y="4251960"/>
            <a:ext cx="1241755" cy="1024128"/>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0948" y="4251960"/>
            <a:ext cx="1241755" cy="1024128"/>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12</a:t>
            </a:r>
          </a:p>
        </p:txBody>
      </p:sp>
      <p:sp>
        <p:nvSpPr>
          <p:cNvPr id="32" name="Rounded Rectangle 31"/>
          <p:cNvSpPr/>
          <p:nvPr/>
        </p:nvSpPr>
        <p:spPr>
          <a:xfrm>
            <a:off x="8463686" y="3081528"/>
            <a:ext cx="1241755" cy="1024128"/>
          </a:xfrm>
          <a:prstGeom prst="roundRect">
            <a:avLst>
              <a:gd name="adj" fmla="val 9000"/>
            </a:avLst>
          </a:prstGeom>
          <a:noFill/>
          <a:ln w="12700">
            <a:solidFill>
              <a:srgbClr val="9DC0E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63686" y="3849624"/>
            <a:ext cx="1241755" cy="219456"/>
          </a:xfrm>
          <a:prstGeom prst="rect">
            <a:avLst/>
          </a:prstGeom>
          <a:noFill/>
        </p:spPr>
        <p:txBody>
          <a:bodyPr wrap="square" anchor="ctr" lIns="0" rIns="0" tIns="0" bIns="0">
            <a:spAutoFit/>
          </a:bodyPr>
          <a:lstStyle/>
          <a:p>
            <a:pPr algn="ctr">
              <a:lnSpc>
                <a:spcPct val="110000"/>
              </a:lnSpc>
              <a:spcAft>
                <a:spcPts val="0"/>
              </a:spcAft>
            </a:pPr>
            <a:r>
              <a:rPr sz="900" b="0" i="0">
                <a:solidFill>
                  <a:srgbClr val="9DC0EE"/>
                </a:solidFill>
                <a:latin typeface="Calibri"/>
                <a:ea typeface="Calibri"/>
              </a:rPr>
              <a:t>space kept</a:t>
            </a:r>
          </a:p>
        </p:txBody>
      </p:sp>
      <p:sp>
        <p:nvSpPr>
          <p:cNvPr id="34" name="Rounded Rectangle 33"/>
          <p:cNvSpPr/>
          <p:nvPr/>
        </p:nvSpPr>
        <p:spPr>
          <a:xfrm>
            <a:off x="8738006" y="3300984"/>
            <a:ext cx="1241755" cy="1024128"/>
          </a:xfrm>
          <a:prstGeom prst="roundRect">
            <a:avLst>
              <a:gd name="adj" fmla="val 9000"/>
            </a:avLst>
          </a:prstGeom>
          <a:solidFill>
            <a:srgbClr val="1E4FA8"/>
          </a:solidFill>
          <a:ln w="12700">
            <a:solidFill>
              <a:srgbClr val="1E4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38006" y="3300984"/>
            <a:ext cx="1241755" cy="1024128"/>
          </a:xfrm>
          <a:prstGeom prst="rect">
            <a:avLst/>
          </a:prstGeom>
          <a:noFill/>
        </p:spPr>
        <p:txBody>
          <a:bodyPr wrap="square" anchor="ctr" lIns="0" rIns="0" tIns="0" bIns="0">
            <a:spAutoFit/>
          </a:bodyPr>
          <a:lstStyle/>
          <a:p>
            <a:pPr algn="ctr">
              <a:lnSpc>
                <a:spcPct val="110000"/>
              </a:lnSpc>
              <a:spcAft>
                <a:spcPts val="0"/>
              </a:spcAft>
            </a:pPr>
            <a:r>
              <a:rPr sz="1900" b="1" i="0">
                <a:solidFill>
                  <a:srgbClr val="FFFFFF"/>
                </a:solidFill>
                <a:latin typeface="Calibri"/>
                <a:ea typeface="Calibri"/>
              </a:rPr>
              <a:t>7</a:t>
            </a:r>
          </a:p>
        </p:txBody>
      </p:sp>
      <p:sp>
        <p:nvSpPr>
          <p:cNvPr id="36" name="Rounded Rectangle 35"/>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relative obeys the offset and keeps its slot — nothing around it moves.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Offsets — top, Positive and Negative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Positioning</a:t>
            </a:r>
          </a:p>
        </p:txBody>
      </p:sp>
      <p:sp>
        <p:nvSpPr>
          <p:cNvPr id="5" name="Rounded Rectangle 4"/>
          <p:cNvSpPr/>
          <p:nvPr/>
        </p:nvSpPr>
        <p:spPr>
          <a:xfrm>
            <a:off x="548640" y="978408"/>
            <a:ext cx="457200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179576"/>
            <a:ext cx="402336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7" name="TextBox 6"/>
          <p:cNvSpPr txBox="1"/>
          <p:nvPr/>
        </p:nvSpPr>
        <p:spPr>
          <a:xfrm>
            <a:off x="841247" y="1508760"/>
            <a:ext cx="3986784" cy="370332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measured from the box's own slot */</a:t>
            </a:r>
          </a:p>
          <a:p>
            <a:pPr>
              <a:spcAft>
                <a:spcPts val="350"/>
              </a:spcAft>
            </a:pPr>
            <a:r>
              <a:rPr sz="1300" b="0" i="0">
                <a:solidFill>
                  <a:srgbClr val="61AFEF"/>
                </a:solidFill>
                <a:latin typeface="Consolas"/>
                <a:ea typeface="Consolas"/>
              </a:rPr>
              <a:t>.box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position</a:t>
            </a:r>
            <a:r>
              <a:rPr sz="1300" b="0" i="0">
                <a:solidFill>
                  <a:srgbClr val="98C379"/>
                </a:solidFill>
                <a:latin typeface="Consolas"/>
                <a:ea typeface="Consolas"/>
              </a:rPr>
              <a:t>: relative;</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top</a:t>
            </a:r>
            <a:r>
              <a:rPr sz="1300" b="0" i="0">
                <a:solidFill>
                  <a:srgbClr val="98C379"/>
                </a:solidFill>
                <a:latin typeface="Consolas"/>
                <a:ea typeface="Consolas"/>
              </a:rPr>
              <a:t>: 40px;</a:t>
            </a:r>
            <a:r>
              <a:rPr sz="1300" b="0" i="0">
                <a:solidFill>
                  <a:srgbClr val="7F8C98"/>
                </a:solidFill>
                <a:latin typeface="Consolas"/>
                <a:ea typeface="Consolas"/>
              </a:rPr>
              <a:t>        /* +40 = down */</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61AFEF"/>
                </a:solidFill>
                <a:latin typeface="Consolas"/>
                <a:ea typeface="Consolas"/>
              </a:rPr>
              <a:t>.box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position</a:t>
            </a:r>
            <a:r>
              <a:rPr sz="1300" b="0" i="0">
                <a:solidFill>
                  <a:srgbClr val="98C379"/>
                </a:solidFill>
                <a:latin typeface="Consolas"/>
                <a:ea typeface="Consolas"/>
              </a:rPr>
              <a:t>: relative;</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top</a:t>
            </a:r>
            <a:r>
              <a:rPr sz="1300" b="0" i="0">
                <a:solidFill>
                  <a:srgbClr val="98C379"/>
                </a:solidFill>
                <a:latin typeface="Consolas"/>
                <a:ea typeface="Consolas"/>
              </a:rPr>
              <a:t>: -40px;</a:t>
            </a:r>
            <a:r>
              <a:rPr sz="1300" b="0" i="0">
                <a:solidFill>
                  <a:srgbClr val="7F8C98"/>
                </a:solidFill>
                <a:latin typeface="Consolas"/>
                <a:ea typeface="Consolas"/>
              </a:rPr>
              <a:t>       /* -40 = up */</a:t>
            </a:r>
          </a:p>
          <a:p>
            <a:pPr>
              <a:spcAft>
                <a:spcPts val="350"/>
              </a:spcAft>
            </a:pPr>
            <a:r>
              <a:rPr sz="1300" b="0" i="0">
                <a:solidFill>
                  <a:srgbClr val="61AFEF"/>
                </a:solidFill>
                <a:latin typeface="Consolas"/>
                <a:ea typeface="Consolas"/>
              </a:rPr>
              <a:t>}</a:t>
            </a:r>
          </a:p>
        </p:txBody>
      </p:sp>
      <p:sp>
        <p:nvSpPr>
          <p:cNvPr id="8" name="Rounded Rectangle 7"/>
          <p:cNvSpPr/>
          <p:nvPr/>
        </p:nvSpPr>
        <p:spPr>
          <a:xfrm>
            <a:off x="5468112" y="978408"/>
            <a:ext cx="6174943" cy="4343400"/>
          </a:xfrm>
          <a:prstGeom prst="roundRect">
            <a:avLst>
              <a:gd name="adj" fmla="val 3000"/>
            </a:avLst>
          </a:prstGeom>
          <a:solidFill>
            <a:srgbClr val="FFFFFF"/>
          </a:solidFill>
          <a:ln w="12700">
            <a:solidFill>
              <a:srgbClr val="C9D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87568" y="1056132"/>
            <a:ext cx="5736031" cy="237744"/>
          </a:xfrm>
          <a:prstGeom prst="rect">
            <a:avLst/>
          </a:prstGeom>
          <a:noFill/>
        </p:spPr>
        <p:txBody>
          <a:bodyPr wrap="square" anchor="t" lIns="0" rIns="0" tIns="0" bIns="0">
            <a:spAutoFit/>
          </a:bodyPr>
          <a:lstStyle/>
          <a:p>
            <a:pPr algn="l">
              <a:lnSpc>
                <a:spcPct val="110000"/>
              </a:lnSpc>
              <a:spcAft>
                <a:spcPts val="0"/>
              </a:spcAft>
            </a:pPr>
            <a:r>
              <a:rPr sz="1050" b="1" i="0">
                <a:solidFill>
                  <a:srgbClr val="4A5568"/>
                </a:solidFill>
                <a:latin typeface="Calibri"/>
                <a:ea typeface="Calibri"/>
              </a:rPr>
              <a:t>THE PAGE · one box, three places · dashed = no offset</a:t>
            </a:r>
          </a:p>
        </p:txBody>
      </p:sp>
      <p:sp>
        <p:nvSpPr>
          <p:cNvPr id="10" name="Rounded Rectangle 9"/>
          <p:cNvSpPr/>
          <p:nvPr/>
        </p:nvSpPr>
        <p:spPr>
          <a:xfrm>
            <a:off x="6492240" y="1691640"/>
            <a:ext cx="1920240" cy="777240"/>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91640"/>
            <a:ext cx="1920240" cy="777240"/>
          </a:xfrm>
          <a:prstGeom prst="rect">
            <a:avLst/>
          </a:prstGeom>
          <a:noFill/>
        </p:spPr>
        <p:txBody>
          <a:bodyPr wrap="square" anchor="ctr" lIns="0" rIns="0" tIns="0" bIns="0">
            <a:spAutoFit/>
          </a:bodyPr>
          <a:lstStyle/>
          <a:p>
            <a:pPr algn="ctr">
              <a:lnSpc>
                <a:spcPct val="110000"/>
              </a:lnSpc>
              <a:spcAft>
                <a:spcPts val="0"/>
              </a:spcAft>
            </a:pPr>
            <a:r>
              <a:rPr sz="1300" b="1" i="0">
                <a:solidFill>
                  <a:srgbClr val="4A5568"/>
                </a:solidFill>
                <a:latin typeface="Calibri"/>
                <a:ea typeface="Calibri"/>
              </a:rPr>
              <a:t>the box</a:t>
            </a:r>
          </a:p>
        </p:txBody>
      </p:sp>
      <p:sp>
        <p:nvSpPr>
          <p:cNvPr id="12" name="TextBox 11"/>
          <p:cNvSpPr txBox="1"/>
          <p:nvPr/>
        </p:nvSpPr>
        <p:spPr>
          <a:xfrm>
            <a:off x="8641080" y="1691640"/>
            <a:ext cx="2782519" cy="777240"/>
          </a:xfrm>
          <a:prstGeom prst="rect">
            <a:avLst/>
          </a:prstGeom>
          <a:noFill/>
        </p:spPr>
        <p:txBody>
          <a:bodyPr wrap="square" anchor="ctr" lIns="0" rIns="0" tIns="0" bIns="0">
            <a:spAutoFit/>
          </a:bodyPr>
          <a:lstStyle/>
          <a:p>
            <a:pPr algn="l">
              <a:lnSpc>
                <a:spcPct val="110000"/>
              </a:lnSpc>
              <a:spcAft>
                <a:spcPts val="0"/>
              </a:spcAft>
            </a:pPr>
            <a:r>
              <a:rPr sz="1200" b="1" i="0">
                <a:solidFill>
                  <a:srgbClr val="1E4FA8"/>
                </a:solidFill>
                <a:latin typeface="Consolas"/>
                <a:ea typeface="Consolas"/>
              </a:rPr>
              <a:t>top: -40px</a:t>
            </a:r>
            <a:r>
              <a:rPr sz="1150" b="0" i="0">
                <a:solidFill>
                  <a:srgbClr val="4A5568"/>
                </a:solidFill>
                <a:latin typeface="Calibri"/>
                <a:ea typeface="Calibri"/>
              </a:rPr>
              <a:t>   ↑ 40px up</a:t>
            </a:r>
          </a:p>
        </p:txBody>
      </p:sp>
      <p:sp>
        <p:nvSpPr>
          <p:cNvPr id="13" name="Rounded Rectangle 12"/>
          <p:cNvSpPr/>
          <p:nvPr/>
        </p:nvSpPr>
        <p:spPr>
          <a:xfrm>
            <a:off x="6492240" y="2834640"/>
            <a:ext cx="1920240" cy="777240"/>
          </a:xfrm>
          <a:prstGeom prst="roundRect">
            <a:avLst>
              <a:gd name="adj" fmla="val 9000"/>
            </a:avLst>
          </a:prstGeom>
          <a:noFill/>
          <a:ln w="12700">
            <a:solidFill>
              <a:srgbClr val="9DC0E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834640"/>
            <a:ext cx="1920240" cy="777240"/>
          </a:xfrm>
          <a:prstGeom prst="rect">
            <a:avLst/>
          </a:prstGeom>
          <a:noFill/>
        </p:spPr>
        <p:txBody>
          <a:bodyPr wrap="square" anchor="ctr" lIns="0" rIns="0" tIns="0" bIns="0">
            <a:spAutoFit/>
          </a:bodyPr>
          <a:lstStyle/>
          <a:p>
            <a:pPr algn="ctr">
              <a:lnSpc>
                <a:spcPct val="110000"/>
              </a:lnSpc>
              <a:spcAft>
                <a:spcPts val="0"/>
              </a:spcAft>
            </a:pPr>
            <a:r>
              <a:rPr sz="1300" b="1" i="0">
                <a:solidFill>
                  <a:srgbClr val="9DC0EE"/>
                </a:solidFill>
                <a:latin typeface="Calibri"/>
                <a:ea typeface="Calibri"/>
              </a:rPr>
              <a:t>the box</a:t>
            </a:r>
          </a:p>
        </p:txBody>
      </p:sp>
      <p:sp>
        <p:nvSpPr>
          <p:cNvPr id="15" name="TextBox 14"/>
          <p:cNvSpPr txBox="1"/>
          <p:nvPr/>
        </p:nvSpPr>
        <p:spPr>
          <a:xfrm>
            <a:off x="8641080" y="2834640"/>
            <a:ext cx="2782519" cy="777240"/>
          </a:xfrm>
          <a:prstGeom prst="rect">
            <a:avLst/>
          </a:prstGeom>
          <a:noFill/>
        </p:spPr>
        <p:txBody>
          <a:bodyPr wrap="square" anchor="ctr" lIns="0" rIns="0" tIns="0" bIns="0">
            <a:spAutoFit/>
          </a:bodyPr>
          <a:lstStyle/>
          <a:p>
            <a:pPr algn="l">
              <a:lnSpc>
                <a:spcPct val="110000"/>
              </a:lnSpc>
              <a:spcAft>
                <a:spcPts val="0"/>
              </a:spcAft>
            </a:pPr>
            <a:r>
              <a:rPr sz="1200" b="1" i="0">
                <a:solidFill>
                  <a:srgbClr val="1E4FA8"/>
                </a:solidFill>
                <a:latin typeface="Consolas"/>
                <a:ea typeface="Consolas"/>
              </a:rPr>
              <a:t>no offset</a:t>
            </a:r>
            <a:r>
              <a:rPr sz="1150" b="0" i="0">
                <a:solidFill>
                  <a:srgbClr val="4A5568"/>
                </a:solidFill>
                <a:latin typeface="Calibri"/>
                <a:ea typeface="Calibri"/>
              </a:rPr>
              <a:t>   its normal slot</a:t>
            </a:r>
          </a:p>
        </p:txBody>
      </p:sp>
      <p:sp>
        <p:nvSpPr>
          <p:cNvPr id="16" name="Rounded Rectangle 15"/>
          <p:cNvSpPr/>
          <p:nvPr/>
        </p:nvSpPr>
        <p:spPr>
          <a:xfrm>
            <a:off x="6492240" y="3977639"/>
            <a:ext cx="1920240" cy="777240"/>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3977639"/>
            <a:ext cx="1920240" cy="777240"/>
          </a:xfrm>
          <a:prstGeom prst="rect">
            <a:avLst/>
          </a:prstGeom>
          <a:noFill/>
        </p:spPr>
        <p:txBody>
          <a:bodyPr wrap="square" anchor="ctr" lIns="0" rIns="0" tIns="0" bIns="0">
            <a:spAutoFit/>
          </a:bodyPr>
          <a:lstStyle/>
          <a:p>
            <a:pPr algn="ctr">
              <a:lnSpc>
                <a:spcPct val="110000"/>
              </a:lnSpc>
              <a:spcAft>
                <a:spcPts val="0"/>
              </a:spcAft>
            </a:pPr>
            <a:r>
              <a:rPr sz="1300" b="1" i="0">
                <a:solidFill>
                  <a:srgbClr val="4A5568"/>
                </a:solidFill>
                <a:latin typeface="Calibri"/>
                <a:ea typeface="Calibri"/>
              </a:rPr>
              <a:t>the box</a:t>
            </a:r>
          </a:p>
        </p:txBody>
      </p:sp>
      <p:sp>
        <p:nvSpPr>
          <p:cNvPr id="18" name="TextBox 17"/>
          <p:cNvSpPr txBox="1"/>
          <p:nvPr/>
        </p:nvSpPr>
        <p:spPr>
          <a:xfrm>
            <a:off x="8641080" y="3977639"/>
            <a:ext cx="2782519" cy="777240"/>
          </a:xfrm>
          <a:prstGeom prst="rect">
            <a:avLst/>
          </a:prstGeom>
          <a:noFill/>
        </p:spPr>
        <p:txBody>
          <a:bodyPr wrap="square" anchor="ctr" lIns="0" rIns="0" tIns="0" bIns="0">
            <a:spAutoFit/>
          </a:bodyPr>
          <a:lstStyle/>
          <a:p>
            <a:pPr algn="l">
              <a:lnSpc>
                <a:spcPct val="110000"/>
              </a:lnSpc>
              <a:spcAft>
                <a:spcPts val="0"/>
              </a:spcAft>
            </a:pPr>
            <a:r>
              <a:rPr sz="1200" b="1" i="0">
                <a:solidFill>
                  <a:srgbClr val="1E4FA8"/>
                </a:solidFill>
                <a:latin typeface="Consolas"/>
                <a:ea typeface="Consolas"/>
              </a:rPr>
              <a:t>top: +40px</a:t>
            </a:r>
            <a:r>
              <a:rPr sz="1150" b="0" i="0">
                <a:solidFill>
                  <a:srgbClr val="4A5568"/>
                </a:solidFill>
                <a:latin typeface="Calibri"/>
                <a:ea typeface="Calibri"/>
              </a:rPr>
              <a:t>   ↓ 40px down</a:t>
            </a:r>
          </a:p>
        </p:txBody>
      </p:sp>
      <p:sp>
        <p:nvSpPr>
          <p:cNvPr id="19" name="Rectangle 18"/>
          <p:cNvSpPr/>
          <p:nvPr/>
        </p:nvSpPr>
        <p:spPr>
          <a:xfrm>
            <a:off x="5975604" y="2212390"/>
            <a:ext cx="45720" cy="202173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920740" y="2080260"/>
            <a:ext cx="155448" cy="155448"/>
          </a:xfrm>
          <a:prstGeom prst="triangl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920740" y="4210812"/>
            <a:ext cx="155448" cy="155448"/>
          </a:xfrm>
          <a:prstGeom prst="triangl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79008" y="1677924"/>
            <a:ext cx="438912" cy="237744"/>
          </a:xfrm>
          <a:prstGeom prst="rect">
            <a:avLst/>
          </a:prstGeom>
          <a:noFill/>
        </p:spPr>
        <p:txBody>
          <a:bodyPr wrap="square" anchor="ctr" lIns="0" rIns="0" tIns="0" bIns="0">
            <a:spAutoFit/>
          </a:bodyPr>
          <a:lstStyle/>
          <a:p>
            <a:pPr algn="ctr">
              <a:lnSpc>
                <a:spcPct val="110000"/>
              </a:lnSpc>
              <a:spcAft>
                <a:spcPts val="0"/>
              </a:spcAft>
            </a:pPr>
            <a:r>
              <a:rPr sz="1050" b="1" i="0">
                <a:solidFill>
                  <a:srgbClr val="4A5568"/>
                </a:solidFill>
                <a:latin typeface="Calibri"/>
                <a:ea typeface="Calibri"/>
              </a:rPr>
              <a:t>±40px</a:t>
            </a:r>
          </a:p>
        </p:txBody>
      </p:sp>
      <p:sp>
        <p:nvSpPr>
          <p:cNvPr id="23" name="Rounded Rectangle 22"/>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top: 40px drops the box 40px; top: -40px lifts it the same distance.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Offsets — left, Positive and Negative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Positioning</a:t>
            </a:r>
          </a:p>
        </p:txBody>
      </p:sp>
      <p:sp>
        <p:nvSpPr>
          <p:cNvPr id="5" name="Rounded Rectangle 4"/>
          <p:cNvSpPr/>
          <p:nvPr/>
        </p:nvSpPr>
        <p:spPr>
          <a:xfrm>
            <a:off x="548640" y="978408"/>
            <a:ext cx="457200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179576"/>
            <a:ext cx="402336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7" name="TextBox 6"/>
          <p:cNvSpPr txBox="1"/>
          <p:nvPr/>
        </p:nvSpPr>
        <p:spPr>
          <a:xfrm>
            <a:off x="841247" y="1508760"/>
            <a:ext cx="3986784" cy="370332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measured from the box's own slot */</a:t>
            </a:r>
          </a:p>
          <a:p>
            <a:pPr>
              <a:spcAft>
                <a:spcPts val="350"/>
              </a:spcAft>
            </a:pPr>
            <a:r>
              <a:rPr sz="1300" b="0" i="0">
                <a:solidFill>
                  <a:srgbClr val="61AFEF"/>
                </a:solidFill>
                <a:latin typeface="Consolas"/>
                <a:ea typeface="Consolas"/>
              </a:rPr>
              <a:t>.box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position</a:t>
            </a:r>
            <a:r>
              <a:rPr sz="1300" b="0" i="0">
                <a:solidFill>
                  <a:srgbClr val="98C379"/>
                </a:solidFill>
                <a:latin typeface="Consolas"/>
                <a:ea typeface="Consolas"/>
              </a:rPr>
              <a:t>: relative;</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left</a:t>
            </a:r>
            <a:r>
              <a:rPr sz="1300" b="0" i="0">
                <a:solidFill>
                  <a:srgbClr val="98C379"/>
                </a:solidFill>
                <a:latin typeface="Consolas"/>
                <a:ea typeface="Consolas"/>
              </a:rPr>
              <a:t>: 40px;</a:t>
            </a:r>
            <a:r>
              <a:rPr sz="1300" b="0" i="0">
                <a:solidFill>
                  <a:srgbClr val="7F8C98"/>
                </a:solidFill>
                <a:latin typeface="Consolas"/>
                <a:ea typeface="Consolas"/>
              </a:rPr>
              <a:t>       /* +40 = right */</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61AFEF"/>
                </a:solidFill>
                <a:latin typeface="Consolas"/>
                <a:ea typeface="Consolas"/>
              </a:rPr>
              <a:t>.box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position</a:t>
            </a:r>
            <a:r>
              <a:rPr sz="1300" b="0" i="0">
                <a:solidFill>
                  <a:srgbClr val="98C379"/>
                </a:solidFill>
                <a:latin typeface="Consolas"/>
                <a:ea typeface="Consolas"/>
              </a:rPr>
              <a:t>: relative;</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left</a:t>
            </a:r>
            <a:r>
              <a:rPr sz="1300" b="0" i="0">
                <a:solidFill>
                  <a:srgbClr val="98C379"/>
                </a:solidFill>
                <a:latin typeface="Consolas"/>
                <a:ea typeface="Consolas"/>
              </a:rPr>
              <a:t>: -40px;</a:t>
            </a:r>
            <a:r>
              <a:rPr sz="1300" b="0" i="0">
                <a:solidFill>
                  <a:srgbClr val="7F8C98"/>
                </a:solidFill>
                <a:latin typeface="Consolas"/>
                <a:ea typeface="Consolas"/>
              </a:rPr>
              <a:t>      /* -40 = left */</a:t>
            </a:r>
          </a:p>
          <a:p>
            <a:pPr>
              <a:spcAft>
                <a:spcPts val="350"/>
              </a:spcAft>
            </a:pPr>
            <a:r>
              <a:rPr sz="1300" b="0" i="0">
                <a:solidFill>
                  <a:srgbClr val="61AFEF"/>
                </a:solidFill>
                <a:latin typeface="Consolas"/>
                <a:ea typeface="Consolas"/>
              </a:rPr>
              <a:t>}</a:t>
            </a:r>
          </a:p>
        </p:txBody>
      </p:sp>
      <p:sp>
        <p:nvSpPr>
          <p:cNvPr id="8" name="Rounded Rectangle 7"/>
          <p:cNvSpPr/>
          <p:nvPr/>
        </p:nvSpPr>
        <p:spPr>
          <a:xfrm>
            <a:off x="5468112" y="978408"/>
            <a:ext cx="6174943" cy="4343400"/>
          </a:xfrm>
          <a:prstGeom prst="roundRect">
            <a:avLst>
              <a:gd name="adj" fmla="val 3000"/>
            </a:avLst>
          </a:prstGeom>
          <a:solidFill>
            <a:srgbClr val="FFFFFF"/>
          </a:solidFill>
          <a:ln w="12700">
            <a:solidFill>
              <a:srgbClr val="C9D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87568" y="1056132"/>
            <a:ext cx="5736031" cy="237744"/>
          </a:xfrm>
          <a:prstGeom prst="rect">
            <a:avLst/>
          </a:prstGeom>
          <a:noFill/>
        </p:spPr>
        <p:txBody>
          <a:bodyPr wrap="square" anchor="t" lIns="0" rIns="0" tIns="0" bIns="0">
            <a:spAutoFit/>
          </a:bodyPr>
          <a:lstStyle/>
          <a:p>
            <a:pPr algn="l">
              <a:lnSpc>
                <a:spcPct val="110000"/>
              </a:lnSpc>
              <a:spcAft>
                <a:spcPts val="0"/>
              </a:spcAft>
            </a:pPr>
            <a:r>
              <a:rPr sz="1050" b="1" i="0">
                <a:solidFill>
                  <a:srgbClr val="4A5568"/>
                </a:solidFill>
                <a:latin typeface="Calibri"/>
                <a:ea typeface="Calibri"/>
              </a:rPr>
              <a:t>THE PAGE · one box, three places · dashed = no offset</a:t>
            </a:r>
          </a:p>
        </p:txBody>
      </p:sp>
      <p:sp>
        <p:nvSpPr>
          <p:cNvPr id="10" name="Rounded Rectangle 9"/>
          <p:cNvSpPr/>
          <p:nvPr/>
        </p:nvSpPr>
        <p:spPr>
          <a:xfrm>
            <a:off x="5857646" y="1911095"/>
            <a:ext cx="1554480" cy="1325880"/>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7646" y="1911095"/>
            <a:ext cx="1554480" cy="1325880"/>
          </a:xfrm>
          <a:prstGeom prst="rect">
            <a:avLst/>
          </a:prstGeom>
          <a:noFill/>
        </p:spPr>
        <p:txBody>
          <a:bodyPr wrap="square" anchor="ctr" lIns="0" rIns="0" tIns="0" bIns="0">
            <a:spAutoFit/>
          </a:bodyPr>
          <a:lstStyle/>
          <a:p>
            <a:pPr algn="ctr">
              <a:lnSpc>
                <a:spcPct val="110000"/>
              </a:lnSpc>
              <a:spcAft>
                <a:spcPts val="0"/>
              </a:spcAft>
            </a:pPr>
            <a:r>
              <a:rPr sz="1300" b="1" i="0">
                <a:solidFill>
                  <a:srgbClr val="4A5568"/>
                </a:solidFill>
                <a:latin typeface="Calibri"/>
                <a:ea typeface="Calibri"/>
              </a:rPr>
              <a:t>the box</a:t>
            </a:r>
          </a:p>
        </p:txBody>
      </p:sp>
      <p:sp>
        <p:nvSpPr>
          <p:cNvPr id="12" name="TextBox 11"/>
          <p:cNvSpPr txBox="1"/>
          <p:nvPr/>
        </p:nvSpPr>
        <p:spPr>
          <a:xfrm>
            <a:off x="5857646" y="1453896"/>
            <a:ext cx="1554480" cy="402336"/>
          </a:xfrm>
          <a:prstGeom prst="rect">
            <a:avLst/>
          </a:prstGeom>
          <a:noFill/>
        </p:spPr>
        <p:txBody>
          <a:bodyPr wrap="square" anchor="ctr" lIns="0" rIns="0" tIns="0" bIns="0">
            <a:spAutoFit/>
          </a:bodyPr>
          <a:lstStyle/>
          <a:p>
            <a:pPr algn="ctr">
              <a:lnSpc>
                <a:spcPct val="110000"/>
              </a:lnSpc>
              <a:spcAft>
                <a:spcPts val="0"/>
              </a:spcAft>
            </a:pPr>
            <a:r>
              <a:rPr sz="1150" b="1" i="0">
                <a:solidFill>
                  <a:srgbClr val="1E4FA8"/>
                </a:solidFill>
                <a:latin typeface="Consolas"/>
                <a:ea typeface="Consolas"/>
              </a:rPr>
              <a:t>left: -40px</a:t>
            </a:r>
          </a:p>
          <a:p>
            <a:pPr algn="ctr">
              <a:lnSpc>
                <a:spcPct val="110000"/>
              </a:lnSpc>
              <a:spcAft>
                <a:spcPts val="0"/>
              </a:spcAft>
            </a:pPr>
            <a:r>
              <a:rPr sz="1100" b="0" i="0">
                <a:solidFill>
                  <a:srgbClr val="4A5568"/>
                </a:solidFill>
                <a:latin typeface="Calibri"/>
                <a:ea typeface="Calibri"/>
              </a:rPr>
              <a:t>← 40px left</a:t>
            </a:r>
          </a:p>
        </p:txBody>
      </p:sp>
      <p:sp>
        <p:nvSpPr>
          <p:cNvPr id="13" name="Rounded Rectangle 12"/>
          <p:cNvSpPr/>
          <p:nvPr/>
        </p:nvSpPr>
        <p:spPr>
          <a:xfrm>
            <a:off x="7777886" y="1911095"/>
            <a:ext cx="1554480" cy="1325880"/>
          </a:xfrm>
          <a:prstGeom prst="roundRect">
            <a:avLst>
              <a:gd name="adj" fmla="val 9000"/>
            </a:avLst>
          </a:prstGeom>
          <a:noFill/>
          <a:ln w="12700">
            <a:solidFill>
              <a:srgbClr val="9DC0E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7886" y="1911095"/>
            <a:ext cx="1554480" cy="1325880"/>
          </a:xfrm>
          <a:prstGeom prst="rect">
            <a:avLst/>
          </a:prstGeom>
          <a:noFill/>
        </p:spPr>
        <p:txBody>
          <a:bodyPr wrap="square" anchor="ctr" lIns="0" rIns="0" tIns="0" bIns="0">
            <a:spAutoFit/>
          </a:bodyPr>
          <a:lstStyle/>
          <a:p>
            <a:pPr algn="ctr">
              <a:lnSpc>
                <a:spcPct val="110000"/>
              </a:lnSpc>
              <a:spcAft>
                <a:spcPts val="0"/>
              </a:spcAft>
            </a:pPr>
            <a:r>
              <a:rPr sz="1300" b="1" i="0">
                <a:solidFill>
                  <a:srgbClr val="9DC0EE"/>
                </a:solidFill>
                <a:latin typeface="Calibri"/>
                <a:ea typeface="Calibri"/>
              </a:rPr>
              <a:t>the box</a:t>
            </a:r>
          </a:p>
        </p:txBody>
      </p:sp>
      <p:sp>
        <p:nvSpPr>
          <p:cNvPr id="15" name="TextBox 14"/>
          <p:cNvSpPr txBox="1"/>
          <p:nvPr/>
        </p:nvSpPr>
        <p:spPr>
          <a:xfrm>
            <a:off x="7777886" y="1453896"/>
            <a:ext cx="1554480" cy="402336"/>
          </a:xfrm>
          <a:prstGeom prst="rect">
            <a:avLst/>
          </a:prstGeom>
          <a:noFill/>
        </p:spPr>
        <p:txBody>
          <a:bodyPr wrap="square" anchor="ctr" lIns="0" rIns="0" tIns="0" bIns="0">
            <a:spAutoFit/>
          </a:bodyPr>
          <a:lstStyle/>
          <a:p>
            <a:pPr algn="ctr">
              <a:lnSpc>
                <a:spcPct val="110000"/>
              </a:lnSpc>
              <a:spcAft>
                <a:spcPts val="0"/>
              </a:spcAft>
            </a:pPr>
            <a:r>
              <a:rPr sz="1150" b="1" i="0">
                <a:solidFill>
                  <a:srgbClr val="1E4FA8"/>
                </a:solidFill>
                <a:latin typeface="Consolas"/>
                <a:ea typeface="Consolas"/>
              </a:rPr>
              <a:t>no offset</a:t>
            </a:r>
          </a:p>
          <a:p>
            <a:pPr algn="ctr">
              <a:lnSpc>
                <a:spcPct val="110000"/>
              </a:lnSpc>
              <a:spcAft>
                <a:spcPts val="0"/>
              </a:spcAft>
            </a:pPr>
            <a:r>
              <a:rPr sz="1100" b="0" i="0">
                <a:solidFill>
                  <a:srgbClr val="4A5568"/>
                </a:solidFill>
                <a:latin typeface="Calibri"/>
                <a:ea typeface="Calibri"/>
              </a:rPr>
              <a:t>its normal slot</a:t>
            </a:r>
          </a:p>
        </p:txBody>
      </p:sp>
      <p:sp>
        <p:nvSpPr>
          <p:cNvPr id="16" name="Rounded Rectangle 15"/>
          <p:cNvSpPr/>
          <p:nvPr/>
        </p:nvSpPr>
        <p:spPr>
          <a:xfrm>
            <a:off x="9699040" y="1911095"/>
            <a:ext cx="1554480" cy="1325880"/>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9040" y="1911095"/>
            <a:ext cx="1554480" cy="1325880"/>
          </a:xfrm>
          <a:prstGeom prst="rect">
            <a:avLst/>
          </a:prstGeom>
          <a:noFill/>
        </p:spPr>
        <p:txBody>
          <a:bodyPr wrap="square" anchor="ctr" lIns="0" rIns="0" tIns="0" bIns="0">
            <a:spAutoFit/>
          </a:bodyPr>
          <a:lstStyle/>
          <a:p>
            <a:pPr algn="ctr">
              <a:lnSpc>
                <a:spcPct val="110000"/>
              </a:lnSpc>
              <a:spcAft>
                <a:spcPts val="0"/>
              </a:spcAft>
            </a:pPr>
            <a:r>
              <a:rPr sz="1300" b="1" i="0">
                <a:solidFill>
                  <a:srgbClr val="4A5568"/>
                </a:solidFill>
                <a:latin typeface="Calibri"/>
                <a:ea typeface="Calibri"/>
              </a:rPr>
              <a:t>the box</a:t>
            </a:r>
          </a:p>
        </p:txBody>
      </p:sp>
      <p:sp>
        <p:nvSpPr>
          <p:cNvPr id="18" name="TextBox 17"/>
          <p:cNvSpPr txBox="1"/>
          <p:nvPr/>
        </p:nvSpPr>
        <p:spPr>
          <a:xfrm>
            <a:off x="9699040" y="1453896"/>
            <a:ext cx="1554480" cy="402336"/>
          </a:xfrm>
          <a:prstGeom prst="rect">
            <a:avLst/>
          </a:prstGeom>
          <a:noFill/>
        </p:spPr>
        <p:txBody>
          <a:bodyPr wrap="square" anchor="ctr" lIns="0" rIns="0" tIns="0" bIns="0">
            <a:spAutoFit/>
          </a:bodyPr>
          <a:lstStyle/>
          <a:p>
            <a:pPr algn="ctr">
              <a:lnSpc>
                <a:spcPct val="110000"/>
              </a:lnSpc>
              <a:spcAft>
                <a:spcPts val="0"/>
              </a:spcAft>
            </a:pPr>
            <a:r>
              <a:rPr sz="1150" b="1" i="0">
                <a:solidFill>
                  <a:srgbClr val="1E4FA8"/>
                </a:solidFill>
                <a:latin typeface="Consolas"/>
                <a:ea typeface="Consolas"/>
              </a:rPr>
              <a:t>left: +40px</a:t>
            </a:r>
          </a:p>
          <a:p>
            <a:pPr algn="ctr">
              <a:lnSpc>
                <a:spcPct val="110000"/>
              </a:lnSpc>
              <a:spcAft>
                <a:spcPts val="0"/>
              </a:spcAft>
            </a:pPr>
            <a:r>
              <a:rPr sz="1100" b="0" i="0">
                <a:solidFill>
                  <a:srgbClr val="4A5568"/>
                </a:solidFill>
                <a:latin typeface="Calibri"/>
                <a:ea typeface="Calibri"/>
              </a:rPr>
              <a:t>→ 40px right</a:t>
            </a:r>
          </a:p>
        </p:txBody>
      </p:sp>
      <p:sp>
        <p:nvSpPr>
          <p:cNvPr id="19" name="Rectangle 18"/>
          <p:cNvSpPr/>
          <p:nvPr/>
        </p:nvSpPr>
        <p:spPr>
          <a:xfrm>
            <a:off x="6767017" y="3872483"/>
            <a:ext cx="3576218" cy="4572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6200000">
            <a:off x="6634886" y="3817620"/>
            <a:ext cx="155448" cy="155448"/>
          </a:xfrm>
          <a:prstGeom prst="triangl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5400000">
            <a:off x="10319918" y="3817620"/>
            <a:ext cx="155448" cy="155448"/>
          </a:xfrm>
          <a:prstGeom prst="triangl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35670" y="4169663"/>
            <a:ext cx="438912" cy="237744"/>
          </a:xfrm>
          <a:prstGeom prst="rect">
            <a:avLst/>
          </a:prstGeom>
          <a:noFill/>
        </p:spPr>
        <p:txBody>
          <a:bodyPr wrap="square" anchor="ctr" lIns="0" rIns="0" tIns="0" bIns="0">
            <a:spAutoFit/>
          </a:bodyPr>
          <a:lstStyle/>
          <a:p>
            <a:pPr algn="ctr">
              <a:lnSpc>
                <a:spcPct val="110000"/>
              </a:lnSpc>
              <a:spcAft>
                <a:spcPts val="0"/>
              </a:spcAft>
            </a:pPr>
            <a:r>
              <a:rPr sz="1050" b="1" i="0">
                <a:solidFill>
                  <a:srgbClr val="4A5568"/>
                </a:solidFill>
                <a:latin typeface="Calibri"/>
                <a:ea typeface="Calibri"/>
              </a:rPr>
              <a:t>±40px</a:t>
            </a:r>
          </a:p>
        </p:txBody>
      </p:sp>
      <p:sp>
        <p:nvSpPr>
          <p:cNvPr id="23" name="Rounded Rectangle 22"/>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left: 40px pushes the box 40px right; left: -40px pulls it left.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Offsets — right, Positive and Negative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Positioning</a:t>
            </a:r>
          </a:p>
        </p:txBody>
      </p:sp>
      <p:sp>
        <p:nvSpPr>
          <p:cNvPr id="5" name="Rounded Rectangle 4"/>
          <p:cNvSpPr/>
          <p:nvPr/>
        </p:nvSpPr>
        <p:spPr>
          <a:xfrm>
            <a:off x="548640" y="978408"/>
            <a:ext cx="457200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179576"/>
            <a:ext cx="402336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7" name="TextBox 6"/>
          <p:cNvSpPr txBox="1"/>
          <p:nvPr/>
        </p:nvSpPr>
        <p:spPr>
          <a:xfrm>
            <a:off x="841247" y="1508760"/>
            <a:ext cx="3986784" cy="370332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measured from the box's own slot */</a:t>
            </a:r>
          </a:p>
          <a:p>
            <a:pPr>
              <a:spcAft>
                <a:spcPts val="350"/>
              </a:spcAft>
            </a:pPr>
            <a:r>
              <a:rPr sz="1300" b="0" i="0">
                <a:solidFill>
                  <a:srgbClr val="61AFEF"/>
                </a:solidFill>
                <a:latin typeface="Consolas"/>
                <a:ea typeface="Consolas"/>
              </a:rPr>
              <a:t>.box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position</a:t>
            </a:r>
            <a:r>
              <a:rPr sz="1300" b="0" i="0">
                <a:solidFill>
                  <a:srgbClr val="98C379"/>
                </a:solidFill>
                <a:latin typeface="Consolas"/>
                <a:ea typeface="Consolas"/>
              </a:rPr>
              <a:t>: relative;</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right</a:t>
            </a:r>
            <a:r>
              <a:rPr sz="1300" b="0" i="0">
                <a:solidFill>
                  <a:srgbClr val="98C379"/>
                </a:solidFill>
                <a:latin typeface="Consolas"/>
                <a:ea typeface="Consolas"/>
              </a:rPr>
              <a:t>: 40px;</a:t>
            </a:r>
            <a:r>
              <a:rPr sz="1300" b="0" i="0">
                <a:solidFill>
                  <a:srgbClr val="7F8C98"/>
                </a:solidFill>
                <a:latin typeface="Consolas"/>
                <a:ea typeface="Consolas"/>
              </a:rPr>
              <a:t>      /* +40 = left */</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61AFEF"/>
                </a:solidFill>
                <a:latin typeface="Consolas"/>
                <a:ea typeface="Consolas"/>
              </a:rPr>
              <a:t>.box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position</a:t>
            </a:r>
            <a:r>
              <a:rPr sz="1300" b="0" i="0">
                <a:solidFill>
                  <a:srgbClr val="98C379"/>
                </a:solidFill>
                <a:latin typeface="Consolas"/>
                <a:ea typeface="Consolas"/>
              </a:rPr>
              <a:t>: relative;</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right</a:t>
            </a:r>
            <a:r>
              <a:rPr sz="1300" b="0" i="0">
                <a:solidFill>
                  <a:srgbClr val="98C379"/>
                </a:solidFill>
                <a:latin typeface="Consolas"/>
                <a:ea typeface="Consolas"/>
              </a:rPr>
              <a:t>: -40px;</a:t>
            </a:r>
            <a:r>
              <a:rPr sz="1300" b="0" i="0">
                <a:solidFill>
                  <a:srgbClr val="7F8C98"/>
                </a:solidFill>
                <a:latin typeface="Consolas"/>
                <a:ea typeface="Consolas"/>
              </a:rPr>
              <a:t>     /* -40 = right */</a:t>
            </a:r>
          </a:p>
          <a:p>
            <a:pPr>
              <a:spcAft>
                <a:spcPts val="350"/>
              </a:spcAft>
            </a:pPr>
            <a:r>
              <a:rPr sz="1300" b="0" i="0">
                <a:solidFill>
                  <a:srgbClr val="61AFEF"/>
                </a:solidFill>
                <a:latin typeface="Consolas"/>
                <a:ea typeface="Consolas"/>
              </a:rPr>
              <a:t>}</a:t>
            </a:r>
          </a:p>
        </p:txBody>
      </p:sp>
      <p:sp>
        <p:nvSpPr>
          <p:cNvPr id="8" name="Rounded Rectangle 7"/>
          <p:cNvSpPr/>
          <p:nvPr/>
        </p:nvSpPr>
        <p:spPr>
          <a:xfrm>
            <a:off x="5468112" y="978408"/>
            <a:ext cx="6174943" cy="4343400"/>
          </a:xfrm>
          <a:prstGeom prst="roundRect">
            <a:avLst>
              <a:gd name="adj" fmla="val 3000"/>
            </a:avLst>
          </a:prstGeom>
          <a:solidFill>
            <a:srgbClr val="FFFFFF"/>
          </a:solidFill>
          <a:ln w="12700">
            <a:solidFill>
              <a:srgbClr val="C9D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87568" y="1056132"/>
            <a:ext cx="5736031" cy="237744"/>
          </a:xfrm>
          <a:prstGeom prst="rect">
            <a:avLst/>
          </a:prstGeom>
          <a:noFill/>
        </p:spPr>
        <p:txBody>
          <a:bodyPr wrap="square" anchor="t" lIns="0" rIns="0" tIns="0" bIns="0">
            <a:spAutoFit/>
          </a:bodyPr>
          <a:lstStyle/>
          <a:p>
            <a:pPr algn="l">
              <a:lnSpc>
                <a:spcPct val="110000"/>
              </a:lnSpc>
              <a:spcAft>
                <a:spcPts val="0"/>
              </a:spcAft>
            </a:pPr>
            <a:r>
              <a:rPr sz="1050" b="1" i="0">
                <a:solidFill>
                  <a:srgbClr val="4A5568"/>
                </a:solidFill>
                <a:latin typeface="Calibri"/>
                <a:ea typeface="Calibri"/>
              </a:rPr>
              <a:t>THE PAGE · one box, three places · dashed = no offset</a:t>
            </a:r>
          </a:p>
        </p:txBody>
      </p:sp>
      <p:sp>
        <p:nvSpPr>
          <p:cNvPr id="10" name="Rounded Rectangle 9"/>
          <p:cNvSpPr/>
          <p:nvPr/>
        </p:nvSpPr>
        <p:spPr>
          <a:xfrm>
            <a:off x="5857646" y="1911095"/>
            <a:ext cx="1554480" cy="1325880"/>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7646" y="1911095"/>
            <a:ext cx="1554480" cy="1325880"/>
          </a:xfrm>
          <a:prstGeom prst="rect">
            <a:avLst/>
          </a:prstGeom>
          <a:noFill/>
        </p:spPr>
        <p:txBody>
          <a:bodyPr wrap="square" anchor="ctr" lIns="0" rIns="0" tIns="0" bIns="0">
            <a:spAutoFit/>
          </a:bodyPr>
          <a:lstStyle/>
          <a:p>
            <a:pPr algn="ctr">
              <a:lnSpc>
                <a:spcPct val="110000"/>
              </a:lnSpc>
              <a:spcAft>
                <a:spcPts val="0"/>
              </a:spcAft>
            </a:pPr>
            <a:r>
              <a:rPr sz="1300" b="1" i="0">
                <a:solidFill>
                  <a:srgbClr val="4A5568"/>
                </a:solidFill>
                <a:latin typeface="Calibri"/>
                <a:ea typeface="Calibri"/>
              </a:rPr>
              <a:t>the box</a:t>
            </a:r>
          </a:p>
        </p:txBody>
      </p:sp>
      <p:sp>
        <p:nvSpPr>
          <p:cNvPr id="12" name="TextBox 11"/>
          <p:cNvSpPr txBox="1"/>
          <p:nvPr/>
        </p:nvSpPr>
        <p:spPr>
          <a:xfrm>
            <a:off x="5857646" y="1453896"/>
            <a:ext cx="1554480" cy="402336"/>
          </a:xfrm>
          <a:prstGeom prst="rect">
            <a:avLst/>
          </a:prstGeom>
          <a:noFill/>
        </p:spPr>
        <p:txBody>
          <a:bodyPr wrap="square" anchor="ctr" lIns="0" rIns="0" tIns="0" bIns="0">
            <a:spAutoFit/>
          </a:bodyPr>
          <a:lstStyle/>
          <a:p>
            <a:pPr algn="ctr">
              <a:lnSpc>
                <a:spcPct val="110000"/>
              </a:lnSpc>
              <a:spcAft>
                <a:spcPts val="0"/>
              </a:spcAft>
            </a:pPr>
            <a:r>
              <a:rPr sz="1150" b="1" i="0">
                <a:solidFill>
                  <a:srgbClr val="1E4FA8"/>
                </a:solidFill>
                <a:latin typeface="Consolas"/>
                <a:ea typeface="Consolas"/>
              </a:rPr>
              <a:t>right: +40px</a:t>
            </a:r>
          </a:p>
          <a:p>
            <a:pPr algn="ctr">
              <a:lnSpc>
                <a:spcPct val="110000"/>
              </a:lnSpc>
              <a:spcAft>
                <a:spcPts val="0"/>
              </a:spcAft>
            </a:pPr>
            <a:r>
              <a:rPr sz="1100" b="0" i="0">
                <a:solidFill>
                  <a:srgbClr val="4A5568"/>
                </a:solidFill>
                <a:latin typeface="Calibri"/>
                <a:ea typeface="Calibri"/>
              </a:rPr>
              <a:t>← 40px left</a:t>
            </a:r>
          </a:p>
        </p:txBody>
      </p:sp>
      <p:sp>
        <p:nvSpPr>
          <p:cNvPr id="13" name="Rounded Rectangle 12"/>
          <p:cNvSpPr/>
          <p:nvPr/>
        </p:nvSpPr>
        <p:spPr>
          <a:xfrm>
            <a:off x="7777886" y="1911095"/>
            <a:ext cx="1554480" cy="1325880"/>
          </a:xfrm>
          <a:prstGeom prst="roundRect">
            <a:avLst>
              <a:gd name="adj" fmla="val 9000"/>
            </a:avLst>
          </a:prstGeom>
          <a:noFill/>
          <a:ln w="12700">
            <a:solidFill>
              <a:srgbClr val="9DC0E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7886" y="1911095"/>
            <a:ext cx="1554480" cy="1325880"/>
          </a:xfrm>
          <a:prstGeom prst="rect">
            <a:avLst/>
          </a:prstGeom>
          <a:noFill/>
        </p:spPr>
        <p:txBody>
          <a:bodyPr wrap="square" anchor="ctr" lIns="0" rIns="0" tIns="0" bIns="0">
            <a:spAutoFit/>
          </a:bodyPr>
          <a:lstStyle/>
          <a:p>
            <a:pPr algn="ctr">
              <a:lnSpc>
                <a:spcPct val="110000"/>
              </a:lnSpc>
              <a:spcAft>
                <a:spcPts val="0"/>
              </a:spcAft>
            </a:pPr>
            <a:r>
              <a:rPr sz="1300" b="1" i="0">
                <a:solidFill>
                  <a:srgbClr val="9DC0EE"/>
                </a:solidFill>
                <a:latin typeface="Calibri"/>
                <a:ea typeface="Calibri"/>
              </a:rPr>
              <a:t>the box</a:t>
            </a:r>
          </a:p>
        </p:txBody>
      </p:sp>
      <p:sp>
        <p:nvSpPr>
          <p:cNvPr id="15" name="TextBox 14"/>
          <p:cNvSpPr txBox="1"/>
          <p:nvPr/>
        </p:nvSpPr>
        <p:spPr>
          <a:xfrm>
            <a:off x="7777886" y="1453896"/>
            <a:ext cx="1554480" cy="402336"/>
          </a:xfrm>
          <a:prstGeom prst="rect">
            <a:avLst/>
          </a:prstGeom>
          <a:noFill/>
        </p:spPr>
        <p:txBody>
          <a:bodyPr wrap="square" anchor="ctr" lIns="0" rIns="0" tIns="0" bIns="0">
            <a:spAutoFit/>
          </a:bodyPr>
          <a:lstStyle/>
          <a:p>
            <a:pPr algn="ctr">
              <a:lnSpc>
                <a:spcPct val="110000"/>
              </a:lnSpc>
              <a:spcAft>
                <a:spcPts val="0"/>
              </a:spcAft>
            </a:pPr>
            <a:r>
              <a:rPr sz="1150" b="1" i="0">
                <a:solidFill>
                  <a:srgbClr val="1E4FA8"/>
                </a:solidFill>
                <a:latin typeface="Consolas"/>
                <a:ea typeface="Consolas"/>
              </a:rPr>
              <a:t>no offset</a:t>
            </a:r>
          </a:p>
          <a:p>
            <a:pPr algn="ctr">
              <a:lnSpc>
                <a:spcPct val="110000"/>
              </a:lnSpc>
              <a:spcAft>
                <a:spcPts val="0"/>
              </a:spcAft>
            </a:pPr>
            <a:r>
              <a:rPr sz="1100" b="0" i="0">
                <a:solidFill>
                  <a:srgbClr val="4A5568"/>
                </a:solidFill>
                <a:latin typeface="Calibri"/>
                <a:ea typeface="Calibri"/>
              </a:rPr>
              <a:t>its normal slot</a:t>
            </a:r>
          </a:p>
        </p:txBody>
      </p:sp>
      <p:sp>
        <p:nvSpPr>
          <p:cNvPr id="16" name="Rounded Rectangle 15"/>
          <p:cNvSpPr/>
          <p:nvPr/>
        </p:nvSpPr>
        <p:spPr>
          <a:xfrm>
            <a:off x="9699040" y="1911095"/>
            <a:ext cx="1554480" cy="1325880"/>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9040" y="1911095"/>
            <a:ext cx="1554480" cy="1325880"/>
          </a:xfrm>
          <a:prstGeom prst="rect">
            <a:avLst/>
          </a:prstGeom>
          <a:noFill/>
        </p:spPr>
        <p:txBody>
          <a:bodyPr wrap="square" anchor="ctr" lIns="0" rIns="0" tIns="0" bIns="0">
            <a:spAutoFit/>
          </a:bodyPr>
          <a:lstStyle/>
          <a:p>
            <a:pPr algn="ctr">
              <a:lnSpc>
                <a:spcPct val="110000"/>
              </a:lnSpc>
              <a:spcAft>
                <a:spcPts val="0"/>
              </a:spcAft>
            </a:pPr>
            <a:r>
              <a:rPr sz="1300" b="1" i="0">
                <a:solidFill>
                  <a:srgbClr val="4A5568"/>
                </a:solidFill>
                <a:latin typeface="Calibri"/>
                <a:ea typeface="Calibri"/>
              </a:rPr>
              <a:t>the box</a:t>
            </a:r>
          </a:p>
        </p:txBody>
      </p:sp>
      <p:sp>
        <p:nvSpPr>
          <p:cNvPr id="18" name="TextBox 17"/>
          <p:cNvSpPr txBox="1"/>
          <p:nvPr/>
        </p:nvSpPr>
        <p:spPr>
          <a:xfrm>
            <a:off x="9699040" y="1453896"/>
            <a:ext cx="1554480" cy="402336"/>
          </a:xfrm>
          <a:prstGeom prst="rect">
            <a:avLst/>
          </a:prstGeom>
          <a:noFill/>
        </p:spPr>
        <p:txBody>
          <a:bodyPr wrap="square" anchor="ctr" lIns="0" rIns="0" tIns="0" bIns="0">
            <a:spAutoFit/>
          </a:bodyPr>
          <a:lstStyle/>
          <a:p>
            <a:pPr algn="ctr">
              <a:lnSpc>
                <a:spcPct val="110000"/>
              </a:lnSpc>
              <a:spcAft>
                <a:spcPts val="0"/>
              </a:spcAft>
            </a:pPr>
            <a:r>
              <a:rPr sz="1150" b="1" i="0">
                <a:solidFill>
                  <a:srgbClr val="1E4FA8"/>
                </a:solidFill>
                <a:latin typeface="Consolas"/>
                <a:ea typeface="Consolas"/>
              </a:rPr>
              <a:t>right: -40px</a:t>
            </a:r>
          </a:p>
          <a:p>
            <a:pPr algn="ctr">
              <a:lnSpc>
                <a:spcPct val="110000"/>
              </a:lnSpc>
              <a:spcAft>
                <a:spcPts val="0"/>
              </a:spcAft>
            </a:pPr>
            <a:r>
              <a:rPr sz="1100" b="0" i="0">
                <a:solidFill>
                  <a:srgbClr val="4A5568"/>
                </a:solidFill>
                <a:latin typeface="Calibri"/>
                <a:ea typeface="Calibri"/>
              </a:rPr>
              <a:t>→ 40px right</a:t>
            </a:r>
          </a:p>
        </p:txBody>
      </p:sp>
      <p:sp>
        <p:nvSpPr>
          <p:cNvPr id="19" name="Rectangle 18"/>
          <p:cNvSpPr/>
          <p:nvPr/>
        </p:nvSpPr>
        <p:spPr>
          <a:xfrm>
            <a:off x="6767017" y="3872483"/>
            <a:ext cx="3576218" cy="4572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6200000">
            <a:off x="6634886" y="3817620"/>
            <a:ext cx="155448" cy="155448"/>
          </a:xfrm>
          <a:prstGeom prst="triangl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5400000">
            <a:off x="10319918" y="3817620"/>
            <a:ext cx="155448" cy="155448"/>
          </a:xfrm>
          <a:prstGeom prst="triangl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35670" y="4169663"/>
            <a:ext cx="438912" cy="237744"/>
          </a:xfrm>
          <a:prstGeom prst="rect">
            <a:avLst/>
          </a:prstGeom>
          <a:noFill/>
        </p:spPr>
        <p:txBody>
          <a:bodyPr wrap="square" anchor="ctr" lIns="0" rIns="0" tIns="0" bIns="0">
            <a:spAutoFit/>
          </a:bodyPr>
          <a:lstStyle/>
          <a:p>
            <a:pPr algn="ctr">
              <a:lnSpc>
                <a:spcPct val="110000"/>
              </a:lnSpc>
              <a:spcAft>
                <a:spcPts val="0"/>
              </a:spcAft>
            </a:pPr>
            <a:r>
              <a:rPr sz="1050" b="1" i="0">
                <a:solidFill>
                  <a:srgbClr val="4A5568"/>
                </a:solidFill>
                <a:latin typeface="Calibri"/>
                <a:ea typeface="Calibri"/>
              </a:rPr>
              <a:t>±40px</a:t>
            </a:r>
          </a:p>
        </p:txBody>
      </p:sp>
      <p:sp>
        <p:nvSpPr>
          <p:cNvPr id="23" name="Rounded Rectangle 22"/>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right: 40px pushes the box 40px left — the opposite edge, the opposite way.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Offsets — bottom, Positive and Negative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Positioning</a:t>
            </a:r>
          </a:p>
        </p:txBody>
      </p:sp>
      <p:sp>
        <p:nvSpPr>
          <p:cNvPr id="5" name="Rounded Rectangle 4"/>
          <p:cNvSpPr/>
          <p:nvPr/>
        </p:nvSpPr>
        <p:spPr>
          <a:xfrm>
            <a:off x="548640" y="978408"/>
            <a:ext cx="457200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179576"/>
            <a:ext cx="402336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7" name="TextBox 6"/>
          <p:cNvSpPr txBox="1"/>
          <p:nvPr/>
        </p:nvSpPr>
        <p:spPr>
          <a:xfrm>
            <a:off x="841247" y="1508760"/>
            <a:ext cx="3986784" cy="370332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measured from the box's own slot */</a:t>
            </a:r>
          </a:p>
          <a:p>
            <a:pPr>
              <a:spcAft>
                <a:spcPts val="350"/>
              </a:spcAft>
            </a:pPr>
            <a:r>
              <a:rPr sz="1300" b="0" i="0">
                <a:solidFill>
                  <a:srgbClr val="61AFEF"/>
                </a:solidFill>
                <a:latin typeface="Consolas"/>
                <a:ea typeface="Consolas"/>
              </a:rPr>
              <a:t>.box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position</a:t>
            </a:r>
            <a:r>
              <a:rPr sz="1300" b="0" i="0">
                <a:solidFill>
                  <a:srgbClr val="98C379"/>
                </a:solidFill>
                <a:latin typeface="Consolas"/>
                <a:ea typeface="Consolas"/>
              </a:rPr>
              <a:t>: relative;</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bottom</a:t>
            </a:r>
            <a:r>
              <a:rPr sz="1300" b="0" i="0">
                <a:solidFill>
                  <a:srgbClr val="98C379"/>
                </a:solidFill>
                <a:latin typeface="Consolas"/>
                <a:ea typeface="Consolas"/>
              </a:rPr>
              <a:t>: 40px;</a:t>
            </a:r>
            <a:r>
              <a:rPr sz="1300" b="0" i="0">
                <a:solidFill>
                  <a:srgbClr val="7F8C98"/>
                </a:solidFill>
                <a:latin typeface="Consolas"/>
                <a:ea typeface="Consolas"/>
              </a:rPr>
              <a:t>     /* +40 = up */</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61AFEF"/>
                </a:solidFill>
                <a:latin typeface="Consolas"/>
                <a:ea typeface="Consolas"/>
              </a:rPr>
              <a:t>.box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position</a:t>
            </a:r>
            <a:r>
              <a:rPr sz="1300" b="0" i="0">
                <a:solidFill>
                  <a:srgbClr val="98C379"/>
                </a:solidFill>
                <a:latin typeface="Consolas"/>
                <a:ea typeface="Consolas"/>
              </a:rPr>
              <a:t>: relative;</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bottom</a:t>
            </a:r>
            <a:r>
              <a:rPr sz="1300" b="0" i="0">
                <a:solidFill>
                  <a:srgbClr val="98C379"/>
                </a:solidFill>
                <a:latin typeface="Consolas"/>
                <a:ea typeface="Consolas"/>
              </a:rPr>
              <a:t>: -40px;</a:t>
            </a:r>
            <a:r>
              <a:rPr sz="1300" b="0" i="0">
                <a:solidFill>
                  <a:srgbClr val="7F8C98"/>
                </a:solidFill>
                <a:latin typeface="Consolas"/>
                <a:ea typeface="Consolas"/>
              </a:rPr>
              <a:t>    /* -40 = down */</a:t>
            </a:r>
          </a:p>
          <a:p>
            <a:pPr>
              <a:spcAft>
                <a:spcPts val="350"/>
              </a:spcAft>
            </a:pPr>
            <a:r>
              <a:rPr sz="1300" b="0" i="0">
                <a:solidFill>
                  <a:srgbClr val="61AFEF"/>
                </a:solidFill>
                <a:latin typeface="Consolas"/>
                <a:ea typeface="Consolas"/>
              </a:rPr>
              <a:t>}</a:t>
            </a:r>
          </a:p>
        </p:txBody>
      </p:sp>
      <p:sp>
        <p:nvSpPr>
          <p:cNvPr id="8" name="Rounded Rectangle 7"/>
          <p:cNvSpPr/>
          <p:nvPr/>
        </p:nvSpPr>
        <p:spPr>
          <a:xfrm>
            <a:off x="5468112" y="978408"/>
            <a:ext cx="6174943" cy="4343400"/>
          </a:xfrm>
          <a:prstGeom prst="roundRect">
            <a:avLst>
              <a:gd name="adj" fmla="val 3000"/>
            </a:avLst>
          </a:prstGeom>
          <a:solidFill>
            <a:srgbClr val="FFFFFF"/>
          </a:solidFill>
          <a:ln w="12700">
            <a:solidFill>
              <a:srgbClr val="C9D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87568" y="1056132"/>
            <a:ext cx="5736031" cy="237744"/>
          </a:xfrm>
          <a:prstGeom prst="rect">
            <a:avLst/>
          </a:prstGeom>
          <a:noFill/>
        </p:spPr>
        <p:txBody>
          <a:bodyPr wrap="square" anchor="t" lIns="0" rIns="0" tIns="0" bIns="0">
            <a:spAutoFit/>
          </a:bodyPr>
          <a:lstStyle/>
          <a:p>
            <a:pPr algn="l">
              <a:lnSpc>
                <a:spcPct val="110000"/>
              </a:lnSpc>
              <a:spcAft>
                <a:spcPts val="0"/>
              </a:spcAft>
            </a:pPr>
            <a:r>
              <a:rPr sz="1050" b="1" i="0">
                <a:solidFill>
                  <a:srgbClr val="4A5568"/>
                </a:solidFill>
                <a:latin typeface="Calibri"/>
                <a:ea typeface="Calibri"/>
              </a:rPr>
              <a:t>THE PAGE · one box, three places · dashed = no offset</a:t>
            </a:r>
          </a:p>
        </p:txBody>
      </p:sp>
      <p:sp>
        <p:nvSpPr>
          <p:cNvPr id="10" name="Rounded Rectangle 9"/>
          <p:cNvSpPr/>
          <p:nvPr/>
        </p:nvSpPr>
        <p:spPr>
          <a:xfrm>
            <a:off x="6492240" y="1691640"/>
            <a:ext cx="1920240" cy="777240"/>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91640"/>
            <a:ext cx="1920240" cy="777240"/>
          </a:xfrm>
          <a:prstGeom prst="rect">
            <a:avLst/>
          </a:prstGeom>
          <a:noFill/>
        </p:spPr>
        <p:txBody>
          <a:bodyPr wrap="square" anchor="ctr" lIns="0" rIns="0" tIns="0" bIns="0">
            <a:spAutoFit/>
          </a:bodyPr>
          <a:lstStyle/>
          <a:p>
            <a:pPr algn="ctr">
              <a:lnSpc>
                <a:spcPct val="110000"/>
              </a:lnSpc>
              <a:spcAft>
                <a:spcPts val="0"/>
              </a:spcAft>
            </a:pPr>
            <a:r>
              <a:rPr sz="1300" b="1" i="0">
                <a:solidFill>
                  <a:srgbClr val="4A5568"/>
                </a:solidFill>
                <a:latin typeface="Calibri"/>
                <a:ea typeface="Calibri"/>
              </a:rPr>
              <a:t>the box</a:t>
            </a:r>
          </a:p>
        </p:txBody>
      </p:sp>
      <p:sp>
        <p:nvSpPr>
          <p:cNvPr id="12" name="TextBox 11"/>
          <p:cNvSpPr txBox="1"/>
          <p:nvPr/>
        </p:nvSpPr>
        <p:spPr>
          <a:xfrm>
            <a:off x="8641080" y="1691640"/>
            <a:ext cx="2782519" cy="777240"/>
          </a:xfrm>
          <a:prstGeom prst="rect">
            <a:avLst/>
          </a:prstGeom>
          <a:noFill/>
        </p:spPr>
        <p:txBody>
          <a:bodyPr wrap="square" anchor="ctr" lIns="0" rIns="0" tIns="0" bIns="0">
            <a:spAutoFit/>
          </a:bodyPr>
          <a:lstStyle/>
          <a:p>
            <a:pPr algn="l">
              <a:lnSpc>
                <a:spcPct val="110000"/>
              </a:lnSpc>
              <a:spcAft>
                <a:spcPts val="0"/>
              </a:spcAft>
            </a:pPr>
            <a:r>
              <a:rPr sz="1200" b="1" i="0">
                <a:solidFill>
                  <a:srgbClr val="1E4FA8"/>
                </a:solidFill>
                <a:latin typeface="Consolas"/>
                <a:ea typeface="Consolas"/>
              </a:rPr>
              <a:t>bottom: +40px</a:t>
            </a:r>
            <a:r>
              <a:rPr sz="1150" b="0" i="0">
                <a:solidFill>
                  <a:srgbClr val="4A5568"/>
                </a:solidFill>
                <a:latin typeface="Calibri"/>
                <a:ea typeface="Calibri"/>
              </a:rPr>
              <a:t>   ↑ 40px up</a:t>
            </a:r>
          </a:p>
        </p:txBody>
      </p:sp>
      <p:sp>
        <p:nvSpPr>
          <p:cNvPr id="13" name="Rounded Rectangle 12"/>
          <p:cNvSpPr/>
          <p:nvPr/>
        </p:nvSpPr>
        <p:spPr>
          <a:xfrm>
            <a:off x="6492240" y="2834640"/>
            <a:ext cx="1920240" cy="777240"/>
          </a:xfrm>
          <a:prstGeom prst="roundRect">
            <a:avLst>
              <a:gd name="adj" fmla="val 9000"/>
            </a:avLst>
          </a:prstGeom>
          <a:noFill/>
          <a:ln w="12700">
            <a:solidFill>
              <a:srgbClr val="9DC0E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834640"/>
            <a:ext cx="1920240" cy="777240"/>
          </a:xfrm>
          <a:prstGeom prst="rect">
            <a:avLst/>
          </a:prstGeom>
          <a:noFill/>
        </p:spPr>
        <p:txBody>
          <a:bodyPr wrap="square" anchor="ctr" lIns="0" rIns="0" tIns="0" bIns="0">
            <a:spAutoFit/>
          </a:bodyPr>
          <a:lstStyle/>
          <a:p>
            <a:pPr algn="ctr">
              <a:lnSpc>
                <a:spcPct val="110000"/>
              </a:lnSpc>
              <a:spcAft>
                <a:spcPts val="0"/>
              </a:spcAft>
            </a:pPr>
            <a:r>
              <a:rPr sz="1300" b="1" i="0">
                <a:solidFill>
                  <a:srgbClr val="9DC0EE"/>
                </a:solidFill>
                <a:latin typeface="Calibri"/>
                <a:ea typeface="Calibri"/>
              </a:rPr>
              <a:t>the box</a:t>
            </a:r>
          </a:p>
        </p:txBody>
      </p:sp>
      <p:sp>
        <p:nvSpPr>
          <p:cNvPr id="15" name="TextBox 14"/>
          <p:cNvSpPr txBox="1"/>
          <p:nvPr/>
        </p:nvSpPr>
        <p:spPr>
          <a:xfrm>
            <a:off x="8641080" y="2834640"/>
            <a:ext cx="2782519" cy="777240"/>
          </a:xfrm>
          <a:prstGeom prst="rect">
            <a:avLst/>
          </a:prstGeom>
          <a:noFill/>
        </p:spPr>
        <p:txBody>
          <a:bodyPr wrap="square" anchor="ctr" lIns="0" rIns="0" tIns="0" bIns="0">
            <a:spAutoFit/>
          </a:bodyPr>
          <a:lstStyle/>
          <a:p>
            <a:pPr algn="l">
              <a:lnSpc>
                <a:spcPct val="110000"/>
              </a:lnSpc>
              <a:spcAft>
                <a:spcPts val="0"/>
              </a:spcAft>
            </a:pPr>
            <a:r>
              <a:rPr sz="1200" b="1" i="0">
                <a:solidFill>
                  <a:srgbClr val="1E4FA8"/>
                </a:solidFill>
                <a:latin typeface="Consolas"/>
                <a:ea typeface="Consolas"/>
              </a:rPr>
              <a:t>no offset</a:t>
            </a:r>
            <a:r>
              <a:rPr sz="1150" b="0" i="0">
                <a:solidFill>
                  <a:srgbClr val="4A5568"/>
                </a:solidFill>
                <a:latin typeface="Calibri"/>
                <a:ea typeface="Calibri"/>
              </a:rPr>
              <a:t>   its normal slot</a:t>
            </a:r>
          </a:p>
        </p:txBody>
      </p:sp>
      <p:sp>
        <p:nvSpPr>
          <p:cNvPr id="16" name="Rounded Rectangle 15"/>
          <p:cNvSpPr/>
          <p:nvPr/>
        </p:nvSpPr>
        <p:spPr>
          <a:xfrm>
            <a:off x="6492240" y="3977639"/>
            <a:ext cx="1920240" cy="777240"/>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3977639"/>
            <a:ext cx="1920240" cy="777240"/>
          </a:xfrm>
          <a:prstGeom prst="rect">
            <a:avLst/>
          </a:prstGeom>
          <a:noFill/>
        </p:spPr>
        <p:txBody>
          <a:bodyPr wrap="square" anchor="ctr" lIns="0" rIns="0" tIns="0" bIns="0">
            <a:spAutoFit/>
          </a:bodyPr>
          <a:lstStyle/>
          <a:p>
            <a:pPr algn="ctr">
              <a:lnSpc>
                <a:spcPct val="110000"/>
              </a:lnSpc>
              <a:spcAft>
                <a:spcPts val="0"/>
              </a:spcAft>
            </a:pPr>
            <a:r>
              <a:rPr sz="1300" b="1" i="0">
                <a:solidFill>
                  <a:srgbClr val="4A5568"/>
                </a:solidFill>
                <a:latin typeface="Calibri"/>
                <a:ea typeface="Calibri"/>
              </a:rPr>
              <a:t>the box</a:t>
            </a:r>
          </a:p>
        </p:txBody>
      </p:sp>
      <p:sp>
        <p:nvSpPr>
          <p:cNvPr id="18" name="TextBox 17"/>
          <p:cNvSpPr txBox="1"/>
          <p:nvPr/>
        </p:nvSpPr>
        <p:spPr>
          <a:xfrm>
            <a:off x="8641080" y="3977639"/>
            <a:ext cx="2782519" cy="777240"/>
          </a:xfrm>
          <a:prstGeom prst="rect">
            <a:avLst/>
          </a:prstGeom>
          <a:noFill/>
        </p:spPr>
        <p:txBody>
          <a:bodyPr wrap="square" anchor="ctr" lIns="0" rIns="0" tIns="0" bIns="0">
            <a:spAutoFit/>
          </a:bodyPr>
          <a:lstStyle/>
          <a:p>
            <a:pPr algn="l">
              <a:lnSpc>
                <a:spcPct val="110000"/>
              </a:lnSpc>
              <a:spcAft>
                <a:spcPts val="0"/>
              </a:spcAft>
            </a:pPr>
            <a:r>
              <a:rPr sz="1200" b="1" i="0">
                <a:solidFill>
                  <a:srgbClr val="1E4FA8"/>
                </a:solidFill>
                <a:latin typeface="Consolas"/>
                <a:ea typeface="Consolas"/>
              </a:rPr>
              <a:t>bottom: -40px</a:t>
            </a:r>
            <a:r>
              <a:rPr sz="1150" b="0" i="0">
                <a:solidFill>
                  <a:srgbClr val="4A5568"/>
                </a:solidFill>
                <a:latin typeface="Calibri"/>
                <a:ea typeface="Calibri"/>
              </a:rPr>
              <a:t>   ↓ 40px down</a:t>
            </a:r>
          </a:p>
        </p:txBody>
      </p:sp>
      <p:sp>
        <p:nvSpPr>
          <p:cNvPr id="19" name="Rectangle 18"/>
          <p:cNvSpPr/>
          <p:nvPr/>
        </p:nvSpPr>
        <p:spPr>
          <a:xfrm>
            <a:off x="5975604" y="2212390"/>
            <a:ext cx="45720" cy="202173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920740" y="2080260"/>
            <a:ext cx="155448" cy="155448"/>
          </a:xfrm>
          <a:prstGeom prst="triangl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920740" y="4210812"/>
            <a:ext cx="155448" cy="155448"/>
          </a:xfrm>
          <a:prstGeom prst="triangl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79008" y="1677924"/>
            <a:ext cx="438912" cy="237744"/>
          </a:xfrm>
          <a:prstGeom prst="rect">
            <a:avLst/>
          </a:prstGeom>
          <a:noFill/>
        </p:spPr>
        <p:txBody>
          <a:bodyPr wrap="square" anchor="ctr" lIns="0" rIns="0" tIns="0" bIns="0">
            <a:spAutoFit/>
          </a:bodyPr>
          <a:lstStyle/>
          <a:p>
            <a:pPr algn="ctr">
              <a:lnSpc>
                <a:spcPct val="110000"/>
              </a:lnSpc>
              <a:spcAft>
                <a:spcPts val="0"/>
              </a:spcAft>
            </a:pPr>
            <a:r>
              <a:rPr sz="1050" b="1" i="0">
                <a:solidFill>
                  <a:srgbClr val="4A5568"/>
                </a:solidFill>
                <a:latin typeface="Calibri"/>
                <a:ea typeface="Calibri"/>
              </a:rPr>
              <a:t>±40px</a:t>
            </a:r>
          </a:p>
        </p:txBody>
      </p:sp>
      <p:sp>
        <p:nvSpPr>
          <p:cNvPr id="23" name="Rounded Rectangle 22"/>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bottom: 40px lifts the box 40px; bottom: -40px drops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Offsets — One Rule for All Four</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Positioning</a:t>
            </a:r>
          </a:p>
        </p:txBody>
      </p:sp>
      <p:sp>
        <p:nvSpPr>
          <p:cNvPr id="5" name="TextBox 4"/>
          <p:cNvSpPr txBox="1"/>
          <p:nvPr/>
        </p:nvSpPr>
        <p:spPr>
          <a:xfrm>
            <a:off x="548640" y="978408"/>
            <a:ext cx="4069080" cy="461772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The rule</a:t>
            </a:r>
            <a:br/>
            <a:r>
              <a:rPr sz="1350" b="0" i="0">
                <a:solidFill>
                  <a:srgbClr val="4A5568"/>
                </a:solidFill>
                <a:latin typeface="Calibri"/>
                <a:ea typeface="Calibri"/>
              </a:rPr>
              <a:t>a positive </a:t>
            </a:r>
            <a:r>
              <a:rPr sz="1350" b="0" i="0">
                <a:solidFill>
                  <a:srgbClr val="B8860B"/>
                </a:solidFill>
                <a:latin typeface="Consolas"/>
                <a:ea typeface="Consolas"/>
              </a:rPr>
              <a:t>value</a:t>
            </a:r>
            <a:r>
              <a:rPr sz="1350" b="0" i="0">
                <a:solidFill>
                  <a:srgbClr val="4A5568"/>
                </a:solidFill>
                <a:latin typeface="Calibri"/>
                <a:ea typeface="Calibri"/>
              </a:rPr>
              <a:t> pushes the box away from the edge the property is named after.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Same 40px, opposite ways</a:t>
            </a:r>
            <a:br/>
            <a:r>
              <a:rPr sz="1350" b="0" i="0">
                <a:solidFill>
                  <a:srgbClr val="4A5568"/>
                </a:solidFill>
                <a:latin typeface="Calibri"/>
                <a:ea typeface="Calibri"/>
              </a:rPr>
              <a:t>top: 40px moves the box down; bottom: 40px moves it up.</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 minus sign</a:t>
            </a:r>
            <a:br/>
            <a:r>
              <a:rPr sz="1350" b="0" i="0">
                <a:solidFill>
                  <a:srgbClr val="4A5568"/>
                </a:solidFill>
                <a:latin typeface="Calibri"/>
                <a:ea typeface="Calibri"/>
              </a:rPr>
              <a:t>does the same push the other way: top: -40px moves the box up.</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Two axes</a:t>
            </a:r>
            <a:br/>
            <a:r>
              <a:rPr sz="1350" b="0" i="0">
                <a:solidFill>
                  <a:srgbClr val="4A5568"/>
                </a:solidFill>
                <a:latin typeface="Calibri"/>
                <a:ea typeface="Calibri"/>
              </a:rPr>
              <a:t>top and bottom move the box up or down; left and right move it sideways.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Relative only</a:t>
            </a:r>
            <a:br/>
            <a:r>
              <a:rPr sz="1350" b="0" i="0">
                <a:solidFill>
                  <a:srgbClr val="4A5568"/>
                </a:solidFill>
                <a:latin typeface="Calibri"/>
                <a:ea typeface="Calibri"/>
              </a:rPr>
              <a:t>this is how the four behave on a relative box; absolute and fixed are next.</a:t>
            </a:r>
          </a:p>
        </p:txBody>
      </p:sp>
      <p:sp>
        <p:nvSpPr>
          <p:cNvPr id="6" name="Rounded Rectangle 5"/>
          <p:cNvSpPr/>
          <p:nvPr/>
        </p:nvSpPr>
        <p:spPr>
          <a:xfrm>
            <a:off x="4937760" y="978408"/>
            <a:ext cx="6705295" cy="4754880"/>
          </a:xfrm>
          <a:prstGeom prst="roundRect">
            <a:avLst>
              <a:gd name="adj" fmla="val 3000"/>
            </a:avLst>
          </a:prstGeom>
          <a:solidFill>
            <a:srgbClr val="FFFFFF"/>
          </a:solidFill>
          <a:ln w="12700">
            <a:solidFill>
              <a:srgbClr val="C9D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57216" y="1056132"/>
            <a:ext cx="6266383" cy="237744"/>
          </a:xfrm>
          <a:prstGeom prst="rect">
            <a:avLst/>
          </a:prstGeom>
          <a:noFill/>
        </p:spPr>
        <p:txBody>
          <a:bodyPr wrap="square" anchor="t" lIns="0" rIns="0" tIns="0" bIns="0">
            <a:spAutoFit/>
          </a:bodyPr>
          <a:lstStyle/>
          <a:p>
            <a:pPr algn="l">
              <a:lnSpc>
                <a:spcPct val="110000"/>
              </a:lnSpc>
              <a:spcAft>
                <a:spcPts val="0"/>
              </a:spcAft>
            </a:pPr>
            <a:r>
              <a:rPr sz="1050" b="1" i="0">
                <a:solidFill>
                  <a:srgbClr val="4A5568"/>
                </a:solidFill>
                <a:latin typeface="Calibri"/>
                <a:ea typeface="Calibri"/>
              </a:rPr>
              <a:t>THE PAGE · all four offsets start from where the box already is</a:t>
            </a:r>
          </a:p>
        </p:txBody>
      </p:sp>
      <p:sp>
        <p:nvSpPr>
          <p:cNvPr id="8" name="Rounded Rectangle 7"/>
          <p:cNvSpPr/>
          <p:nvPr/>
        </p:nvSpPr>
        <p:spPr>
          <a:xfrm>
            <a:off x="7765084" y="2880360"/>
            <a:ext cx="1051560" cy="566928"/>
          </a:xfrm>
          <a:prstGeom prst="roundRect">
            <a:avLst>
              <a:gd name="adj" fmla="val 9000"/>
            </a:avLst>
          </a:prstGeom>
          <a:solidFill>
            <a:srgbClr val="FFFFFF"/>
          </a:solidFill>
          <a:ln w="12700">
            <a:solidFill>
              <a:srgbClr val="1E4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65084" y="2880360"/>
            <a:ext cx="1051560" cy="566928"/>
          </a:xfrm>
          <a:prstGeom prst="rect">
            <a:avLst/>
          </a:prstGeom>
          <a:noFill/>
        </p:spPr>
        <p:txBody>
          <a:bodyPr wrap="square" anchor="ctr" lIns="0" rIns="0" tIns="0" bIns="0">
            <a:spAutoFit/>
          </a:bodyPr>
          <a:lstStyle/>
          <a:p>
            <a:pPr algn="ctr">
              <a:lnSpc>
                <a:spcPct val="110000"/>
              </a:lnSpc>
              <a:spcAft>
                <a:spcPts val="0"/>
              </a:spcAft>
            </a:pPr>
            <a:r>
              <a:rPr sz="1100" b="1" i="0">
                <a:solidFill>
                  <a:srgbClr val="4A5568"/>
                </a:solidFill>
                <a:latin typeface="Calibri"/>
                <a:ea typeface="Calibri"/>
              </a:rPr>
              <a:t>the box</a:t>
            </a:r>
          </a:p>
        </p:txBody>
      </p:sp>
      <p:sp>
        <p:nvSpPr>
          <p:cNvPr id="10" name="Rectangle 9"/>
          <p:cNvSpPr/>
          <p:nvPr/>
        </p:nvSpPr>
        <p:spPr>
          <a:xfrm>
            <a:off x="8268004" y="2107234"/>
            <a:ext cx="45720" cy="211317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Isosceles Triangle 10"/>
          <p:cNvSpPr/>
          <p:nvPr/>
        </p:nvSpPr>
        <p:spPr>
          <a:xfrm>
            <a:off x="8213140" y="1975104"/>
            <a:ext cx="155448" cy="155448"/>
          </a:xfrm>
          <a:prstGeom prst="triangl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sosceles Triangle 11"/>
          <p:cNvSpPr/>
          <p:nvPr/>
        </p:nvSpPr>
        <p:spPr>
          <a:xfrm rot="10800000">
            <a:off x="8213140" y="4197096"/>
            <a:ext cx="155448" cy="155448"/>
          </a:xfrm>
          <a:prstGeom prst="triangl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07481" y="3140964"/>
            <a:ext cx="4764938" cy="4572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6200000">
            <a:off x="5775350" y="3086100"/>
            <a:ext cx="155448" cy="155448"/>
          </a:xfrm>
          <a:prstGeom prst="triangl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5400000">
            <a:off x="10649102" y="3086100"/>
            <a:ext cx="155448" cy="155448"/>
          </a:xfrm>
          <a:prstGeom prst="triangl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1150" y="1536192"/>
            <a:ext cx="3657600" cy="310896"/>
          </a:xfrm>
          <a:prstGeom prst="rect">
            <a:avLst/>
          </a:prstGeom>
          <a:noFill/>
        </p:spPr>
        <p:txBody>
          <a:bodyPr wrap="square" anchor="ctr" lIns="0" rIns="0" tIns="0" bIns="0">
            <a:spAutoFit/>
          </a:bodyPr>
          <a:lstStyle/>
          <a:p>
            <a:pPr algn="ctr">
              <a:lnSpc>
                <a:spcPct val="110000"/>
              </a:lnSpc>
              <a:spcAft>
                <a:spcPts val="0"/>
              </a:spcAft>
            </a:pPr>
            <a:r>
              <a:rPr sz="1250" b="1" i="0">
                <a:solidFill>
                  <a:srgbClr val="1E4FA8"/>
                </a:solidFill>
                <a:latin typeface="Consolas"/>
                <a:ea typeface="Consolas"/>
              </a:rPr>
              <a:t>bottom: +40px</a:t>
            </a:r>
          </a:p>
        </p:txBody>
      </p:sp>
      <p:sp>
        <p:nvSpPr>
          <p:cNvPr id="17" name="TextBox 16"/>
          <p:cNvSpPr txBox="1"/>
          <p:nvPr/>
        </p:nvSpPr>
        <p:spPr>
          <a:xfrm>
            <a:off x="6461150" y="4407408"/>
            <a:ext cx="3657600" cy="310896"/>
          </a:xfrm>
          <a:prstGeom prst="rect">
            <a:avLst/>
          </a:prstGeom>
          <a:noFill/>
        </p:spPr>
        <p:txBody>
          <a:bodyPr wrap="square" anchor="ctr" lIns="0" rIns="0" tIns="0" bIns="0">
            <a:spAutoFit/>
          </a:bodyPr>
          <a:lstStyle/>
          <a:p>
            <a:pPr algn="ctr">
              <a:lnSpc>
                <a:spcPct val="110000"/>
              </a:lnSpc>
              <a:spcAft>
                <a:spcPts val="0"/>
              </a:spcAft>
            </a:pPr>
            <a:r>
              <a:rPr sz="1250" b="1" i="0">
                <a:solidFill>
                  <a:srgbClr val="1E4FA8"/>
                </a:solidFill>
                <a:latin typeface="Consolas"/>
                <a:ea typeface="Consolas"/>
              </a:rPr>
              <a:t>top: +40px</a:t>
            </a:r>
          </a:p>
        </p:txBody>
      </p:sp>
      <p:sp>
        <p:nvSpPr>
          <p:cNvPr id="18" name="TextBox 17"/>
          <p:cNvSpPr txBox="1"/>
          <p:nvPr/>
        </p:nvSpPr>
        <p:spPr>
          <a:xfrm>
            <a:off x="5501030" y="2615184"/>
            <a:ext cx="2011680" cy="310896"/>
          </a:xfrm>
          <a:prstGeom prst="rect">
            <a:avLst/>
          </a:prstGeom>
          <a:noFill/>
        </p:spPr>
        <p:txBody>
          <a:bodyPr wrap="square" anchor="ctr" lIns="0" rIns="0" tIns="0" bIns="0">
            <a:spAutoFit/>
          </a:bodyPr>
          <a:lstStyle/>
          <a:p>
            <a:pPr algn="l">
              <a:lnSpc>
                <a:spcPct val="110000"/>
              </a:lnSpc>
              <a:spcAft>
                <a:spcPts val="0"/>
              </a:spcAft>
            </a:pPr>
            <a:r>
              <a:rPr sz="1250" b="1" i="0">
                <a:solidFill>
                  <a:srgbClr val="1E4FA8"/>
                </a:solidFill>
                <a:latin typeface="Consolas"/>
                <a:ea typeface="Consolas"/>
              </a:rPr>
              <a:t>right: +40px</a:t>
            </a:r>
          </a:p>
        </p:txBody>
      </p:sp>
      <p:sp>
        <p:nvSpPr>
          <p:cNvPr id="19" name="TextBox 18"/>
          <p:cNvSpPr txBox="1"/>
          <p:nvPr/>
        </p:nvSpPr>
        <p:spPr>
          <a:xfrm>
            <a:off x="9067190" y="2615184"/>
            <a:ext cx="2011680" cy="310896"/>
          </a:xfrm>
          <a:prstGeom prst="rect">
            <a:avLst/>
          </a:prstGeom>
          <a:noFill/>
        </p:spPr>
        <p:txBody>
          <a:bodyPr wrap="square" anchor="ctr" lIns="0" rIns="0" tIns="0" bIns="0">
            <a:spAutoFit/>
          </a:bodyPr>
          <a:lstStyle/>
          <a:p>
            <a:pPr algn="r">
              <a:lnSpc>
                <a:spcPct val="110000"/>
              </a:lnSpc>
              <a:spcAft>
                <a:spcPts val="0"/>
              </a:spcAft>
            </a:pPr>
            <a:r>
              <a:rPr sz="1250" b="1" i="0">
                <a:solidFill>
                  <a:srgbClr val="1E4FA8"/>
                </a:solidFill>
                <a:latin typeface="Consolas"/>
                <a:ea typeface="Consolas"/>
              </a:rPr>
              <a:t>left: +40px</a:t>
            </a:r>
          </a:p>
        </p:txBody>
      </p:sp>
      <p:sp>
        <p:nvSpPr>
          <p:cNvPr id="20" name="TextBox 19"/>
          <p:cNvSpPr txBox="1"/>
          <p:nvPr/>
        </p:nvSpPr>
        <p:spPr>
          <a:xfrm>
            <a:off x="5248656" y="4946904"/>
            <a:ext cx="6083503" cy="512064"/>
          </a:xfrm>
          <a:prstGeom prst="rect">
            <a:avLst/>
          </a:prstGeom>
          <a:noFill/>
        </p:spPr>
        <p:txBody>
          <a:bodyPr wrap="square" anchor="ctr" lIns="0" rIns="0" tIns="0" bIns="0">
            <a:spAutoFit/>
          </a:bodyPr>
          <a:lstStyle/>
          <a:p>
            <a:pPr algn="ctr">
              <a:lnSpc>
                <a:spcPct val="110000"/>
              </a:lnSpc>
              <a:spcAft>
                <a:spcPts val="0"/>
              </a:spcAft>
            </a:pPr>
            <a:r>
              <a:rPr sz="1050" b="0" i="0">
                <a:solidFill>
                  <a:srgbClr val="4A5568"/>
                </a:solidFill>
                <a:latin typeface="Calibri"/>
                <a:ea typeface="Calibri"/>
              </a:rPr>
              <a:t>put a minus in front of any of these and the box moves the other way.</a:t>
            </a:r>
          </a:p>
        </p:txBody>
      </p:sp>
      <p:sp>
        <p:nvSpPr>
          <p:cNvPr id="21" name="Rounded Rectangle 2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Positive means away from the edge in the property's name — that is the whole rule.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absolute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Positioning</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Out of flow</a:t>
            </a:r>
            <a:br/>
            <a:r>
              <a:rPr sz="1350" b="0" i="0">
                <a:solidFill>
                  <a:srgbClr val="4A5568"/>
                </a:solidFill>
                <a:latin typeface="Calibri"/>
                <a:ea typeface="Calibri"/>
              </a:rPr>
              <a:t>The element is removed — others ignore it.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Anchored to an ancestor</a:t>
            </a:r>
            <a:br/>
            <a:r>
              <a:rPr sz="1350" b="0" i="0">
                <a:solidFill>
                  <a:srgbClr val="4A5568"/>
                </a:solidFill>
                <a:latin typeface="Calibri"/>
                <a:ea typeface="Calibri"/>
              </a:rPr>
              <a:t>The nearest positioned (non-static) ancestor.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Otherwise the page</a:t>
            </a:r>
            <a:br/>
            <a:r>
              <a:rPr sz="1350" b="0" i="0">
                <a:solidFill>
                  <a:srgbClr val="4A5568"/>
                </a:solidFill>
                <a:latin typeface="Calibri"/>
                <a:ea typeface="Calibri"/>
              </a:rPr>
              <a:t>No positioned ancestor? It anchors to the document.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Common </a:t>
            </a:r>
            <a:r>
              <a:rPr sz="1550" b="1" i="0">
                <a:solidFill>
                  <a:srgbClr val="B8860B"/>
                </a:solidFill>
                <a:latin typeface="Consolas"/>
                <a:ea typeface="Consolas"/>
              </a:rPr>
              <a:t>pattern</a:t>
            </a:r>
            <a:br/>
            <a:r>
              <a:rPr sz="1350" b="0" i="0">
                <a:solidFill>
                  <a:srgbClr val="4A5568"/>
                </a:solidFill>
                <a:latin typeface="Calibri"/>
                <a:ea typeface="Calibri"/>
              </a:rPr>
              <a:t>position: relative on the parent, absolute on the child.</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the parent is the anchor */</a:t>
            </a:r>
          </a:p>
          <a:p>
            <a:pPr>
              <a:spcAft>
                <a:spcPts val="350"/>
              </a:spcAft>
            </a:pPr>
            <a:r>
              <a:rPr sz="1300" b="0" i="0">
                <a:solidFill>
                  <a:srgbClr val="61AFEF"/>
                </a:solidFill>
                <a:latin typeface="Consolas"/>
                <a:ea typeface="Consolas"/>
              </a:rPr>
              <a:t>div.relative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position</a:t>
            </a:r>
            <a:r>
              <a:rPr sz="1300" b="0" i="0">
                <a:solidFill>
                  <a:srgbClr val="98C379"/>
                </a:solidFill>
                <a:latin typeface="Consolas"/>
                <a:ea typeface="Consolas"/>
              </a:rPr>
              <a:t>: relative;</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width</a:t>
            </a:r>
            <a:r>
              <a:rPr sz="1300" b="0" i="0">
                <a:solidFill>
                  <a:srgbClr val="98C379"/>
                </a:solidFill>
                <a:latin typeface="Consolas"/>
                <a:ea typeface="Consolas"/>
              </a:rPr>
              <a:t>: 400px;</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height</a:t>
            </a:r>
            <a:r>
              <a:rPr sz="1300" b="0" i="0">
                <a:solidFill>
                  <a:srgbClr val="98C379"/>
                </a:solidFill>
                <a:latin typeface="Consolas"/>
                <a:ea typeface="Consolas"/>
              </a:rPr>
              <a:t>: 200px;</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the child pins to its corner */</a:t>
            </a:r>
          </a:p>
          <a:p>
            <a:pPr>
              <a:spcAft>
                <a:spcPts val="350"/>
              </a:spcAft>
            </a:pPr>
            <a:r>
              <a:rPr sz="1300" b="0" i="0">
                <a:solidFill>
                  <a:srgbClr val="61AFEF"/>
                </a:solidFill>
                <a:latin typeface="Consolas"/>
                <a:ea typeface="Consolas"/>
              </a:rPr>
              <a:t>div.absolute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position</a:t>
            </a:r>
            <a:r>
              <a:rPr sz="1300" b="0" i="0">
                <a:solidFill>
                  <a:srgbClr val="98C379"/>
                </a:solidFill>
                <a:latin typeface="Consolas"/>
                <a:ea typeface="Consolas"/>
              </a:rPr>
              <a:t>: absolute;</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top</a:t>
            </a:r>
            <a:r>
              <a:rPr sz="1300" b="0" i="0">
                <a:solidFill>
                  <a:srgbClr val="98C379"/>
                </a:solidFill>
                <a:latin typeface="Consolas"/>
                <a:ea typeface="Consolas"/>
              </a:rPr>
              <a:t>: 80px;</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right</a:t>
            </a:r>
            <a:r>
              <a:rPr sz="1300" b="0" i="0">
                <a:solidFill>
                  <a:srgbClr val="98C379"/>
                </a:solidFill>
                <a:latin typeface="Consolas"/>
                <a:ea typeface="Consolas"/>
              </a:rPr>
              <a:t>: 0;</a:t>
            </a:r>
          </a:p>
          <a:p>
            <a:pPr>
              <a:spcAft>
                <a:spcPts val="350"/>
              </a:spcAft>
            </a:pPr>
            <a:r>
              <a:rPr sz="1300" b="0" i="0">
                <a:solidFill>
                  <a:srgbClr val="61AFEF"/>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editor.html?example=css-layout/position-absolute</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Relative parent + absolute child = pin anything to any corner.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absolute — Where the Box Ends Up</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Positioning</a:t>
            </a:r>
          </a:p>
        </p:txBody>
      </p:sp>
      <p:sp>
        <p:nvSpPr>
          <p:cNvPr id="5" name="TextBox 4"/>
          <p:cNvSpPr txBox="1"/>
          <p:nvPr/>
        </p:nvSpPr>
        <p:spPr>
          <a:xfrm>
            <a:off x="548640" y="978408"/>
            <a:ext cx="4206240" cy="4617720"/>
          </a:xfrm>
          <a:prstGeom prst="rect">
            <a:avLst/>
          </a:prstGeom>
          <a:noFill/>
        </p:spPr>
        <p:txBody>
          <a:bodyPr wrap="square" lIns="0" rIns="0" tIns="0" bIns="0">
            <a:normAutofit/>
          </a:bodyPr>
          <a:lstStyle/>
          <a:p>
            <a:pPr marL="237744"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Out of flow</a:t>
            </a:r>
            <a:br/>
            <a:r>
              <a:rPr sz="1350" b="0" i="0">
                <a:solidFill>
                  <a:srgbClr val="4A5568"/>
                </a:solidFill>
                <a:latin typeface="Calibri"/>
                <a:ea typeface="Calibri"/>
              </a:rPr>
              <a:t>box 7 leaves the layout — 8 … 12 close up behind it.</a:t>
            </a:r>
          </a:p>
          <a:p>
            <a:pPr marL="237744"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Anchored</a:t>
            </a:r>
            <a:br/>
            <a:r>
              <a:rPr sz="1350" b="0" i="0">
                <a:solidFill>
                  <a:srgbClr val="4A5568"/>
                </a:solidFill>
                <a:latin typeface="Calibri"/>
                <a:ea typeface="Calibri"/>
              </a:rPr>
              <a:t>it pins to the nearest positioned ancestor's corner.</a:t>
            </a:r>
          </a:p>
          <a:p>
            <a:pPr marL="237744"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No ancestor</a:t>
            </a:r>
            <a:br/>
            <a:r>
              <a:rPr sz="1350" b="0" i="0">
                <a:solidFill>
                  <a:srgbClr val="4A5568"/>
                </a:solidFill>
                <a:latin typeface="Calibri"/>
                <a:ea typeface="Calibri"/>
              </a:rPr>
              <a:t>no positioned parent? then it anchors to the page itself.</a:t>
            </a:r>
          </a:p>
        </p:txBody>
      </p:sp>
      <p:sp>
        <p:nvSpPr>
          <p:cNvPr id="6" name="Rounded Rectangle 5"/>
          <p:cNvSpPr/>
          <p:nvPr/>
        </p:nvSpPr>
        <p:spPr>
          <a:xfrm>
            <a:off x="5120640" y="978408"/>
            <a:ext cx="6522415" cy="4754880"/>
          </a:xfrm>
          <a:prstGeom prst="roundRect">
            <a:avLst>
              <a:gd name="adj" fmla="val 3000"/>
            </a:avLst>
          </a:prstGeom>
          <a:solidFill>
            <a:srgbClr val="FFFFFF"/>
          </a:solidFill>
          <a:ln w="12700">
            <a:solidFill>
              <a:srgbClr val="C9D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40096" y="1056132"/>
            <a:ext cx="6083503" cy="237744"/>
          </a:xfrm>
          <a:prstGeom prst="rect">
            <a:avLst/>
          </a:prstGeom>
          <a:noFill/>
        </p:spPr>
        <p:txBody>
          <a:bodyPr wrap="square" anchor="t" lIns="0" rIns="0" tIns="0" bIns="0">
            <a:spAutoFit/>
          </a:bodyPr>
          <a:lstStyle/>
          <a:p>
            <a:pPr algn="l">
              <a:lnSpc>
                <a:spcPct val="110000"/>
              </a:lnSpc>
              <a:spcAft>
                <a:spcPts val="0"/>
              </a:spcAft>
            </a:pPr>
            <a:r>
              <a:rPr sz="1050" b="1" i="0">
                <a:solidFill>
                  <a:srgbClr val="4A5568"/>
                </a:solidFill>
                <a:latin typeface="Calibri"/>
                <a:ea typeface="Calibri"/>
              </a:rPr>
              <a:t>THE PAGE · box 2's container is position: relative · box 7 escapes</a:t>
            </a:r>
          </a:p>
        </p:txBody>
      </p:sp>
      <p:sp>
        <p:nvSpPr>
          <p:cNvPr id="8" name="Rounded Rectangle 7"/>
          <p:cNvSpPr/>
          <p:nvPr/>
        </p:nvSpPr>
        <p:spPr>
          <a:xfrm>
            <a:off x="5468112" y="1636776"/>
            <a:ext cx="5827471" cy="3785615"/>
          </a:xfrm>
          <a:prstGeom prst="roundRect">
            <a:avLst>
              <a:gd name="adj" fmla="val 3000"/>
            </a:avLst>
          </a:prstGeom>
          <a:solidFill>
            <a:srgbClr val="F0F5FC"/>
          </a:solidFill>
          <a:ln w="12700">
            <a:solidFill>
              <a:srgbClr val="1E4F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14416" y="1682496"/>
            <a:ext cx="5534863" cy="201168"/>
          </a:xfrm>
          <a:prstGeom prst="rect">
            <a:avLst/>
          </a:prstGeom>
          <a:noFill/>
        </p:spPr>
        <p:txBody>
          <a:bodyPr wrap="square" anchor="t" lIns="0" rIns="0" tIns="0" bIns="0">
            <a:spAutoFit/>
          </a:bodyPr>
          <a:lstStyle/>
          <a:p>
            <a:pPr algn="l">
              <a:lnSpc>
                <a:spcPct val="110000"/>
              </a:lnSpc>
              <a:spcAft>
                <a:spcPts val="0"/>
              </a:spcAft>
            </a:pPr>
            <a:r>
              <a:rPr sz="950" b="1" i="0">
                <a:solidFill>
                  <a:srgbClr val="1E4FA8"/>
                </a:solidFill>
                <a:latin typeface="Calibri"/>
                <a:ea typeface="Calibri"/>
              </a:rPr>
              <a:t>container { position: relative }</a:t>
            </a:r>
          </a:p>
        </p:txBody>
      </p:sp>
      <p:sp>
        <p:nvSpPr>
          <p:cNvPr id="10" name="Rounded Rectangle 9"/>
          <p:cNvSpPr/>
          <p:nvPr/>
        </p:nvSpPr>
        <p:spPr>
          <a:xfrm>
            <a:off x="5650992" y="1911095"/>
            <a:ext cx="1241755" cy="1024128"/>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50992" y="1911095"/>
            <a:ext cx="1241755" cy="1024128"/>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1</a:t>
            </a:r>
          </a:p>
        </p:txBody>
      </p:sp>
      <p:sp>
        <p:nvSpPr>
          <p:cNvPr id="12" name="Rounded Rectangle 11"/>
          <p:cNvSpPr/>
          <p:nvPr/>
        </p:nvSpPr>
        <p:spPr>
          <a:xfrm>
            <a:off x="7057339" y="1911095"/>
            <a:ext cx="1241755" cy="1024128"/>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57339" y="1911095"/>
            <a:ext cx="1241755" cy="1024128"/>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2</a:t>
            </a:r>
          </a:p>
        </p:txBody>
      </p:sp>
      <p:sp>
        <p:nvSpPr>
          <p:cNvPr id="14" name="Rounded Rectangle 13"/>
          <p:cNvSpPr/>
          <p:nvPr/>
        </p:nvSpPr>
        <p:spPr>
          <a:xfrm>
            <a:off x="8463686" y="1911095"/>
            <a:ext cx="1241755" cy="1024128"/>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63686" y="1911095"/>
            <a:ext cx="1241755" cy="1024128"/>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3</a:t>
            </a:r>
          </a:p>
        </p:txBody>
      </p:sp>
      <p:sp>
        <p:nvSpPr>
          <p:cNvPr id="16" name="Rounded Rectangle 15"/>
          <p:cNvSpPr/>
          <p:nvPr/>
        </p:nvSpPr>
        <p:spPr>
          <a:xfrm>
            <a:off x="9870948" y="1911095"/>
            <a:ext cx="1241755" cy="1024128"/>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0948" y="1911095"/>
            <a:ext cx="1241755" cy="1024128"/>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4</a:t>
            </a:r>
          </a:p>
        </p:txBody>
      </p:sp>
      <p:sp>
        <p:nvSpPr>
          <p:cNvPr id="18" name="Rounded Rectangle 17"/>
          <p:cNvSpPr/>
          <p:nvPr/>
        </p:nvSpPr>
        <p:spPr>
          <a:xfrm>
            <a:off x="5650992" y="3081528"/>
            <a:ext cx="1241755" cy="1024128"/>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50992" y="3081528"/>
            <a:ext cx="1241755" cy="1024128"/>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5</a:t>
            </a:r>
          </a:p>
        </p:txBody>
      </p:sp>
      <p:sp>
        <p:nvSpPr>
          <p:cNvPr id="20" name="Rounded Rectangle 19"/>
          <p:cNvSpPr/>
          <p:nvPr/>
        </p:nvSpPr>
        <p:spPr>
          <a:xfrm>
            <a:off x="7057339" y="3081528"/>
            <a:ext cx="1241755" cy="1024128"/>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57339" y="3081528"/>
            <a:ext cx="1241755" cy="1024128"/>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6</a:t>
            </a:r>
          </a:p>
        </p:txBody>
      </p:sp>
      <p:sp>
        <p:nvSpPr>
          <p:cNvPr id="22" name="Rounded Rectangle 21"/>
          <p:cNvSpPr/>
          <p:nvPr/>
        </p:nvSpPr>
        <p:spPr>
          <a:xfrm>
            <a:off x="8463686" y="3081528"/>
            <a:ext cx="1241755" cy="1024128"/>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63686" y="3081528"/>
            <a:ext cx="1241755" cy="1024128"/>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8</a:t>
            </a:r>
          </a:p>
        </p:txBody>
      </p:sp>
      <p:sp>
        <p:nvSpPr>
          <p:cNvPr id="24" name="Rounded Rectangle 23"/>
          <p:cNvSpPr/>
          <p:nvPr/>
        </p:nvSpPr>
        <p:spPr>
          <a:xfrm>
            <a:off x="9870948" y="3081528"/>
            <a:ext cx="1241755" cy="1024128"/>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0948" y="3081528"/>
            <a:ext cx="1241755" cy="1024128"/>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9</a:t>
            </a:r>
          </a:p>
        </p:txBody>
      </p:sp>
      <p:sp>
        <p:nvSpPr>
          <p:cNvPr id="26" name="Rounded Rectangle 25"/>
          <p:cNvSpPr/>
          <p:nvPr/>
        </p:nvSpPr>
        <p:spPr>
          <a:xfrm>
            <a:off x="5650992" y="4251960"/>
            <a:ext cx="1241755" cy="1024128"/>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50992" y="4251960"/>
            <a:ext cx="1241755" cy="1024128"/>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10</a:t>
            </a:r>
          </a:p>
        </p:txBody>
      </p:sp>
      <p:sp>
        <p:nvSpPr>
          <p:cNvPr id="28" name="Rounded Rectangle 27"/>
          <p:cNvSpPr/>
          <p:nvPr/>
        </p:nvSpPr>
        <p:spPr>
          <a:xfrm>
            <a:off x="7057339" y="4251960"/>
            <a:ext cx="1241755" cy="1024128"/>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57339" y="4251960"/>
            <a:ext cx="1241755" cy="1024128"/>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11</a:t>
            </a:r>
          </a:p>
        </p:txBody>
      </p:sp>
      <p:sp>
        <p:nvSpPr>
          <p:cNvPr id="30" name="Rounded Rectangle 29"/>
          <p:cNvSpPr/>
          <p:nvPr/>
        </p:nvSpPr>
        <p:spPr>
          <a:xfrm>
            <a:off x="8463686" y="4251960"/>
            <a:ext cx="1241755" cy="1024128"/>
          </a:xfrm>
          <a:prstGeom prst="roundRect">
            <a:avLst>
              <a:gd name="adj" fmla="val 9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63686" y="4251960"/>
            <a:ext cx="1241755" cy="1024128"/>
          </a:xfrm>
          <a:prstGeom prst="rect">
            <a:avLst/>
          </a:prstGeom>
          <a:noFill/>
        </p:spPr>
        <p:txBody>
          <a:bodyPr wrap="square" anchor="ctr" lIns="0" rIns="0" tIns="0" bIns="0">
            <a:spAutoFit/>
          </a:bodyPr>
          <a:lstStyle/>
          <a:p>
            <a:pPr algn="ctr">
              <a:lnSpc>
                <a:spcPct val="110000"/>
              </a:lnSpc>
              <a:spcAft>
                <a:spcPts val="0"/>
              </a:spcAft>
            </a:pPr>
            <a:r>
              <a:rPr sz="1700" b="1" i="0">
                <a:solidFill>
                  <a:srgbClr val="4A5568"/>
                </a:solidFill>
                <a:latin typeface="Calibri"/>
                <a:ea typeface="Calibri"/>
              </a:rPr>
              <a:t>12</a:t>
            </a:r>
          </a:p>
        </p:txBody>
      </p:sp>
      <p:sp>
        <p:nvSpPr>
          <p:cNvPr id="32" name="Rounded Rectangle 31"/>
          <p:cNvSpPr/>
          <p:nvPr/>
        </p:nvSpPr>
        <p:spPr>
          <a:xfrm>
            <a:off x="9870948" y="4251960"/>
            <a:ext cx="1241755" cy="1024128"/>
          </a:xfrm>
          <a:prstGeom prst="roundRect">
            <a:avLst>
              <a:gd name="adj" fmla="val 9000"/>
            </a:avLst>
          </a:prstGeom>
          <a:noFill/>
          <a:ln w="12700">
            <a:solidFill>
              <a:srgbClr val="9DC0E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0948" y="4251960"/>
            <a:ext cx="1241755" cy="1024128"/>
          </a:xfrm>
          <a:prstGeom prst="rect">
            <a:avLst/>
          </a:prstGeom>
          <a:noFill/>
        </p:spPr>
        <p:txBody>
          <a:bodyPr wrap="square" anchor="ctr" lIns="0" rIns="0" tIns="0" bIns="0">
            <a:spAutoFit/>
          </a:bodyPr>
          <a:lstStyle/>
          <a:p>
            <a:pPr algn="ctr">
              <a:lnSpc>
                <a:spcPct val="110000"/>
              </a:lnSpc>
              <a:spcAft>
                <a:spcPts val="0"/>
              </a:spcAft>
            </a:pPr>
            <a:r>
              <a:rPr sz="900" b="0" i="0">
                <a:solidFill>
                  <a:srgbClr val="9DC0EE"/>
                </a:solidFill>
                <a:latin typeface="Calibri"/>
                <a:ea typeface="Calibri"/>
              </a:rPr>
              <a:t>no space taken</a:t>
            </a:r>
          </a:p>
        </p:txBody>
      </p:sp>
      <p:sp>
        <p:nvSpPr>
          <p:cNvPr id="34" name="Rounded Rectangle 33"/>
          <p:cNvSpPr/>
          <p:nvPr/>
        </p:nvSpPr>
        <p:spPr>
          <a:xfrm>
            <a:off x="10108692" y="1508760"/>
            <a:ext cx="1241755" cy="1024128"/>
          </a:xfrm>
          <a:prstGeom prst="roundRect">
            <a:avLst>
              <a:gd name="adj" fmla="val 9000"/>
            </a:avLst>
          </a:prstGeom>
          <a:solidFill>
            <a:srgbClr val="1E4FA8"/>
          </a:solidFill>
          <a:ln w="12700">
            <a:solidFill>
              <a:srgbClr val="1E4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8692" y="1508760"/>
            <a:ext cx="1241755" cy="1024128"/>
          </a:xfrm>
          <a:prstGeom prst="rect">
            <a:avLst/>
          </a:prstGeom>
          <a:noFill/>
        </p:spPr>
        <p:txBody>
          <a:bodyPr wrap="square" anchor="ctr" lIns="0" rIns="0" tIns="0" bIns="0">
            <a:spAutoFit/>
          </a:bodyPr>
          <a:lstStyle/>
          <a:p>
            <a:pPr algn="ctr">
              <a:lnSpc>
                <a:spcPct val="110000"/>
              </a:lnSpc>
              <a:spcAft>
                <a:spcPts val="0"/>
              </a:spcAft>
            </a:pPr>
            <a:r>
              <a:rPr sz="1900" b="1" i="0">
                <a:solidFill>
                  <a:srgbClr val="FFFFFF"/>
                </a:solidFill>
                <a:latin typeface="Calibri"/>
                <a:ea typeface="Calibri"/>
              </a:rPr>
              <a:t>7</a:t>
            </a:r>
          </a:p>
        </p:txBody>
      </p:sp>
      <p:sp>
        <p:nvSpPr>
          <p:cNvPr id="36" name="Rounded Rectangle 35"/>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Out of the flow, into a corner — and everything behind it closes up.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fixed</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Positioning</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Anchored to the viewport</a:t>
            </a:r>
            <a:br/>
            <a:r>
              <a:rPr sz="1350" b="0" i="0">
                <a:solidFill>
                  <a:srgbClr val="4A5568"/>
                </a:solidFill>
                <a:latin typeface="Calibri"/>
                <a:ea typeface="Calibri"/>
              </a:rPr>
              <a:t>Not to the document — it ignores scrolling.</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Always visible</a:t>
            </a:r>
            <a:br/>
            <a:r>
              <a:rPr sz="1350" b="0" i="0">
                <a:solidFill>
                  <a:srgbClr val="4A5568"/>
                </a:solidFill>
                <a:latin typeface="Calibri"/>
                <a:ea typeface="Calibri"/>
              </a:rPr>
              <a:t>Ideal for a header or a 'back to top' button.</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Out of flow</a:t>
            </a:r>
            <a:br/>
            <a:r>
              <a:rPr sz="1350" b="0" i="0">
                <a:solidFill>
                  <a:srgbClr val="4A5568"/>
                </a:solidFill>
                <a:latin typeface="Calibri"/>
                <a:ea typeface="Calibri"/>
              </a:rPr>
              <a:t>It floats above the content, taking no space.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Mind the overlap</a:t>
            </a:r>
            <a:br/>
            <a:r>
              <a:rPr sz="1350" b="0" i="0">
                <a:solidFill>
                  <a:srgbClr val="4A5568"/>
                </a:solidFill>
                <a:latin typeface="Calibri"/>
                <a:ea typeface="Calibri"/>
              </a:rPr>
              <a:t>Add padding to the body so content isn't hidden.</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a box pinned to the window */</a:t>
            </a:r>
          </a:p>
          <a:p>
            <a:pPr>
              <a:spcAft>
                <a:spcPts val="350"/>
              </a:spcAft>
            </a:pPr>
            <a:r>
              <a:rPr sz="1300" b="0" i="0">
                <a:solidFill>
                  <a:srgbClr val="61AFEF"/>
                </a:solidFill>
                <a:latin typeface="Consolas"/>
                <a:ea typeface="Consolas"/>
              </a:rPr>
              <a:t>div.fixed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position</a:t>
            </a:r>
            <a:r>
              <a:rPr sz="1300" b="0" i="0">
                <a:solidFill>
                  <a:srgbClr val="98C379"/>
                </a:solidFill>
                <a:latin typeface="Consolas"/>
                <a:ea typeface="Consolas"/>
              </a:rPr>
              <a:t>: fixed;</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bottom</a:t>
            </a:r>
            <a:r>
              <a:rPr sz="1300" b="0" i="0">
                <a:solidFill>
                  <a:srgbClr val="98C379"/>
                </a:solidFill>
                <a:latin typeface="Consolas"/>
                <a:ea typeface="Consolas"/>
              </a:rPr>
              <a:t>: 0;</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right</a:t>
            </a:r>
            <a:r>
              <a:rPr sz="1300" b="0" i="0">
                <a:solidFill>
                  <a:srgbClr val="98C379"/>
                </a:solidFill>
                <a:latin typeface="Consolas"/>
                <a:ea typeface="Consolas"/>
              </a:rPr>
              <a:t>: 0;</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width</a:t>
            </a:r>
            <a:r>
              <a:rPr sz="1300" b="0" i="0">
                <a:solidFill>
                  <a:srgbClr val="98C379"/>
                </a:solidFill>
                <a:latin typeface="Consolas"/>
                <a:ea typeface="Consolas"/>
              </a:rPr>
              <a:t>: 300px;</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height</a:t>
            </a:r>
            <a:r>
              <a:rPr sz="1300" b="0" i="0">
                <a:solidFill>
                  <a:srgbClr val="98C379"/>
                </a:solidFill>
                <a:latin typeface="Consolas"/>
                <a:ea typeface="Consolas"/>
              </a:rPr>
              <a:t>: 200px;</a:t>
            </a:r>
          </a:p>
          <a:p>
            <a:pPr>
              <a:spcAft>
                <a:spcPts val="350"/>
              </a:spcAft>
            </a:pPr>
            <a:r>
              <a:rPr sz="1300" b="0" i="0">
                <a:solidFill>
                  <a:srgbClr val="61AFEF"/>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editor.html?example=css-layout/position-fixed</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A fixed header stays put while the page scrolls underneath.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fixed — Where the Box Ends Up</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Positioning</a:t>
            </a:r>
          </a:p>
        </p:txBody>
      </p:sp>
      <p:sp>
        <p:nvSpPr>
          <p:cNvPr id="5" name="TextBox 4"/>
          <p:cNvSpPr txBox="1"/>
          <p:nvPr/>
        </p:nvSpPr>
        <p:spPr>
          <a:xfrm>
            <a:off x="548640" y="978408"/>
            <a:ext cx="4206240" cy="4617720"/>
          </a:xfrm>
          <a:prstGeom prst="rect">
            <a:avLst/>
          </a:prstGeom>
          <a:noFill/>
        </p:spPr>
        <p:txBody>
          <a:bodyPr wrap="square" lIns="0" rIns="0" tIns="0" bIns="0">
            <a:normAutofit/>
          </a:bodyPr>
          <a:lstStyle/>
          <a:p>
            <a:pPr marL="237744"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Viewport, not page</a:t>
            </a:r>
            <a:br/>
            <a:r>
              <a:rPr sz="1350" b="0" i="0">
                <a:solidFill>
                  <a:srgbClr val="4A5568"/>
                </a:solidFill>
                <a:latin typeface="Calibri"/>
                <a:ea typeface="Calibri"/>
              </a:rPr>
              <a:t>the anchor is the browser window, not the document.</a:t>
            </a:r>
          </a:p>
          <a:p>
            <a:pPr marL="237744"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It never moves</a:t>
            </a:r>
            <a:br/>
            <a:r>
              <a:rPr sz="1350" b="0" i="0">
                <a:solidFill>
                  <a:srgbClr val="4A5568"/>
                </a:solidFill>
                <a:latin typeface="Calibri"/>
                <a:ea typeface="Calibri"/>
              </a:rPr>
              <a:t>scrolling the document leaves the bar exactly where it is.</a:t>
            </a:r>
          </a:p>
          <a:p>
            <a:pPr marL="237744"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Out of flow</a:t>
            </a:r>
            <a:br/>
            <a:r>
              <a:rPr sz="1350" b="0" i="0">
                <a:solidFill>
                  <a:srgbClr val="4A5568"/>
                </a:solidFill>
                <a:latin typeface="Calibri"/>
                <a:ea typeface="Calibri"/>
              </a:rPr>
              <a:t>nothing is reserved for it — pad the content or it hides some.</a:t>
            </a:r>
          </a:p>
        </p:txBody>
      </p:sp>
      <p:sp>
        <p:nvSpPr>
          <p:cNvPr id="6" name="Rounded Rectangle 5"/>
          <p:cNvSpPr/>
          <p:nvPr/>
        </p:nvSpPr>
        <p:spPr>
          <a:xfrm>
            <a:off x="5120640" y="978408"/>
            <a:ext cx="6522415" cy="4754880"/>
          </a:xfrm>
          <a:prstGeom prst="roundRect">
            <a:avLst>
              <a:gd name="adj" fmla="val 3000"/>
            </a:avLst>
          </a:prstGeom>
          <a:solidFill>
            <a:srgbClr val="FFFFFF"/>
          </a:solidFill>
          <a:ln w="12700">
            <a:solidFill>
              <a:srgbClr val="C9D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40096" y="1056132"/>
            <a:ext cx="6083503" cy="237744"/>
          </a:xfrm>
          <a:prstGeom prst="rect">
            <a:avLst/>
          </a:prstGeom>
          <a:noFill/>
        </p:spPr>
        <p:txBody>
          <a:bodyPr wrap="square" anchor="t" lIns="0" rIns="0" tIns="0" bIns="0">
            <a:spAutoFit/>
          </a:bodyPr>
          <a:lstStyle/>
          <a:p>
            <a:pPr algn="l">
              <a:lnSpc>
                <a:spcPct val="110000"/>
              </a:lnSpc>
              <a:spcAft>
                <a:spcPts val="0"/>
              </a:spcAft>
            </a:pPr>
            <a:r>
              <a:rPr sz="1050" b="1" i="0">
                <a:solidFill>
                  <a:srgbClr val="4A5568"/>
                </a:solidFill>
                <a:latin typeface="Calibri"/>
                <a:ea typeface="Calibri"/>
              </a:rPr>
              <a:t>THE VIEWPORT · the document has scrolled · the bar did not move</a:t>
            </a:r>
          </a:p>
        </p:txBody>
      </p:sp>
      <p:sp>
        <p:nvSpPr>
          <p:cNvPr id="8" name="Rounded Rectangle 7"/>
          <p:cNvSpPr/>
          <p:nvPr/>
        </p:nvSpPr>
        <p:spPr>
          <a:xfrm>
            <a:off x="5340096" y="1344168"/>
            <a:ext cx="6083503" cy="4169663"/>
          </a:xfrm>
          <a:prstGeom prst="roundRect">
            <a:avLst>
              <a:gd name="adj" fmla="val 3000"/>
            </a:avLst>
          </a:prstGeom>
          <a:solidFill>
            <a:srgbClr val="FFFFFF"/>
          </a:solidFill>
          <a:ln w="12700">
            <a:solidFill>
              <a:srgbClr val="C9D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313871" y="1399032"/>
            <a:ext cx="54864" cy="4059935"/>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313871" y="3679179"/>
            <a:ext cx="54864" cy="1250899"/>
          </a:xfrm>
          <a:prstGeom prst="rect">
            <a:avLst/>
          </a:prstGeom>
          <a:solidFill>
            <a:srgbClr val="B9C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40680" y="1389888"/>
            <a:ext cx="5772607" cy="201168"/>
          </a:xfrm>
          <a:prstGeom prst="rect">
            <a:avLst/>
          </a:prstGeom>
          <a:noFill/>
        </p:spPr>
        <p:txBody>
          <a:bodyPr wrap="square" anchor="t" lIns="0" rIns="0" tIns="0" bIns="0">
            <a:spAutoFit/>
          </a:bodyPr>
          <a:lstStyle/>
          <a:p>
            <a:pPr algn="l">
              <a:lnSpc>
                <a:spcPct val="110000"/>
              </a:lnSpc>
              <a:spcAft>
                <a:spcPts val="0"/>
              </a:spcAft>
            </a:pPr>
            <a:r>
              <a:rPr sz="950" b="1" i="0">
                <a:solidFill>
                  <a:srgbClr val="4A5568"/>
                </a:solidFill>
                <a:latin typeface="Calibri"/>
                <a:ea typeface="Calibri"/>
              </a:rPr>
              <a:t>the browser window</a:t>
            </a:r>
          </a:p>
        </p:txBody>
      </p:sp>
      <p:sp>
        <p:nvSpPr>
          <p:cNvPr id="12" name="Rounded Rectangle 11"/>
          <p:cNvSpPr/>
          <p:nvPr/>
        </p:nvSpPr>
        <p:spPr>
          <a:xfrm>
            <a:off x="5431536" y="1618488"/>
            <a:ext cx="5809183" cy="1448409"/>
          </a:xfrm>
          <a:prstGeom prst="roundRect">
            <a:avLst>
              <a:gd name="adj" fmla="val 6000"/>
            </a:avLst>
          </a:prstGeom>
          <a:solidFill>
            <a:srgbClr val="F0F5FC"/>
          </a:solidFill>
          <a:ln w="12700">
            <a:solidFill>
              <a:srgbClr val="9DC0E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31536" y="2342692"/>
            <a:ext cx="5809183" cy="724204"/>
          </a:xfrm>
          <a:prstGeom prst="rect">
            <a:avLst/>
          </a:prstGeom>
          <a:noFill/>
        </p:spPr>
        <p:txBody>
          <a:bodyPr wrap="square" anchor="ctr" lIns="0" rIns="0" tIns="0" bIns="0">
            <a:spAutoFit/>
          </a:bodyPr>
          <a:lstStyle/>
          <a:p>
            <a:pPr algn="ctr">
              <a:lnSpc>
                <a:spcPct val="110000"/>
              </a:lnSpc>
              <a:spcAft>
                <a:spcPts val="0"/>
              </a:spcAft>
            </a:pPr>
            <a:r>
              <a:rPr sz="900" b="0" i="0">
                <a:solidFill>
                  <a:srgbClr val="9DC0EE"/>
                </a:solidFill>
                <a:latin typeface="Calibri"/>
                <a:ea typeface="Calibri"/>
              </a:rPr>
              <a:t>content above — scrolled past</a:t>
            </a:r>
          </a:p>
        </p:txBody>
      </p:sp>
      <p:sp>
        <p:nvSpPr>
          <p:cNvPr id="14" name="Rounded Rectangle 13"/>
          <p:cNvSpPr/>
          <p:nvPr/>
        </p:nvSpPr>
        <p:spPr>
          <a:xfrm>
            <a:off x="5431536" y="3176625"/>
            <a:ext cx="5809183" cy="669340"/>
          </a:xfrm>
          <a:prstGeom prst="roundRect">
            <a:avLst>
              <a:gd name="adj" fmla="val 10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31536" y="3955694"/>
            <a:ext cx="5809183" cy="669340"/>
          </a:xfrm>
          <a:prstGeom prst="roundRect">
            <a:avLst>
              <a:gd name="adj" fmla="val 10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31536" y="4734763"/>
            <a:ext cx="5809183" cy="669340"/>
          </a:xfrm>
          <a:prstGeom prst="roundRect">
            <a:avLst>
              <a:gd name="adj" fmla="val 10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31536" y="1618488"/>
            <a:ext cx="5809183" cy="420624"/>
          </a:xfrm>
          <a:prstGeom prst="roundRect">
            <a:avLst>
              <a:gd name="adj" fmla="val 9000"/>
            </a:avLst>
          </a:prstGeom>
          <a:solidFill>
            <a:srgbClr val="1E4FA8"/>
          </a:solidFill>
          <a:ln w="12700">
            <a:solidFill>
              <a:srgbClr val="1E4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31536" y="1618488"/>
            <a:ext cx="5809183" cy="420624"/>
          </a:xfrm>
          <a:prstGeom prst="rect">
            <a:avLst/>
          </a:prstGeom>
          <a:noFill/>
        </p:spPr>
        <p:txBody>
          <a:bodyPr wrap="square" anchor="ctr" lIns="0" rIns="0" tIns="0" bIns="0">
            <a:spAutoFit/>
          </a:bodyPr>
          <a:lstStyle/>
          <a:p>
            <a:pPr algn="ctr">
              <a:lnSpc>
                <a:spcPct val="110000"/>
              </a:lnSpc>
              <a:spcAft>
                <a:spcPts val="0"/>
              </a:spcAft>
            </a:pPr>
            <a:r>
              <a:rPr sz="1100" b="1" i="0">
                <a:solidFill>
                  <a:srgbClr val="FFFFFF"/>
                </a:solidFill>
                <a:latin typeface="Calibri"/>
                <a:ea typeface="Calibri"/>
              </a:rPr>
              <a:t>header · position: fixed; top: 0</a:t>
            </a:r>
          </a:p>
        </p:txBody>
      </p:sp>
      <p:sp>
        <p:nvSpPr>
          <p:cNvPr id="19" name="Rounded Rectangle 18"/>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Anchored to the window: the document moves underneath, this does not.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sticky</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Positioning</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 hybrid</a:t>
            </a:r>
            <a:br/>
            <a:r>
              <a:rPr sz="1350" b="0" i="0">
                <a:solidFill>
                  <a:srgbClr val="4A5568"/>
                </a:solidFill>
                <a:latin typeface="Calibri"/>
                <a:ea typeface="Calibri"/>
              </a:rPr>
              <a:t>relative until it reaches an edge, then fixed.</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Scrolls with content</a:t>
            </a:r>
            <a:br/>
            <a:r>
              <a:rPr sz="1350" b="0" i="0">
                <a:solidFill>
                  <a:srgbClr val="4A5568"/>
                </a:solidFill>
                <a:latin typeface="Calibri"/>
                <a:ea typeface="Calibri"/>
              </a:rPr>
              <a:t>Stays in flow until you hit top: 0.</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Then sticks</a:t>
            </a:r>
            <a:br/>
            <a:r>
              <a:rPr sz="1350" b="0" i="0">
                <a:solidFill>
                  <a:srgbClr val="4A5568"/>
                </a:solidFill>
                <a:latin typeface="Calibri"/>
                <a:ea typeface="Calibri"/>
              </a:rPr>
              <a:t>Pins to the viewport while its container scrolls.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Needs an offset</a:t>
            </a:r>
            <a:br/>
            <a:r>
              <a:rPr sz="1350" b="0" i="0">
                <a:solidFill>
                  <a:srgbClr val="4A5568"/>
                </a:solidFill>
                <a:latin typeface="Calibri"/>
                <a:ea typeface="Calibri"/>
              </a:rPr>
              <a:t>Without top, right, bottom or left it never sticks.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a bar that sticks to the top */</a:t>
            </a:r>
          </a:p>
          <a:p>
            <a:pPr>
              <a:spcAft>
                <a:spcPts val="350"/>
              </a:spcAft>
            </a:pPr>
            <a:r>
              <a:rPr sz="1300" b="0" i="0">
                <a:solidFill>
                  <a:srgbClr val="61AFEF"/>
                </a:solidFill>
                <a:latin typeface="Consolas"/>
                <a:ea typeface="Consolas"/>
              </a:rPr>
              <a:t>div.sticky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position</a:t>
            </a:r>
            <a:r>
              <a:rPr sz="1300" b="0" i="0">
                <a:solidFill>
                  <a:srgbClr val="98C379"/>
                </a:solidFill>
                <a:latin typeface="Consolas"/>
                <a:ea typeface="Consolas"/>
              </a:rPr>
              <a:t>: sticky;</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top</a:t>
            </a:r>
            <a:r>
              <a:rPr sz="1300" b="0" i="0">
                <a:solidFill>
                  <a:srgbClr val="98C379"/>
                </a:solidFill>
                <a:latin typeface="Consolas"/>
                <a:ea typeface="Consolas"/>
              </a:rPr>
              <a:t>: 0;</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padding</a:t>
            </a:r>
            <a:r>
              <a:rPr sz="1300" b="0" i="0">
                <a:solidFill>
                  <a:srgbClr val="98C379"/>
                </a:solidFill>
                <a:latin typeface="Consolas"/>
                <a:ea typeface="Consolas"/>
              </a:rPr>
              <a:t>: 5px;</a:t>
            </a:r>
          </a:p>
          <a:p>
            <a:pPr>
              <a:spcAft>
                <a:spcPts val="350"/>
              </a:spcAft>
            </a:pPr>
            <a:r>
              <a:rPr sz="1300" b="0" i="0">
                <a:solidFill>
                  <a:srgbClr val="E5C07B"/>
                </a:solidFill>
                <a:latin typeface="Consolas"/>
                <a:ea typeface="Consolas"/>
              </a:rPr>
              <a:t>  background-color: #cae8ca;</a:t>
            </a:r>
          </a:p>
          <a:p>
            <a:pPr>
              <a:spcAft>
                <a:spcPts val="350"/>
              </a:spcAft>
            </a:pPr>
            <a:r>
              <a:rPr sz="1300" b="0" i="0">
                <a:solidFill>
                  <a:srgbClr val="E5C07B"/>
                </a:solidFill>
                <a:latin typeface="Consolas"/>
                <a:ea typeface="Consolas"/>
              </a:rPr>
              <a:t>  border: 2px solid #4CAF50;</a:t>
            </a:r>
          </a:p>
          <a:p>
            <a:pPr>
              <a:spcAft>
                <a:spcPts val="350"/>
              </a:spcAft>
            </a:pPr>
            <a:r>
              <a:rPr sz="1300" b="0" i="0">
                <a:solidFill>
                  <a:srgbClr val="61AFEF"/>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editor.html?example=css-layout/position-sticky</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sticky only travels inside its own container — and needs a top value.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sticky — Where the Box Ends Up</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Positioning</a:t>
            </a:r>
          </a:p>
        </p:txBody>
      </p:sp>
      <p:sp>
        <p:nvSpPr>
          <p:cNvPr id="5" name="TextBox 4"/>
          <p:cNvSpPr txBox="1"/>
          <p:nvPr/>
        </p:nvSpPr>
        <p:spPr>
          <a:xfrm>
            <a:off x="548640" y="978408"/>
            <a:ext cx="4206240" cy="4617720"/>
          </a:xfrm>
          <a:prstGeom prst="rect">
            <a:avLst/>
          </a:prstGeom>
          <a:noFill/>
        </p:spPr>
        <p:txBody>
          <a:bodyPr wrap="square" lIns="0" rIns="0" tIns="0" bIns="0">
            <a:normAutofit/>
          </a:bodyPr>
          <a:lstStyle/>
          <a:p>
            <a:pPr marL="237744"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A hybrid</a:t>
            </a:r>
            <a:br/>
            <a:r>
              <a:rPr sz="1350" b="0" i="0">
                <a:solidFill>
                  <a:srgbClr val="4A5568"/>
                </a:solidFill>
                <a:latin typeface="Calibri"/>
                <a:ea typeface="Calibri"/>
              </a:rPr>
              <a:t>relative while it is in view, fixed once it reaches the offset.</a:t>
            </a:r>
          </a:p>
          <a:p>
            <a:pPr marL="237744"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Needs an offset</a:t>
            </a:r>
            <a:br/>
            <a:r>
              <a:rPr sz="1350" b="0" i="0">
                <a:solidFill>
                  <a:srgbClr val="4A5568"/>
                </a:solidFill>
                <a:latin typeface="Calibri"/>
                <a:ea typeface="Calibri"/>
              </a:rPr>
              <a:t>with no top, right, bottom or left it never sticks at all.</a:t>
            </a:r>
          </a:p>
          <a:p>
            <a:pPr marL="237744"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Inside its container</a:t>
            </a:r>
            <a:br/>
            <a:r>
              <a:rPr sz="1350" b="0" i="0">
                <a:solidFill>
                  <a:srgbClr val="4A5568"/>
                </a:solidFill>
                <a:latin typeface="Calibri"/>
                <a:ea typeface="Calibri"/>
              </a:rPr>
              <a:t>it stops sticking when the container scrolls past.</a:t>
            </a:r>
          </a:p>
        </p:txBody>
      </p:sp>
      <p:sp>
        <p:nvSpPr>
          <p:cNvPr id="6" name="Rounded Rectangle 5"/>
          <p:cNvSpPr/>
          <p:nvPr/>
        </p:nvSpPr>
        <p:spPr>
          <a:xfrm>
            <a:off x="5120640" y="978408"/>
            <a:ext cx="6522415" cy="4754880"/>
          </a:xfrm>
          <a:prstGeom prst="roundRect">
            <a:avLst>
              <a:gd name="adj" fmla="val 3000"/>
            </a:avLst>
          </a:prstGeom>
          <a:solidFill>
            <a:srgbClr val="FFFFFF"/>
          </a:solidFill>
          <a:ln w="12700">
            <a:solidFill>
              <a:srgbClr val="C9D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40096" y="1056132"/>
            <a:ext cx="6083503" cy="237744"/>
          </a:xfrm>
          <a:prstGeom prst="rect">
            <a:avLst/>
          </a:prstGeom>
          <a:noFill/>
        </p:spPr>
        <p:txBody>
          <a:bodyPr wrap="square" anchor="t" lIns="0" rIns="0" tIns="0" bIns="0">
            <a:spAutoFit/>
          </a:bodyPr>
          <a:lstStyle/>
          <a:p>
            <a:pPr algn="l">
              <a:lnSpc>
                <a:spcPct val="110000"/>
              </a:lnSpc>
              <a:spcAft>
                <a:spcPts val="0"/>
              </a:spcAft>
            </a:pPr>
            <a:r>
              <a:rPr sz="1050" b="1" i="0">
                <a:solidFill>
                  <a:srgbClr val="4A5568"/>
                </a:solidFill>
                <a:latin typeface="Calibri"/>
                <a:ea typeface="Calibri"/>
              </a:rPr>
              <a:t>THE VIEWPORT · the same page, before and after the heading reaches the top</a:t>
            </a:r>
          </a:p>
        </p:txBody>
      </p:sp>
      <p:sp>
        <p:nvSpPr>
          <p:cNvPr id="8" name="Rounded Rectangle 7"/>
          <p:cNvSpPr/>
          <p:nvPr/>
        </p:nvSpPr>
        <p:spPr>
          <a:xfrm>
            <a:off x="5340096" y="1344168"/>
            <a:ext cx="2904134" cy="4169663"/>
          </a:xfrm>
          <a:prstGeom prst="roundRect">
            <a:avLst>
              <a:gd name="adj" fmla="val 3000"/>
            </a:avLst>
          </a:prstGeom>
          <a:solidFill>
            <a:srgbClr val="FFFFFF"/>
          </a:solidFill>
          <a:ln w="12700">
            <a:solidFill>
              <a:srgbClr val="C9D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34502" y="1399032"/>
            <a:ext cx="54864" cy="4059935"/>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134502" y="1761134"/>
            <a:ext cx="54864" cy="1250899"/>
          </a:xfrm>
          <a:prstGeom prst="rect">
            <a:avLst/>
          </a:prstGeom>
          <a:solidFill>
            <a:srgbClr val="B9C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40680" y="1389888"/>
            <a:ext cx="2593238" cy="201168"/>
          </a:xfrm>
          <a:prstGeom prst="rect">
            <a:avLst/>
          </a:prstGeom>
          <a:noFill/>
        </p:spPr>
        <p:txBody>
          <a:bodyPr wrap="square" anchor="t" lIns="0" rIns="0" tIns="0" bIns="0">
            <a:spAutoFit/>
          </a:bodyPr>
          <a:lstStyle/>
          <a:p>
            <a:pPr algn="l">
              <a:lnSpc>
                <a:spcPct val="110000"/>
              </a:lnSpc>
              <a:spcAft>
                <a:spcPts val="0"/>
              </a:spcAft>
            </a:pPr>
            <a:r>
              <a:rPr sz="950" b="1" i="0">
                <a:solidFill>
                  <a:srgbClr val="4A5568"/>
                </a:solidFill>
                <a:latin typeface="Calibri"/>
                <a:ea typeface="Calibri"/>
              </a:rPr>
              <a:t>① in flow</a:t>
            </a:r>
          </a:p>
        </p:txBody>
      </p:sp>
      <p:sp>
        <p:nvSpPr>
          <p:cNvPr id="12" name="Rounded Rectangle 11"/>
          <p:cNvSpPr/>
          <p:nvPr/>
        </p:nvSpPr>
        <p:spPr>
          <a:xfrm>
            <a:off x="5431536" y="1618488"/>
            <a:ext cx="2629814" cy="669340"/>
          </a:xfrm>
          <a:prstGeom prst="roundRect">
            <a:avLst>
              <a:gd name="adj" fmla="val 10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31536" y="2397556"/>
            <a:ext cx="2629814" cy="669340"/>
          </a:xfrm>
          <a:prstGeom prst="roundRect">
            <a:avLst>
              <a:gd name="adj" fmla="val 10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31536" y="3176625"/>
            <a:ext cx="2629814" cy="669340"/>
          </a:xfrm>
          <a:prstGeom prst="roundRect">
            <a:avLst>
              <a:gd name="adj" fmla="val 10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31536" y="3955694"/>
            <a:ext cx="2629814" cy="669340"/>
          </a:xfrm>
          <a:prstGeom prst="roundRect">
            <a:avLst>
              <a:gd name="adj" fmla="val 10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31536" y="4734763"/>
            <a:ext cx="2629814" cy="669340"/>
          </a:xfrm>
          <a:prstGeom prst="roundRect">
            <a:avLst>
              <a:gd name="adj" fmla="val 10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31536" y="2397556"/>
            <a:ext cx="2629814" cy="669340"/>
          </a:xfrm>
          <a:prstGeom prst="roundRect">
            <a:avLst>
              <a:gd name="adj" fmla="val 9000"/>
            </a:avLst>
          </a:prstGeom>
          <a:solidFill>
            <a:srgbClr val="1E4FA8"/>
          </a:solidFill>
          <a:ln w="12700">
            <a:solidFill>
              <a:srgbClr val="1E4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31536" y="2397556"/>
            <a:ext cx="2629814" cy="669340"/>
          </a:xfrm>
          <a:prstGeom prst="rect">
            <a:avLst/>
          </a:prstGeom>
          <a:noFill/>
        </p:spPr>
        <p:txBody>
          <a:bodyPr wrap="square" anchor="ctr" lIns="0" rIns="0" tIns="0" bIns="0">
            <a:spAutoFit/>
          </a:bodyPr>
          <a:lstStyle/>
          <a:p>
            <a:pPr algn="ctr">
              <a:lnSpc>
                <a:spcPct val="110000"/>
              </a:lnSpc>
              <a:spcAft>
                <a:spcPts val="0"/>
              </a:spcAft>
            </a:pPr>
            <a:r>
              <a:rPr sz="1000" b="1" i="0">
                <a:solidFill>
                  <a:srgbClr val="FFFFFF"/>
                </a:solidFill>
                <a:latin typeface="Calibri"/>
                <a:ea typeface="Calibri"/>
              </a:rPr>
              <a:t>h2 — in flow here</a:t>
            </a:r>
          </a:p>
        </p:txBody>
      </p:sp>
      <p:sp>
        <p:nvSpPr>
          <p:cNvPr id="19" name="Rounded Rectangle 18"/>
          <p:cNvSpPr/>
          <p:nvPr/>
        </p:nvSpPr>
        <p:spPr>
          <a:xfrm>
            <a:off x="8519464" y="1344168"/>
            <a:ext cx="2904134" cy="4169663"/>
          </a:xfrm>
          <a:prstGeom prst="roundRect">
            <a:avLst>
              <a:gd name="adj" fmla="val 3000"/>
            </a:avLst>
          </a:prstGeom>
          <a:solidFill>
            <a:srgbClr val="FFFFFF"/>
          </a:solidFill>
          <a:ln w="12700">
            <a:solidFill>
              <a:srgbClr val="C9D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313871" y="1399032"/>
            <a:ext cx="54864" cy="4059935"/>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313871" y="4096146"/>
            <a:ext cx="54864" cy="1250899"/>
          </a:xfrm>
          <a:prstGeom prst="rect">
            <a:avLst/>
          </a:prstGeom>
          <a:solidFill>
            <a:srgbClr val="B9C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20048" y="1389888"/>
            <a:ext cx="2593238" cy="201168"/>
          </a:xfrm>
          <a:prstGeom prst="rect">
            <a:avLst/>
          </a:prstGeom>
          <a:noFill/>
        </p:spPr>
        <p:txBody>
          <a:bodyPr wrap="square" anchor="t" lIns="0" rIns="0" tIns="0" bIns="0">
            <a:spAutoFit/>
          </a:bodyPr>
          <a:lstStyle/>
          <a:p>
            <a:pPr algn="l">
              <a:lnSpc>
                <a:spcPct val="110000"/>
              </a:lnSpc>
              <a:spcAft>
                <a:spcPts val="0"/>
              </a:spcAft>
            </a:pPr>
            <a:r>
              <a:rPr sz="950" b="1" i="0">
                <a:solidFill>
                  <a:srgbClr val="4A5568"/>
                </a:solidFill>
                <a:latin typeface="Calibri"/>
                <a:ea typeface="Calibri"/>
              </a:rPr>
              <a:t>② scrolled past top: 0</a:t>
            </a:r>
          </a:p>
        </p:txBody>
      </p:sp>
      <p:sp>
        <p:nvSpPr>
          <p:cNvPr id="23" name="Rounded Rectangle 22"/>
          <p:cNvSpPr/>
          <p:nvPr/>
        </p:nvSpPr>
        <p:spPr>
          <a:xfrm>
            <a:off x="8610904" y="1618488"/>
            <a:ext cx="2629814" cy="384048"/>
          </a:xfrm>
          <a:prstGeom prst="roundRect">
            <a:avLst>
              <a:gd name="adj" fmla="val 9000"/>
            </a:avLst>
          </a:prstGeom>
          <a:solidFill>
            <a:srgbClr val="1E4FA8"/>
          </a:solidFill>
          <a:ln w="12700">
            <a:solidFill>
              <a:srgbClr val="1E4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10904" y="1618488"/>
            <a:ext cx="2629814" cy="384048"/>
          </a:xfrm>
          <a:prstGeom prst="rect">
            <a:avLst/>
          </a:prstGeom>
          <a:noFill/>
        </p:spPr>
        <p:txBody>
          <a:bodyPr wrap="square" anchor="ctr" lIns="0" rIns="0" tIns="0" bIns="0">
            <a:spAutoFit/>
          </a:bodyPr>
          <a:lstStyle/>
          <a:p>
            <a:pPr algn="ctr">
              <a:lnSpc>
                <a:spcPct val="110000"/>
              </a:lnSpc>
              <a:spcAft>
                <a:spcPts val="0"/>
              </a:spcAft>
            </a:pPr>
            <a:r>
              <a:rPr sz="1000" b="1" i="0">
                <a:solidFill>
                  <a:srgbClr val="FFFFFF"/>
                </a:solidFill>
                <a:latin typeface="Calibri"/>
                <a:ea typeface="Calibri"/>
              </a:rPr>
              <a:t>h2 — stuck at top: 0</a:t>
            </a:r>
          </a:p>
        </p:txBody>
      </p:sp>
      <p:sp>
        <p:nvSpPr>
          <p:cNvPr id="25" name="Rounded Rectangle 24"/>
          <p:cNvSpPr/>
          <p:nvPr/>
        </p:nvSpPr>
        <p:spPr>
          <a:xfrm>
            <a:off x="8610904" y="2112264"/>
            <a:ext cx="2629814" cy="667512"/>
          </a:xfrm>
          <a:prstGeom prst="roundRect">
            <a:avLst>
              <a:gd name="adj" fmla="val 10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610904" y="2889504"/>
            <a:ext cx="2629814" cy="667512"/>
          </a:xfrm>
          <a:prstGeom prst="roundRect">
            <a:avLst>
              <a:gd name="adj" fmla="val 10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610904" y="3666744"/>
            <a:ext cx="2629814" cy="667512"/>
          </a:xfrm>
          <a:prstGeom prst="roundRect">
            <a:avLst>
              <a:gd name="adj" fmla="val 10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610904" y="4443984"/>
            <a:ext cx="2629814" cy="667512"/>
          </a:xfrm>
          <a:prstGeom prst="roundRect">
            <a:avLst>
              <a:gd name="adj" fmla="val 10000"/>
            </a:avLst>
          </a:prstGeom>
          <a:solidFill>
            <a:srgbClr val="E8EFF8"/>
          </a:solidFill>
          <a:ln w="12700">
            <a:solidFill>
              <a:srgbClr val="B9CD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10904" y="2039112"/>
            <a:ext cx="2629814" cy="219456"/>
          </a:xfrm>
          <a:prstGeom prst="rect">
            <a:avLst/>
          </a:prstGeom>
          <a:noFill/>
        </p:spPr>
        <p:txBody>
          <a:bodyPr wrap="square" anchor="ctr" lIns="0" rIns="0" tIns="0" bIns="0">
            <a:spAutoFit/>
          </a:bodyPr>
          <a:lstStyle/>
          <a:p>
            <a:pPr algn="ctr">
              <a:lnSpc>
                <a:spcPct val="110000"/>
              </a:lnSpc>
              <a:spcAft>
                <a:spcPts val="0"/>
              </a:spcAft>
            </a:pPr>
            <a:r>
              <a:rPr sz="900" b="0" i="0">
                <a:solidFill>
                  <a:srgbClr val="4A5568"/>
                </a:solidFill>
                <a:latin typeface="Calibri"/>
                <a:ea typeface="Calibri"/>
              </a:rPr>
              <a:t>the container top is above the window now</a:t>
            </a:r>
          </a:p>
        </p:txBody>
      </p:sp>
      <p:sp>
        <p:nvSpPr>
          <p:cNvPr id="30" name="TextBox 29"/>
          <p:cNvSpPr txBox="1"/>
          <p:nvPr/>
        </p:nvSpPr>
        <p:spPr>
          <a:xfrm>
            <a:off x="8610904" y="5129784"/>
            <a:ext cx="2629814" cy="237744"/>
          </a:xfrm>
          <a:prstGeom prst="rect">
            <a:avLst/>
          </a:prstGeom>
          <a:noFill/>
        </p:spPr>
        <p:txBody>
          <a:bodyPr wrap="square" anchor="ctr" lIns="0" rIns="0" tIns="0" bIns="0">
            <a:spAutoFit/>
          </a:bodyPr>
          <a:lstStyle/>
          <a:p>
            <a:pPr algn="ctr">
              <a:lnSpc>
                <a:spcPct val="110000"/>
              </a:lnSpc>
              <a:spcAft>
                <a:spcPts val="0"/>
              </a:spcAft>
            </a:pPr>
            <a:r>
              <a:rPr sz="900" b="0" i="0">
                <a:solidFill>
                  <a:srgbClr val="4A5568"/>
                </a:solidFill>
                <a:latin typeface="Calibri"/>
                <a:ea typeface="Calibri"/>
              </a:rPr>
              <a:t>and it stops sticking when the container ends</a:t>
            </a:r>
          </a:p>
        </p:txBody>
      </p:sp>
      <p:sp>
        <p:nvSpPr>
          <p:cNvPr id="31" name="Rounded Rectangle 3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relative until the edge, then fixed — and only ever inside its container.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Position Cheatsheet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Positioning</a:t>
            </a:r>
          </a:p>
        </p:txBody>
      </p:sp>
      <p:sp>
        <p:nvSpPr>
          <p:cNvPr id="5" name="Rectangle 4"/>
          <p:cNvSpPr/>
          <p:nvPr/>
        </p:nvSpPr>
        <p:spPr>
          <a:xfrm>
            <a:off x="548640" y="932688"/>
            <a:ext cx="1713771"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1384587"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Value</a:t>
            </a:r>
          </a:p>
        </p:txBody>
      </p:sp>
      <p:sp>
        <p:nvSpPr>
          <p:cNvPr id="7" name="Rectangle 6"/>
          <p:cNvSpPr/>
          <p:nvPr/>
        </p:nvSpPr>
        <p:spPr>
          <a:xfrm>
            <a:off x="2262411" y="932688"/>
            <a:ext cx="4149130"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27003" y="932688"/>
            <a:ext cx="3819946"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Relative to</a:t>
            </a:r>
          </a:p>
        </p:txBody>
      </p:sp>
      <p:sp>
        <p:nvSpPr>
          <p:cNvPr id="9" name="Rectangle 8"/>
          <p:cNvSpPr/>
          <p:nvPr/>
        </p:nvSpPr>
        <p:spPr>
          <a:xfrm>
            <a:off x="6411542" y="932688"/>
            <a:ext cx="1533374"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6134" y="932688"/>
            <a:ext cx="1204190"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In flow?</a:t>
            </a:r>
          </a:p>
        </p:txBody>
      </p:sp>
      <p:sp>
        <p:nvSpPr>
          <p:cNvPr id="11" name="Rectangle 10"/>
          <p:cNvSpPr/>
          <p:nvPr/>
        </p:nvSpPr>
        <p:spPr>
          <a:xfrm>
            <a:off x="7944916" y="932688"/>
            <a:ext cx="3698138"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09508" y="932688"/>
            <a:ext cx="3368954"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Typical use</a:t>
            </a:r>
          </a:p>
        </p:txBody>
      </p:sp>
      <p:sp>
        <p:nvSpPr>
          <p:cNvPr id="13" name="Rectangle 12"/>
          <p:cNvSpPr/>
          <p:nvPr/>
        </p:nvSpPr>
        <p:spPr>
          <a:xfrm>
            <a:off x="548640" y="1444752"/>
            <a:ext cx="171377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44752"/>
            <a:ext cx="1384587"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static</a:t>
            </a:r>
          </a:p>
        </p:txBody>
      </p:sp>
      <p:sp>
        <p:nvSpPr>
          <p:cNvPr id="15" name="Rectangle 14"/>
          <p:cNvSpPr/>
          <p:nvPr/>
        </p:nvSpPr>
        <p:spPr>
          <a:xfrm>
            <a:off x="2262411" y="1444752"/>
            <a:ext cx="414913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27003" y="1444752"/>
            <a:ext cx="3819946"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a:t>
            </a:r>
          </a:p>
        </p:txBody>
      </p:sp>
      <p:sp>
        <p:nvSpPr>
          <p:cNvPr id="17" name="Rectangle 16"/>
          <p:cNvSpPr/>
          <p:nvPr/>
        </p:nvSpPr>
        <p:spPr>
          <a:xfrm>
            <a:off x="6411542" y="1444752"/>
            <a:ext cx="153337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76134" y="1444752"/>
            <a:ext cx="1204190"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yes</a:t>
            </a:r>
          </a:p>
        </p:txBody>
      </p:sp>
      <p:sp>
        <p:nvSpPr>
          <p:cNvPr id="19" name="Rectangle 18"/>
          <p:cNvSpPr/>
          <p:nvPr/>
        </p:nvSpPr>
        <p:spPr>
          <a:xfrm>
            <a:off x="7944916" y="1444752"/>
            <a:ext cx="369813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09508" y="1444752"/>
            <a:ext cx="3368954"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normal layout</a:t>
            </a:r>
          </a:p>
        </p:txBody>
      </p:sp>
      <p:sp>
        <p:nvSpPr>
          <p:cNvPr id="21" name="Rectangle 20"/>
          <p:cNvSpPr/>
          <p:nvPr/>
        </p:nvSpPr>
        <p:spPr>
          <a:xfrm>
            <a:off x="548640" y="2011680"/>
            <a:ext cx="171377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2011680"/>
            <a:ext cx="1384587"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relative</a:t>
            </a:r>
          </a:p>
        </p:txBody>
      </p:sp>
      <p:sp>
        <p:nvSpPr>
          <p:cNvPr id="23" name="Rectangle 22"/>
          <p:cNvSpPr/>
          <p:nvPr/>
        </p:nvSpPr>
        <p:spPr>
          <a:xfrm>
            <a:off x="2262411" y="2011680"/>
            <a:ext cx="4149130"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27003" y="2011680"/>
            <a:ext cx="3819946"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its normal position</a:t>
            </a:r>
          </a:p>
        </p:txBody>
      </p:sp>
      <p:sp>
        <p:nvSpPr>
          <p:cNvPr id="25" name="Rectangle 24"/>
          <p:cNvSpPr/>
          <p:nvPr/>
        </p:nvSpPr>
        <p:spPr>
          <a:xfrm>
            <a:off x="6411542" y="2011680"/>
            <a:ext cx="1533374"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76134" y="2011680"/>
            <a:ext cx="1204190"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yes</a:t>
            </a:r>
          </a:p>
        </p:txBody>
      </p:sp>
      <p:sp>
        <p:nvSpPr>
          <p:cNvPr id="27" name="Rectangle 26"/>
          <p:cNvSpPr/>
          <p:nvPr/>
        </p:nvSpPr>
        <p:spPr>
          <a:xfrm>
            <a:off x="7944916" y="2011680"/>
            <a:ext cx="369813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09508" y="2011680"/>
            <a:ext cx="3368954"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small nudges, anchor parent</a:t>
            </a:r>
          </a:p>
        </p:txBody>
      </p:sp>
      <p:sp>
        <p:nvSpPr>
          <p:cNvPr id="29" name="Rectangle 28"/>
          <p:cNvSpPr/>
          <p:nvPr/>
        </p:nvSpPr>
        <p:spPr>
          <a:xfrm>
            <a:off x="548640" y="2578608"/>
            <a:ext cx="171377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2578608"/>
            <a:ext cx="1384587"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absolute</a:t>
            </a:r>
          </a:p>
        </p:txBody>
      </p:sp>
      <p:sp>
        <p:nvSpPr>
          <p:cNvPr id="31" name="Rectangle 30"/>
          <p:cNvSpPr/>
          <p:nvPr/>
        </p:nvSpPr>
        <p:spPr>
          <a:xfrm>
            <a:off x="2262411" y="2578608"/>
            <a:ext cx="414913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427003" y="2578608"/>
            <a:ext cx="3819946"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nearest positioned ancestor</a:t>
            </a:r>
          </a:p>
        </p:txBody>
      </p:sp>
      <p:sp>
        <p:nvSpPr>
          <p:cNvPr id="33" name="Rectangle 32"/>
          <p:cNvSpPr/>
          <p:nvPr/>
        </p:nvSpPr>
        <p:spPr>
          <a:xfrm>
            <a:off x="6411542" y="2578608"/>
            <a:ext cx="153337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76134" y="2578608"/>
            <a:ext cx="1204190"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no</a:t>
            </a:r>
          </a:p>
        </p:txBody>
      </p:sp>
      <p:sp>
        <p:nvSpPr>
          <p:cNvPr id="35" name="Rectangle 34"/>
          <p:cNvSpPr/>
          <p:nvPr/>
        </p:nvSpPr>
        <p:spPr>
          <a:xfrm>
            <a:off x="7944916" y="2578608"/>
            <a:ext cx="369813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09508" y="2578608"/>
            <a:ext cx="3368954"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badges, overlays, dropdowns</a:t>
            </a:r>
          </a:p>
        </p:txBody>
      </p:sp>
      <p:sp>
        <p:nvSpPr>
          <p:cNvPr id="37" name="Rectangle 36"/>
          <p:cNvSpPr/>
          <p:nvPr/>
        </p:nvSpPr>
        <p:spPr>
          <a:xfrm>
            <a:off x="548640" y="3145536"/>
            <a:ext cx="171377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3232" y="3145536"/>
            <a:ext cx="1384587"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fixed</a:t>
            </a:r>
          </a:p>
        </p:txBody>
      </p:sp>
      <p:sp>
        <p:nvSpPr>
          <p:cNvPr id="39" name="Rectangle 38"/>
          <p:cNvSpPr/>
          <p:nvPr/>
        </p:nvSpPr>
        <p:spPr>
          <a:xfrm>
            <a:off x="2262411" y="3145536"/>
            <a:ext cx="4149130"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427003" y="3145536"/>
            <a:ext cx="3819946"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the viewport</a:t>
            </a:r>
          </a:p>
        </p:txBody>
      </p:sp>
      <p:sp>
        <p:nvSpPr>
          <p:cNvPr id="41" name="Rectangle 40"/>
          <p:cNvSpPr/>
          <p:nvPr/>
        </p:nvSpPr>
        <p:spPr>
          <a:xfrm>
            <a:off x="6411542" y="3145536"/>
            <a:ext cx="1533374"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76134" y="3145536"/>
            <a:ext cx="1204190"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no</a:t>
            </a:r>
          </a:p>
        </p:txBody>
      </p:sp>
      <p:sp>
        <p:nvSpPr>
          <p:cNvPr id="43" name="Rectangle 42"/>
          <p:cNvSpPr/>
          <p:nvPr/>
        </p:nvSpPr>
        <p:spPr>
          <a:xfrm>
            <a:off x="7944916" y="3145536"/>
            <a:ext cx="369813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09508" y="3145536"/>
            <a:ext cx="3368954"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sticky headers, back-to-top</a:t>
            </a:r>
          </a:p>
        </p:txBody>
      </p:sp>
      <p:sp>
        <p:nvSpPr>
          <p:cNvPr id="45" name="Rectangle 44"/>
          <p:cNvSpPr/>
          <p:nvPr/>
        </p:nvSpPr>
        <p:spPr>
          <a:xfrm>
            <a:off x="548640" y="3712464"/>
            <a:ext cx="171377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3232" y="3712464"/>
            <a:ext cx="1384587"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sticky</a:t>
            </a:r>
          </a:p>
        </p:txBody>
      </p:sp>
      <p:sp>
        <p:nvSpPr>
          <p:cNvPr id="47" name="Rectangle 46"/>
          <p:cNvSpPr/>
          <p:nvPr/>
        </p:nvSpPr>
        <p:spPr>
          <a:xfrm>
            <a:off x="2262411" y="3712464"/>
            <a:ext cx="414913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427003" y="3712464"/>
            <a:ext cx="3819946"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scroll position + container</a:t>
            </a:r>
          </a:p>
        </p:txBody>
      </p:sp>
      <p:sp>
        <p:nvSpPr>
          <p:cNvPr id="49" name="Rectangle 48"/>
          <p:cNvSpPr/>
          <p:nvPr/>
        </p:nvSpPr>
        <p:spPr>
          <a:xfrm>
            <a:off x="6411542" y="3712464"/>
            <a:ext cx="153337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576134" y="3712464"/>
            <a:ext cx="1204190"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yes</a:t>
            </a:r>
          </a:p>
        </p:txBody>
      </p:sp>
      <p:sp>
        <p:nvSpPr>
          <p:cNvPr id="51" name="Rectangle 50"/>
          <p:cNvSpPr/>
          <p:nvPr/>
        </p:nvSpPr>
        <p:spPr>
          <a:xfrm>
            <a:off x="7944916" y="3712464"/>
            <a:ext cx="369813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109508" y="3712464"/>
            <a:ext cx="3368954"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section headings, table heads</a:t>
            </a:r>
          </a:p>
        </p:txBody>
      </p:sp>
      <p:sp>
        <p:nvSpPr>
          <p:cNvPr id="53" name="Rounded Rectangle 52"/>
          <p:cNvSpPr/>
          <p:nvPr/>
        </p:nvSpPr>
        <p:spPr>
          <a:xfrm>
            <a:off x="548640" y="4462272"/>
            <a:ext cx="11094415" cy="6858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8680" y="4553712"/>
            <a:ext cx="10454335" cy="365760"/>
          </a:xfrm>
          <a:prstGeom prst="rect">
            <a:avLst/>
          </a:prstGeom>
          <a:noFill/>
        </p:spPr>
        <p:txBody>
          <a:bodyPr wrap="square" anchor="t" lIns="0" rIns="0" tIns="0" bIns="0">
            <a:spAutoFit/>
          </a:bodyPr>
          <a:lstStyle/>
          <a:p>
            <a:pPr algn="l">
              <a:lnSpc>
                <a:spcPct val="110000"/>
              </a:lnSpc>
              <a:spcAft>
                <a:spcPts val="400"/>
              </a:spcAft>
            </a:pPr>
            <a:r>
              <a:rPr sz="1450" b="1" i="0">
                <a:solidFill>
                  <a:srgbClr val="0E3F8C"/>
                </a:solidFill>
                <a:latin typeface="Calibri"/>
                <a:ea typeface="Calibri"/>
              </a:rPr>
              <a:t>In flow = it reserves its space; out of flow = others ignore 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z-index &amp; Stacking</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Positioning</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Layers on layers</a:t>
            </a:r>
            <a:br/>
            <a:r>
              <a:rPr sz="1350" b="0" i="0">
                <a:solidFill>
                  <a:srgbClr val="4A5568"/>
                </a:solidFill>
                <a:latin typeface="Calibri"/>
                <a:ea typeface="Calibri"/>
              </a:rPr>
              <a:t>Overlapping boxes need a rule for who is in front.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Higher wins</a:t>
            </a:r>
            <a:br/>
            <a:r>
              <a:rPr sz="1350" b="0" i="0">
                <a:solidFill>
                  <a:srgbClr val="4A5568"/>
                </a:solidFill>
                <a:latin typeface="Calibri"/>
                <a:ea typeface="Calibri"/>
              </a:rPr>
              <a:t>A bigger number is painted nearer the viewer.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Positioned only</a:t>
            </a:r>
            <a:br/>
            <a:r>
              <a:rPr sz="1350" b="0" i="0">
                <a:solidFill>
                  <a:srgbClr val="4A5568"/>
                </a:solidFill>
                <a:latin typeface="Calibri"/>
                <a:ea typeface="Calibri"/>
              </a:rPr>
              <a:t>A static box ignores z-index completely.</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Per stacking context</a:t>
            </a:r>
            <a:br/>
            <a:r>
              <a:rPr sz="1350" b="0" i="0">
                <a:solidFill>
                  <a:srgbClr val="4A5568"/>
                </a:solidFill>
                <a:latin typeface="Calibri"/>
                <a:ea typeface="Calibri"/>
              </a:rPr>
              <a:t>The number only competes inside one context.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Leave gaps</a:t>
            </a:r>
            <a:br/>
            <a:r>
              <a:rPr sz="1350" b="0" i="0">
                <a:solidFill>
                  <a:srgbClr val="4A5568"/>
                </a:solidFill>
                <a:latin typeface="Calibri"/>
                <a:ea typeface="Calibri"/>
              </a:rPr>
              <a:t>10 · 100 · 1000 leaves room to slot a layer in.</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the image sits behind the text */</a:t>
            </a:r>
          </a:p>
          <a:p>
            <a:pPr>
              <a:spcAft>
                <a:spcPts val="350"/>
              </a:spcAft>
            </a:pPr>
            <a:r>
              <a:rPr sz="1300" b="0" i="0">
                <a:solidFill>
                  <a:srgbClr val="61AFEF"/>
                </a:solidFill>
                <a:latin typeface="Consolas"/>
                <a:ea typeface="Consolas"/>
              </a:rPr>
              <a:t>img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position</a:t>
            </a:r>
            <a:r>
              <a:rPr sz="1300" b="0" i="0">
                <a:solidFill>
                  <a:srgbClr val="98C379"/>
                </a:solidFill>
                <a:latin typeface="Consolas"/>
                <a:ea typeface="Consolas"/>
              </a:rPr>
              <a:t>: absolute;</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left</a:t>
            </a:r>
            <a:r>
              <a:rPr sz="1300" b="0" i="0">
                <a:solidFill>
                  <a:srgbClr val="98C379"/>
                </a:solidFill>
                <a:latin typeface="Consolas"/>
                <a:ea typeface="Consolas"/>
              </a:rPr>
              <a:t>: 0px;</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top</a:t>
            </a:r>
            <a:r>
              <a:rPr sz="1300" b="0" i="0">
                <a:solidFill>
                  <a:srgbClr val="98C379"/>
                </a:solidFill>
                <a:latin typeface="Consolas"/>
                <a:ea typeface="Consolas"/>
              </a:rPr>
              <a:t>: 0px;</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z-index</a:t>
            </a:r>
            <a:r>
              <a:rPr sz="1300" b="0" i="0">
                <a:solidFill>
                  <a:srgbClr val="98C379"/>
                </a:solidFill>
                <a:latin typeface="Consolas"/>
                <a:ea typeface="Consolas"/>
              </a:rPr>
              <a:t>: -1;</a:t>
            </a:r>
          </a:p>
          <a:p>
            <a:pPr>
              <a:spcAft>
                <a:spcPts val="350"/>
              </a:spcAft>
            </a:pPr>
            <a:r>
              <a:rPr sz="1300" b="0" i="0">
                <a:solidFill>
                  <a:srgbClr val="61AFEF"/>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editor.html?example=css-layout/z-index</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Positioning lifts a box out of the flow; z-index decides who wins the overlap.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Flexbox</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500" b="1" i="0">
                <a:solidFill>
                  <a:srgbClr val="FFC107"/>
                </a:solidFill>
                <a:latin typeface="Calibri"/>
                <a:ea typeface="Calibri"/>
              </a:rPr>
              <a:t>SELF-STUDY</a:t>
            </a:r>
            <a:r>
              <a:rPr sz="1100" b="1" i="0">
                <a:solidFill>
                  <a:srgbClr val="B9CDEE"/>
                </a:solidFill>
                <a:latin typeface="Calibri"/>
                <a:ea typeface="Calibri"/>
              </a:rPr>
              <a:t> · Flexbox</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display: flex</a:t>
            </a:r>
            <a:br/>
            <a:r>
              <a:rPr sz="1350" b="0" i="0">
                <a:solidFill>
                  <a:srgbClr val="4A5568"/>
                </a:solidFill>
                <a:latin typeface="Calibri"/>
                <a:ea typeface="Calibri"/>
              </a:rPr>
              <a:t>One line turns a container's children into flex items.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flex-direction</a:t>
            </a:r>
            <a:br/>
            <a:r>
              <a:rPr sz="1350" b="0" i="0">
                <a:solidFill>
                  <a:srgbClr val="4A5568"/>
                </a:solidFill>
                <a:latin typeface="Calibri"/>
                <a:ea typeface="Calibri"/>
              </a:rPr>
              <a:t>row (default) · column · row-reverse — which way the axis runs.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justify-content · align-items</a:t>
            </a:r>
            <a:br/>
            <a:r>
              <a:rPr sz="1350" b="0" i="0">
                <a:solidFill>
                  <a:srgbClr val="4A5568"/>
                </a:solidFill>
                <a:latin typeface="Calibri"/>
                <a:ea typeface="Calibri"/>
              </a:rPr>
              <a:t>Spread the items along the axis, then line them up across it.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gap · flex-wrap</a:t>
            </a:r>
            <a:br/>
            <a:r>
              <a:rPr sz="1350" b="0" i="0">
                <a:solidFill>
                  <a:srgbClr val="4A5568"/>
                </a:solidFill>
                <a:latin typeface="Calibri"/>
                <a:ea typeface="Calibri"/>
              </a:rPr>
              <a:t>The space between items; wrap moves the overflow onto a new line.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flex: 1</a:t>
            </a:r>
            <a:br/>
            <a:r>
              <a:rPr sz="1350" b="0" i="0">
                <a:solidFill>
                  <a:srgbClr val="4A5568"/>
                </a:solidFill>
                <a:latin typeface="Calibri"/>
                <a:ea typeface="Calibri"/>
              </a:rPr>
              <a:t>Equal shares of the free space — the classic equal-columns trick.</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One axis only</a:t>
            </a:r>
            <a:br/>
            <a:r>
              <a:rPr sz="1350" b="0" i="0">
                <a:solidFill>
                  <a:srgbClr val="4A5568"/>
                </a:solidFill>
                <a:latin typeface="Calibri"/>
                <a:ea typeface="Calibri"/>
              </a:rPr>
              <a:t>Nav bars, card rows, centring. Rows AND columns → Grid, next page.</a:t>
            </a:r>
          </a:p>
        </p:txBody>
      </p:sp>
      <p:sp>
        <p:nvSpPr>
          <p:cNvPr id="6" name="Rounded Rectangle 5"/>
          <p:cNvSpPr/>
          <p:nvPr/>
        </p:nvSpPr>
        <p:spPr>
          <a:xfrm>
            <a:off x="5836615" y="978408"/>
            <a:ext cx="5806440" cy="3310127"/>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2651759"/>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one line makes the children flex items */</a:t>
            </a:r>
          </a:p>
          <a:p>
            <a:pPr>
              <a:spcAft>
                <a:spcPts val="350"/>
              </a:spcAft>
            </a:pPr>
            <a:r>
              <a:rPr sz="1300" b="0" i="0">
                <a:solidFill>
                  <a:srgbClr val="61AFEF"/>
                </a:solidFill>
                <a:latin typeface="Consolas"/>
                <a:ea typeface="Consolas"/>
              </a:rPr>
              <a:t>.row { </a:t>
            </a:r>
            <a:r>
              <a:rPr sz="1300" b="0" i="0">
                <a:solidFill>
                  <a:srgbClr val="E5C07B"/>
                </a:solidFill>
                <a:latin typeface="Consolas"/>
                <a:ea typeface="Consolas"/>
              </a:rPr>
              <a:t>display</a:t>
            </a:r>
            <a:r>
              <a:rPr sz="1300" b="0" i="0">
                <a:solidFill>
                  <a:srgbClr val="98C379"/>
                </a:solidFill>
                <a:latin typeface="Consolas"/>
                <a:ea typeface="Consolas"/>
              </a:rPr>
              <a:t>: flex;  </a:t>
            </a:r>
            <a:r>
              <a:rPr sz="1300" b="0" i="0">
                <a:solidFill>
                  <a:srgbClr val="E5C07B"/>
                </a:solidFill>
                <a:latin typeface="Consolas"/>
                <a:ea typeface="Consolas"/>
              </a:rPr>
              <a:t>gap</a:t>
            </a:r>
            <a:r>
              <a:rPr sz="1300" b="0" i="0">
                <a:solidFill>
                  <a:srgbClr val="98C379"/>
                </a:solidFill>
                <a:latin typeface="Consolas"/>
                <a:ea typeface="Consolas"/>
              </a:rPr>
              <a:t>: 16px; }</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equal columns that wrap when the row fills up */</a:t>
            </a:r>
          </a:p>
          <a:p>
            <a:pPr>
              <a:spcAft>
                <a:spcPts val="350"/>
              </a:spcAft>
            </a:pPr>
            <a:r>
              <a:rPr sz="1300" b="0" i="0">
                <a:solidFill>
                  <a:srgbClr val="61AFEF"/>
                </a:solidFill>
                <a:latin typeface="Consolas"/>
                <a:ea typeface="Consolas"/>
              </a:rPr>
              <a:t>.row &gt; * { </a:t>
            </a:r>
            <a:r>
              <a:rPr sz="1300" b="0" i="0">
                <a:solidFill>
                  <a:srgbClr val="E5C07B"/>
                </a:solidFill>
                <a:latin typeface="Consolas"/>
                <a:ea typeface="Consolas"/>
              </a:rPr>
              <a:t>flex</a:t>
            </a:r>
            <a:r>
              <a:rPr sz="1300" b="0" i="0">
                <a:solidFill>
                  <a:srgbClr val="98C379"/>
                </a:solidFill>
                <a:latin typeface="Consolas"/>
                <a:ea typeface="Consolas"/>
              </a:rPr>
              <a:t>: 1 1 220px; }</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centring a child, without magic numbers */</a:t>
            </a:r>
          </a:p>
          <a:p>
            <a:pPr>
              <a:spcAft>
                <a:spcPts val="350"/>
              </a:spcAft>
            </a:pPr>
            <a:r>
              <a:rPr sz="1300" b="0" i="0">
                <a:solidFill>
                  <a:srgbClr val="61AFEF"/>
                </a:solidFill>
                <a:latin typeface="Consolas"/>
                <a:ea typeface="Consolas"/>
              </a:rPr>
              <a:t>.hero { </a:t>
            </a:r>
            <a:r>
              <a:rPr sz="1300" b="0" i="0">
                <a:solidFill>
                  <a:srgbClr val="E5C07B"/>
                </a:solidFill>
                <a:latin typeface="Consolas"/>
                <a:ea typeface="Consolas"/>
              </a:rPr>
              <a:t>display</a:t>
            </a:r>
            <a:r>
              <a:rPr sz="1300" b="0" i="0">
                <a:solidFill>
                  <a:srgbClr val="98C379"/>
                </a:solidFill>
                <a:latin typeface="Consolas"/>
                <a:ea typeface="Consolas"/>
              </a:rPr>
              <a:t>: flex;  </a:t>
            </a:r>
            <a:r>
              <a:rPr sz="1300" b="0" i="0">
                <a:solidFill>
                  <a:srgbClr val="E5C07B"/>
                </a:solidFill>
                <a:latin typeface="Consolas"/>
                <a:ea typeface="Consolas"/>
              </a:rPr>
              <a:t>align-items</a:t>
            </a:r>
            <a:r>
              <a:rPr sz="1300" b="0" i="0">
                <a:solidFill>
                  <a:srgbClr val="98C379"/>
                </a:solidFill>
                <a:latin typeface="Consolas"/>
                <a:ea typeface="Consolas"/>
              </a:rPr>
              <a:t>: center; }</a:t>
            </a:r>
          </a:p>
        </p:txBody>
      </p:sp>
      <p:sp>
        <p:nvSpPr>
          <p:cNvPr id="9" name="Rounded Rectangle 8"/>
          <p:cNvSpPr/>
          <p:nvPr/>
        </p:nvSpPr>
        <p:spPr>
          <a:xfrm>
            <a:off x="5836615" y="4453127"/>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571999"/>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editor.html?example=css-layout/flexbox</a:t>
            </a:r>
          </a:p>
        </p:txBody>
      </p:sp>
      <p:sp>
        <p:nvSpPr>
          <p:cNvPr id="11" name="Rounded Rectangle 10"/>
          <p:cNvSpPr/>
          <p:nvPr/>
        </p:nvSpPr>
        <p:spPr>
          <a:xfrm>
            <a:off x="5836615" y="5010911"/>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2647" y="5129783"/>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W3Schools →  </a:t>
            </a:r>
            <a:r>
              <a:rPr sz="1050" b="0" i="0">
                <a:solidFill>
                  <a:srgbClr val="3D7BD9"/>
                </a:solidFill>
                <a:latin typeface="Consolas"/>
                <a:ea typeface="Consolas"/>
                <a:hlinkClick r:id="rId3"/>
                <a:extLst>
                  <a:ext uri="{A12FA001-AC4F-418D-AE19-62706E023703}">
                    <ahyp:hlinkClr xmlns:ahyp="http://schemas.microsoft.com/office/drawing/2018/hyperlinkcolor" val="tx"/>
                  </a:ext>
                </a:extLst>
              </a:rPr>
              <a:t>w3schools.com/css/css3_flexbox.asp</a:t>
            </a:r>
          </a:p>
        </p:txBody>
      </p:sp>
      <p:sp>
        <p:nvSpPr>
          <p:cNvPr id="13" name="Rounded Rectangle 12"/>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Self-study — run the example, then read the W3Schools page.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CSS Grid</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500" b="1" i="0">
                <a:solidFill>
                  <a:srgbClr val="FFC107"/>
                </a:solidFill>
                <a:latin typeface="Calibri"/>
                <a:ea typeface="Calibri"/>
              </a:rPr>
              <a:t>SELF-STUDY</a:t>
            </a:r>
            <a:r>
              <a:rPr sz="1100" b="1" i="0">
                <a:solidFill>
                  <a:srgbClr val="B9CDEE"/>
                </a:solidFill>
                <a:latin typeface="Calibri"/>
                <a:ea typeface="Calibri"/>
              </a:rPr>
              <a:t> · Grid</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display: grid</a:t>
            </a:r>
            <a:br/>
            <a:r>
              <a:rPr sz="1350" b="0" i="0">
                <a:solidFill>
                  <a:srgbClr val="4A5568"/>
                </a:solidFill>
                <a:latin typeface="Calibri"/>
                <a:ea typeface="Calibri"/>
              </a:rPr>
              <a:t>A container whose children go into rows AND columns at once.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grid-template-columns</a:t>
            </a:r>
            <a:br/>
            <a:r>
              <a:rPr sz="1350" b="0" i="0">
                <a:solidFill>
                  <a:srgbClr val="4A5568"/>
                </a:solidFill>
                <a:latin typeface="Calibri"/>
                <a:ea typeface="Calibri"/>
              </a:rPr>
              <a:t>How many columns and how wide: repeat(3, 1fr), 1fr 3fr.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fr</a:t>
            </a:r>
            <a:br/>
            <a:r>
              <a:rPr sz="1350" b="0" i="0">
                <a:solidFill>
                  <a:srgbClr val="4A5568"/>
                </a:solidFill>
                <a:latin typeface="Calibri"/>
                <a:ea typeface="Calibri"/>
              </a:rPr>
              <a:t>One equal share of the space that is left — columns follow the container.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minmax() + auto-fit</a:t>
            </a:r>
            <a:br/>
            <a:r>
              <a:rPr sz="1350" b="0" i="0">
                <a:solidFill>
                  <a:srgbClr val="4A5568"/>
                </a:solidFill>
                <a:latin typeface="Calibri"/>
                <a:ea typeface="Calibri"/>
              </a:rPr>
              <a:t>repeat(auto-fit, minmax(220px, 1fr)) — as many columns as fit.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gap</a:t>
            </a:r>
            <a:br/>
            <a:r>
              <a:rPr sz="1350" b="0" i="0">
                <a:solidFill>
                  <a:srgbClr val="4A5568"/>
                </a:solidFill>
                <a:latin typeface="Calibri"/>
                <a:ea typeface="Calibri"/>
              </a:rPr>
              <a:t>The gutter between the rows and the columns, in one declaration.</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Grid or Flexbox?</a:t>
            </a:r>
            <a:br/>
            <a:r>
              <a:rPr sz="1350" b="0" i="0">
                <a:solidFill>
                  <a:srgbClr val="4A5568"/>
                </a:solidFill>
                <a:latin typeface="Calibri"/>
                <a:ea typeface="Calibri"/>
              </a:rPr>
              <a:t>Two dimensions → Grid. A single line of items → Flexbox.</a:t>
            </a:r>
          </a:p>
        </p:txBody>
      </p:sp>
      <p:sp>
        <p:nvSpPr>
          <p:cNvPr id="6" name="Rounded Rectangle 5"/>
          <p:cNvSpPr/>
          <p:nvPr/>
        </p:nvSpPr>
        <p:spPr>
          <a:xfrm>
            <a:off x="5836615" y="978408"/>
            <a:ext cx="5806440" cy="3310127"/>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2651759"/>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three equal columns that follow the container */</a:t>
            </a:r>
          </a:p>
          <a:p>
            <a:pPr>
              <a:spcAft>
                <a:spcPts val="350"/>
              </a:spcAft>
            </a:pPr>
            <a:r>
              <a:rPr sz="1300" b="0" i="0">
                <a:solidFill>
                  <a:srgbClr val="61AFEF"/>
                </a:solidFill>
                <a:latin typeface="Consolas"/>
                <a:ea typeface="Consolas"/>
              </a:rPr>
              <a:t>.cards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display</a:t>
            </a:r>
            <a:r>
              <a:rPr sz="1300" b="0" i="0">
                <a:solidFill>
                  <a:srgbClr val="98C379"/>
                </a:solidFill>
                <a:latin typeface="Consolas"/>
                <a:ea typeface="Consolas"/>
              </a:rPr>
              <a:t>: grid;</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grid-template-columns</a:t>
            </a:r>
            <a:r>
              <a:rPr sz="1300" b="0" i="0">
                <a:solidFill>
                  <a:srgbClr val="98C379"/>
                </a:solidFill>
                <a:latin typeface="Consolas"/>
                <a:ea typeface="Consolas"/>
              </a:rPr>
              <a:t>: repeat(3, 1fr);</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gap</a:t>
            </a:r>
            <a:r>
              <a:rPr sz="1300" b="0" i="0">
                <a:solidFill>
                  <a:srgbClr val="98C379"/>
                </a:solidFill>
                <a:latin typeface="Consolas"/>
                <a:ea typeface="Consolas"/>
              </a:rPr>
              <a:t>: 16px;</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a page shell: one narrow column, one wide */</a:t>
            </a:r>
          </a:p>
          <a:p>
            <a:pPr>
              <a:spcAft>
                <a:spcPts val="350"/>
              </a:spcAft>
            </a:pPr>
            <a:r>
              <a:rPr sz="1300" b="0" i="0">
                <a:solidFill>
                  <a:srgbClr val="61AFEF"/>
                </a:solidFill>
                <a:latin typeface="Consolas"/>
                <a:ea typeface="Consolas"/>
              </a:rPr>
              <a:t>.page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display</a:t>
            </a:r>
            <a:r>
              <a:rPr sz="1300" b="0" i="0">
                <a:solidFill>
                  <a:srgbClr val="98C379"/>
                </a:solidFill>
                <a:latin typeface="Consolas"/>
                <a:ea typeface="Consolas"/>
              </a:rPr>
              <a:t>: grid;</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grid-template-columns</a:t>
            </a:r>
            <a:r>
              <a:rPr sz="1300" b="0" i="0">
                <a:solidFill>
                  <a:srgbClr val="98C379"/>
                </a:solidFill>
                <a:latin typeface="Consolas"/>
                <a:ea typeface="Consolas"/>
              </a:rPr>
              <a:t>: 1fr 3fr; }</a:t>
            </a:r>
          </a:p>
        </p:txBody>
      </p:sp>
      <p:sp>
        <p:nvSpPr>
          <p:cNvPr id="9" name="Rounded Rectangle 8"/>
          <p:cNvSpPr/>
          <p:nvPr/>
        </p:nvSpPr>
        <p:spPr>
          <a:xfrm>
            <a:off x="5836615" y="4453127"/>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571999"/>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editor.html?example=css-layout/grid</a:t>
            </a:r>
          </a:p>
        </p:txBody>
      </p:sp>
      <p:sp>
        <p:nvSpPr>
          <p:cNvPr id="11" name="Rounded Rectangle 10"/>
          <p:cNvSpPr/>
          <p:nvPr/>
        </p:nvSpPr>
        <p:spPr>
          <a:xfrm>
            <a:off x="5836615" y="5010911"/>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2647" y="5129783"/>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W3Schools →  </a:t>
            </a:r>
            <a:r>
              <a:rPr sz="1050" b="0" i="0">
                <a:solidFill>
                  <a:srgbClr val="3D7BD9"/>
                </a:solidFill>
                <a:latin typeface="Consolas"/>
                <a:ea typeface="Consolas"/>
                <a:hlinkClick r:id="rId3"/>
                <a:extLst>
                  <a:ext uri="{A12FA001-AC4F-418D-AE19-62706E023703}">
                    <ahyp:hlinkClr xmlns:ahyp="http://schemas.microsoft.com/office/drawing/2018/hyperlinkcolor" val="tx"/>
                  </a:ext>
                </a:extLst>
              </a:rPr>
              <a:t>w3schools.com/css/css_grid.asp</a:t>
            </a:r>
          </a:p>
        </p:txBody>
      </p:sp>
      <p:sp>
        <p:nvSpPr>
          <p:cNvPr id="13" name="Rounded Rectangle 12"/>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Self-study — run the example, then read the W3Schools page.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Responsive Web Design</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Responsive</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One page, every screen</a:t>
            </a:r>
            <a:br/>
            <a:r>
              <a:rPr sz="1350" b="0" i="0">
                <a:solidFill>
                  <a:srgbClr val="4A5568"/>
                </a:solidFill>
                <a:latin typeface="Calibri"/>
                <a:ea typeface="Calibri"/>
              </a:rPr>
              <a:t>Not a separate mobile site — the same HTML, restyled by the </a:t>
            </a:r>
            <a:r>
              <a:rPr sz="1350" b="0" i="0">
                <a:solidFill>
                  <a:srgbClr val="B8860B"/>
                </a:solidFill>
                <a:latin typeface="Consolas"/>
                <a:ea typeface="Consolas"/>
              </a:rPr>
              <a:t>width</a:t>
            </a:r>
            <a:r>
              <a:rPr sz="1350" b="0" i="0">
                <a:solidFill>
                  <a:srgbClr val="4A5568"/>
                </a:solidFill>
                <a:latin typeface="Calibri"/>
                <a:ea typeface="Calibri"/>
              </a:rPr>
              <a:t> it is given.</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The viewport tag comes first</a:t>
            </a:r>
            <a:br/>
            <a:r>
              <a:rPr sz="1350" b="0" i="0">
                <a:solidFill>
                  <a:srgbClr val="4A5568"/>
                </a:solidFill>
                <a:latin typeface="Calibri"/>
                <a:ea typeface="Calibri"/>
              </a:rPr>
              <a:t>Without it a phone pretends to be 980px wide and zooms the page out.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Fluid, not fixed</a:t>
            </a:r>
            <a:br/>
            <a:r>
              <a:rPr sz="1350" b="0" i="0">
                <a:solidFill>
                  <a:srgbClr val="4A5568"/>
                </a:solidFill>
                <a:latin typeface="Calibri"/>
                <a:ea typeface="Calibri"/>
              </a:rPr>
              <a:t>Percentages, max-width: 100%, and text that reflows instead of clipping.</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Breakpoints from the content</a:t>
            </a:r>
            <a:br/>
            <a:r>
              <a:rPr sz="1350" b="0" i="0">
                <a:solidFill>
                  <a:srgbClr val="4A5568"/>
                </a:solidFill>
                <a:latin typeface="Calibri"/>
                <a:ea typeface="Calibri"/>
              </a:rPr>
              <a:t>Not from device </a:t>
            </a:r>
            <a:r>
              <a:rPr sz="1350" b="0" i="0">
                <a:solidFill>
                  <a:srgbClr val="B8860B"/>
                </a:solidFill>
                <a:latin typeface="Consolas"/>
                <a:ea typeface="Consolas"/>
              </a:rPr>
              <a:t>sizes</a:t>
            </a:r>
            <a:r>
              <a:rPr sz="1350" b="0" i="0">
                <a:solidFill>
                  <a:srgbClr val="4A5568"/>
                </a:solidFill>
                <a:latin typeface="Calibri"/>
                <a:ea typeface="Calibri"/>
              </a:rPr>
              <a:t> — switch where the layout starts to look wrong.</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Layout that stretches is free</a:t>
            </a:r>
            <a:br/>
            <a:r>
              <a:rPr sz="1350" b="0" i="0">
                <a:solidFill>
                  <a:srgbClr val="4A5568"/>
                </a:solidFill>
                <a:latin typeface="Calibri"/>
                <a:ea typeface="Calibri"/>
              </a:rPr>
              <a:t>Normal flow and wrapping rows adapt on their own; queries do the rest.</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&lt;!-- one line, and the phone stops lying --&gt;</a:t>
            </a:r>
          </a:p>
          <a:p>
            <a:pPr>
              <a:spcAft>
                <a:spcPts val="350"/>
              </a:spcAft>
            </a:pPr>
            <a:r>
              <a:rPr sz="1300" b="0" i="0">
                <a:solidFill>
                  <a:srgbClr val="61AFEF"/>
                </a:solidFill>
                <a:latin typeface="Consolas"/>
                <a:ea typeface="Consolas"/>
              </a:rPr>
              <a:t>&lt;meta name="viewport"</a:t>
            </a:r>
          </a:p>
          <a:p>
            <a:pPr>
              <a:spcAft>
                <a:spcPts val="350"/>
              </a:spcAft>
            </a:pPr>
            <a:r>
              <a:rPr sz="1300" b="0" i="0">
                <a:solidFill>
                  <a:srgbClr val="98C379"/>
                </a:solidFill>
                <a:latin typeface="Consolas"/>
                <a:ea typeface="Consolas"/>
              </a:rPr>
              <a:t>      content="width=device-width, initial-scale=1"&gt;</a:t>
            </a:r>
          </a:p>
          <a:p>
            <a:pPr>
              <a:spcAft>
                <a:spcPts val="350"/>
              </a:spcAft>
            </a:pPr>
            <a:r>
              <a:rPr sz="1300" b="0" i="0">
                <a:solidFill>
                  <a:srgbClr val="7F8C98"/>
                </a:solidFill>
                <a:latin typeface="Consolas"/>
                <a:ea typeface="Consolas"/>
              </a:rPr>
              <a:t/>
            </a:r>
          </a:p>
          <a:p>
            <a:pPr>
              <a:spcAft>
                <a:spcPts val="350"/>
              </a:spcAft>
            </a:pPr>
            <a:r>
              <a:rPr sz="1300" b="0" i="0">
                <a:solidFill>
                  <a:srgbClr val="98C379"/>
                </a:solidFill>
                <a:latin typeface="Consolas"/>
                <a:ea typeface="Consolas"/>
              </a:rPr>
              <a:t>img { max-width: 100%; height: auto; }</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a fluid row — no media query needed */</a:t>
            </a:r>
          </a:p>
          <a:p>
            <a:pPr>
              <a:spcAft>
                <a:spcPts val="350"/>
              </a:spcAft>
            </a:pPr>
            <a:r>
              <a:rPr sz="1300" b="0" i="0">
                <a:solidFill>
                  <a:srgbClr val="61AFEF"/>
                </a:solidFill>
                <a:latin typeface="Consolas"/>
                <a:ea typeface="Consolas"/>
              </a:rPr>
              <a:t>.cards { display: flex; flex-wrap: wrap; }</a:t>
            </a:r>
          </a:p>
          <a:p>
            <a:pPr>
              <a:spcAft>
                <a:spcPts val="350"/>
              </a:spcAft>
            </a:pPr>
            <a:r>
              <a:rPr sz="1300" b="0" i="0">
                <a:solidFill>
                  <a:srgbClr val="98C379"/>
                </a:solidFill>
                <a:latin typeface="Consolas"/>
                <a:ea typeface="Consolas"/>
              </a:rPr>
              <a:t>.cards &gt; * { flex: 1 1 220px;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editor.html?example=css-layout/responsive</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Responsive design is one document plus rules that adapt — media queries are the half that reacts.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Media Queries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Media Queries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@media</a:t>
            </a:r>
            <a:br/>
            <a:r>
              <a:rPr sz="1350" b="0" i="0">
                <a:solidFill>
                  <a:srgbClr val="4A5568"/>
                </a:solidFill>
                <a:latin typeface="Calibri"/>
                <a:ea typeface="Calibri"/>
              </a:rPr>
              <a:t>The rule that wraps the conditional styles.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min-width</a:t>
            </a:r>
            <a:br/>
            <a:r>
              <a:rPr sz="1350" b="0" i="0">
                <a:solidFill>
                  <a:srgbClr val="4A5568"/>
                </a:solidFill>
                <a:latin typeface="Calibri"/>
                <a:ea typeface="Calibri"/>
              </a:rPr>
              <a:t>600px · 768px · 992px · 1200px — from this </a:t>
            </a:r>
            <a:r>
              <a:rPr sz="1350" b="0" i="0">
                <a:solidFill>
                  <a:srgbClr val="B8860B"/>
                </a:solidFill>
                <a:latin typeface="Consolas"/>
                <a:ea typeface="Consolas"/>
              </a:rPr>
              <a:t>width</a:t>
            </a:r>
            <a:r>
              <a:rPr sz="1350" b="0" i="0">
                <a:solidFill>
                  <a:srgbClr val="4A5568"/>
                </a:solidFill>
                <a:latin typeface="Calibri"/>
                <a:ea typeface="Calibri"/>
              </a:rPr>
              <a:t> up.</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max-width</a:t>
            </a:r>
            <a:br/>
            <a:r>
              <a:rPr sz="1350" b="0" i="0">
                <a:solidFill>
                  <a:srgbClr val="4A5568"/>
                </a:solidFill>
                <a:latin typeface="Calibri"/>
                <a:ea typeface="Calibri"/>
              </a:rPr>
              <a:t>600px · 992px — up to this </a:t>
            </a:r>
            <a:r>
              <a:rPr sz="1350" b="0" i="0">
                <a:solidFill>
                  <a:srgbClr val="B8860B"/>
                </a:solidFill>
                <a:latin typeface="Consolas"/>
                <a:ea typeface="Consolas"/>
              </a:rPr>
              <a:t>width</a:t>
            </a:r>
            <a:r>
              <a:rPr sz="1350" b="0" i="0">
                <a:solidFill>
                  <a:srgbClr val="4A5568"/>
                </a:solidFill>
                <a:latin typeface="Calibri"/>
                <a:ea typeface="Calibri"/>
              </a:rPr>
              <a:t>; see the next page.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media types</a:t>
            </a:r>
            <a:br/>
            <a:r>
              <a:rPr sz="1350" b="0" i="0">
                <a:solidFill>
                  <a:srgbClr val="4A5568"/>
                </a:solidFill>
                <a:latin typeface="Calibri"/>
                <a:ea typeface="Calibri"/>
              </a:rPr>
              <a:t>screen (the usual) · print · all — optional, before the feature.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Any other feature</a:t>
            </a:r>
            <a:br/>
            <a:r>
              <a:rPr sz="1350" b="0" i="0">
                <a:solidFill>
                  <a:srgbClr val="4A5568"/>
                </a:solidFill>
                <a:latin typeface="Calibri"/>
                <a:ea typeface="Calibri"/>
              </a:rPr>
              <a:t>orientation: landscape · prefers-color-scheme: dark.</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base styles — every screen */</a:t>
            </a:r>
          </a:p>
          <a:p>
            <a:pPr>
              <a:spcAft>
                <a:spcPts val="350"/>
              </a:spcAft>
            </a:pPr>
            <a:r>
              <a:rPr sz="1300" b="0" i="0">
                <a:solidFill>
                  <a:srgbClr val="98C379"/>
                </a:solidFill>
                <a:latin typeface="Consolas"/>
                <a:ea typeface="Consolas"/>
              </a:rPr>
              <a:t>body { font-size: 16px; }</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from 768px wide, and up */</a:t>
            </a:r>
          </a:p>
          <a:p>
            <a:pPr>
              <a:spcAft>
                <a:spcPts val="350"/>
              </a:spcAft>
            </a:pPr>
            <a:r>
              <a:rPr sz="1300" b="0" i="0">
                <a:solidFill>
                  <a:srgbClr val="61AFEF"/>
                </a:solidFill>
                <a:latin typeface="Consolas"/>
                <a:ea typeface="Consolas"/>
              </a:rPr>
              <a:t>@media (min-width: 768px) {</a:t>
            </a:r>
          </a:p>
          <a:p>
            <a:pPr>
              <a:spcAft>
                <a:spcPts val="350"/>
              </a:spcAft>
            </a:pPr>
            <a:r>
              <a:rPr sz="1300" b="0" i="0">
                <a:solidFill>
                  <a:srgbClr val="E5C07B"/>
                </a:solidFill>
                <a:latin typeface="Consolas"/>
                <a:ea typeface="Consolas"/>
              </a:rPr>
              <a:t>  body { font-size: 18px; }</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only when the screen is 600px or less */</a:t>
            </a:r>
          </a:p>
          <a:p>
            <a:pPr>
              <a:spcAft>
                <a:spcPts val="350"/>
              </a:spcAft>
            </a:pPr>
            <a:r>
              <a:rPr sz="1300" b="0" i="0">
                <a:solidFill>
                  <a:srgbClr val="61AFEF"/>
                </a:solidFill>
                <a:latin typeface="Consolas"/>
                <a:ea typeface="Consolas"/>
              </a:rPr>
              <a:t>@media (max-width: 600px) {</a:t>
            </a:r>
          </a:p>
          <a:p>
            <a:pPr>
              <a:spcAft>
                <a:spcPts val="350"/>
              </a:spcAft>
            </a:pPr>
            <a:r>
              <a:rPr sz="1300" b="0" i="0">
                <a:solidFill>
                  <a:srgbClr val="E5C07B"/>
                </a:solidFill>
                <a:latin typeface="Consolas"/>
                <a:ea typeface="Consolas"/>
              </a:rPr>
              <a:t>  .card { padding: 8px; }</a:t>
            </a:r>
          </a:p>
          <a:p>
            <a:pPr>
              <a:spcAft>
                <a:spcPts val="350"/>
              </a:spcAft>
            </a:pPr>
            <a:r>
              <a:rPr sz="1300" b="0" i="0">
                <a:solidFill>
                  <a:srgbClr val="61AFEF"/>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editor.html?example=css-layout/responsive</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Media queries switch styles at breakpoints — and / or / not combine the conditions (next page).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Media Query Operators — and · or · not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Media Queries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and</a:t>
            </a:r>
            <a:br/>
            <a:r>
              <a:rPr sz="1350" b="0" i="0">
                <a:solidFill>
                  <a:srgbClr val="4A5568"/>
                </a:solidFill>
                <a:latin typeface="Calibri"/>
                <a:ea typeface="Calibri"/>
              </a:rPr>
              <a:t>Both conditions must be true — (min-width: 768px) and (orientation: landscape).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comma  ( , )</a:t>
            </a:r>
            <a:br/>
            <a:r>
              <a:rPr sz="1350" b="0" i="0">
                <a:solidFill>
                  <a:srgbClr val="4A5568"/>
                </a:solidFill>
                <a:latin typeface="Calibri"/>
                <a:ea typeface="Calibri"/>
              </a:rPr>
              <a:t>A list of queries: it matches if ANY of them does. This is the original OR.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or</a:t>
            </a:r>
            <a:br/>
            <a:r>
              <a:rPr sz="1350" b="0" i="0">
                <a:solidFill>
                  <a:srgbClr val="4A5568"/>
                </a:solidFill>
                <a:latin typeface="Calibri"/>
                <a:ea typeface="Calibri"/>
              </a:rPr>
              <a:t>The same meaning as the comma, written out — a Media Queries 4 keyword.</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not</a:t>
            </a:r>
            <a:br/>
            <a:r>
              <a:rPr sz="1350" b="0" i="0">
                <a:solidFill>
                  <a:srgbClr val="4A5568"/>
                </a:solidFill>
                <a:latin typeface="Calibri"/>
                <a:ea typeface="Calibri"/>
              </a:rPr>
              <a:t>Reverses the whole query: not (orientation: landscape) means portrait.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only</a:t>
            </a:r>
            <a:br/>
            <a:r>
              <a:rPr sz="1350" b="0" i="0">
                <a:solidFill>
                  <a:srgbClr val="4A5568"/>
                </a:solidFill>
                <a:latin typeface="Calibri"/>
                <a:ea typeface="Calibri"/>
              </a:rPr>
              <a:t>A guard for browsers that never understood media features — harmless today.</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Support</a:t>
            </a:r>
            <a:br/>
            <a:r>
              <a:rPr sz="1350" b="0" i="0">
                <a:solidFill>
                  <a:srgbClr val="4A5568"/>
                </a:solidFill>
                <a:latin typeface="Calibri"/>
                <a:ea typeface="Calibri"/>
              </a:rPr>
              <a:t>and · comma · not: everywhere. or · range syntax (</a:t>
            </a:r>
            <a:r>
              <a:rPr sz="1350" b="0" i="0">
                <a:solidFill>
                  <a:srgbClr val="B8860B"/>
                </a:solidFill>
                <a:latin typeface="Consolas"/>
                <a:ea typeface="Consolas"/>
              </a:rPr>
              <a:t>width</a:t>
            </a:r>
            <a:r>
              <a:rPr sz="1350" b="0" i="0">
                <a:solidFill>
                  <a:srgbClr val="4A5568"/>
                </a:solidFill>
                <a:latin typeface="Calibri"/>
                <a:ea typeface="Calibri"/>
              </a:rPr>
              <a:t> &gt;= 768px): Chrome 104+ · Firefox 102+ · Safari 16.4+ (2022–23).</a:t>
            </a:r>
          </a:p>
        </p:txBody>
      </p:sp>
      <p:sp>
        <p:nvSpPr>
          <p:cNvPr id="6" name="Rounded Rectangle 5"/>
          <p:cNvSpPr/>
          <p:nvPr/>
        </p:nvSpPr>
        <p:spPr>
          <a:xfrm>
            <a:off x="5836615" y="978408"/>
            <a:ext cx="580644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AND — both conditions must be true */</a:t>
            </a:r>
          </a:p>
          <a:p>
            <a:pPr>
              <a:spcAft>
                <a:spcPts val="350"/>
              </a:spcAft>
            </a:pPr>
            <a:r>
              <a:rPr sz="1300" b="0" i="0">
                <a:solidFill>
                  <a:srgbClr val="61AFEF"/>
                </a:solidFill>
                <a:latin typeface="Consolas"/>
                <a:ea typeface="Consolas"/>
              </a:rPr>
              <a:t>@media (orientation: landscape) and (min-width: 768px) { }</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OR — the comma means either one */</a:t>
            </a:r>
          </a:p>
          <a:p>
            <a:pPr>
              <a:spcAft>
                <a:spcPts val="350"/>
              </a:spcAft>
            </a:pPr>
            <a:r>
              <a:rPr sz="1300" b="0" i="0">
                <a:solidFill>
                  <a:srgbClr val="61AFEF"/>
                </a:solidFill>
                <a:latin typeface="Consolas"/>
                <a:ea typeface="Consolas"/>
              </a:rPr>
              <a:t>@media (max-width: 600px), (orientation: portrait) { }</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the same OR, spelled out (Media Queries 4) */</a:t>
            </a:r>
          </a:p>
          <a:p>
            <a:pPr>
              <a:spcAft>
                <a:spcPts val="350"/>
              </a:spcAft>
            </a:pPr>
            <a:r>
              <a:rPr sz="1300" b="0" i="0">
                <a:solidFill>
                  <a:srgbClr val="61AFEF"/>
                </a:solidFill>
                <a:latin typeface="Consolas"/>
                <a:ea typeface="Consolas"/>
              </a:rPr>
              <a:t>@media (max-width: 600px) or (orientation: portrait) { }</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NOT — everything except landscape */</a:t>
            </a:r>
          </a:p>
          <a:p>
            <a:pPr>
              <a:spcAft>
                <a:spcPts val="350"/>
              </a:spcAft>
            </a:pPr>
            <a:r>
              <a:rPr sz="1300" b="0" i="0">
                <a:solidFill>
                  <a:srgbClr val="61AFEF"/>
                </a:solidFill>
                <a:latin typeface="Consolas"/>
                <a:ea typeface="Consolas"/>
              </a:rPr>
              <a:t>@media not (orientation: landscape) { }</a:t>
            </a:r>
          </a:p>
        </p:txBody>
      </p:sp>
      <p:sp>
        <p:nvSpPr>
          <p:cNvPr id="9" name="Rounded Rectangle 8"/>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Only the condition is shown — the block holds whatever you want to change.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Mobile-First Breakpoints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Media Queries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Start small</a:t>
            </a:r>
            <a:br/>
            <a:r>
              <a:rPr sz="1350" b="0" i="0">
                <a:solidFill>
                  <a:srgbClr val="4A5568"/>
                </a:solidFill>
                <a:latin typeface="Calibri"/>
                <a:ea typeface="Calibri"/>
              </a:rPr>
              <a:t>Base styles are the phone layout — nothing conditional yet.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Add up</a:t>
            </a:r>
            <a:br/>
            <a:r>
              <a:rPr sz="1350" b="0" i="0">
                <a:solidFill>
                  <a:srgbClr val="4A5568"/>
                </a:solidFill>
                <a:latin typeface="Calibri"/>
                <a:ea typeface="Calibri"/>
              </a:rPr>
              <a:t>min-width adds layout as the screen widens.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Fewer overrides</a:t>
            </a:r>
            <a:br/>
            <a:r>
              <a:rPr sz="1350" b="0" i="0">
                <a:solidFill>
                  <a:srgbClr val="4A5568"/>
                </a:solidFill>
                <a:latin typeface="Calibri"/>
                <a:ea typeface="Calibri"/>
              </a:rPr>
              <a:t>You build up, not fight the desktop rules down.</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Typical steps</a:t>
            </a:r>
            <a:br/>
            <a:r>
              <a:rPr sz="1350" b="0" i="0">
                <a:solidFill>
                  <a:srgbClr val="4A5568"/>
                </a:solidFill>
                <a:latin typeface="Calibri"/>
                <a:ea typeface="Calibri"/>
              </a:rPr>
              <a:t>600px large phones · 768px portrait tablets · 992px laptops · 1200px desktops.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mobile base — one column */</a:t>
            </a:r>
          </a:p>
          <a:p>
            <a:pPr>
              <a:spcAft>
                <a:spcPts val="350"/>
              </a:spcAft>
            </a:pPr>
            <a:r>
              <a:rPr sz="1300" b="0" i="0">
                <a:solidFill>
                  <a:srgbClr val="98C379"/>
                </a:solidFill>
                <a:latin typeface="Consolas"/>
                <a:ea typeface="Consolas"/>
              </a:rPr>
              <a:t>.cards { display: block; }</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portrait tablets and up */</a:t>
            </a:r>
          </a:p>
          <a:p>
            <a:pPr>
              <a:spcAft>
                <a:spcPts val="350"/>
              </a:spcAft>
            </a:pPr>
            <a:r>
              <a:rPr sz="1300" b="0" i="0">
                <a:solidFill>
                  <a:srgbClr val="61AFEF"/>
                </a:solidFill>
                <a:latin typeface="Consolas"/>
                <a:ea typeface="Consolas"/>
              </a:rPr>
              <a:t>@media (min-width: 768px) {</a:t>
            </a:r>
          </a:p>
          <a:p>
            <a:pPr>
              <a:spcAft>
                <a:spcPts val="350"/>
              </a:spcAft>
            </a:pPr>
            <a:r>
              <a:rPr sz="1300" b="0" i="0">
                <a:solidFill>
                  <a:srgbClr val="E5C07B"/>
                </a:solidFill>
                <a:latin typeface="Consolas"/>
                <a:ea typeface="Consolas"/>
              </a:rPr>
              <a:t>  .cards { display: flex; }</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laptops and up — a little more room */</a:t>
            </a:r>
          </a:p>
          <a:p>
            <a:pPr>
              <a:spcAft>
                <a:spcPts val="350"/>
              </a:spcAft>
            </a:pPr>
            <a:r>
              <a:rPr sz="1300" b="0" i="0">
                <a:solidFill>
                  <a:srgbClr val="61AFEF"/>
                </a:solidFill>
                <a:latin typeface="Consolas"/>
                <a:ea typeface="Consolas"/>
              </a:rPr>
              <a:t>@media (min-width: 992px) {</a:t>
            </a:r>
          </a:p>
          <a:p>
            <a:pPr>
              <a:spcAft>
                <a:spcPts val="350"/>
              </a:spcAft>
            </a:pPr>
            <a:r>
              <a:rPr sz="1300" b="0" i="0">
                <a:solidFill>
                  <a:srgbClr val="E5C07B"/>
                </a:solidFill>
                <a:latin typeface="Consolas"/>
                <a:ea typeface="Consolas"/>
              </a:rPr>
              <a:t>  .cards { gap: 24px; }</a:t>
            </a:r>
          </a:p>
          <a:p>
            <a:pPr>
              <a:spcAft>
                <a:spcPts val="350"/>
              </a:spcAft>
            </a:pPr>
            <a:r>
              <a:rPr sz="1300" b="0" i="0">
                <a:solidFill>
                  <a:srgbClr val="61AFEF"/>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editor.html?example=css-layout/responsive</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Mobile-first = base for the small screen, then add up.</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Media Query Recipes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Media Queries</a:t>
            </a:r>
          </a:p>
        </p:txBody>
      </p:sp>
      <p:sp>
        <p:nvSpPr>
          <p:cNvPr id="5" name="Rectangle 4"/>
          <p:cNvSpPr/>
          <p:nvPr/>
        </p:nvSpPr>
        <p:spPr>
          <a:xfrm>
            <a:off x="548640" y="932688"/>
            <a:ext cx="3209128"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2879944"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What you want</a:t>
            </a:r>
          </a:p>
        </p:txBody>
      </p:sp>
      <p:sp>
        <p:nvSpPr>
          <p:cNvPr id="7" name="Rectangle 6"/>
          <p:cNvSpPr/>
          <p:nvPr/>
        </p:nvSpPr>
        <p:spPr>
          <a:xfrm>
            <a:off x="3757768" y="932688"/>
            <a:ext cx="4034332"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22360" y="932688"/>
            <a:ext cx="3705148"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The query</a:t>
            </a:r>
          </a:p>
        </p:txBody>
      </p:sp>
      <p:sp>
        <p:nvSpPr>
          <p:cNvPr id="9" name="Rectangle 8"/>
          <p:cNvSpPr/>
          <p:nvPr/>
        </p:nvSpPr>
        <p:spPr>
          <a:xfrm>
            <a:off x="7792101" y="932688"/>
            <a:ext cx="3850954"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6693" y="932688"/>
            <a:ext cx="3521770"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Inside the block</a:t>
            </a:r>
          </a:p>
        </p:txBody>
      </p:sp>
      <p:sp>
        <p:nvSpPr>
          <p:cNvPr id="11" name="Rectangle 10"/>
          <p:cNvSpPr/>
          <p:nvPr/>
        </p:nvSpPr>
        <p:spPr>
          <a:xfrm>
            <a:off x="548640" y="1444752"/>
            <a:ext cx="320912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444752"/>
            <a:ext cx="2879944"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Stack the columns</a:t>
            </a:r>
          </a:p>
        </p:txBody>
      </p:sp>
      <p:sp>
        <p:nvSpPr>
          <p:cNvPr id="13" name="Rectangle 12"/>
          <p:cNvSpPr/>
          <p:nvPr/>
        </p:nvSpPr>
        <p:spPr>
          <a:xfrm>
            <a:off x="3757768" y="1444752"/>
            <a:ext cx="4034332"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22360" y="1444752"/>
            <a:ext cx="3705148"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@media (max-width: 600px)</a:t>
            </a:r>
          </a:p>
        </p:txBody>
      </p:sp>
      <p:sp>
        <p:nvSpPr>
          <p:cNvPr id="15" name="Rectangle 14"/>
          <p:cNvSpPr/>
          <p:nvPr/>
        </p:nvSpPr>
        <p:spPr>
          <a:xfrm>
            <a:off x="7792101" y="1444752"/>
            <a:ext cx="385095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6693" y="1444752"/>
            <a:ext cx="3521770"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.row { flex-direction: column; }</a:t>
            </a:r>
          </a:p>
        </p:txBody>
      </p:sp>
      <p:sp>
        <p:nvSpPr>
          <p:cNvPr id="17" name="Rectangle 16"/>
          <p:cNvSpPr/>
          <p:nvPr/>
        </p:nvSpPr>
        <p:spPr>
          <a:xfrm>
            <a:off x="548640" y="2011680"/>
            <a:ext cx="320912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011680"/>
            <a:ext cx="2879944"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Hide something</a:t>
            </a:r>
          </a:p>
        </p:txBody>
      </p:sp>
      <p:sp>
        <p:nvSpPr>
          <p:cNvPr id="19" name="Rectangle 18"/>
          <p:cNvSpPr/>
          <p:nvPr/>
        </p:nvSpPr>
        <p:spPr>
          <a:xfrm>
            <a:off x="3757768" y="2011680"/>
            <a:ext cx="4034332"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22360" y="2011680"/>
            <a:ext cx="3705148"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@media (max-width: 600px)</a:t>
            </a:r>
          </a:p>
        </p:txBody>
      </p:sp>
      <p:sp>
        <p:nvSpPr>
          <p:cNvPr id="21" name="Rectangle 20"/>
          <p:cNvSpPr/>
          <p:nvPr/>
        </p:nvSpPr>
        <p:spPr>
          <a:xfrm>
            <a:off x="7792101" y="2011680"/>
            <a:ext cx="3850954"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6693" y="2011680"/>
            <a:ext cx="3521770"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.ads { display: none; }</a:t>
            </a:r>
          </a:p>
        </p:txBody>
      </p:sp>
      <p:sp>
        <p:nvSpPr>
          <p:cNvPr id="23" name="Rectangle 22"/>
          <p:cNvSpPr/>
          <p:nvPr/>
        </p:nvSpPr>
        <p:spPr>
          <a:xfrm>
            <a:off x="548640" y="2578608"/>
            <a:ext cx="320912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2578608"/>
            <a:ext cx="2879944"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Bigger heading</a:t>
            </a:r>
          </a:p>
        </p:txBody>
      </p:sp>
      <p:sp>
        <p:nvSpPr>
          <p:cNvPr id="25" name="Rectangle 24"/>
          <p:cNvSpPr/>
          <p:nvPr/>
        </p:nvSpPr>
        <p:spPr>
          <a:xfrm>
            <a:off x="3757768" y="2578608"/>
            <a:ext cx="4034332"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22360" y="2578608"/>
            <a:ext cx="3705148"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@media (min-width: 992px)</a:t>
            </a:r>
          </a:p>
        </p:txBody>
      </p:sp>
      <p:sp>
        <p:nvSpPr>
          <p:cNvPr id="27" name="Rectangle 26"/>
          <p:cNvSpPr/>
          <p:nvPr/>
        </p:nvSpPr>
        <p:spPr>
          <a:xfrm>
            <a:off x="7792101" y="2578608"/>
            <a:ext cx="385095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56693" y="2578608"/>
            <a:ext cx="3521770"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h1 { font-size: 48px; }</a:t>
            </a:r>
          </a:p>
        </p:txBody>
      </p:sp>
      <p:sp>
        <p:nvSpPr>
          <p:cNvPr id="29" name="Rectangle 28"/>
          <p:cNvSpPr/>
          <p:nvPr/>
        </p:nvSpPr>
        <p:spPr>
          <a:xfrm>
            <a:off x="548640" y="3145536"/>
            <a:ext cx="320912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3145536"/>
            <a:ext cx="2879944"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A different background</a:t>
            </a:r>
          </a:p>
        </p:txBody>
      </p:sp>
      <p:sp>
        <p:nvSpPr>
          <p:cNvPr id="31" name="Rectangle 30"/>
          <p:cNvSpPr/>
          <p:nvPr/>
        </p:nvSpPr>
        <p:spPr>
          <a:xfrm>
            <a:off x="3757768" y="3145536"/>
            <a:ext cx="4034332"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22360" y="3145536"/>
            <a:ext cx="3705148"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@media (min-width: 768px)</a:t>
            </a:r>
          </a:p>
        </p:txBody>
      </p:sp>
      <p:sp>
        <p:nvSpPr>
          <p:cNvPr id="33" name="Rectangle 32"/>
          <p:cNvSpPr/>
          <p:nvPr/>
        </p:nvSpPr>
        <p:spPr>
          <a:xfrm>
            <a:off x="7792101" y="3145536"/>
            <a:ext cx="3850954"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56693" y="3145536"/>
            <a:ext cx="3521770"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body { background: #eef3fb; }</a:t>
            </a:r>
          </a:p>
        </p:txBody>
      </p:sp>
      <p:sp>
        <p:nvSpPr>
          <p:cNvPr id="35" name="Rectangle 34"/>
          <p:cNvSpPr/>
          <p:nvPr/>
        </p:nvSpPr>
        <p:spPr>
          <a:xfrm>
            <a:off x="548640" y="3712464"/>
            <a:ext cx="320912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3232" y="3712464"/>
            <a:ext cx="2879944"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Landscape only</a:t>
            </a:r>
          </a:p>
        </p:txBody>
      </p:sp>
      <p:sp>
        <p:nvSpPr>
          <p:cNvPr id="37" name="Rectangle 36"/>
          <p:cNvSpPr/>
          <p:nvPr/>
        </p:nvSpPr>
        <p:spPr>
          <a:xfrm>
            <a:off x="3757768" y="3712464"/>
            <a:ext cx="4034332"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22360" y="3712464"/>
            <a:ext cx="3705148"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@media (orientation: landscape)</a:t>
            </a:r>
          </a:p>
        </p:txBody>
      </p:sp>
      <p:sp>
        <p:nvSpPr>
          <p:cNvPr id="39" name="Rectangle 38"/>
          <p:cNvSpPr/>
          <p:nvPr/>
        </p:nvSpPr>
        <p:spPr>
          <a:xfrm>
            <a:off x="7792101" y="3712464"/>
            <a:ext cx="385095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56693" y="3712464"/>
            <a:ext cx="3521770"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body { background: #dbe9fb; }</a:t>
            </a:r>
          </a:p>
        </p:txBody>
      </p:sp>
      <p:sp>
        <p:nvSpPr>
          <p:cNvPr id="41" name="Rectangle 40"/>
          <p:cNvSpPr/>
          <p:nvPr/>
        </p:nvSpPr>
        <p:spPr>
          <a:xfrm>
            <a:off x="548640" y="4279392"/>
            <a:ext cx="320912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3232" y="4279392"/>
            <a:ext cx="2879944"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Less motion</a:t>
            </a:r>
          </a:p>
        </p:txBody>
      </p:sp>
      <p:sp>
        <p:nvSpPr>
          <p:cNvPr id="43" name="Rectangle 42"/>
          <p:cNvSpPr/>
          <p:nvPr/>
        </p:nvSpPr>
        <p:spPr>
          <a:xfrm>
            <a:off x="3757768" y="4279392"/>
            <a:ext cx="4034332"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22360" y="4279392"/>
            <a:ext cx="3705148"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@media (prefers-reduced-motion: reduce)</a:t>
            </a:r>
          </a:p>
        </p:txBody>
      </p:sp>
      <p:sp>
        <p:nvSpPr>
          <p:cNvPr id="45" name="Rectangle 44"/>
          <p:cNvSpPr/>
          <p:nvPr/>
        </p:nvSpPr>
        <p:spPr>
          <a:xfrm>
            <a:off x="7792101" y="4279392"/>
            <a:ext cx="3850954"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956693" y="4279392"/>
            <a:ext cx="3521770"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 { animation: none !important; }</a:t>
            </a:r>
          </a:p>
        </p:txBody>
      </p:sp>
      <p:sp>
        <p:nvSpPr>
          <p:cNvPr id="47" name="Rounded Rectangle 46"/>
          <p:cNvSpPr/>
          <p:nvPr/>
        </p:nvSpPr>
        <p:spPr>
          <a:xfrm>
            <a:off x="548640" y="5029200"/>
            <a:ext cx="11094415" cy="6858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8680" y="5120640"/>
            <a:ext cx="10454335" cy="365760"/>
          </a:xfrm>
          <a:prstGeom prst="rect">
            <a:avLst/>
          </a:prstGeom>
          <a:noFill/>
        </p:spPr>
        <p:txBody>
          <a:bodyPr wrap="square" anchor="t" lIns="0" rIns="0" tIns="0" bIns="0">
            <a:spAutoFit/>
          </a:bodyPr>
          <a:lstStyle/>
          <a:p>
            <a:pPr algn="l">
              <a:lnSpc>
                <a:spcPct val="110000"/>
              </a:lnSpc>
              <a:spcAft>
                <a:spcPts val="400"/>
              </a:spcAft>
            </a:pPr>
            <a:r>
              <a:rPr sz="1450" b="1" i="0">
                <a:solidFill>
                  <a:srgbClr val="0E3F8C"/>
                </a:solidFill>
                <a:latin typeface="Calibri"/>
                <a:ea typeface="Calibri"/>
              </a:rPr>
              <a:t>The markup never changes — only which rules apply.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Media Query Recipes — More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Media Queries</a:t>
            </a:r>
          </a:p>
        </p:txBody>
      </p:sp>
      <p:sp>
        <p:nvSpPr>
          <p:cNvPr id="5" name="Rectangle 4"/>
          <p:cNvSpPr/>
          <p:nvPr/>
        </p:nvSpPr>
        <p:spPr>
          <a:xfrm>
            <a:off x="548640" y="932688"/>
            <a:ext cx="3209128"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2879944"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What you want</a:t>
            </a:r>
          </a:p>
        </p:txBody>
      </p:sp>
      <p:sp>
        <p:nvSpPr>
          <p:cNvPr id="7" name="Rectangle 6"/>
          <p:cNvSpPr/>
          <p:nvPr/>
        </p:nvSpPr>
        <p:spPr>
          <a:xfrm>
            <a:off x="3757768" y="932688"/>
            <a:ext cx="4034332"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22360" y="932688"/>
            <a:ext cx="3705148"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The query</a:t>
            </a:r>
          </a:p>
        </p:txBody>
      </p:sp>
      <p:sp>
        <p:nvSpPr>
          <p:cNvPr id="9" name="Rectangle 8"/>
          <p:cNvSpPr/>
          <p:nvPr/>
        </p:nvSpPr>
        <p:spPr>
          <a:xfrm>
            <a:off x="7792101" y="932688"/>
            <a:ext cx="3850954"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6693" y="932688"/>
            <a:ext cx="3521770"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Inside the block</a:t>
            </a:r>
          </a:p>
        </p:txBody>
      </p:sp>
      <p:sp>
        <p:nvSpPr>
          <p:cNvPr id="11" name="Rectangle 10"/>
          <p:cNvSpPr/>
          <p:nvPr/>
        </p:nvSpPr>
        <p:spPr>
          <a:xfrm>
            <a:off x="548640" y="1444752"/>
            <a:ext cx="320912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444752"/>
            <a:ext cx="2879944"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Dark mode</a:t>
            </a:r>
          </a:p>
        </p:txBody>
      </p:sp>
      <p:sp>
        <p:nvSpPr>
          <p:cNvPr id="13" name="Rectangle 12"/>
          <p:cNvSpPr/>
          <p:nvPr/>
        </p:nvSpPr>
        <p:spPr>
          <a:xfrm>
            <a:off x="3757768" y="1444752"/>
            <a:ext cx="4034332"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22360" y="1444752"/>
            <a:ext cx="3705148"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@media (prefers-color-scheme: dark)</a:t>
            </a:r>
          </a:p>
        </p:txBody>
      </p:sp>
      <p:sp>
        <p:nvSpPr>
          <p:cNvPr id="15" name="Rectangle 14"/>
          <p:cNvSpPr/>
          <p:nvPr/>
        </p:nvSpPr>
        <p:spPr>
          <a:xfrm>
            <a:off x="7792101" y="1444752"/>
            <a:ext cx="385095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6693" y="1444752"/>
            <a:ext cx="3521770"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body { background: #10151c; }</a:t>
            </a:r>
          </a:p>
        </p:txBody>
      </p:sp>
      <p:sp>
        <p:nvSpPr>
          <p:cNvPr id="17" name="Rectangle 16"/>
          <p:cNvSpPr/>
          <p:nvPr/>
        </p:nvSpPr>
        <p:spPr>
          <a:xfrm>
            <a:off x="548640" y="2011680"/>
            <a:ext cx="320912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011680"/>
            <a:ext cx="2879944"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Print the page</a:t>
            </a:r>
          </a:p>
        </p:txBody>
      </p:sp>
      <p:sp>
        <p:nvSpPr>
          <p:cNvPr id="19" name="Rectangle 18"/>
          <p:cNvSpPr/>
          <p:nvPr/>
        </p:nvSpPr>
        <p:spPr>
          <a:xfrm>
            <a:off x="3757768" y="2011680"/>
            <a:ext cx="4034332"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22360" y="2011680"/>
            <a:ext cx="3705148"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@media print</a:t>
            </a:r>
          </a:p>
        </p:txBody>
      </p:sp>
      <p:sp>
        <p:nvSpPr>
          <p:cNvPr id="21" name="Rectangle 20"/>
          <p:cNvSpPr/>
          <p:nvPr/>
        </p:nvSpPr>
        <p:spPr>
          <a:xfrm>
            <a:off x="7792101" y="2011680"/>
            <a:ext cx="3850954"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6693" y="2011680"/>
            <a:ext cx="3521770"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.nav, .ads { display: none; }</a:t>
            </a:r>
          </a:p>
        </p:txBody>
      </p:sp>
      <p:sp>
        <p:nvSpPr>
          <p:cNvPr id="23" name="Rectangle 22"/>
          <p:cNvSpPr/>
          <p:nvPr/>
        </p:nvSpPr>
        <p:spPr>
          <a:xfrm>
            <a:off x="548640" y="2578608"/>
            <a:ext cx="320912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2578608"/>
            <a:ext cx="2879944"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Touch screens</a:t>
            </a:r>
          </a:p>
        </p:txBody>
      </p:sp>
      <p:sp>
        <p:nvSpPr>
          <p:cNvPr id="25" name="Rectangle 24"/>
          <p:cNvSpPr/>
          <p:nvPr/>
        </p:nvSpPr>
        <p:spPr>
          <a:xfrm>
            <a:off x="3757768" y="2578608"/>
            <a:ext cx="4034332"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22360" y="2578608"/>
            <a:ext cx="3705148"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@media (hover: none)</a:t>
            </a:r>
          </a:p>
        </p:txBody>
      </p:sp>
      <p:sp>
        <p:nvSpPr>
          <p:cNvPr id="27" name="Rectangle 26"/>
          <p:cNvSpPr/>
          <p:nvPr/>
        </p:nvSpPr>
        <p:spPr>
          <a:xfrm>
            <a:off x="7792101" y="2578608"/>
            <a:ext cx="385095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56693" y="2578608"/>
            <a:ext cx="3521770"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.tooltip { display: none; }</a:t>
            </a:r>
          </a:p>
        </p:txBody>
      </p:sp>
      <p:sp>
        <p:nvSpPr>
          <p:cNvPr id="29" name="Rectangle 28"/>
          <p:cNvSpPr/>
          <p:nvPr/>
        </p:nvSpPr>
        <p:spPr>
          <a:xfrm>
            <a:off x="548640" y="3145536"/>
            <a:ext cx="320912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3145536"/>
            <a:ext cx="2879944"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A sharp screen</a:t>
            </a:r>
          </a:p>
        </p:txBody>
      </p:sp>
      <p:sp>
        <p:nvSpPr>
          <p:cNvPr id="31" name="Rectangle 30"/>
          <p:cNvSpPr/>
          <p:nvPr/>
        </p:nvSpPr>
        <p:spPr>
          <a:xfrm>
            <a:off x="3757768" y="3145536"/>
            <a:ext cx="4034332"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22360" y="3145536"/>
            <a:ext cx="3705148"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@media (min-resolution: 2dppx)</a:t>
            </a:r>
          </a:p>
        </p:txBody>
      </p:sp>
      <p:sp>
        <p:nvSpPr>
          <p:cNvPr id="33" name="Rectangle 32"/>
          <p:cNvSpPr/>
          <p:nvPr/>
        </p:nvSpPr>
        <p:spPr>
          <a:xfrm>
            <a:off x="7792101" y="3145536"/>
            <a:ext cx="3850954"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56693" y="3145536"/>
            <a:ext cx="3521770"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.logo { background-image: url(logo@2x.png); }</a:t>
            </a:r>
          </a:p>
        </p:txBody>
      </p:sp>
      <p:sp>
        <p:nvSpPr>
          <p:cNvPr id="35" name="Rectangle 34"/>
          <p:cNvSpPr/>
          <p:nvPr/>
        </p:nvSpPr>
        <p:spPr>
          <a:xfrm>
            <a:off x="548640" y="3712464"/>
            <a:ext cx="320912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3232" y="3712464"/>
            <a:ext cx="2879944"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A short screen</a:t>
            </a:r>
          </a:p>
        </p:txBody>
      </p:sp>
      <p:sp>
        <p:nvSpPr>
          <p:cNvPr id="37" name="Rectangle 36"/>
          <p:cNvSpPr/>
          <p:nvPr/>
        </p:nvSpPr>
        <p:spPr>
          <a:xfrm>
            <a:off x="3757768" y="3712464"/>
            <a:ext cx="4034332"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22360" y="3712464"/>
            <a:ext cx="3705148"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@media (max-height: 500px)</a:t>
            </a:r>
          </a:p>
        </p:txBody>
      </p:sp>
      <p:sp>
        <p:nvSpPr>
          <p:cNvPr id="39" name="Rectangle 38"/>
          <p:cNvSpPr/>
          <p:nvPr/>
        </p:nvSpPr>
        <p:spPr>
          <a:xfrm>
            <a:off x="7792101" y="3712464"/>
            <a:ext cx="385095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56693" y="3712464"/>
            <a:ext cx="3521770"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.hero { padding: 8px; }</a:t>
            </a:r>
          </a:p>
        </p:txBody>
      </p:sp>
      <p:sp>
        <p:nvSpPr>
          <p:cNvPr id="41" name="Rectangle 40"/>
          <p:cNvSpPr/>
          <p:nvPr/>
        </p:nvSpPr>
        <p:spPr>
          <a:xfrm>
            <a:off x="548640" y="4279392"/>
            <a:ext cx="320912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3232" y="4279392"/>
            <a:ext cx="2879944"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More contrast</a:t>
            </a:r>
          </a:p>
        </p:txBody>
      </p:sp>
      <p:sp>
        <p:nvSpPr>
          <p:cNvPr id="43" name="Rectangle 42"/>
          <p:cNvSpPr/>
          <p:nvPr/>
        </p:nvSpPr>
        <p:spPr>
          <a:xfrm>
            <a:off x="3757768" y="4279392"/>
            <a:ext cx="4034332"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22360" y="4279392"/>
            <a:ext cx="3705148"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@media (prefers-contrast: more)</a:t>
            </a:r>
          </a:p>
        </p:txBody>
      </p:sp>
      <p:sp>
        <p:nvSpPr>
          <p:cNvPr id="45" name="Rectangle 44"/>
          <p:cNvSpPr/>
          <p:nvPr/>
        </p:nvSpPr>
        <p:spPr>
          <a:xfrm>
            <a:off x="7792101" y="4279392"/>
            <a:ext cx="3850954"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956693" y="4279392"/>
            <a:ext cx="3521770"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a { border-bottom: 2px solid; }</a:t>
            </a:r>
          </a:p>
        </p:txBody>
      </p:sp>
      <p:sp>
        <p:nvSpPr>
          <p:cNvPr id="47" name="Rounded Rectangle 46"/>
          <p:cNvSpPr/>
          <p:nvPr/>
        </p:nvSpPr>
        <p:spPr>
          <a:xfrm>
            <a:off x="548640" y="5029200"/>
            <a:ext cx="11094415" cy="105156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8680" y="5120640"/>
            <a:ext cx="10454335" cy="365760"/>
          </a:xfrm>
          <a:prstGeom prst="rect">
            <a:avLst/>
          </a:prstGeom>
          <a:noFill/>
        </p:spPr>
        <p:txBody>
          <a:bodyPr wrap="square" anchor="t" lIns="0" rIns="0" tIns="0" bIns="0">
            <a:spAutoFit/>
          </a:bodyPr>
          <a:lstStyle/>
          <a:p>
            <a:pPr algn="l">
              <a:lnSpc>
                <a:spcPct val="110000"/>
              </a:lnSpc>
              <a:spcAft>
                <a:spcPts val="400"/>
              </a:spcAft>
            </a:pPr>
            <a:r>
              <a:rPr sz="1450" b="1" i="0">
                <a:solidFill>
                  <a:srgbClr val="0E3F8C"/>
                </a:solidFill>
                <a:latin typeface="Calibri"/>
                <a:ea typeface="Calibri"/>
              </a:rPr>
              <a:t>Ask the device and the reader's settings — not only the width.</a:t>
            </a:r>
          </a:p>
        </p:txBody>
      </p:sp>
      <p:sp>
        <p:nvSpPr>
          <p:cNvPr id="49" name="TextBox 48"/>
          <p:cNvSpPr txBox="1"/>
          <p:nvPr/>
        </p:nvSpPr>
        <p:spPr>
          <a:xfrm>
            <a:off x="868680" y="5504688"/>
            <a:ext cx="10454335" cy="329184"/>
          </a:xfrm>
          <a:prstGeom prst="rect">
            <a:avLst/>
          </a:prstGeom>
          <a:noFill/>
        </p:spPr>
        <p:txBody>
          <a:bodyPr wrap="square" anchor="t" lIns="0" rIns="0" tIns="0" bIns="0">
            <a:spAutoFit/>
          </a:bodyPr>
          <a:lstStyle/>
          <a:p>
            <a:pPr algn="l">
              <a:lnSpc>
                <a:spcPct val="110000"/>
              </a:lnSpc>
              <a:spcAft>
                <a:spcPts val="400"/>
              </a:spcAft>
            </a:pPr>
            <a:r>
              <a:rPr sz="1300" b="1" i="0">
                <a:solidFill>
                  <a:srgbClr val="1E4FA8"/>
                </a:solidFill>
                <a:latin typeface="Calibri"/>
                <a:ea typeface="Calibri"/>
              </a:rPr>
              <a:t>open in editor →  </a:t>
            </a:r>
            <a:r>
              <a:rPr sz="130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editor.html?example=css-layout/media-recipes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Layout Cheatsheet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Layout</a:t>
            </a:r>
          </a:p>
        </p:txBody>
      </p:sp>
      <p:sp>
        <p:nvSpPr>
          <p:cNvPr id="5" name="Rectangle 4"/>
          <p:cNvSpPr/>
          <p:nvPr/>
        </p:nvSpPr>
        <p:spPr>
          <a:xfrm>
            <a:off x="548640" y="932688"/>
            <a:ext cx="2074565"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1745381"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Topic</a:t>
            </a:r>
          </a:p>
        </p:txBody>
      </p:sp>
      <p:sp>
        <p:nvSpPr>
          <p:cNvPr id="7" name="Rectangle 6"/>
          <p:cNvSpPr/>
          <p:nvPr/>
        </p:nvSpPr>
        <p:spPr>
          <a:xfrm>
            <a:off x="2623205" y="932688"/>
            <a:ext cx="4058932"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87797" y="932688"/>
            <a:ext cx="3729748"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What it is for</a:t>
            </a:r>
          </a:p>
        </p:txBody>
      </p:sp>
      <p:sp>
        <p:nvSpPr>
          <p:cNvPr id="9" name="Rectangle 8"/>
          <p:cNvSpPr/>
          <p:nvPr/>
        </p:nvSpPr>
        <p:spPr>
          <a:xfrm>
            <a:off x="6682137" y="932688"/>
            <a:ext cx="4960917"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6729" y="932688"/>
            <a:ext cx="4631733"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One-liner</a:t>
            </a:r>
          </a:p>
        </p:txBody>
      </p:sp>
      <p:sp>
        <p:nvSpPr>
          <p:cNvPr id="11" name="Rectangle 10"/>
          <p:cNvSpPr/>
          <p:nvPr/>
        </p:nvSpPr>
        <p:spPr>
          <a:xfrm>
            <a:off x="548640" y="1444752"/>
            <a:ext cx="207456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444752"/>
            <a:ext cx="1745381"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position</a:t>
            </a:r>
          </a:p>
        </p:txBody>
      </p:sp>
      <p:sp>
        <p:nvSpPr>
          <p:cNvPr id="13" name="Rectangle 12"/>
          <p:cNvSpPr/>
          <p:nvPr/>
        </p:nvSpPr>
        <p:spPr>
          <a:xfrm>
            <a:off x="2623205" y="1444752"/>
            <a:ext cx="4058932"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87797" y="1444752"/>
            <a:ext cx="3729748"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take a box out of the flow</a:t>
            </a:r>
          </a:p>
        </p:txBody>
      </p:sp>
      <p:sp>
        <p:nvSpPr>
          <p:cNvPr id="15" name="Rectangle 14"/>
          <p:cNvSpPr/>
          <p:nvPr/>
        </p:nvSpPr>
        <p:spPr>
          <a:xfrm>
            <a:off x="6682137" y="1444752"/>
            <a:ext cx="496091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46729" y="1444752"/>
            <a:ext cx="4631733"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position: sticky; top: 0;</a:t>
            </a:r>
          </a:p>
        </p:txBody>
      </p:sp>
      <p:sp>
        <p:nvSpPr>
          <p:cNvPr id="17" name="Rectangle 16"/>
          <p:cNvSpPr/>
          <p:nvPr/>
        </p:nvSpPr>
        <p:spPr>
          <a:xfrm>
            <a:off x="548640" y="2011680"/>
            <a:ext cx="207456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011680"/>
            <a:ext cx="1745381"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z-index</a:t>
            </a:r>
          </a:p>
        </p:txBody>
      </p:sp>
      <p:sp>
        <p:nvSpPr>
          <p:cNvPr id="19" name="Rectangle 18"/>
          <p:cNvSpPr/>
          <p:nvPr/>
        </p:nvSpPr>
        <p:spPr>
          <a:xfrm>
            <a:off x="2623205" y="2011680"/>
            <a:ext cx="4058932"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87797" y="2011680"/>
            <a:ext cx="3729748"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stack order for positioned boxes</a:t>
            </a:r>
          </a:p>
        </p:txBody>
      </p:sp>
      <p:sp>
        <p:nvSpPr>
          <p:cNvPr id="21" name="Rectangle 20"/>
          <p:cNvSpPr/>
          <p:nvPr/>
        </p:nvSpPr>
        <p:spPr>
          <a:xfrm>
            <a:off x="6682137" y="2011680"/>
            <a:ext cx="496091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46729" y="2011680"/>
            <a:ext cx="4631733"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z-index: 10;</a:t>
            </a:r>
          </a:p>
        </p:txBody>
      </p:sp>
      <p:sp>
        <p:nvSpPr>
          <p:cNvPr id="23" name="Rectangle 22"/>
          <p:cNvSpPr/>
          <p:nvPr/>
        </p:nvSpPr>
        <p:spPr>
          <a:xfrm>
            <a:off x="548640" y="2578608"/>
            <a:ext cx="207456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2578608"/>
            <a:ext cx="1745381"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Flexbox</a:t>
            </a:r>
          </a:p>
        </p:txBody>
      </p:sp>
      <p:sp>
        <p:nvSpPr>
          <p:cNvPr id="25" name="Rectangle 24"/>
          <p:cNvSpPr/>
          <p:nvPr/>
        </p:nvSpPr>
        <p:spPr>
          <a:xfrm>
            <a:off x="2623205" y="2578608"/>
            <a:ext cx="4058932"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87797" y="2578608"/>
            <a:ext cx="3729748"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lay out one axis</a:t>
            </a:r>
          </a:p>
        </p:txBody>
      </p:sp>
      <p:sp>
        <p:nvSpPr>
          <p:cNvPr id="27" name="Rectangle 26"/>
          <p:cNvSpPr/>
          <p:nvPr/>
        </p:nvSpPr>
        <p:spPr>
          <a:xfrm>
            <a:off x="6682137" y="2578608"/>
            <a:ext cx="496091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46729" y="2578608"/>
            <a:ext cx="4631733"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display: flex; gap: 16px;</a:t>
            </a:r>
          </a:p>
        </p:txBody>
      </p:sp>
      <p:sp>
        <p:nvSpPr>
          <p:cNvPr id="29" name="Rectangle 28"/>
          <p:cNvSpPr/>
          <p:nvPr/>
        </p:nvSpPr>
        <p:spPr>
          <a:xfrm>
            <a:off x="548640" y="3145536"/>
            <a:ext cx="207456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3145536"/>
            <a:ext cx="1745381"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Grid</a:t>
            </a:r>
          </a:p>
        </p:txBody>
      </p:sp>
      <p:sp>
        <p:nvSpPr>
          <p:cNvPr id="31" name="Rectangle 30"/>
          <p:cNvSpPr/>
          <p:nvPr/>
        </p:nvSpPr>
        <p:spPr>
          <a:xfrm>
            <a:off x="2623205" y="3145536"/>
            <a:ext cx="4058932"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87797" y="3145536"/>
            <a:ext cx="3729748"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lay out rows and columns</a:t>
            </a:r>
          </a:p>
        </p:txBody>
      </p:sp>
      <p:sp>
        <p:nvSpPr>
          <p:cNvPr id="33" name="Rectangle 32"/>
          <p:cNvSpPr/>
          <p:nvPr/>
        </p:nvSpPr>
        <p:spPr>
          <a:xfrm>
            <a:off x="6682137" y="3145536"/>
            <a:ext cx="496091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46729" y="3145536"/>
            <a:ext cx="4631733"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display: grid; gap: 16px;</a:t>
            </a:r>
          </a:p>
        </p:txBody>
      </p:sp>
      <p:sp>
        <p:nvSpPr>
          <p:cNvPr id="35" name="Rectangle 34"/>
          <p:cNvSpPr/>
          <p:nvPr/>
        </p:nvSpPr>
        <p:spPr>
          <a:xfrm>
            <a:off x="548640" y="3712464"/>
            <a:ext cx="207456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3232" y="3712464"/>
            <a:ext cx="1745381"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media query</a:t>
            </a:r>
          </a:p>
        </p:txBody>
      </p:sp>
      <p:sp>
        <p:nvSpPr>
          <p:cNvPr id="37" name="Rectangle 36"/>
          <p:cNvSpPr/>
          <p:nvPr/>
        </p:nvSpPr>
        <p:spPr>
          <a:xfrm>
            <a:off x="2623205" y="3712464"/>
            <a:ext cx="4058932"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87797" y="3712464"/>
            <a:ext cx="3729748"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adapt at a breakpoint</a:t>
            </a:r>
          </a:p>
        </p:txBody>
      </p:sp>
      <p:sp>
        <p:nvSpPr>
          <p:cNvPr id="39" name="Rectangle 38"/>
          <p:cNvSpPr/>
          <p:nvPr/>
        </p:nvSpPr>
        <p:spPr>
          <a:xfrm>
            <a:off x="6682137" y="3712464"/>
            <a:ext cx="496091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46729" y="3712464"/>
            <a:ext cx="4631733"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@media (min-width: 768px) { }</a:t>
            </a:r>
          </a:p>
        </p:txBody>
      </p:sp>
      <p:sp>
        <p:nvSpPr>
          <p:cNvPr id="41" name="Rounded Rectangle 40"/>
          <p:cNvSpPr/>
          <p:nvPr/>
        </p:nvSpPr>
        <p:spPr>
          <a:xfrm>
            <a:off x="548640" y="4462272"/>
            <a:ext cx="11094415" cy="6858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8680" y="4553712"/>
            <a:ext cx="10454335" cy="365760"/>
          </a:xfrm>
          <a:prstGeom prst="rect">
            <a:avLst/>
          </a:prstGeom>
          <a:noFill/>
        </p:spPr>
        <p:txBody>
          <a:bodyPr wrap="square" anchor="t" lIns="0" rIns="0" tIns="0" bIns="0">
            <a:spAutoFit/>
          </a:bodyPr>
          <a:lstStyle/>
          <a:p>
            <a:pPr algn="l">
              <a:lnSpc>
                <a:spcPct val="110000"/>
              </a:lnSpc>
              <a:spcAft>
                <a:spcPts val="400"/>
              </a:spcAft>
            </a:pPr>
            <a:r>
              <a:rPr sz="1450" b="1" i="0">
                <a:solidFill>
                  <a:srgbClr val="0E3F8C"/>
                </a:solidFill>
                <a:latin typeface="Calibri"/>
                <a:ea typeface="Calibri"/>
              </a:rPr>
              <a:t>Normal flow, then leave it on purpose — and describe the layout you want.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02</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Animation</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8860B"/>
                </a:solidFill>
                <a:latin typeface="Consolas"/>
                <a:ea typeface="Consolas"/>
              </a:rPr>
              <a:t>transform</a:t>
            </a:r>
            <a:r>
              <a:rPr sz="1600" b="0" i="0">
                <a:solidFill>
                  <a:srgbClr val="B9CDEE"/>
                </a:solidFill>
                <a:latin typeface="Calibri"/>
                <a:ea typeface="Calibri"/>
              </a:rPr>
              <a:t>: reshape a box without moving its neighbours</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transition: smooth a change you trigger</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@keyframes + animation: run a sequence on its own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Three Tools for Motion</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Animation</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B8860B"/>
                </a:solidFill>
                <a:latin typeface="Consolas"/>
                <a:ea typeface="Consolas"/>
              </a:rPr>
              <a:t>transform</a:t>
            </a:r>
            <a:br/>
            <a:r>
              <a:rPr sz="1500" b="0" i="0">
                <a:solidFill>
                  <a:srgbClr val="4A5568"/>
                </a:solidFill>
                <a:latin typeface="Calibri"/>
                <a:ea typeface="Calibri"/>
              </a:rPr>
              <a:t>Reshape a box — move, rotate, scale, skew. Instant, no smoothing.</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transition</a:t>
            </a:r>
            <a:br/>
            <a:r>
              <a:rPr sz="1500" b="0" i="0">
                <a:solidFill>
                  <a:srgbClr val="4A5568"/>
                </a:solidFill>
                <a:latin typeface="Calibri"/>
                <a:ea typeface="Calibri"/>
              </a:rPr>
              <a:t>Smooths a change you trigger — hover, focus, a </a:t>
            </a:r>
            <a:r>
              <a:rPr sz="1500" b="0" i="0">
                <a:solidFill>
                  <a:srgbClr val="B8860B"/>
                </a:solidFill>
                <a:latin typeface="Consolas"/>
                <a:ea typeface="Consolas"/>
              </a:rPr>
              <a:t>class</a:t>
            </a:r>
            <a:r>
              <a:rPr sz="1500" b="0" i="0">
                <a:solidFill>
                  <a:srgbClr val="4A5568"/>
                </a:solidFill>
                <a:latin typeface="Calibri"/>
                <a:ea typeface="Calibri"/>
              </a:rPr>
              <a:t> flip.</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@keyframes</a:t>
            </a:r>
            <a:br/>
            <a:r>
              <a:rPr sz="1500" b="0" i="0">
                <a:solidFill>
                  <a:srgbClr val="4A5568"/>
                </a:solidFill>
                <a:latin typeface="Calibri"/>
                <a:ea typeface="Calibri"/>
              </a:rPr>
              <a:t>The recipe: any number of stops along a timeline.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animation</a:t>
            </a:r>
            <a:br/>
            <a:r>
              <a:rPr sz="1500" b="0" i="0">
                <a:solidFill>
                  <a:srgbClr val="4A5568"/>
                </a:solidFill>
                <a:latin typeface="Calibri"/>
                <a:ea typeface="Calibri"/>
              </a:rPr>
              <a:t>Runs that recipe — on load, on a </a:t>
            </a:r>
            <a:r>
              <a:rPr sz="1500" b="0" i="0">
                <a:solidFill>
                  <a:srgbClr val="B8860B"/>
                </a:solidFill>
                <a:latin typeface="Consolas"/>
                <a:ea typeface="Consolas"/>
              </a:rPr>
              <a:t>loop</a:t>
            </a:r>
            <a:r>
              <a:rPr sz="1500" b="0" i="0">
                <a:solidFill>
                  <a:srgbClr val="4A5568"/>
                </a:solidFill>
                <a:latin typeface="Calibri"/>
                <a:ea typeface="Calibri"/>
              </a:rPr>
              <a:t>, in a direction.</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One property, one job</a:t>
            </a:r>
            <a:br/>
            <a:r>
              <a:rPr sz="1500" b="0" i="0">
                <a:solidFill>
                  <a:srgbClr val="4A5568"/>
                </a:solidFill>
                <a:latin typeface="Calibri"/>
                <a:ea typeface="Calibri"/>
              </a:rPr>
              <a:t>They stack: </a:t>
            </a:r>
            <a:r>
              <a:rPr sz="1500" b="0" i="0">
                <a:solidFill>
                  <a:srgbClr val="B8860B"/>
                </a:solidFill>
                <a:latin typeface="Consolas"/>
                <a:ea typeface="Consolas"/>
              </a:rPr>
              <a:t>transform</a:t>
            </a:r>
            <a:r>
              <a:rPr sz="1500" b="0" i="0">
                <a:solidFill>
                  <a:srgbClr val="4A5568"/>
                </a:solidFill>
                <a:latin typeface="Calibri"/>
                <a:ea typeface="Calibri"/>
              </a:rPr>
              <a:t> does the work, transition does the easing.</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Cheap to run</a:t>
            </a:r>
            <a:br/>
            <a:r>
              <a:rPr sz="1500" b="0" i="0">
                <a:solidFill>
                  <a:srgbClr val="B8860B"/>
                </a:solidFill>
                <a:latin typeface="Consolas"/>
                <a:ea typeface="Consolas"/>
              </a:rPr>
              <a:t>transform</a:t>
            </a:r>
            <a:r>
              <a:rPr sz="1500" b="0" i="0">
                <a:solidFill>
                  <a:srgbClr val="4A5568"/>
                </a:solidFill>
                <a:latin typeface="Calibri"/>
                <a:ea typeface="Calibri"/>
              </a:rPr>
              <a:t> and opacity skip layout — the browser composites them.</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Reshape, smooth, then repeat</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transform  →  transition  →  @keyframes + animation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What transform Does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Transforms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translate()</a:t>
            </a:r>
            <a:br/>
            <a:r>
              <a:rPr sz="1500" b="0" i="0">
                <a:solidFill>
                  <a:srgbClr val="4A5568"/>
                </a:solidFill>
                <a:latin typeface="Calibri"/>
                <a:ea typeface="Calibri"/>
              </a:rPr>
              <a:t>Move a box along X and Y — translate(20px, 10px).</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rotate()</a:t>
            </a:r>
            <a:br/>
            <a:r>
              <a:rPr sz="1500" b="0" i="0">
                <a:solidFill>
                  <a:srgbClr val="4A5568"/>
                </a:solidFill>
                <a:latin typeface="Calibri"/>
                <a:ea typeface="Calibri"/>
              </a:rPr>
              <a:t>Spin it around its origin — rotate(45deg).</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scale()</a:t>
            </a:r>
            <a:br/>
            <a:r>
              <a:rPr sz="1500" b="0" i="0">
                <a:solidFill>
                  <a:srgbClr val="4A5568"/>
                </a:solidFill>
                <a:latin typeface="Calibri"/>
                <a:ea typeface="Calibri"/>
              </a:rPr>
              <a:t>Grow or shrink it — scale(1.3) is 130%.</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skew()</a:t>
            </a:r>
            <a:br/>
            <a:r>
              <a:rPr sz="1500" b="0" i="0">
                <a:solidFill>
                  <a:srgbClr val="4A5568"/>
                </a:solidFill>
                <a:latin typeface="Calibri"/>
                <a:ea typeface="Calibri"/>
              </a:rPr>
              <a:t>Tilt it — skewX(20deg) or skewY(10deg).</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No reflow</a:t>
            </a:r>
            <a:br/>
            <a:r>
              <a:rPr sz="1500" b="0" i="0">
                <a:solidFill>
                  <a:srgbClr val="4A5568"/>
                </a:solidFill>
                <a:latin typeface="Calibri"/>
                <a:ea typeface="Calibri"/>
              </a:rPr>
              <a:t>The box keeps its space; neighbours don't move.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Cheap to animate</a:t>
            </a:r>
            <a:br/>
            <a:r>
              <a:rPr sz="1500" b="0" i="0">
                <a:solidFill>
                  <a:srgbClr val="4A5568"/>
                </a:solidFill>
                <a:latin typeface="Calibri"/>
                <a:ea typeface="Calibri"/>
              </a:rPr>
              <a:t>GPU-friendly — the go-to for smooth motion.</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One property, four ways to reshape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editor.html?example=css-layout/transform</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transform: translate(20px) rotate(45deg) scale(1.2);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translate &amp; rotate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Transforms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translate(x, y)</a:t>
            </a:r>
            <a:br/>
            <a:r>
              <a:rPr sz="1350" b="0" i="0">
                <a:solidFill>
                  <a:srgbClr val="4A5568"/>
                </a:solidFill>
                <a:latin typeface="Calibri"/>
                <a:ea typeface="Calibri"/>
              </a:rPr>
              <a:t>Move along the X and Y axes; % is relative to the box.</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translateX / translateY</a:t>
            </a:r>
            <a:br/>
            <a:r>
              <a:rPr sz="1350" b="0" i="0">
                <a:solidFill>
                  <a:srgbClr val="4A5568"/>
                </a:solidFill>
                <a:latin typeface="Calibri"/>
                <a:ea typeface="Calibri"/>
              </a:rPr>
              <a:t>Move on a single axis only.</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rotate(deg)</a:t>
            </a:r>
            <a:br/>
            <a:r>
              <a:rPr sz="1350" b="0" i="0">
                <a:solidFill>
                  <a:srgbClr val="4A5568"/>
                </a:solidFill>
                <a:latin typeface="Calibri"/>
                <a:ea typeface="Calibri"/>
              </a:rPr>
              <a:t>Spin clockwise; negative angles go counter-clockwise.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Units matter</a:t>
            </a:r>
            <a:br/>
            <a:r>
              <a:rPr sz="1350" b="0" i="0">
                <a:solidFill>
                  <a:srgbClr val="4A5568"/>
                </a:solidFill>
                <a:latin typeface="Calibri"/>
                <a:ea typeface="Calibri"/>
              </a:rPr>
              <a:t>px for length, deg for angles, turn for whole turns.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.card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transform</a:t>
            </a:r>
            <a:r>
              <a:rPr sz="1300" b="0" i="0">
                <a:solidFill>
                  <a:srgbClr val="98C379"/>
                </a:solidFill>
                <a:latin typeface="Consolas"/>
                <a:ea typeface="Consolas"/>
              </a:rPr>
              <a:t>: translate(20px, 10px);</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move right by half its own width */</a:t>
            </a:r>
          </a:p>
          <a:p>
            <a:pPr>
              <a:spcAft>
                <a:spcPts val="350"/>
              </a:spcAft>
            </a:pPr>
            <a:r>
              <a:rPr sz="1300" b="0" i="0">
                <a:solidFill>
                  <a:srgbClr val="61AFEF"/>
                </a:solidFill>
                <a:latin typeface="Consolas"/>
                <a:ea typeface="Consolas"/>
              </a:rPr>
              <a:t>.card { </a:t>
            </a:r>
            <a:r>
              <a:rPr sz="1300" b="0" i="0">
                <a:solidFill>
                  <a:srgbClr val="E5C07B"/>
                </a:solidFill>
                <a:latin typeface="Consolas"/>
                <a:ea typeface="Consolas"/>
              </a:rPr>
              <a:t>transform</a:t>
            </a:r>
            <a:r>
              <a:rPr sz="1300" b="0" i="0">
                <a:solidFill>
                  <a:srgbClr val="98C379"/>
                </a:solidFill>
                <a:latin typeface="Consolas"/>
                <a:ea typeface="Consolas"/>
              </a:rPr>
              <a:t>: translateX(50%);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editor.html?example=css-layout/transform</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translate + rotate are the two transforms you'll reach for most.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scale &amp; skew</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Transforms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scale(x, y)</a:t>
            </a:r>
            <a:br/>
            <a:r>
              <a:rPr sz="1350" b="0" i="0">
                <a:solidFill>
                  <a:srgbClr val="4A5568"/>
                </a:solidFill>
                <a:latin typeface="Calibri"/>
                <a:ea typeface="Calibri"/>
              </a:rPr>
              <a:t>Grow or shrink — 1 is normal, 0.5 halves, 1.3 is 130%.</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scale(n)</a:t>
            </a:r>
            <a:br/>
            <a:r>
              <a:rPr sz="1350" b="0" i="0">
                <a:solidFill>
                  <a:srgbClr val="4A5568"/>
                </a:solidFill>
                <a:latin typeface="Calibri"/>
                <a:ea typeface="Calibri"/>
              </a:rPr>
              <a:t>One </a:t>
            </a:r>
            <a:r>
              <a:rPr sz="1350" b="0" i="0">
                <a:solidFill>
                  <a:srgbClr val="B8860B"/>
                </a:solidFill>
                <a:latin typeface="Consolas"/>
                <a:ea typeface="Consolas"/>
              </a:rPr>
              <a:t>value</a:t>
            </a:r>
            <a:r>
              <a:rPr sz="1350" b="0" i="0">
                <a:solidFill>
                  <a:srgbClr val="4A5568"/>
                </a:solidFill>
                <a:latin typeface="Calibri"/>
                <a:ea typeface="Calibri"/>
              </a:rPr>
              <a:t> scales both axes evenly.</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skew(deg)</a:t>
            </a:r>
            <a:br/>
            <a:r>
              <a:rPr sz="1350" b="0" i="0">
                <a:solidFill>
                  <a:srgbClr val="4A5568"/>
                </a:solidFill>
                <a:latin typeface="Calibri"/>
                <a:ea typeface="Calibri"/>
              </a:rPr>
              <a:t>Tilt the box — skewX(20deg) leans it sideways.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Negative flips</a:t>
            </a:r>
            <a:br/>
            <a:r>
              <a:rPr sz="1350" b="0" i="0">
                <a:solidFill>
                  <a:srgbClr val="4A5568"/>
                </a:solidFill>
                <a:latin typeface="Calibri"/>
                <a:ea typeface="Calibri"/>
              </a:rPr>
              <a:t>scale(-1, 1) mirrors the box horizontally.</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grow to 130% */</a:t>
            </a:r>
          </a:p>
          <a:p>
            <a:pPr>
              <a:spcAft>
                <a:spcPts val="350"/>
              </a:spcAft>
            </a:pPr>
            <a:r>
              <a:rPr sz="1300" b="0" i="0">
                <a:solidFill>
                  <a:srgbClr val="61AFEF"/>
                </a:solidFill>
                <a:latin typeface="Consolas"/>
                <a:ea typeface="Consolas"/>
              </a:rPr>
              <a:t>.box { </a:t>
            </a:r>
            <a:r>
              <a:rPr sz="1300" b="0" i="0">
                <a:solidFill>
                  <a:srgbClr val="E5C07B"/>
                </a:solidFill>
                <a:latin typeface="Consolas"/>
                <a:ea typeface="Consolas"/>
              </a:rPr>
              <a:t>transform</a:t>
            </a:r>
            <a:r>
              <a:rPr sz="1300" b="0" i="0">
                <a:solidFill>
                  <a:srgbClr val="98C379"/>
                </a:solidFill>
                <a:latin typeface="Consolas"/>
                <a:ea typeface="Consolas"/>
              </a:rPr>
              <a:t>: scale(1.3); }</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lean sideways */</a:t>
            </a:r>
          </a:p>
          <a:p>
            <a:pPr>
              <a:spcAft>
                <a:spcPts val="350"/>
              </a:spcAft>
            </a:pPr>
            <a:r>
              <a:rPr sz="1300" b="0" i="0">
                <a:solidFill>
                  <a:srgbClr val="61AFEF"/>
                </a:solidFill>
                <a:latin typeface="Consolas"/>
                <a:ea typeface="Consolas"/>
              </a:rPr>
              <a:t>.box { </a:t>
            </a:r>
            <a:r>
              <a:rPr sz="1300" b="0" i="0">
                <a:solidFill>
                  <a:srgbClr val="E5C07B"/>
                </a:solidFill>
                <a:latin typeface="Consolas"/>
                <a:ea typeface="Consolas"/>
              </a:rPr>
              <a:t>transform</a:t>
            </a:r>
            <a:r>
              <a:rPr sz="1300" b="0" i="0">
                <a:solidFill>
                  <a:srgbClr val="98C379"/>
                </a:solidFill>
                <a:latin typeface="Consolas"/>
                <a:ea typeface="Consolas"/>
              </a:rPr>
              <a:t>: skewX(-20deg); }</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mirror horizontally */</a:t>
            </a:r>
          </a:p>
          <a:p>
            <a:pPr>
              <a:spcAft>
                <a:spcPts val="350"/>
              </a:spcAft>
            </a:pPr>
            <a:r>
              <a:rPr sz="1300" b="0" i="0">
                <a:solidFill>
                  <a:srgbClr val="61AFEF"/>
                </a:solidFill>
                <a:latin typeface="Consolas"/>
                <a:ea typeface="Consolas"/>
              </a:rPr>
              <a:t>.box { </a:t>
            </a:r>
            <a:r>
              <a:rPr sz="1300" b="0" i="0">
                <a:solidFill>
                  <a:srgbClr val="E5C07B"/>
                </a:solidFill>
                <a:latin typeface="Consolas"/>
                <a:ea typeface="Consolas"/>
              </a:rPr>
              <a:t>transform</a:t>
            </a:r>
            <a:r>
              <a:rPr sz="1300" b="0" i="0">
                <a:solidFill>
                  <a:srgbClr val="98C379"/>
                </a:solidFill>
                <a:latin typeface="Consolas"/>
                <a:ea typeface="Consolas"/>
              </a:rPr>
              <a:t>: scale(-1, 1);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editor.html?example=css-layout/transform</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scale(0.97) on :active gives a button a satisfying press-down feel.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transform-origin</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Transforms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The default pivot</a:t>
            </a:r>
            <a:br/>
            <a:r>
              <a:rPr sz="1350" b="0" i="0">
                <a:solidFill>
                  <a:srgbClr val="4A5568"/>
                </a:solidFill>
                <a:latin typeface="Calibri"/>
                <a:ea typeface="Calibri"/>
              </a:rPr>
              <a:t>50% 50% — the centre of the box.</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transform-origin</a:t>
            </a:r>
            <a:br/>
            <a:r>
              <a:rPr sz="1350" b="0" i="0">
                <a:solidFill>
                  <a:srgbClr val="4A5568"/>
                </a:solidFill>
                <a:latin typeface="Calibri"/>
                <a:ea typeface="Calibri"/>
              </a:rPr>
              <a:t>Move the pivot: a keyword, a length or a percentage.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Scaling too</a:t>
            </a:r>
            <a:br/>
            <a:r>
              <a:rPr sz="1350" b="0" i="0">
                <a:solidFill>
                  <a:srgbClr val="4A5568"/>
                </a:solidFill>
                <a:latin typeface="Calibri"/>
                <a:ea typeface="Calibri"/>
              </a:rPr>
              <a:t>A different origin changes which corner grows.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Two values</a:t>
            </a:r>
            <a:br/>
            <a:r>
              <a:rPr sz="1350" b="0" i="0">
                <a:solidFill>
                  <a:srgbClr val="4A5568"/>
                </a:solidFill>
                <a:latin typeface="Calibri"/>
                <a:ea typeface="Calibri"/>
              </a:rPr>
              <a:t>x then y — 'top left' is 0% 0%.</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spin around the top-left corner */</a:t>
            </a:r>
          </a:p>
          <a:p>
            <a:pPr>
              <a:spcAft>
                <a:spcPts val="350"/>
              </a:spcAft>
            </a:pPr>
            <a:r>
              <a:rPr sz="1300" b="0" i="0">
                <a:solidFill>
                  <a:srgbClr val="61AFEF"/>
                </a:solidFill>
                <a:latin typeface="Consolas"/>
                <a:ea typeface="Consolas"/>
              </a:rPr>
              <a:t>.box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transform-origin</a:t>
            </a:r>
            <a:r>
              <a:rPr sz="1300" b="0" i="0">
                <a:solidFill>
                  <a:srgbClr val="98C379"/>
                </a:solidFill>
                <a:latin typeface="Consolas"/>
                <a:ea typeface="Consolas"/>
              </a:rPr>
              <a:t>: top left;</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transform</a:t>
            </a:r>
            <a:r>
              <a:rPr sz="1300" b="0" i="0">
                <a:solidFill>
                  <a:srgbClr val="98C379"/>
                </a:solidFill>
                <a:latin typeface="Consolas"/>
                <a:ea typeface="Consolas"/>
              </a:rPr>
              <a:t>: rotate(45deg);</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grow out of the bottom-right edge */</a:t>
            </a:r>
          </a:p>
          <a:p>
            <a:pPr>
              <a:spcAft>
                <a:spcPts val="350"/>
              </a:spcAft>
            </a:pPr>
            <a:r>
              <a:rPr sz="1300" b="0" i="0">
                <a:solidFill>
                  <a:srgbClr val="61AFEF"/>
                </a:solidFill>
                <a:latin typeface="Consolas"/>
                <a:ea typeface="Consolas"/>
              </a:rPr>
              <a:t>.menu { </a:t>
            </a:r>
            <a:r>
              <a:rPr sz="1300" b="0" i="0">
                <a:solidFill>
                  <a:srgbClr val="E5C07B"/>
                </a:solidFill>
                <a:latin typeface="Consolas"/>
                <a:ea typeface="Consolas"/>
              </a:rPr>
              <a:t>transform-origin</a:t>
            </a:r>
            <a:r>
              <a:rPr sz="1300" b="0" i="0">
                <a:solidFill>
                  <a:srgbClr val="98C379"/>
                </a:solidFill>
                <a:latin typeface="Consolas"/>
                <a:ea typeface="Consolas"/>
              </a:rPr>
              <a:t>: bottom right;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editor.html?example=css-layout/transform</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The pivot decides which point stays still while everything else moves.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Combining Transforms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Transforms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Chain functions</a:t>
            </a:r>
            <a:br/>
            <a:r>
              <a:rPr sz="1350" b="0" i="0">
                <a:solidFill>
                  <a:srgbClr val="4A5568"/>
                </a:solidFill>
                <a:latin typeface="Calibri"/>
                <a:ea typeface="Calibri"/>
              </a:rPr>
              <a:t>One declaration can hold as many as you like.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Right to left</a:t>
            </a:r>
            <a:br/>
            <a:r>
              <a:rPr sz="1350" b="0" i="0">
                <a:solidFill>
                  <a:srgbClr val="4A5568"/>
                </a:solidFill>
                <a:latin typeface="Calibri"/>
                <a:ea typeface="Calibri"/>
              </a:rPr>
              <a:t>The last function listed is applied to the box first.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Order matters</a:t>
            </a:r>
            <a:br/>
            <a:r>
              <a:rPr sz="1350" b="0" i="0">
                <a:solidFill>
                  <a:srgbClr val="4A5568"/>
                </a:solidFill>
                <a:latin typeface="Calibri"/>
                <a:ea typeface="Calibri"/>
              </a:rPr>
              <a:t>translate-then-rotate is not rotate-then-translate.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Read it as a sentence</a:t>
            </a:r>
            <a:br/>
            <a:r>
              <a:rPr sz="1350" b="0" i="0">
                <a:solidFill>
                  <a:srgbClr val="4A5568"/>
                </a:solidFill>
                <a:latin typeface="Calibri"/>
                <a:ea typeface="Calibri"/>
              </a:rPr>
              <a:t>translateX(40px) rotate(15deg) = 'rotate it, then move it 40px right'.</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rotate first, then move 40px right */</a:t>
            </a:r>
          </a:p>
          <a:p>
            <a:pPr>
              <a:spcAft>
                <a:spcPts val="350"/>
              </a:spcAft>
            </a:pPr>
            <a:r>
              <a:rPr sz="1300" b="0" i="0">
                <a:solidFill>
                  <a:srgbClr val="61AFEF"/>
                </a:solidFill>
                <a:latin typeface="Consolas"/>
                <a:ea typeface="Consolas"/>
              </a:rPr>
              <a:t>.a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transform</a:t>
            </a:r>
            <a:r>
              <a:rPr sz="1300" b="0" i="0">
                <a:solidFill>
                  <a:srgbClr val="98C379"/>
                </a:solidFill>
                <a:latin typeface="Consolas"/>
                <a:ea typeface="Consolas"/>
              </a:rPr>
              <a:t>: translateX(40px) rotate(15deg);</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the same two, swapped — a diagonal slide */</a:t>
            </a:r>
          </a:p>
          <a:p>
            <a:pPr>
              <a:spcAft>
                <a:spcPts val="350"/>
              </a:spcAft>
            </a:pPr>
            <a:r>
              <a:rPr sz="1300" b="0" i="0">
                <a:solidFill>
                  <a:srgbClr val="61AFEF"/>
                </a:solidFill>
                <a:latin typeface="Consolas"/>
                <a:ea typeface="Consolas"/>
              </a:rPr>
              <a:t>.b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transform</a:t>
            </a:r>
            <a:r>
              <a:rPr sz="1300" b="0" i="0">
                <a:solidFill>
                  <a:srgbClr val="98C379"/>
                </a:solidFill>
                <a:latin typeface="Consolas"/>
                <a:ea typeface="Consolas"/>
              </a:rPr>
              <a:t>: rotate(15deg) translateX(40px);</a:t>
            </a:r>
          </a:p>
          <a:p>
            <a:pPr>
              <a:spcAft>
                <a:spcPts val="350"/>
              </a:spcAft>
            </a:pPr>
            <a:r>
              <a:rPr sz="1300" b="0" i="0">
                <a:solidFill>
                  <a:srgbClr val="61AFEF"/>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editor.html?example=css-layout/transform</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Functions apply right to left — work backwards from the box.</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Transform Cheatsheet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Transforms</a:t>
            </a:r>
          </a:p>
        </p:txBody>
      </p:sp>
      <p:sp>
        <p:nvSpPr>
          <p:cNvPr id="5" name="Rectangle 4"/>
          <p:cNvSpPr/>
          <p:nvPr/>
        </p:nvSpPr>
        <p:spPr>
          <a:xfrm>
            <a:off x="548640" y="932688"/>
            <a:ext cx="2976550"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2647366"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Function</a:t>
            </a:r>
          </a:p>
        </p:txBody>
      </p:sp>
      <p:sp>
        <p:nvSpPr>
          <p:cNvPr id="7" name="Rectangle 6"/>
          <p:cNvSpPr/>
          <p:nvPr/>
        </p:nvSpPr>
        <p:spPr>
          <a:xfrm>
            <a:off x="3525190" y="932688"/>
            <a:ext cx="3788336"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89782" y="932688"/>
            <a:ext cx="3459152"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What it does</a:t>
            </a:r>
          </a:p>
        </p:txBody>
      </p:sp>
      <p:sp>
        <p:nvSpPr>
          <p:cNvPr id="9" name="Rectangle 8"/>
          <p:cNvSpPr/>
          <p:nvPr/>
        </p:nvSpPr>
        <p:spPr>
          <a:xfrm>
            <a:off x="7313527" y="932688"/>
            <a:ext cx="4329527"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78119" y="932688"/>
            <a:ext cx="4000343"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Example</a:t>
            </a:r>
          </a:p>
        </p:txBody>
      </p:sp>
      <p:sp>
        <p:nvSpPr>
          <p:cNvPr id="11" name="Rectangle 10"/>
          <p:cNvSpPr/>
          <p:nvPr/>
        </p:nvSpPr>
        <p:spPr>
          <a:xfrm>
            <a:off x="548640" y="1444752"/>
            <a:ext cx="297655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444752"/>
            <a:ext cx="2647366"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translate(x, y)</a:t>
            </a:r>
          </a:p>
        </p:txBody>
      </p:sp>
      <p:sp>
        <p:nvSpPr>
          <p:cNvPr id="13" name="Rectangle 12"/>
          <p:cNvSpPr/>
          <p:nvPr/>
        </p:nvSpPr>
        <p:spPr>
          <a:xfrm>
            <a:off x="3525190" y="1444752"/>
            <a:ext cx="3788336"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89782" y="1444752"/>
            <a:ext cx="3459152"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move along X and Y</a:t>
            </a:r>
          </a:p>
        </p:txBody>
      </p:sp>
      <p:sp>
        <p:nvSpPr>
          <p:cNvPr id="15" name="Rectangle 14"/>
          <p:cNvSpPr/>
          <p:nvPr/>
        </p:nvSpPr>
        <p:spPr>
          <a:xfrm>
            <a:off x="7313527" y="1444752"/>
            <a:ext cx="432952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78119" y="1444752"/>
            <a:ext cx="4000343"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translate(20px, -10px)</a:t>
            </a:r>
          </a:p>
        </p:txBody>
      </p:sp>
      <p:sp>
        <p:nvSpPr>
          <p:cNvPr id="17" name="Rectangle 16"/>
          <p:cNvSpPr/>
          <p:nvPr/>
        </p:nvSpPr>
        <p:spPr>
          <a:xfrm>
            <a:off x="548640" y="2011680"/>
            <a:ext cx="2976550"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011680"/>
            <a:ext cx="2647366"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rotate(deg)</a:t>
            </a:r>
          </a:p>
        </p:txBody>
      </p:sp>
      <p:sp>
        <p:nvSpPr>
          <p:cNvPr id="19" name="Rectangle 18"/>
          <p:cNvSpPr/>
          <p:nvPr/>
        </p:nvSpPr>
        <p:spPr>
          <a:xfrm>
            <a:off x="3525190" y="2011680"/>
            <a:ext cx="3788336"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89782" y="2011680"/>
            <a:ext cx="3459152"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spin around the origin</a:t>
            </a:r>
          </a:p>
        </p:txBody>
      </p:sp>
      <p:sp>
        <p:nvSpPr>
          <p:cNvPr id="21" name="Rectangle 20"/>
          <p:cNvSpPr/>
          <p:nvPr/>
        </p:nvSpPr>
        <p:spPr>
          <a:xfrm>
            <a:off x="7313527" y="2011680"/>
            <a:ext cx="432952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78119" y="2011680"/>
            <a:ext cx="4000343"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rotate(45deg)</a:t>
            </a:r>
          </a:p>
        </p:txBody>
      </p:sp>
      <p:sp>
        <p:nvSpPr>
          <p:cNvPr id="23" name="Rectangle 22"/>
          <p:cNvSpPr/>
          <p:nvPr/>
        </p:nvSpPr>
        <p:spPr>
          <a:xfrm>
            <a:off x="548640" y="2578608"/>
            <a:ext cx="297655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2578608"/>
            <a:ext cx="2647366"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scale(x, y)</a:t>
            </a:r>
          </a:p>
        </p:txBody>
      </p:sp>
      <p:sp>
        <p:nvSpPr>
          <p:cNvPr id="25" name="Rectangle 24"/>
          <p:cNvSpPr/>
          <p:nvPr/>
        </p:nvSpPr>
        <p:spPr>
          <a:xfrm>
            <a:off x="3525190" y="2578608"/>
            <a:ext cx="3788336"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89782" y="2578608"/>
            <a:ext cx="3459152"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grow / shrink / flip</a:t>
            </a:r>
          </a:p>
        </p:txBody>
      </p:sp>
      <p:sp>
        <p:nvSpPr>
          <p:cNvPr id="27" name="Rectangle 26"/>
          <p:cNvSpPr/>
          <p:nvPr/>
        </p:nvSpPr>
        <p:spPr>
          <a:xfrm>
            <a:off x="7313527" y="2578608"/>
            <a:ext cx="432952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78119" y="2578608"/>
            <a:ext cx="4000343"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scale(1.3)</a:t>
            </a:r>
          </a:p>
        </p:txBody>
      </p:sp>
      <p:sp>
        <p:nvSpPr>
          <p:cNvPr id="29" name="Rectangle 28"/>
          <p:cNvSpPr/>
          <p:nvPr/>
        </p:nvSpPr>
        <p:spPr>
          <a:xfrm>
            <a:off x="548640" y="3145536"/>
            <a:ext cx="2976550"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3145536"/>
            <a:ext cx="2647366"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skew(x, y)</a:t>
            </a:r>
          </a:p>
        </p:txBody>
      </p:sp>
      <p:sp>
        <p:nvSpPr>
          <p:cNvPr id="31" name="Rectangle 30"/>
          <p:cNvSpPr/>
          <p:nvPr/>
        </p:nvSpPr>
        <p:spPr>
          <a:xfrm>
            <a:off x="3525190" y="3145536"/>
            <a:ext cx="3788336"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89782" y="3145536"/>
            <a:ext cx="3459152"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tilt the box</a:t>
            </a:r>
          </a:p>
        </p:txBody>
      </p:sp>
      <p:sp>
        <p:nvSpPr>
          <p:cNvPr id="33" name="Rectangle 32"/>
          <p:cNvSpPr/>
          <p:nvPr/>
        </p:nvSpPr>
        <p:spPr>
          <a:xfrm>
            <a:off x="7313527" y="3145536"/>
            <a:ext cx="432952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78119" y="3145536"/>
            <a:ext cx="4000343"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skewX(-20deg)</a:t>
            </a:r>
          </a:p>
        </p:txBody>
      </p:sp>
      <p:sp>
        <p:nvSpPr>
          <p:cNvPr id="35" name="Rectangle 34"/>
          <p:cNvSpPr/>
          <p:nvPr/>
        </p:nvSpPr>
        <p:spPr>
          <a:xfrm>
            <a:off x="548640" y="3712464"/>
            <a:ext cx="297655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3232" y="3712464"/>
            <a:ext cx="2647366"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transform-origin</a:t>
            </a:r>
          </a:p>
        </p:txBody>
      </p:sp>
      <p:sp>
        <p:nvSpPr>
          <p:cNvPr id="37" name="Rectangle 36"/>
          <p:cNvSpPr/>
          <p:nvPr/>
        </p:nvSpPr>
        <p:spPr>
          <a:xfrm>
            <a:off x="3525190" y="3712464"/>
            <a:ext cx="3788336"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89782" y="3712464"/>
            <a:ext cx="3459152"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set the pivot point</a:t>
            </a:r>
          </a:p>
        </p:txBody>
      </p:sp>
      <p:sp>
        <p:nvSpPr>
          <p:cNvPr id="39" name="Rectangle 38"/>
          <p:cNvSpPr/>
          <p:nvPr/>
        </p:nvSpPr>
        <p:spPr>
          <a:xfrm>
            <a:off x="7313527" y="3712464"/>
            <a:ext cx="432952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78119" y="3712464"/>
            <a:ext cx="4000343"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transform-origin: top left;</a:t>
            </a:r>
          </a:p>
        </p:txBody>
      </p:sp>
      <p:sp>
        <p:nvSpPr>
          <p:cNvPr id="41" name="Rounded Rectangle 40"/>
          <p:cNvSpPr/>
          <p:nvPr/>
        </p:nvSpPr>
        <p:spPr>
          <a:xfrm>
            <a:off x="548640" y="4462272"/>
            <a:ext cx="11094415" cy="6858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8680" y="4553712"/>
            <a:ext cx="10454335" cy="365760"/>
          </a:xfrm>
          <a:prstGeom prst="rect">
            <a:avLst/>
          </a:prstGeom>
          <a:noFill/>
        </p:spPr>
        <p:txBody>
          <a:bodyPr wrap="square" anchor="t" lIns="0" rIns="0" tIns="0" bIns="0">
            <a:spAutoFit/>
          </a:bodyPr>
          <a:lstStyle/>
          <a:p>
            <a:pPr algn="l">
              <a:lnSpc>
                <a:spcPct val="110000"/>
              </a:lnSpc>
              <a:spcAft>
                <a:spcPts val="400"/>
              </a:spcAft>
            </a:pPr>
            <a:r>
              <a:rPr sz="1450" b="1" i="0">
                <a:solidFill>
                  <a:srgbClr val="0E3F8C"/>
                </a:solidFill>
                <a:latin typeface="Calibri"/>
                <a:ea typeface="Calibri"/>
              </a:rPr>
              <a:t>transform is presentational — it never changes the layout around it.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Transitions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Animations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Smooth the change</a:t>
            </a:r>
            <a:br/>
            <a:r>
              <a:rPr sz="1500" b="0" i="0">
                <a:solidFill>
                  <a:srgbClr val="4A5568"/>
                </a:solidFill>
                <a:latin typeface="Calibri"/>
                <a:ea typeface="Calibri"/>
              </a:rPr>
              <a:t>A property jump becomes a gradual change.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Triggered by state</a:t>
            </a:r>
            <a:br/>
            <a:r>
              <a:rPr sz="1500" b="0" i="0">
                <a:solidFill>
                  <a:srgbClr val="4A5568"/>
                </a:solidFill>
                <a:latin typeface="Calibri"/>
                <a:ea typeface="Calibri"/>
              </a:rPr>
              <a:t>Usually on :hover, :focus or a </a:t>
            </a:r>
            <a:r>
              <a:rPr sz="1500" b="0" i="0">
                <a:solidFill>
                  <a:srgbClr val="B8860B"/>
                </a:solidFill>
                <a:latin typeface="Consolas"/>
                <a:ea typeface="Consolas"/>
              </a:rPr>
              <a:t>class</a:t>
            </a:r>
            <a:r>
              <a:rPr sz="1500" b="0" i="0">
                <a:solidFill>
                  <a:srgbClr val="4A5568"/>
                </a:solidFill>
                <a:latin typeface="Calibri"/>
                <a:ea typeface="Calibri"/>
              </a:rPr>
              <a:t> change.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One or many properties</a:t>
            </a:r>
            <a:br/>
            <a:r>
              <a:rPr sz="1500" b="0" i="0">
                <a:solidFill>
                  <a:srgbClr val="4A5568"/>
                </a:solidFill>
                <a:latin typeface="Calibri"/>
                <a:ea typeface="Calibri"/>
              </a:rPr>
              <a:t>transition-property lists what animates.</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You set the duration</a:t>
            </a:r>
            <a:br/>
            <a:r>
              <a:rPr sz="1500" b="0" i="0">
                <a:solidFill>
                  <a:srgbClr val="4A5568"/>
                </a:solidFill>
                <a:latin typeface="Calibri"/>
                <a:ea typeface="Calibri"/>
              </a:rPr>
              <a:t>transition-duration — seconds or milliseconds.</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Change one state, ease into the next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editor.html?example=css-layout/transition</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transition: width 2s, height 4s;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transition Properties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Animations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transition-property</a:t>
            </a:r>
            <a:br/>
            <a:r>
              <a:rPr sz="1350" b="0" i="0">
                <a:solidFill>
                  <a:srgbClr val="4A5568"/>
                </a:solidFill>
                <a:latin typeface="Calibri"/>
                <a:ea typeface="Calibri"/>
              </a:rPr>
              <a:t>What animates — </a:t>
            </a:r>
            <a:r>
              <a:rPr sz="1350" b="0" i="0">
                <a:solidFill>
                  <a:srgbClr val="B8860B"/>
                </a:solidFill>
                <a:latin typeface="Consolas"/>
                <a:ea typeface="Consolas"/>
              </a:rPr>
              <a:t>width</a:t>
            </a:r>
            <a:r>
              <a:rPr sz="1350" b="0" i="0">
                <a:solidFill>
                  <a:srgbClr val="4A5568"/>
                </a:solidFill>
                <a:latin typeface="Calibri"/>
                <a:ea typeface="Calibri"/>
              </a:rPr>
              <a:t>, </a:t>
            </a:r>
            <a:r>
              <a:rPr sz="1350" b="0" i="0">
                <a:solidFill>
                  <a:srgbClr val="B8860B"/>
                </a:solidFill>
                <a:latin typeface="Consolas"/>
                <a:ea typeface="Consolas"/>
              </a:rPr>
              <a:t>height</a:t>
            </a:r>
            <a:r>
              <a:rPr sz="1350" b="0" i="0">
                <a:solidFill>
                  <a:srgbClr val="4A5568"/>
                </a:solidFill>
                <a:latin typeface="Calibri"/>
                <a:ea typeface="Calibri"/>
              </a:rPr>
              <a:t>, opacity…</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transition-duration</a:t>
            </a:r>
            <a:br/>
            <a:r>
              <a:rPr sz="1350" b="0" i="0">
                <a:solidFill>
                  <a:srgbClr val="4A5568"/>
                </a:solidFill>
                <a:latin typeface="Calibri"/>
                <a:ea typeface="Calibri"/>
              </a:rPr>
              <a:t>How long — 2s, 4s or 300ms.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transition-timing-function</a:t>
            </a:r>
            <a:br/>
            <a:r>
              <a:rPr sz="1350" b="0" i="0">
                <a:solidFill>
                  <a:srgbClr val="4A5568"/>
                </a:solidFill>
                <a:latin typeface="Calibri"/>
                <a:ea typeface="Calibri"/>
              </a:rPr>
              <a:t>The curve — ease, linear, ease-in, ease-out.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transition-delay</a:t>
            </a:r>
            <a:br/>
            <a:r>
              <a:rPr sz="1350" b="0" i="0">
                <a:solidFill>
                  <a:srgbClr val="4A5568"/>
                </a:solidFill>
                <a:latin typeface="Calibri"/>
                <a:ea typeface="Calibri"/>
              </a:rPr>
              <a:t>Wait before it starts.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Shorthand</a:t>
            </a:r>
            <a:br/>
            <a:r>
              <a:rPr sz="1350" b="0" i="0">
                <a:solidFill>
                  <a:srgbClr val="4A5568"/>
                </a:solidFill>
                <a:latin typeface="Calibri"/>
                <a:ea typeface="Calibri"/>
              </a:rPr>
              <a:t>property · duration · curve · delay, in that order.</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.box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transition-property</a:t>
            </a:r>
            <a:r>
              <a:rPr sz="1300" b="0" i="0">
                <a:solidFill>
                  <a:srgbClr val="98C379"/>
                </a:solidFill>
                <a:latin typeface="Consolas"/>
                <a:ea typeface="Consolas"/>
              </a:rPr>
              <a:t>: width, height;</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transition-duration</a:t>
            </a:r>
            <a:r>
              <a:rPr sz="1300" b="0" i="0">
                <a:solidFill>
                  <a:srgbClr val="98C379"/>
                </a:solidFill>
                <a:latin typeface="Consolas"/>
                <a:ea typeface="Consolas"/>
              </a:rPr>
              <a:t>: 2s, 4s;</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transition-timing-function</a:t>
            </a:r>
            <a:r>
              <a:rPr sz="1300" b="0" i="0">
                <a:solidFill>
                  <a:srgbClr val="98C379"/>
                </a:solidFill>
                <a:latin typeface="Consolas"/>
                <a:ea typeface="Consolas"/>
              </a:rPr>
              <a:t>: ease;</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the same thing, one line */</a:t>
            </a:r>
          </a:p>
          <a:p>
            <a:pPr>
              <a:spcAft>
                <a:spcPts val="350"/>
              </a:spcAft>
            </a:pPr>
            <a:r>
              <a:rPr sz="1300" b="0" i="0">
                <a:solidFill>
                  <a:srgbClr val="61AFEF"/>
                </a:solidFill>
                <a:latin typeface="Consolas"/>
                <a:ea typeface="Consolas"/>
              </a:rPr>
              <a:t>.box { </a:t>
            </a:r>
            <a:r>
              <a:rPr sz="1300" b="0" i="0">
                <a:solidFill>
                  <a:srgbClr val="E5C07B"/>
                </a:solidFill>
                <a:latin typeface="Consolas"/>
                <a:ea typeface="Consolas"/>
              </a:rPr>
              <a:t>transition</a:t>
            </a:r>
            <a:r>
              <a:rPr sz="1300" b="0" i="0">
                <a:solidFill>
                  <a:srgbClr val="98C379"/>
                </a:solidFill>
                <a:latin typeface="Consolas"/>
                <a:ea typeface="Consolas"/>
              </a:rPr>
              <a:t>: width 2s, height 4s;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editor.html?example=css-layout/transition</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Put transition on the base state — it plays when the state changes.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Timing Functions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Animations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ease</a:t>
            </a:r>
            <a:br/>
            <a:r>
              <a:rPr sz="1500" b="0" i="0">
                <a:solidFill>
                  <a:srgbClr val="4A5568"/>
                </a:solidFill>
                <a:latin typeface="Calibri"/>
                <a:ea typeface="Calibri"/>
              </a:rPr>
              <a:t>Slow start, fast middle, slow end — the default.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linear</a:t>
            </a:r>
            <a:br/>
            <a:r>
              <a:rPr sz="1500" b="0" i="0">
                <a:solidFill>
                  <a:srgbClr val="4A5568"/>
                </a:solidFill>
                <a:latin typeface="Calibri"/>
                <a:ea typeface="Calibri"/>
              </a:rPr>
              <a:t>Constant speed from start to finish.</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ease-in</a:t>
            </a:r>
            <a:br/>
            <a:r>
              <a:rPr sz="1500" b="0" i="0">
                <a:solidFill>
                  <a:srgbClr val="4A5568"/>
                </a:solidFill>
                <a:latin typeface="Calibri"/>
                <a:ea typeface="Calibri"/>
              </a:rPr>
              <a:t>Slow start, then speeds up.</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ease-out</a:t>
            </a:r>
            <a:br/>
            <a:r>
              <a:rPr sz="1500" b="0" i="0">
                <a:solidFill>
                  <a:srgbClr val="4A5568"/>
                </a:solidFill>
                <a:latin typeface="Calibri"/>
                <a:ea typeface="Calibri"/>
              </a:rPr>
              <a:t>Fast start, then slows down.</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ease-in-out</a:t>
            </a:r>
            <a:br/>
            <a:r>
              <a:rPr sz="1500" b="0" i="0">
                <a:solidFill>
                  <a:srgbClr val="4A5568"/>
                </a:solidFill>
                <a:latin typeface="Calibri"/>
                <a:ea typeface="Calibri"/>
              </a:rPr>
              <a:t>Slow at both ends, fast in the middle.</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The curve decides the feel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editor.html?example=css-layout/timing-function</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transition-timing-function: ease-in-out;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What Can Be Transitioned</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Animations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Numbers interpolate</a:t>
            </a:r>
            <a:br/>
            <a:r>
              <a:rPr sz="1500" b="0" i="0">
                <a:solidFill>
                  <a:srgbClr val="4A5568"/>
                </a:solidFill>
                <a:latin typeface="Calibri"/>
                <a:ea typeface="Calibri"/>
              </a:rPr>
              <a:t>Lengths, colours, opacity, angles — anything with a halfway </a:t>
            </a:r>
            <a:r>
              <a:rPr sz="1500" b="0" i="0">
                <a:solidFill>
                  <a:srgbClr val="B8860B"/>
                </a:solidFill>
                <a:latin typeface="Consolas"/>
                <a:ea typeface="Consolas"/>
              </a:rPr>
              <a:t>value</a:t>
            </a:r>
            <a:r>
              <a:rPr sz="1500" b="0" i="0">
                <a:solidFill>
                  <a:srgbClr val="4A5568"/>
                </a:solidFill>
                <a:latin typeface="Calibri"/>
                <a:ea typeface="Calibri"/>
              </a:rPr>
              <a: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Keywords do not</a:t>
            </a:r>
            <a:br/>
            <a:r>
              <a:rPr sz="1500" b="0" i="0">
                <a:solidFill>
                  <a:srgbClr val="4A5568"/>
                </a:solidFill>
                <a:latin typeface="Calibri"/>
                <a:ea typeface="Calibri"/>
              </a:rPr>
              <a:t>display: none → block has no in-between; it jumps.</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transition: all</a:t>
            </a:r>
            <a:br/>
            <a:r>
              <a:rPr sz="1500" b="0" i="0">
                <a:solidFill>
                  <a:srgbClr val="4A5568"/>
                </a:solidFill>
                <a:latin typeface="Calibri"/>
                <a:ea typeface="Calibri"/>
              </a:rPr>
              <a:t>Transitions properties you never meant to. Name them.</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Transform, not </a:t>
            </a:r>
            <a:r>
              <a:rPr sz="1700" b="1" i="0">
                <a:solidFill>
                  <a:srgbClr val="B8860B"/>
                </a:solidFill>
                <a:latin typeface="Consolas"/>
                <a:ea typeface="Consolas"/>
              </a:rPr>
              <a:t>width</a:t>
            </a:r>
            <a:br/>
            <a:r>
              <a:rPr sz="1500" b="0" i="0">
                <a:solidFill>
                  <a:srgbClr val="4A5568"/>
                </a:solidFill>
                <a:latin typeface="Calibri"/>
                <a:ea typeface="Calibri"/>
              </a:rPr>
              <a:t>The demo animates </a:t>
            </a:r>
            <a:r>
              <a:rPr sz="1500" b="0" i="0">
                <a:solidFill>
                  <a:srgbClr val="B8860B"/>
                </a:solidFill>
                <a:latin typeface="Consolas"/>
                <a:ea typeface="Consolas"/>
              </a:rPr>
              <a:t>width</a:t>
            </a:r>
            <a:r>
              <a:rPr sz="1500" b="0" i="0">
                <a:solidFill>
                  <a:srgbClr val="4A5568"/>
                </a:solidFill>
                <a:latin typeface="Calibri"/>
                <a:ea typeface="Calibri"/>
              </a:rPr>
              <a:t> to be easy to see — a real UI animates </a:t>
            </a:r>
            <a:r>
              <a:rPr sz="1500" b="0" i="0">
                <a:solidFill>
                  <a:srgbClr val="B8860B"/>
                </a:solidFill>
                <a:latin typeface="Consolas"/>
                <a:ea typeface="Consolas"/>
              </a:rPr>
              <a:t>transform</a:t>
            </a:r>
            <a:r>
              <a:rPr sz="1500" b="0" i="0">
                <a:solidFill>
                  <a:srgbClr val="4A5568"/>
                </a:solidFill>
                <a:latin typeface="Calibri"/>
                <a:ea typeface="Calibri"/>
              </a:rPr>
              <a: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Delay is your friend</a:t>
            </a:r>
            <a:br/>
            <a:r>
              <a:rPr sz="1500" b="0" i="0">
                <a:solidFill>
                  <a:srgbClr val="4A5568"/>
                </a:solidFill>
                <a:latin typeface="Calibri"/>
                <a:ea typeface="Calibri"/>
              </a:rPr>
              <a:t>Stagger a row of cards with transition-delay.</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Check the property</a:t>
            </a:r>
            <a:br/>
            <a:r>
              <a:rPr sz="1500" b="0" i="0">
                <a:solidFill>
                  <a:srgbClr val="4A5568"/>
                </a:solidFill>
                <a:latin typeface="Calibri"/>
                <a:ea typeface="Calibri"/>
              </a:rPr>
              <a:t>Anything a browser can draw can usually be eased.</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Ease what can be eased — and only what you meant</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.card { transition: transform 0.3s ease, box-shadow 0.3s ease; }</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Transition Recipes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Animations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Hover lift</a:t>
            </a:r>
            <a:br/>
            <a:r>
              <a:rPr sz="1500" b="0" i="0">
                <a:solidFill>
                  <a:srgbClr val="4A5568"/>
                </a:solidFill>
                <a:latin typeface="Calibri"/>
                <a:ea typeface="Calibri"/>
              </a:rPr>
              <a:t>translateY(-4px) plus a bigger shadow.</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Button fill</a:t>
            </a:r>
            <a:br/>
            <a:r>
              <a:rPr sz="1500" b="0" i="0">
                <a:solidFill>
                  <a:srgbClr val="4A5568"/>
                </a:solidFill>
                <a:latin typeface="Calibri"/>
                <a:ea typeface="Calibri"/>
              </a:rPr>
              <a:t>background sweeps in from one side.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Underline slide</a:t>
            </a:r>
            <a:br/>
            <a:r>
              <a:rPr sz="1500" b="0" i="0">
                <a:solidFill>
                  <a:srgbClr val="4A5568"/>
                </a:solidFill>
                <a:latin typeface="Calibri"/>
                <a:ea typeface="Calibri"/>
              </a:rPr>
              <a:t>A link's underline grows from the left.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Image zoom</a:t>
            </a:r>
            <a:br/>
            <a:r>
              <a:rPr sz="1500" b="0" i="0">
                <a:solidFill>
                  <a:srgbClr val="4A5568"/>
                </a:solidFill>
                <a:latin typeface="Calibri"/>
                <a:ea typeface="Calibri"/>
              </a:rPr>
              <a:t>scale(1.05) inside overflow: hidden.</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Press down</a:t>
            </a:r>
            <a:br/>
            <a:r>
              <a:rPr sz="1500" b="0" i="0">
                <a:solidFill>
                  <a:srgbClr val="4A5568"/>
                </a:solidFill>
                <a:latin typeface="Calibri"/>
                <a:ea typeface="Calibri"/>
              </a:rPr>
              <a:t>scale(0.97) on :active — instant feedback.</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Focus ring</a:t>
            </a:r>
            <a:br/>
            <a:r>
              <a:rPr sz="1500" b="0" i="0">
                <a:solidFill>
                  <a:srgbClr val="4A5568"/>
                </a:solidFill>
                <a:latin typeface="Calibri"/>
                <a:ea typeface="Calibri"/>
              </a:rPr>
              <a:t>box-shadow appears on :focus-visible.</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Hover, focus, press, toggle — one shape for all of them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editor.html?example=css-layout/transition-recipes</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transition: transform 0.2s ease, box-shadow 0.2s ease;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@keyframes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Animations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Define the steps</a:t>
            </a:r>
            <a:br/>
            <a:r>
              <a:rPr sz="1350" b="0" i="0">
                <a:solidFill>
                  <a:srgbClr val="4A5568"/>
                </a:solidFill>
                <a:latin typeface="Calibri"/>
                <a:ea typeface="Calibri"/>
              </a:rPr>
              <a:t>@keyframes </a:t>
            </a:r>
            <a:r>
              <a:rPr sz="1350" b="0" i="0">
                <a:solidFill>
                  <a:srgbClr val="B8860B"/>
                </a:solidFill>
                <a:latin typeface="Consolas"/>
                <a:ea typeface="Consolas"/>
              </a:rPr>
              <a:t>name</a:t>
            </a:r>
            <a:r>
              <a:rPr sz="1350" b="0" i="0">
                <a:solidFill>
                  <a:srgbClr val="4A5568"/>
                </a:solidFill>
                <a:latin typeface="Calibri"/>
                <a:ea typeface="Calibri"/>
              </a:rPr>
              <a:t> { from … to … } or 0% … 100%.</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from / to</a:t>
            </a:r>
            <a:br/>
            <a:r>
              <a:rPr sz="1350" b="0" i="0">
                <a:solidFill>
                  <a:srgbClr val="4A5568"/>
                </a:solidFill>
                <a:latin typeface="Calibri"/>
                <a:ea typeface="Calibri"/>
              </a:rPr>
              <a:t>Shorthand for 0% and 100%.</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Percentages</a:t>
            </a:r>
            <a:br/>
            <a:r>
              <a:rPr sz="1350" b="0" i="0">
                <a:solidFill>
                  <a:srgbClr val="4A5568"/>
                </a:solidFill>
                <a:latin typeface="Calibri"/>
                <a:ea typeface="Calibri"/>
              </a:rPr>
              <a:t>Any number of stops — 0%, 25%, 50%, 100%.</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Animate anything</a:t>
            </a:r>
            <a:br/>
            <a:r>
              <a:rPr sz="1350" b="0" i="0">
                <a:solidFill>
                  <a:srgbClr val="4A5568"/>
                </a:solidFill>
                <a:latin typeface="Calibri"/>
                <a:ea typeface="Calibri"/>
              </a:rPr>
              <a:t>Any animatable property inside each </a:t>
            </a:r>
            <a:r>
              <a:rPr sz="1350" b="0" i="0">
                <a:solidFill>
                  <a:srgbClr val="B8860B"/>
                </a:solidFill>
                <a:latin typeface="Consolas"/>
                <a:ea typeface="Consolas"/>
              </a:rPr>
              <a:t>step</a:t>
            </a:r>
            <a:r>
              <a:rPr sz="1350" b="0" i="0">
                <a:solidFill>
                  <a:srgbClr val="4A5568"/>
                </a:solidFill>
                <a:latin typeface="Calibri"/>
                <a:ea typeface="Calibri"/>
              </a:rPr>
              <a:t>.</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@keyframes bounce {</a:t>
            </a:r>
          </a:p>
          <a:p>
            <a:pPr>
              <a:spcAft>
                <a:spcPts val="350"/>
              </a:spcAft>
            </a:pPr>
            <a:r>
              <a:rPr sz="1300" b="0" i="0">
                <a:solidFill>
                  <a:srgbClr val="7F8C98"/>
                </a:solidFill>
                <a:latin typeface="Consolas"/>
                <a:ea typeface="Consolas"/>
              </a:rPr>
              <a:t>  </a:t>
            </a:r>
            <a:r>
              <a:rPr sz="1300" b="0" i="0">
                <a:solidFill>
                  <a:srgbClr val="61AFEF"/>
                </a:solidFill>
                <a:latin typeface="Consolas"/>
                <a:ea typeface="Consolas"/>
              </a:rPr>
              <a:t>from</a:t>
            </a:r>
            <a:r>
              <a:rPr sz="1300" b="0" i="0">
                <a:solidFill>
                  <a:srgbClr val="7F8C98"/>
                </a:solidFill>
                <a:latin typeface="Consolas"/>
                <a:ea typeface="Consolas"/>
              </a:rPr>
              <a:t> { </a:t>
            </a:r>
            <a:r>
              <a:rPr sz="1300" b="0" i="0">
                <a:solidFill>
                  <a:srgbClr val="E5C07B"/>
                </a:solidFill>
                <a:latin typeface="Consolas"/>
                <a:ea typeface="Consolas"/>
              </a:rPr>
              <a:t>transform</a:t>
            </a:r>
            <a:r>
              <a:rPr sz="1300" b="0" i="0">
                <a:solidFill>
                  <a:srgbClr val="98C379"/>
                </a:solidFill>
                <a:latin typeface="Consolas"/>
                <a:ea typeface="Consolas"/>
              </a:rPr>
              <a:t>: translateY(0); }</a:t>
            </a:r>
          </a:p>
          <a:p>
            <a:pPr>
              <a:spcAft>
                <a:spcPts val="350"/>
              </a:spcAft>
            </a:pPr>
            <a:r>
              <a:rPr sz="1300" b="0" i="0">
                <a:solidFill>
                  <a:srgbClr val="7F8C98"/>
                </a:solidFill>
                <a:latin typeface="Consolas"/>
                <a:ea typeface="Consolas"/>
              </a:rPr>
              <a:t>  </a:t>
            </a:r>
            <a:r>
              <a:rPr sz="1300" b="0" i="0">
                <a:solidFill>
                  <a:srgbClr val="61AFEF"/>
                </a:solidFill>
                <a:latin typeface="Consolas"/>
                <a:ea typeface="Consolas"/>
              </a:rPr>
              <a:t>to</a:t>
            </a:r>
            <a:r>
              <a:rPr sz="1300" b="0" i="0">
                <a:solidFill>
                  <a:srgbClr val="7F8C98"/>
                </a:solidFill>
                <a:latin typeface="Consolas"/>
                <a:ea typeface="Consolas"/>
              </a:rPr>
              <a:t>   { </a:t>
            </a:r>
            <a:r>
              <a:rPr sz="1300" b="0" i="0">
                <a:solidFill>
                  <a:srgbClr val="E5C07B"/>
                </a:solidFill>
                <a:latin typeface="Consolas"/>
                <a:ea typeface="Consolas"/>
              </a:rPr>
              <a:t>transform</a:t>
            </a:r>
            <a:r>
              <a:rPr sz="1300" b="0" i="0">
                <a:solidFill>
                  <a:srgbClr val="98C379"/>
                </a:solidFill>
                <a:latin typeface="Consolas"/>
                <a:ea typeface="Consolas"/>
              </a:rPr>
              <a:t>: translateY(120px); }</a:t>
            </a:r>
          </a:p>
          <a:p>
            <a:pPr>
              <a:spcAft>
                <a:spcPts val="350"/>
              </a:spcAft>
            </a:pPr>
            <a:r>
              <a:rPr sz="1300" b="0" i="0">
                <a:solidFill>
                  <a:srgbClr val="C678DD"/>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the element that runs it */</a:t>
            </a:r>
          </a:p>
          <a:p>
            <a:pPr>
              <a:spcAft>
                <a:spcPts val="350"/>
              </a:spcAft>
            </a:pPr>
            <a:r>
              <a:rPr sz="1300" b="0" i="0">
                <a:solidFill>
                  <a:srgbClr val="61AFEF"/>
                </a:solidFill>
                <a:latin typeface="Consolas"/>
                <a:ea typeface="Consolas"/>
              </a:rPr>
              <a:t>.ball {</a:t>
            </a:r>
          </a:p>
          <a:p>
            <a:pPr>
              <a:spcAft>
                <a:spcPts val="350"/>
              </a:spcAft>
            </a:pPr>
            <a:r>
              <a:rPr sz="1300" b="0" i="0">
                <a:solidFill>
                  <a:srgbClr val="98C379"/>
                </a:solidFill>
                <a:latin typeface="Consolas"/>
                <a:ea typeface="Consolas"/>
              </a:rPr>
              <a:t>  animation: bounce 1s ease infinite alternate;</a:t>
            </a:r>
          </a:p>
          <a:p>
            <a:pPr>
              <a:spcAft>
                <a:spcPts val="350"/>
              </a:spcAft>
            </a:pPr>
            <a:r>
              <a:rPr sz="1300" b="0" i="0">
                <a:solidFill>
                  <a:srgbClr val="61AFEF"/>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editor.html?example=css-layout/keyframes</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Keyframes are the recipe — animation is the instruction to run it.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The animation Shorthand</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Animations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animation-name</a:t>
            </a:r>
            <a:br/>
            <a:r>
              <a:rPr sz="1350" b="0" i="0">
                <a:solidFill>
                  <a:srgbClr val="4A5568"/>
                </a:solidFill>
                <a:latin typeface="Calibri"/>
                <a:ea typeface="Calibri"/>
              </a:rPr>
              <a:t>Which @keyframes to run.</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animation-duration</a:t>
            </a:r>
            <a:br/>
            <a:r>
              <a:rPr sz="1350" b="0" i="0">
                <a:solidFill>
                  <a:srgbClr val="4A5568"/>
                </a:solidFill>
                <a:latin typeface="Calibri"/>
                <a:ea typeface="Calibri"/>
              </a:rPr>
              <a:t>How long one cycle takes.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animation-iteration-count</a:t>
            </a:r>
            <a:br/>
            <a:r>
              <a:rPr sz="1350" b="0" i="0">
                <a:solidFill>
                  <a:srgbClr val="4A5568"/>
                </a:solidFill>
                <a:latin typeface="Calibri"/>
                <a:ea typeface="Calibri"/>
              </a:rPr>
              <a:t>infinite, or a number of loops.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animation-direction</a:t>
            </a:r>
            <a:br/>
            <a:r>
              <a:rPr sz="1350" b="0" i="0">
                <a:solidFill>
                  <a:srgbClr val="4A5568"/>
                </a:solidFill>
                <a:latin typeface="Calibri"/>
                <a:ea typeface="Calibri"/>
              </a:rPr>
              <a:t>alternate plays it forward, then back.</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Order</a:t>
            </a:r>
            <a:br/>
            <a:r>
              <a:rPr sz="1350" b="0" i="0">
                <a:solidFill>
                  <a:srgbClr val="B8860B"/>
                </a:solidFill>
                <a:latin typeface="Consolas"/>
                <a:ea typeface="Consolas"/>
              </a:rPr>
              <a:t>name</a:t>
            </a:r>
            <a:r>
              <a:rPr sz="1350" b="0" i="0">
                <a:solidFill>
                  <a:srgbClr val="4A5568"/>
                </a:solidFill>
                <a:latin typeface="Calibri"/>
                <a:ea typeface="Calibri"/>
              </a:rPr>
              <a:t>, duration, curve, delay, count, direction, fill.</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longhand */</a:t>
            </a:r>
          </a:p>
          <a:p>
            <a:pPr>
              <a:spcAft>
                <a:spcPts val="350"/>
              </a:spcAft>
            </a:pPr>
            <a:r>
              <a:rPr sz="1300" b="0" i="0">
                <a:solidFill>
                  <a:srgbClr val="61AFEF"/>
                </a:solidFill>
                <a:latin typeface="Consolas"/>
                <a:ea typeface="Consolas"/>
              </a:rPr>
              <a:t>.ball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animation-name</a:t>
            </a:r>
            <a:r>
              <a:rPr sz="1300" b="0" i="0">
                <a:solidFill>
                  <a:srgbClr val="98C379"/>
                </a:solidFill>
                <a:latin typeface="Consolas"/>
                <a:ea typeface="Consolas"/>
              </a:rPr>
              <a:t>: bounce;</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animation-duration</a:t>
            </a:r>
            <a:r>
              <a:rPr sz="1300" b="0" i="0">
                <a:solidFill>
                  <a:srgbClr val="98C379"/>
                </a:solidFill>
                <a:latin typeface="Consolas"/>
                <a:ea typeface="Consolas"/>
              </a:rPr>
              <a:t>: 1s;</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animation-iteration-count</a:t>
            </a:r>
            <a:r>
              <a:rPr sz="1300" b="0" i="0">
                <a:solidFill>
                  <a:srgbClr val="98C379"/>
                </a:solidFill>
                <a:latin typeface="Consolas"/>
                <a:ea typeface="Consolas"/>
              </a:rPr>
              <a:t>: infinite;</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animation-direction</a:t>
            </a:r>
            <a:r>
              <a:rPr sz="1300" b="0" i="0">
                <a:solidFill>
                  <a:srgbClr val="98C379"/>
                </a:solidFill>
                <a:latin typeface="Consolas"/>
                <a:ea typeface="Consolas"/>
              </a:rPr>
              <a:t>: alternate;</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one line */</a:t>
            </a:r>
          </a:p>
          <a:p>
            <a:pPr>
              <a:spcAft>
                <a:spcPts val="350"/>
              </a:spcAft>
            </a:pPr>
            <a:r>
              <a:rPr sz="1300" b="0" i="0">
                <a:solidFill>
                  <a:srgbClr val="61AFEF"/>
                </a:solidFill>
                <a:latin typeface="Consolas"/>
                <a:ea typeface="Consolas"/>
              </a:rPr>
              <a:t>.ball { </a:t>
            </a:r>
            <a:r>
              <a:rPr sz="1300" b="0" i="0">
                <a:solidFill>
                  <a:srgbClr val="E5C07B"/>
                </a:solidFill>
                <a:latin typeface="Consolas"/>
                <a:ea typeface="Consolas"/>
              </a:rPr>
              <a:t>animation</a:t>
            </a:r>
            <a:r>
              <a:rPr sz="1300" b="0" i="0">
                <a:solidFill>
                  <a:srgbClr val="98C379"/>
                </a:solidFill>
                <a:latin typeface="Consolas"/>
                <a:ea typeface="Consolas"/>
              </a:rPr>
              <a:t>: bounce 1s ease infinite;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css-layout/animation-shorthand</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The shorthand reads: name, duration, timing, delay, count, direction.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The animation Properties in Full</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Animations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animation-delay</a:t>
            </a:r>
            <a:br/>
            <a:r>
              <a:rPr sz="1350" b="0" i="0">
                <a:solidFill>
                  <a:srgbClr val="4A5568"/>
                </a:solidFill>
                <a:latin typeface="Calibri"/>
                <a:ea typeface="Calibri"/>
              </a:rPr>
              <a:t>Wait before the first cycle starts.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animation-direction</a:t>
            </a:r>
            <a:br/>
            <a:r>
              <a:rPr sz="1350" b="0" i="0">
                <a:solidFill>
                  <a:srgbClr val="4A5568"/>
                </a:solidFill>
                <a:latin typeface="Calibri"/>
                <a:ea typeface="Calibri"/>
              </a:rPr>
              <a:t>normal, reverse, alternate, alternate-reverse — which way each cycle runs.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animation-fill-mode</a:t>
            </a:r>
            <a:br/>
            <a:r>
              <a:rPr sz="1350" b="0" i="0">
                <a:solidFill>
                  <a:srgbClr val="4A5568"/>
                </a:solidFill>
                <a:latin typeface="Calibri"/>
                <a:ea typeface="Calibri"/>
              </a:rPr>
              <a:t>none, forwards, backwards, both — what it looks like before it starts and after it ends.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animation-play-state</a:t>
            </a:r>
            <a:br/>
            <a:r>
              <a:rPr sz="1350" b="0" i="0">
                <a:solidFill>
                  <a:srgbClr val="4A5568"/>
                </a:solidFill>
                <a:latin typeface="Calibri"/>
                <a:ea typeface="Calibri"/>
              </a:rPr>
              <a:t>running or paused — pause it from JavaScript.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animation-timing-function</a:t>
            </a:r>
            <a:br/>
            <a:r>
              <a:rPr sz="1350" b="0" i="0">
                <a:solidFill>
                  <a:srgbClr val="4A5568"/>
                </a:solidFill>
                <a:latin typeface="Calibri"/>
                <a:ea typeface="Calibri"/>
              </a:rPr>
              <a:t>Same curves as transition — including steps().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.ball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animation-name</a:t>
            </a:r>
            <a:r>
              <a:rPr sz="1300" b="0" i="0">
                <a:solidFill>
                  <a:srgbClr val="98C379"/>
                </a:solidFill>
                <a:latin typeface="Consolas"/>
                <a:ea typeface="Consolas"/>
              </a:rPr>
              <a:t>: bounce;</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animation-duration</a:t>
            </a:r>
            <a:r>
              <a:rPr sz="1300" b="0" i="0">
                <a:solidFill>
                  <a:srgbClr val="98C379"/>
                </a:solidFill>
                <a:latin typeface="Consolas"/>
                <a:ea typeface="Consolas"/>
              </a:rPr>
              <a:t>: 1.2s;</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animation-delay</a:t>
            </a:r>
            <a:r>
              <a:rPr sz="1300" b="0" i="0">
                <a:solidFill>
                  <a:srgbClr val="98C379"/>
                </a:solidFill>
                <a:latin typeface="Consolas"/>
                <a:ea typeface="Consolas"/>
              </a:rPr>
              <a:t>: 0.2s;</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animation-timing-function</a:t>
            </a:r>
            <a:r>
              <a:rPr sz="1300" b="0" i="0">
                <a:solidFill>
                  <a:srgbClr val="98C379"/>
                </a:solidFill>
                <a:latin typeface="Consolas"/>
                <a:ea typeface="Consolas"/>
              </a:rPr>
              <a:t>: ease-out;</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animation-iteration-count</a:t>
            </a:r>
            <a:r>
              <a:rPr sz="1300" b="0" i="0">
                <a:solidFill>
                  <a:srgbClr val="98C379"/>
                </a:solidFill>
                <a:latin typeface="Consolas"/>
                <a:ea typeface="Consolas"/>
              </a:rPr>
              <a:t>: 3;</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animation-direction</a:t>
            </a:r>
            <a:r>
              <a:rPr sz="1300" b="0" i="0">
                <a:solidFill>
                  <a:srgbClr val="98C379"/>
                </a:solidFill>
                <a:latin typeface="Consolas"/>
                <a:ea typeface="Consolas"/>
              </a:rPr>
              <a:t>: alternate;</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animation-fill-mode</a:t>
            </a:r>
            <a:r>
              <a:rPr sz="1300" b="0" i="0">
                <a:solidFill>
                  <a:srgbClr val="98C379"/>
                </a:solidFill>
                <a:latin typeface="Consolas"/>
                <a:ea typeface="Consolas"/>
              </a:rPr>
              <a:t>: forwards;</a:t>
            </a:r>
          </a:p>
          <a:p>
            <a:pPr>
              <a:spcAft>
                <a:spcPts val="350"/>
              </a:spcAft>
            </a:pPr>
            <a:r>
              <a:rPr sz="1300" b="0" i="0">
                <a:solidFill>
                  <a:srgbClr val="61AFEF"/>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css-layout/animation-direction</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Eight longhands — the shorthand covers the common combinations.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Multi-Stop Keyframes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Animations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More than two stops</a:t>
            </a:r>
            <a:br/>
            <a:r>
              <a:rPr sz="1350" b="0" i="0">
                <a:solidFill>
                  <a:srgbClr val="4A5568"/>
                </a:solidFill>
                <a:latin typeface="Calibri"/>
                <a:ea typeface="Calibri"/>
              </a:rPr>
              <a:t>0% and 100% are just the ends of the timeline.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Shared stops</a:t>
            </a:r>
            <a:br/>
            <a:r>
              <a:rPr sz="1350" b="0" i="0">
                <a:solidFill>
                  <a:srgbClr val="4A5568"/>
                </a:solidFill>
                <a:latin typeface="Calibri"/>
                <a:ea typeface="Calibri"/>
              </a:rPr>
              <a:t>0%, 100% { … } applies one block to both.</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It holds between stops</a:t>
            </a:r>
            <a:br/>
            <a:r>
              <a:rPr sz="1350" b="0" i="0">
                <a:solidFill>
                  <a:srgbClr val="4A5568"/>
                </a:solidFill>
                <a:latin typeface="Calibri"/>
                <a:ea typeface="Calibri"/>
              </a:rPr>
              <a:t>With no stop between 70% and 100% the </a:t>
            </a:r>
            <a:r>
              <a:rPr sz="1350" b="0" i="0">
                <a:solidFill>
                  <a:srgbClr val="B8860B"/>
                </a:solidFill>
                <a:latin typeface="Consolas"/>
                <a:ea typeface="Consolas"/>
              </a:rPr>
              <a:t>value</a:t>
            </a:r>
            <a:r>
              <a:rPr sz="1350" b="0" i="0">
                <a:solidFill>
                  <a:srgbClr val="4A5568"/>
                </a:solidFill>
                <a:latin typeface="Calibri"/>
                <a:ea typeface="Calibri"/>
              </a:rPr>
              <a:t> is frozen.</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Reads as a story</a:t>
            </a:r>
            <a:br/>
            <a:r>
              <a:rPr sz="1350" b="0" i="0">
                <a:solidFill>
                  <a:srgbClr val="4A5568"/>
                </a:solidFill>
                <a:latin typeface="Calibri"/>
                <a:ea typeface="Calibri"/>
              </a:rPr>
              <a:t>Each percentage is one moment of the animation.</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@keyframes traffic {</a:t>
            </a:r>
          </a:p>
          <a:p>
            <a:pPr>
              <a:spcAft>
                <a:spcPts val="350"/>
              </a:spcAft>
            </a:pPr>
            <a:r>
              <a:rPr sz="1300" b="0" i="0">
                <a:solidFill>
                  <a:srgbClr val="98C379"/>
                </a:solidFill>
                <a:latin typeface="Consolas"/>
                <a:ea typeface="Consolas"/>
              </a:rPr>
              <a:t>  0%       { background: #d9534f; }</a:t>
            </a:r>
          </a:p>
          <a:p>
            <a:pPr>
              <a:spcAft>
                <a:spcPts val="350"/>
              </a:spcAft>
            </a:pPr>
            <a:r>
              <a:rPr sz="1300" b="0" i="0">
                <a:solidFill>
                  <a:srgbClr val="98C379"/>
                </a:solidFill>
                <a:latin typeface="Consolas"/>
                <a:ea typeface="Consolas"/>
              </a:rPr>
              <a:t>  40%      { background: #ffc107; }</a:t>
            </a:r>
          </a:p>
          <a:p>
            <a:pPr>
              <a:spcAft>
                <a:spcPts val="350"/>
              </a:spcAft>
            </a:pPr>
            <a:r>
              <a:rPr sz="1300" b="0" i="0">
                <a:solidFill>
                  <a:srgbClr val="98C379"/>
                </a:solidFill>
                <a:latin typeface="Consolas"/>
                <a:ea typeface="Consolas"/>
              </a:rPr>
              <a:t>  70%, 100% { background: #3d9970; }</a:t>
            </a:r>
          </a:p>
          <a:p>
            <a:pPr>
              <a:spcAft>
                <a:spcPts val="350"/>
              </a:spcAft>
            </a:pPr>
            <a:r>
              <a:rPr sz="1300" b="0" i="0">
                <a:solidFill>
                  <a:srgbClr val="C678DD"/>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equal stops = a hard cut, not a fade */</a:t>
            </a:r>
          </a:p>
          <a:p>
            <a:pPr>
              <a:spcAft>
                <a:spcPts val="350"/>
              </a:spcAft>
            </a:pPr>
            <a:r>
              <a:rPr sz="1300" b="0" i="0">
                <a:solidFill>
                  <a:srgbClr val="C678DD"/>
                </a:solidFill>
                <a:latin typeface="Consolas"/>
                <a:ea typeface="Consolas"/>
              </a:rPr>
              <a:t>@keyframes blink {</a:t>
            </a:r>
          </a:p>
          <a:p>
            <a:pPr>
              <a:spcAft>
                <a:spcPts val="350"/>
              </a:spcAft>
            </a:pPr>
            <a:r>
              <a:rPr sz="1300" b="0" i="0">
                <a:solidFill>
                  <a:srgbClr val="98C379"/>
                </a:solidFill>
                <a:latin typeface="Consolas"/>
                <a:ea typeface="Consolas"/>
              </a:rPr>
              <a:t>  0%, 49%  { opacity: 1; }</a:t>
            </a:r>
          </a:p>
          <a:p>
            <a:pPr>
              <a:spcAft>
                <a:spcPts val="350"/>
              </a:spcAft>
            </a:pPr>
            <a:r>
              <a:rPr sz="1300" b="0" i="0">
                <a:solidFill>
                  <a:srgbClr val="98C379"/>
                </a:solidFill>
                <a:latin typeface="Consolas"/>
                <a:ea typeface="Consolas"/>
              </a:rPr>
              <a:t>  50%, 100% { opacity: 0; }</a:t>
            </a:r>
          </a:p>
          <a:p>
            <a:pPr>
              <a:spcAft>
                <a:spcPts val="350"/>
              </a:spcAft>
            </a:pPr>
            <a:r>
              <a:rPr sz="1300" b="0" i="0">
                <a:solidFill>
                  <a:srgbClr val="C678DD"/>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editor.html?example=css-layout/keyframes</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Any number of stops — and equal ones make a cut instead of a fade.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Looping Motion Recipes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Animations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Spinner</a:t>
            </a:r>
            <a:br/>
            <a:r>
              <a:rPr sz="1500" b="0" i="0">
                <a:solidFill>
                  <a:srgbClr val="4A5568"/>
                </a:solidFill>
                <a:latin typeface="Calibri"/>
                <a:ea typeface="Calibri"/>
              </a:rPr>
              <a:t>A round border with one side coloured, turning on a linear clock.</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Skeleton shimmer</a:t>
            </a:r>
            <a:br/>
            <a:r>
              <a:rPr sz="1500" b="0" i="0">
                <a:solidFill>
                  <a:srgbClr val="4A5568"/>
                </a:solidFill>
                <a:latin typeface="Calibri"/>
                <a:ea typeface="Calibri"/>
              </a:rPr>
              <a:t>A highlight sweeping over blocks shaped like the content.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Bouncing dots</a:t>
            </a:r>
            <a:br/>
            <a:r>
              <a:rPr sz="1500" b="0" i="0">
                <a:solidFill>
                  <a:srgbClr val="4A5568"/>
                </a:solidFill>
                <a:latin typeface="Calibri"/>
                <a:ea typeface="Calibri"/>
              </a:rPr>
              <a:t>One keyframe, three delays — the wave lives in the delay.</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Live dot</a:t>
            </a:r>
            <a:br/>
            <a:r>
              <a:rPr sz="1500" b="0" i="0">
                <a:solidFill>
                  <a:srgbClr val="4A5568"/>
                </a:solidFill>
                <a:latin typeface="Calibri"/>
                <a:ea typeface="Calibri"/>
              </a:rPr>
              <a:t>A dot plus a fading copy of itself: “still connected”.</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Sync icon</a:t>
            </a:r>
            <a:br/>
            <a:r>
              <a:rPr sz="1500" b="0" i="0">
                <a:solidFill>
                  <a:srgbClr val="4A5568"/>
                </a:solidFill>
                <a:latin typeface="Calibri"/>
                <a:ea typeface="Calibri"/>
              </a:rPr>
              <a:t>It turns, then rests. Without the rest it reads as a fan.</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Typing caret</a:t>
            </a:r>
            <a:br/>
            <a:r>
              <a:rPr sz="1500" b="0" i="0">
                <a:solidFill>
                  <a:srgbClr val="4A5568"/>
                </a:solidFill>
                <a:latin typeface="Calibri"/>
                <a:ea typeface="Calibri"/>
              </a:rPr>
              <a:t>Equal stops cut instead of fading — exactly what a cursor does.</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Six loops, each one line of CSS plus its keyframes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editor.html?example=css-layout/looping-motion</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animation: spin 0.8s linear infinite;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steps() &amp; Frame Animation</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Animations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One file, eight frames</a:t>
            </a:r>
            <a:br/>
            <a:r>
              <a:rPr sz="1350" b="0" i="0">
                <a:solidFill>
                  <a:srgbClr val="4A5568"/>
                </a:solidFill>
                <a:latin typeface="Calibri"/>
                <a:ea typeface="Calibri"/>
              </a:rPr>
              <a:t>The sprite sheet from Lecture 4, 96px apart.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steps(8)</a:t>
            </a:r>
            <a:br/>
            <a:r>
              <a:rPr sz="1350" b="0" i="0">
                <a:solidFill>
                  <a:srgbClr val="4A5568"/>
                </a:solidFill>
                <a:latin typeface="Calibri"/>
                <a:ea typeface="Calibri"/>
              </a:rPr>
              <a:t>Eight equal jumps — one per frame, no blur.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background-position</a:t>
            </a:r>
            <a:br/>
            <a:r>
              <a:rPr sz="1350" b="0" i="0">
                <a:solidFill>
                  <a:srgbClr val="4A5568"/>
                </a:solidFill>
                <a:latin typeface="Calibri"/>
                <a:ea typeface="Calibri"/>
              </a:rPr>
              <a:t>The only thing that changes.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Why it is cheap</a:t>
            </a:r>
            <a:br/>
            <a:r>
              <a:rPr sz="1350" b="0" i="0">
                <a:solidFill>
                  <a:srgbClr val="4A5568"/>
                </a:solidFill>
                <a:latin typeface="Calibri"/>
                <a:ea typeface="Calibri"/>
              </a:rPr>
              <a:t>One image, already cached, moved by the compositor.</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one box, one file, eight frames */</a:t>
            </a:r>
          </a:p>
          <a:p>
            <a:pPr>
              <a:spcAft>
                <a:spcPts val="350"/>
              </a:spcAft>
            </a:pPr>
            <a:r>
              <a:rPr sz="1300" b="0" i="0">
                <a:solidFill>
                  <a:srgbClr val="61AFEF"/>
                </a:solidFill>
                <a:latin typeface="Consolas"/>
                <a:ea typeface="Consolas"/>
              </a:rPr>
              <a:t>.walk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width</a:t>
            </a:r>
            <a:r>
              <a:rPr sz="1300" b="0" i="0">
                <a:solidFill>
                  <a:srgbClr val="98C379"/>
                </a:solidFill>
                <a:latin typeface="Consolas"/>
                <a:ea typeface="Consolas"/>
              </a:rPr>
              <a:t>: 96px;</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height</a:t>
            </a:r>
            <a:r>
              <a:rPr sz="1300" b="0" i="0">
                <a:solidFill>
                  <a:srgbClr val="98C379"/>
                </a:solidFill>
                <a:latin typeface="Consolas"/>
                <a:ea typeface="Consolas"/>
              </a:rPr>
              <a:t>: 96px;</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background</a:t>
            </a:r>
            <a:r>
              <a:rPr sz="1300" b="0" i="0">
                <a:solidFill>
                  <a:srgbClr val="98C379"/>
                </a:solidFill>
                <a:latin typeface="Consolas"/>
                <a:ea typeface="Consolas"/>
              </a:rPr>
              <a:t>: url(walk.png) 0 0 no-repeat;</a:t>
            </a:r>
          </a:p>
          <a:p>
            <a:pPr>
              <a:spcAft>
                <a:spcPts val="350"/>
              </a:spcAft>
            </a:pPr>
            <a:r>
              <a:rPr sz="1300" b="0" i="0">
                <a:solidFill>
                  <a:srgbClr val="98C379"/>
                </a:solidFill>
                <a:latin typeface="Consolas"/>
                <a:ea typeface="Consolas"/>
              </a:rPr>
              <a:t>  animation: walk 0.8s steps(8) infinite;</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C678DD"/>
                </a:solidFill>
                <a:latin typeface="Consolas"/>
                <a:ea typeface="Consolas"/>
              </a:rPr>
              <a:t>@keyframes walk {</a:t>
            </a:r>
          </a:p>
          <a:p>
            <a:pPr>
              <a:spcAft>
                <a:spcPts val="350"/>
              </a:spcAft>
            </a:pPr>
            <a:r>
              <a:rPr sz="1300" b="0" i="0">
                <a:solidFill>
                  <a:srgbClr val="98C379"/>
                </a:solidFill>
                <a:latin typeface="Consolas"/>
                <a:ea typeface="Consolas"/>
              </a:rPr>
              <a:t>  to { background-position: -768px 0; }</a:t>
            </a:r>
          </a:p>
          <a:p>
            <a:pPr>
              <a:spcAft>
                <a:spcPts val="350"/>
              </a:spcAft>
            </a:pPr>
            <a:r>
              <a:rPr sz="1300" b="0" i="0">
                <a:solidFill>
                  <a:srgbClr val="C678DD"/>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editor.html?example=css-layout/image-sprites</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Sprite sheets and steps() are how frame-by-frame animation is done in CSS.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transition vs animation</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Animations</a:t>
            </a:r>
          </a:p>
        </p:txBody>
      </p:sp>
      <p:sp>
        <p:nvSpPr>
          <p:cNvPr id="5" name="Rounded Rectangle 4"/>
          <p:cNvSpPr/>
          <p:nvPr/>
        </p:nvSpPr>
        <p:spPr>
          <a:xfrm>
            <a:off x="548640" y="932688"/>
            <a:ext cx="5364327" cy="4846320"/>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152144"/>
            <a:ext cx="4779111" cy="457200"/>
          </a:xfrm>
          <a:prstGeom prst="rect">
            <a:avLst/>
          </a:prstGeom>
          <a:noFill/>
        </p:spPr>
        <p:txBody>
          <a:bodyPr wrap="square" anchor="t" lIns="0" rIns="0" tIns="0" bIns="0">
            <a:spAutoFit/>
          </a:bodyPr>
          <a:lstStyle/>
          <a:p>
            <a:pPr algn="l">
              <a:lnSpc>
                <a:spcPct val="110000"/>
              </a:lnSpc>
              <a:spcAft>
                <a:spcPts val="400"/>
              </a:spcAft>
            </a:pPr>
            <a:r>
              <a:rPr sz="2000" b="1" i="0">
                <a:solidFill>
                  <a:srgbClr val="0E3F8C"/>
                </a:solidFill>
                <a:latin typeface="Calibri"/>
                <a:ea typeface="Calibri"/>
              </a:rPr>
              <a:t>transition</a:t>
            </a:r>
          </a:p>
        </p:txBody>
      </p:sp>
      <p:sp>
        <p:nvSpPr>
          <p:cNvPr id="7" name="Rectangle 6"/>
          <p:cNvSpPr/>
          <p:nvPr/>
        </p:nvSpPr>
        <p:spPr>
          <a:xfrm>
            <a:off x="859536" y="17099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92808"/>
            <a:ext cx="4779111" cy="3703320"/>
          </a:xfrm>
          <a:prstGeom prst="rect">
            <a:avLst/>
          </a:prstGeom>
          <a:noFill/>
        </p:spPr>
        <p:txBody>
          <a:bodyPr wrap="square" lIns="0" rIns="0" tIns="0" bIns="0">
            <a:normAutofit/>
          </a:bodyPr>
          <a:lstStyle/>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Needs a trigger</a:t>
            </a:r>
            <a:br/>
            <a:r>
              <a:rPr sz="1400" b="0" i="0">
                <a:solidFill>
                  <a:srgbClr val="4A5568"/>
                </a:solidFill>
                <a:latin typeface="Calibri"/>
                <a:ea typeface="Calibri"/>
              </a:rPr>
              <a:t>Runs when a property changes — :hover, :focus, a </a:t>
            </a:r>
            <a:r>
              <a:rPr sz="1400" b="0" i="0">
                <a:solidFill>
                  <a:srgbClr val="B8860B"/>
                </a:solidFill>
                <a:latin typeface="Consolas"/>
                <a:ea typeface="Consolas"/>
              </a:rPr>
              <a:t>class</a:t>
            </a:r>
            <a:r>
              <a:rPr sz="1400" b="0" i="0">
                <a:solidFill>
                  <a:srgbClr val="4A5568"/>
                </a:solidFill>
                <a:latin typeface="Calibri"/>
                <a:ea typeface="Calibri"/>
              </a:rPr>
              <a:t>.</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A → B</a:t>
            </a:r>
            <a:br/>
            <a:r>
              <a:rPr sz="1400" b="0" i="0">
                <a:solidFill>
                  <a:srgbClr val="4A5568"/>
                </a:solidFill>
                <a:latin typeface="Calibri"/>
                <a:ea typeface="Calibri"/>
              </a:rPr>
              <a:t>Two states only — from the old </a:t>
            </a:r>
            <a:r>
              <a:rPr sz="1400" b="0" i="0">
                <a:solidFill>
                  <a:srgbClr val="B8860B"/>
                </a:solidFill>
                <a:latin typeface="Consolas"/>
                <a:ea typeface="Consolas"/>
              </a:rPr>
              <a:t>value</a:t>
            </a:r>
            <a:r>
              <a:rPr sz="1400" b="0" i="0">
                <a:solidFill>
                  <a:srgbClr val="4A5568"/>
                </a:solidFill>
                <a:latin typeface="Calibri"/>
                <a:ea typeface="Calibri"/>
              </a:rPr>
              <a:t> to the new.</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Simpler</a:t>
            </a:r>
            <a:br/>
            <a:r>
              <a:rPr sz="1400" b="0" i="0">
                <a:solidFill>
                  <a:srgbClr val="4A5568"/>
                </a:solidFill>
                <a:latin typeface="Calibri"/>
                <a:ea typeface="Calibri"/>
              </a:rPr>
              <a:t>Perfect for hover effects and toggles.</a:t>
            </a:r>
          </a:p>
        </p:txBody>
      </p:sp>
      <p:sp>
        <p:nvSpPr>
          <p:cNvPr id="9" name="Rounded Rectangle 8"/>
          <p:cNvSpPr/>
          <p:nvPr/>
        </p:nvSpPr>
        <p:spPr>
          <a:xfrm>
            <a:off x="6278727" y="932688"/>
            <a:ext cx="5364327" cy="4846320"/>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1335" y="1152144"/>
            <a:ext cx="4779111" cy="457200"/>
          </a:xfrm>
          <a:prstGeom prst="rect">
            <a:avLst/>
          </a:prstGeom>
          <a:noFill/>
        </p:spPr>
        <p:txBody>
          <a:bodyPr wrap="square" anchor="t" lIns="0" rIns="0" tIns="0" bIns="0">
            <a:spAutoFit/>
          </a:bodyPr>
          <a:lstStyle/>
          <a:p>
            <a:pPr algn="l">
              <a:lnSpc>
                <a:spcPct val="110000"/>
              </a:lnSpc>
              <a:spcAft>
                <a:spcPts val="400"/>
              </a:spcAft>
            </a:pPr>
            <a:r>
              <a:rPr sz="2000" b="1" i="0">
                <a:solidFill>
                  <a:srgbClr val="0E3F8C"/>
                </a:solidFill>
                <a:latin typeface="Calibri"/>
                <a:ea typeface="Calibri"/>
              </a:rPr>
              <a:t>animation</a:t>
            </a:r>
          </a:p>
        </p:txBody>
      </p:sp>
      <p:sp>
        <p:nvSpPr>
          <p:cNvPr id="11" name="Rectangle 10"/>
          <p:cNvSpPr/>
          <p:nvPr/>
        </p:nvSpPr>
        <p:spPr>
          <a:xfrm>
            <a:off x="6589623" y="17099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71335" y="1892808"/>
            <a:ext cx="4779111" cy="3703320"/>
          </a:xfrm>
          <a:prstGeom prst="rect">
            <a:avLst/>
          </a:prstGeom>
          <a:noFill/>
        </p:spPr>
        <p:txBody>
          <a:bodyPr wrap="square" lIns="0" rIns="0" tIns="0" bIns="0">
            <a:normAutofit/>
          </a:bodyPr>
          <a:lstStyle/>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Runs by itself</a:t>
            </a:r>
            <a:br/>
            <a:r>
              <a:rPr sz="1400" b="0" i="0">
                <a:solidFill>
                  <a:srgbClr val="4A5568"/>
                </a:solidFill>
                <a:latin typeface="Calibri"/>
                <a:ea typeface="Calibri"/>
              </a:rPr>
              <a:t>Starts on load — no trigger needed.</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Many steps</a:t>
            </a:r>
            <a:br/>
            <a:r>
              <a:rPr sz="1400" b="0" i="0">
                <a:solidFill>
                  <a:srgbClr val="4A5568"/>
                </a:solidFill>
                <a:latin typeface="Calibri"/>
                <a:ea typeface="Calibri"/>
              </a:rPr>
              <a:t>Keyframes define any number of intermediate states.</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Repeats</a:t>
            </a:r>
            <a:br/>
            <a:r>
              <a:rPr sz="1400" b="0" i="0">
                <a:solidFill>
                  <a:srgbClr val="4A5568"/>
                </a:solidFill>
                <a:latin typeface="Calibri"/>
                <a:ea typeface="Calibri"/>
              </a:rPr>
              <a:t>Loop with infinite, or play alternate directions.</a:t>
            </a:r>
          </a:p>
        </p:txBody>
      </p:sp>
      <p:sp>
        <p:nvSpPr>
          <p:cNvPr id="13" name="Rounded Rectangle 12"/>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Rule of thumb: hover effect → transition; looping motion → animation.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Motion &amp; Accessibility</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Animations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prefers-reduced-motion</a:t>
            </a:r>
            <a:br/>
            <a:r>
              <a:rPr sz="1500" b="0" i="0">
                <a:solidFill>
                  <a:srgbClr val="4A5568"/>
                </a:solidFill>
                <a:latin typeface="Calibri"/>
                <a:ea typeface="Calibri"/>
              </a:rPr>
              <a:t>A media query that reports the user's system setting.</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Turn it off</a:t>
            </a:r>
            <a:br/>
            <a:r>
              <a:rPr sz="1500" b="0" i="0">
                <a:solidFill>
                  <a:srgbClr val="4A5568"/>
                </a:solidFill>
                <a:latin typeface="Calibri"/>
                <a:ea typeface="Calibri"/>
              </a:rPr>
              <a:t>Inside it, set animation and transition to none.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Why it matters</a:t>
            </a:r>
            <a:br/>
            <a:r>
              <a:rPr sz="1500" b="0" i="0">
                <a:solidFill>
                  <a:srgbClr val="4A5568"/>
                </a:solidFill>
                <a:latin typeface="Calibri"/>
                <a:ea typeface="Calibri"/>
              </a:rPr>
              <a:t>Motion can trigger nausea and migraine for some people.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Keep the meaning</a:t>
            </a:r>
            <a:br/>
            <a:r>
              <a:rPr sz="1500" b="0" i="0">
                <a:solidFill>
                  <a:srgbClr val="4A5568"/>
                </a:solidFill>
                <a:latin typeface="Calibri"/>
                <a:ea typeface="Calibri"/>
              </a:rPr>
              <a:t>Replace a slide-in with a plain fade, not with nothing.</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Three lines that make a page safe for everyone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editor.html?example=css-layout/reduced-motion</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@media (prefers-reduced-motion: reduce) { * { animation: none; } }</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Animation Cheatsheet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Animation</a:t>
            </a:r>
          </a:p>
        </p:txBody>
      </p:sp>
      <p:sp>
        <p:nvSpPr>
          <p:cNvPr id="5" name="Rectangle 4"/>
          <p:cNvSpPr/>
          <p:nvPr/>
        </p:nvSpPr>
        <p:spPr>
          <a:xfrm>
            <a:off x="548640" y="932688"/>
            <a:ext cx="2567302"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2238118"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Topic</a:t>
            </a:r>
          </a:p>
        </p:txBody>
      </p:sp>
      <p:sp>
        <p:nvSpPr>
          <p:cNvPr id="7" name="Rectangle 6"/>
          <p:cNvSpPr/>
          <p:nvPr/>
        </p:nvSpPr>
        <p:spPr>
          <a:xfrm>
            <a:off x="3115942" y="932688"/>
            <a:ext cx="3942643"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80534" y="932688"/>
            <a:ext cx="3613459"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What it does</a:t>
            </a:r>
          </a:p>
        </p:txBody>
      </p:sp>
      <p:sp>
        <p:nvSpPr>
          <p:cNvPr id="9" name="Rectangle 8"/>
          <p:cNvSpPr/>
          <p:nvPr/>
        </p:nvSpPr>
        <p:spPr>
          <a:xfrm>
            <a:off x="7058586" y="932688"/>
            <a:ext cx="4584469"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178" y="932688"/>
            <a:ext cx="4255285"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One-liner</a:t>
            </a:r>
          </a:p>
        </p:txBody>
      </p:sp>
      <p:sp>
        <p:nvSpPr>
          <p:cNvPr id="11" name="Rectangle 10"/>
          <p:cNvSpPr/>
          <p:nvPr/>
        </p:nvSpPr>
        <p:spPr>
          <a:xfrm>
            <a:off x="548640" y="1444752"/>
            <a:ext cx="2567302"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444752"/>
            <a:ext cx="2238118"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transform</a:t>
            </a:r>
          </a:p>
        </p:txBody>
      </p:sp>
      <p:sp>
        <p:nvSpPr>
          <p:cNvPr id="13" name="Rectangle 12"/>
          <p:cNvSpPr/>
          <p:nvPr/>
        </p:nvSpPr>
        <p:spPr>
          <a:xfrm>
            <a:off x="3115942" y="1444752"/>
            <a:ext cx="394264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80534" y="1444752"/>
            <a:ext cx="3613459"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reshape without reflowing</a:t>
            </a:r>
          </a:p>
        </p:txBody>
      </p:sp>
      <p:sp>
        <p:nvSpPr>
          <p:cNvPr id="15" name="Rectangle 14"/>
          <p:cNvSpPr/>
          <p:nvPr/>
        </p:nvSpPr>
        <p:spPr>
          <a:xfrm>
            <a:off x="7058586" y="1444752"/>
            <a:ext cx="4584469"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178" y="1444752"/>
            <a:ext cx="4255285"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transform: rotate(45deg);</a:t>
            </a:r>
          </a:p>
        </p:txBody>
      </p:sp>
      <p:sp>
        <p:nvSpPr>
          <p:cNvPr id="17" name="Rectangle 16"/>
          <p:cNvSpPr/>
          <p:nvPr/>
        </p:nvSpPr>
        <p:spPr>
          <a:xfrm>
            <a:off x="548640" y="2011680"/>
            <a:ext cx="2567302"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011680"/>
            <a:ext cx="2238118"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transform-origin</a:t>
            </a:r>
          </a:p>
        </p:txBody>
      </p:sp>
      <p:sp>
        <p:nvSpPr>
          <p:cNvPr id="19" name="Rectangle 18"/>
          <p:cNvSpPr/>
          <p:nvPr/>
        </p:nvSpPr>
        <p:spPr>
          <a:xfrm>
            <a:off x="3115942" y="2011680"/>
            <a:ext cx="3942643"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80534" y="2011680"/>
            <a:ext cx="3613459"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move the pivot</a:t>
            </a:r>
          </a:p>
        </p:txBody>
      </p:sp>
      <p:sp>
        <p:nvSpPr>
          <p:cNvPr id="21" name="Rectangle 20"/>
          <p:cNvSpPr/>
          <p:nvPr/>
        </p:nvSpPr>
        <p:spPr>
          <a:xfrm>
            <a:off x="7058586" y="2011680"/>
            <a:ext cx="4584469"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178" y="2011680"/>
            <a:ext cx="4255285"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transform-origin: top left;</a:t>
            </a:r>
          </a:p>
        </p:txBody>
      </p:sp>
      <p:sp>
        <p:nvSpPr>
          <p:cNvPr id="23" name="Rectangle 22"/>
          <p:cNvSpPr/>
          <p:nvPr/>
        </p:nvSpPr>
        <p:spPr>
          <a:xfrm>
            <a:off x="548640" y="2578608"/>
            <a:ext cx="2567302"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2578608"/>
            <a:ext cx="2238118"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transition</a:t>
            </a:r>
          </a:p>
        </p:txBody>
      </p:sp>
      <p:sp>
        <p:nvSpPr>
          <p:cNvPr id="25" name="Rectangle 24"/>
          <p:cNvSpPr/>
          <p:nvPr/>
        </p:nvSpPr>
        <p:spPr>
          <a:xfrm>
            <a:off x="3115942" y="2578608"/>
            <a:ext cx="394264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80534" y="2578608"/>
            <a:ext cx="3613459"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smooth a triggered change</a:t>
            </a:r>
          </a:p>
        </p:txBody>
      </p:sp>
      <p:sp>
        <p:nvSpPr>
          <p:cNvPr id="27" name="Rectangle 26"/>
          <p:cNvSpPr/>
          <p:nvPr/>
        </p:nvSpPr>
        <p:spPr>
          <a:xfrm>
            <a:off x="7058586" y="2578608"/>
            <a:ext cx="4584469"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23178" y="2578608"/>
            <a:ext cx="4255285"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transition: transform .3s ease;</a:t>
            </a:r>
          </a:p>
        </p:txBody>
      </p:sp>
      <p:sp>
        <p:nvSpPr>
          <p:cNvPr id="29" name="Rectangle 28"/>
          <p:cNvSpPr/>
          <p:nvPr/>
        </p:nvSpPr>
        <p:spPr>
          <a:xfrm>
            <a:off x="548640" y="3145536"/>
            <a:ext cx="2567302"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3145536"/>
            <a:ext cx="2238118"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timing function</a:t>
            </a:r>
          </a:p>
        </p:txBody>
      </p:sp>
      <p:sp>
        <p:nvSpPr>
          <p:cNvPr id="31" name="Rectangle 30"/>
          <p:cNvSpPr/>
          <p:nvPr/>
        </p:nvSpPr>
        <p:spPr>
          <a:xfrm>
            <a:off x="3115942" y="3145536"/>
            <a:ext cx="3942643"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80534" y="3145536"/>
            <a:ext cx="3613459"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shape the curve</a:t>
            </a:r>
          </a:p>
        </p:txBody>
      </p:sp>
      <p:sp>
        <p:nvSpPr>
          <p:cNvPr id="33" name="Rectangle 32"/>
          <p:cNvSpPr/>
          <p:nvPr/>
        </p:nvSpPr>
        <p:spPr>
          <a:xfrm>
            <a:off x="7058586" y="3145536"/>
            <a:ext cx="4584469"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23178" y="3145536"/>
            <a:ext cx="4255285"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ease-in-out | steps(8)</a:t>
            </a:r>
          </a:p>
        </p:txBody>
      </p:sp>
      <p:sp>
        <p:nvSpPr>
          <p:cNvPr id="35" name="Rectangle 34"/>
          <p:cNvSpPr/>
          <p:nvPr/>
        </p:nvSpPr>
        <p:spPr>
          <a:xfrm>
            <a:off x="548640" y="3712464"/>
            <a:ext cx="2567302"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3232" y="3712464"/>
            <a:ext cx="2238118"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@keyframes</a:t>
            </a:r>
          </a:p>
        </p:txBody>
      </p:sp>
      <p:sp>
        <p:nvSpPr>
          <p:cNvPr id="37" name="Rectangle 36"/>
          <p:cNvSpPr/>
          <p:nvPr/>
        </p:nvSpPr>
        <p:spPr>
          <a:xfrm>
            <a:off x="3115942" y="3712464"/>
            <a:ext cx="394264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80534" y="3712464"/>
            <a:ext cx="3613459"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the recipe</a:t>
            </a:r>
          </a:p>
        </p:txBody>
      </p:sp>
      <p:sp>
        <p:nvSpPr>
          <p:cNvPr id="39" name="Rectangle 38"/>
          <p:cNvSpPr/>
          <p:nvPr/>
        </p:nvSpPr>
        <p:spPr>
          <a:xfrm>
            <a:off x="7058586" y="3712464"/>
            <a:ext cx="4584469"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23178" y="3712464"/>
            <a:ext cx="4255285"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@keyframes spin { to { rotate } }</a:t>
            </a:r>
          </a:p>
        </p:txBody>
      </p:sp>
      <p:sp>
        <p:nvSpPr>
          <p:cNvPr id="41" name="Rectangle 40"/>
          <p:cNvSpPr/>
          <p:nvPr/>
        </p:nvSpPr>
        <p:spPr>
          <a:xfrm>
            <a:off x="548640" y="4279392"/>
            <a:ext cx="2567302"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3232" y="4279392"/>
            <a:ext cx="2238118"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animation</a:t>
            </a:r>
          </a:p>
        </p:txBody>
      </p:sp>
      <p:sp>
        <p:nvSpPr>
          <p:cNvPr id="43" name="Rectangle 42"/>
          <p:cNvSpPr/>
          <p:nvPr/>
        </p:nvSpPr>
        <p:spPr>
          <a:xfrm>
            <a:off x="3115942" y="4279392"/>
            <a:ext cx="3942643"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80534" y="4279392"/>
            <a:ext cx="3613459"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run the recipe</a:t>
            </a:r>
          </a:p>
        </p:txBody>
      </p:sp>
      <p:sp>
        <p:nvSpPr>
          <p:cNvPr id="45" name="Rectangle 44"/>
          <p:cNvSpPr/>
          <p:nvPr/>
        </p:nvSpPr>
        <p:spPr>
          <a:xfrm>
            <a:off x="7058586" y="4279392"/>
            <a:ext cx="4584469"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23178" y="4279392"/>
            <a:ext cx="4255285"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animation: spin 1s linear infinite;</a:t>
            </a:r>
          </a:p>
        </p:txBody>
      </p:sp>
      <p:sp>
        <p:nvSpPr>
          <p:cNvPr id="47" name="Rounded Rectangle 46"/>
          <p:cNvSpPr/>
          <p:nvPr/>
        </p:nvSpPr>
        <p:spPr>
          <a:xfrm>
            <a:off x="548640" y="5029200"/>
            <a:ext cx="11094415" cy="6858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8680" y="5120640"/>
            <a:ext cx="10454335" cy="365760"/>
          </a:xfrm>
          <a:prstGeom prst="rect">
            <a:avLst/>
          </a:prstGeom>
          <a:noFill/>
        </p:spPr>
        <p:txBody>
          <a:bodyPr wrap="square" anchor="t" lIns="0" rIns="0" tIns="0" bIns="0">
            <a:spAutoFit/>
          </a:bodyPr>
          <a:lstStyle/>
          <a:p>
            <a:pPr algn="l">
              <a:lnSpc>
                <a:spcPct val="110000"/>
              </a:lnSpc>
              <a:spcAft>
                <a:spcPts val="400"/>
              </a:spcAft>
            </a:pPr>
            <a:r>
              <a:rPr sz="1450" b="1" i="0">
                <a:solidFill>
                  <a:srgbClr val="0E3F8C"/>
                </a:solidFill>
                <a:latin typeface="Calibri"/>
                <a:ea typeface="Calibri"/>
              </a:rPr>
              <a:t>Reshape, then ease, then loop — and check prefers-reduced-motion.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03</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Miscellaneous</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CSS variables — </a:t>
            </a:r>
            <a:r>
              <a:rPr sz="1600" b="0" i="0">
                <a:solidFill>
                  <a:srgbClr val="B8860B"/>
                </a:solidFill>
                <a:latin typeface="Consolas"/>
                <a:ea typeface="Consolas"/>
              </a:rPr>
              <a:t>name</a:t>
            </a:r>
            <a:r>
              <a:rPr sz="1600" b="0" i="0">
                <a:solidFill>
                  <a:srgbClr val="B9CDEE"/>
                </a:solidFill>
                <a:latin typeface="Calibri"/>
                <a:ea typeface="Calibri"/>
              </a:rPr>
              <a:t> a </a:t>
            </a:r>
            <a:r>
              <a:rPr sz="1600" b="0" i="0">
                <a:solidFill>
                  <a:srgbClr val="B8860B"/>
                </a:solidFill>
                <a:latin typeface="Consolas"/>
                <a:ea typeface="Consolas"/>
              </a:rPr>
              <a:t>value</a:t>
            </a:r>
            <a:r>
              <a:rPr sz="1600" b="0" i="0">
                <a:solidFill>
                  <a:srgbClr val="B9CDEE"/>
                </a:solidFill>
                <a:latin typeface="Calibri"/>
                <a:ea typeface="Calibri"/>
              </a:rPr>
              <a:t> once, reuse it everywhere</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box-shadow — depth, rings and insets from one declaration</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icons, display, visibility and opacity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What "Miscellaneous" Covers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Miscellaneous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CSS variables</a:t>
            </a:r>
            <a:br/>
            <a:r>
              <a:rPr sz="1500" b="0" i="0">
                <a:solidFill>
                  <a:srgbClr val="4A5568"/>
                </a:solidFill>
                <a:latin typeface="Calibri"/>
                <a:ea typeface="Calibri"/>
              </a:rPr>
              <a:t>Name a </a:t>
            </a:r>
            <a:r>
              <a:rPr sz="1500" b="0" i="0">
                <a:solidFill>
                  <a:srgbClr val="B8860B"/>
                </a:solidFill>
                <a:latin typeface="Consolas"/>
                <a:ea typeface="Consolas"/>
              </a:rPr>
              <a:t>value</a:t>
            </a:r>
            <a:r>
              <a:rPr sz="1500" b="0" i="0">
                <a:solidFill>
                  <a:srgbClr val="4A5568"/>
                </a:solidFill>
                <a:latin typeface="Calibri"/>
                <a:ea typeface="Calibri"/>
              </a:rPr>
              <a:t> once, then reuse it — and re-theme from one place.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Icons</a:t>
            </a:r>
            <a:br/>
            <a:r>
              <a:rPr sz="1500" b="0" i="0">
                <a:solidFill>
                  <a:srgbClr val="4A5568"/>
                </a:solidFill>
                <a:latin typeface="Calibri"/>
                <a:ea typeface="Calibri"/>
              </a:rPr>
              <a:t>A font whose glyphs are pictures — sized and coloured like text.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box-shadow</a:t>
            </a:r>
            <a:br/>
            <a:r>
              <a:rPr sz="1500" b="0" i="0">
                <a:solidFill>
                  <a:srgbClr val="4A5568"/>
                </a:solidFill>
                <a:latin typeface="Calibri"/>
                <a:ea typeface="Calibri"/>
              </a:rPr>
              <a:t>Depth, focus rings and inset panels — one declaration.</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display &amp; visibility</a:t>
            </a:r>
            <a:br/>
            <a:r>
              <a:rPr sz="1500" b="0" i="0">
                <a:solidFill>
                  <a:srgbClr val="4A5568"/>
                </a:solidFill>
                <a:latin typeface="Calibri"/>
                <a:ea typeface="Calibri"/>
              </a:rPr>
              <a:t>Whether a box takes part in the layout at all.</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The properties that belong to neither layout nor motion</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--brand: #1e4fa8;  ·  box-shadow: …  ·  display: …</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CSS Variables — Custom Properties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Variables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Declare with --</a:t>
            </a:r>
            <a:br/>
            <a:r>
              <a:rPr sz="1350" b="0" i="0">
                <a:solidFill>
                  <a:srgbClr val="4A5568"/>
                </a:solidFill>
                <a:latin typeface="Calibri"/>
                <a:ea typeface="Calibri"/>
              </a:rPr>
              <a:t>A custom property starts with two dashes.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On :root</a:t>
            </a:r>
            <a:br/>
            <a:r>
              <a:rPr sz="1350" b="0" i="0">
                <a:solidFill>
                  <a:srgbClr val="4A5568"/>
                </a:solidFill>
                <a:latin typeface="Calibri"/>
                <a:ea typeface="Calibri"/>
              </a:rPr>
              <a:t>Global scope — the natural home for theme values.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Any </a:t>
            </a:r>
            <a:r>
              <a:rPr sz="1550" b="1" i="0">
                <a:solidFill>
                  <a:srgbClr val="B8860B"/>
                </a:solidFill>
                <a:latin typeface="Consolas"/>
                <a:ea typeface="Consolas"/>
              </a:rPr>
              <a:t>value</a:t>
            </a:r>
            <a:br/>
            <a:r>
              <a:rPr sz="1350" b="0" i="0">
                <a:solidFill>
                  <a:srgbClr val="4A5568"/>
                </a:solidFill>
                <a:latin typeface="Calibri"/>
                <a:ea typeface="Calibri"/>
              </a:rPr>
              <a:t>Colours, </a:t>
            </a:r>
            <a:r>
              <a:rPr sz="1350" b="0" i="0">
                <a:solidFill>
                  <a:srgbClr val="B8860B"/>
                </a:solidFill>
                <a:latin typeface="Consolas"/>
                <a:ea typeface="Consolas"/>
              </a:rPr>
              <a:t>sizes</a:t>
            </a:r>
            <a:r>
              <a:rPr sz="1350" b="0" i="0">
                <a:solidFill>
                  <a:srgbClr val="4A5568"/>
                </a:solidFill>
                <a:latin typeface="Calibri"/>
                <a:ea typeface="Calibri"/>
              </a:rPr>
              <a:t>, fonts, even whole strings.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Case-sensitive</a:t>
            </a:r>
            <a:br/>
            <a:r>
              <a:rPr sz="1350" b="0" i="0">
                <a:solidFill>
                  <a:srgbClr val="4A5568"/>
                </a:solidFill>
                <a:latin typeface="Calibri"/>
                <a:ea typeface="Calibri"/>
              </a:rPr>
              <a:t>--brand and --Brand are different variables.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:root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--brand</a:t>
            </a:r>
            <a:r>
              <a:rPr sz="1300" b="0" i="0">
                <a:solidFill>
                  <a:srgbClr val="98C379"/>
                </a:solidFill>
                <a:latin typeface="Consolas"/>
                <a:ea typeface="Consolas"/>
              </a:rPr>
              <a:t>: #1e4fa8;</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--gap</a:t>
            </a:r>
            <a:r>
              <a:rPr sz="1300" b="0" i="0">
                <a:solidFill>
                  <a:srgbClr val="98C379"/>
                </a:solidFill>
                <a:latin typeface="Consolas"/>
                <a:ea typeface="Consolas"/>
              </a:rPr>
              <a:t>: 16px;</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read it back with var() */</a:t>
            </a:r>
          </a:p>
          <a:p>
            <a:pPr>
              <a:spcAft>
                <a:spcPts val="350"/>
              </a:spcAft>
            </a:pPr>
            <a:r>
              <a:rPr sz="1300" b="0" i="0">
                <a:solidFill>
                  <a:srgbClr val="61AFEF"/>
                </a:solidFill>
                <a:latin typeface="Consolas"/>
                <a:ea typeface="Consolas"/>
              </a:rPr>
              <a:t>.btn { </a:t>
            </a:r>
            <a:r>
              <a:rPr sz="1300" b="0" i="0">
                <a:solidFill>
                  <a:srgbClr val="E5C07B"/>
                </a:solidFill>
                <a:latin typeface="Consolas"/>
                <a:ea typeface="Consolas"/>
              </a:rPr>
              <a:t>background</a:t>
            </a:r>
            <a:r>
              <a:rPr sz="1300" b="0" i="0">
                <a:solidFill>
                  <a:srgbClr val="98C379"/>
                </a:solidFill>
                <a:latin typeface="Consolas"/>
                <a:ea typeface="Consolas"/>
              </a:rPr>
              <a:t>: var(--brand);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editor.html?example=css-layout/custom-properties</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--name defines it; var(--name) reads it back.</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var() &amp; Fallbacks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Variables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var(--</a:t>
            </a:r>
            <a:r>
              <a:rPr sz="1550" b="1" i="0">
                <a:solidFill>
                  <a:srgbClr val="B8860B"/>
                </a:solidFill>
                <a:latin typeface="Consolas"/>
                <a:ea typeface="Consolas"/>
              </a:rPr>
              <a:t>name</a:t>
            </a:r>
            <a:r>
              <a:rPr sz="1550" b="1" i="0">
                <a:solidFill>
                  <a:srgbClr val="1A2230"/>
                </a:solidFill>
                <a:latin typeface="Calibri"/>
                <a:ea typeface="Calibri"/>
              </a:rPr>
              <a:t>)</a:t>
            </a:r>
            <a:br/>
            <a:r>
              <a:rPr sz="1350" b="0" i="0">
                <a:solidFill>
                  <a:srgbClr val="4A5568"/>
                </a:solidFill>
                <a:latin typeface="Calibri"/>
                <a:ea typeface="Calibri"/>
              </a:rPr>
              <a:t>Read a custom property's </a:t>
            </a:r>
            <a:r>
              <a:rPr sz="1350" b="0" i="0">
                <a:solidFill>
                  <a:srgbClr val="B8860B"/>
                </a:solidFill>
                <a:latin typeface="Consolas"/>
                <a:ea typeface="Consolas"/>
              </a:rPr>
              <a:t>value</a:t>
            </a:r>
            <a:r>
              <a:rPr sz="1350" b="0" i="0">
                <a:solidFill>
                  <a:srgbClr val="4A5568"/>
                </a:solidFill>
                <a:latin typeface="Calibri"/>
                <a:ea typeface="Calibri"/>
              </a:rPr>
              <a: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Fallback</a:t>
            </a:r>
            <a:br/>
            <a:r>
              <a:rPr sz="1350" b="0" i="0">
                <a:solidFill>
                  <a:srgbClr val="4A5568"/>
                </a:solidFill>
                <a:latin typeface="Calibri"/>
                <a:ea typeface="Calibri"/>
              </a:rPr>
              <a:t>var(--</a:t>
            </a:r>
            <a:r>
              <a:rPr sz="1350" b="0" i="0">
                <a:solidFill>
                  <a:srgbClr val="B8860B"/>
                </a:solidFill>
                <a:latin typeface="Consolas"/>
                <a:ea typeface="Consolas"/>
              </a:rPr>
              <a:t>name</a:t>
            </a:r>
            <a:r>
              <a:rPr sz="1350" b="0" i="0">
                <a:solidFill>
                  <a:srgbClr val="4A5568"/>
                </a:solidFill>
                <a:latin typeface="Calibri"/>
                <a:ea typeface="Calibri"/>
              </a:rPr>
              <a:t>, fallback) — used if --</a:t>
            </a:r>
            <a:r>
              <a:rPr sz="1350" b="0" i="0">
                <a:solidFill>
                  <a:srgbClr val="B8860B"/>
                </a:solidFill>
                <a:latin typeface="Consolas"/>
                <a:ea typeface="Consolas"/>
              </a:rPr>
              <a:t>name</a:t>
            </a:r>
            <a:r>
              <a:rPr sz="1350" b="0" i="0">
                <a:solidFill>
                  <a:srgbClr val="4A5568"/>
                </a:solidFill>
                <a:latin typeface="Calibri"/>
                <a:ea typeface="Calibri"/>
              </a:rPr>
              <a:t> is missing.</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Composable</a:t>
            </a:r>
            <a:br/>
            <a:r>
              <a:rPr sz="1350" b="0" i="0">
                <a:solidFill>
                  <a:srgbClr val="4A5568"/>
                </a:solidFill>
                <a:latin typeface="Calibri"/>
                <a:ea typeface="Calibri"/>
              </a:rPr>
              <a:t>Build one </a:t>
            </a:r>
            <a:r>
              <a:rPr sz="1350" b="0" i="0">
                <a:solidFill>
                  <a:srgbClr val="B8860B"/>
                </a:solidFill>
                <a:latin typeface="Consolas"/>
                <a:ea typeface="Consolas"/>
              </a:rPr>
              <a:t>value</a:t>
            </a:r>
            <a:r>
              <a:rPr sz="1350" b="0" i="0">
                <a:solidFill>
                  <a:srgbClr val="4A5568"/>
                </a:solidFill>
                <a:latin typeface="Calibri"/>
                <a:ea typeface="Calibri"/>
              </a:rPr>
              <a:t> from another: calc(var(--gap) * 2).</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Inherited</a:t>
            </a:r>
            <a:br/>
            <a:r>
              <a:rPr sz="1350" b="0" i="0">
                <a:solidFill>
                  <a:srgbClr val="4A5568"/>
                </a:solidFill>
                <a:latin typeface="Calibri"/>
                <a:ea typeface="Calibri"/>
              </a:rPr>
              <a:t>Children see a parent's variables automatically.</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.card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padding</a:t>
            </a:r>
            <a:r>
              <a:rPr sz="1300" b="0" i="0">
                <a:solidFill>
                  <a:srgbClr val="98C379"/>
                </a:solidFill>
                <a:latin typeface="Consolas"/>
                <a:ea typeface="Consolas"/>
              </a:rPr>
              <a:t>: var(--gap, 16px);</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background</a:t>
            </a:r>
            <a:r>
              <a:rPr sz="1300" b="0" i="0">
                <a:solidFill>
                  <a:srgbClr val="98C379"/>
                </a:solidFill>
                <a:latin typeface="Consolas"/>
                <a:ea typeface="Consolas"/>
              </a:rPr>
              <a:t>: var(--card-bg, #fff);</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combine with calc()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margin</a:t>
            </a:r>
            <a:r>
              <a:rPr sz="1300" b="0" i="0">
                <a:solidFill>
                  <a:srgbClr val="98C379"/>
                </a:solidFill>
                <a:latin typeface="Consolas"/>
                <a:ea typeface="Consolas"/>
              </a:rPr>
              <a:t>: calc(var(--gap) * 2);</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editor.html?example=css-layout/var-fallback</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A fallback keeps a component safe when a variable isn't set.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Scope &amp; Inheritance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Variables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:root is global</a:t>
            </a:r>
            <a:br/>
            <a:r>
              <a:rPr sz="1500" b="0" i="0">
                <a:solidFill>
                  <a:srgbClr val="4A5568"/>
                </a:solidFill>
                <a:latin typeface="Calibri"/>
                <a:ea typeface="Calibri"/>
              </a:rPr>
              <a:t>Variables there are visible to the whole page.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Selector scope</a:t>
            </a:r>
            <a:br/>
            <a:r>
              <a:rPr sz="1500" b="0" i="0">
                <a:solidFill>
                  <a:srgbClr val="4A5568"/>
                </a:solidFill>
                <a:latin typeface="Calibri"/>
                <a:ea typeface="Calibri"/>
              </a:rPr>
              <a:t>Declare inside a component to localise it.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Children inherit</a:t>
            </a:r>
            <a:br/>
            <a:r>
              <a:rPr sz="1500" b="0" i="0">
                <a:solidFill>
                  <a:srgbClr val="4A5568"/>
                </a:solidFill>
                <a:latin typeface="Calibri"/>
                <a:ea typeface="Calibri"/>
              </a:rPr>
              <a:t>A child reads its parent's --</a:t>
            </a:r>
            <a:r>
              <a:rPr sz="1500" b="0" i="0">
                <a:solidFill>
                  <a:srgbClr val="B8860B"/>
                </a:solidFill>
                <a:latin typeface="Consolas"/>
                <a:ea typeface="Consolas"/>
              </a:rPr>
              <a:t>name</a:t>
            </a:r>
            <a:r>
              <a:rPr sz="1500" b="0" i="0">
                <a:solidFill>
                  <a:srgbClr val="4A5568"/>
                </a:solidFill>
                <a:latin typeface="Calibri"/>
                <a:ea typeface="Calibri"/>
              </a:rPr>
              <a:t> automatically.</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Override locally</a:t>
            </a:r>
            <a:br/>
            <a:r>
              <a:rPr sz="1500" b="0" i="0">
                <a:solidFill>
                  <a:srgbClr val="4A5568"/>
                </a:solidFill>
                <a:latin typeface="Calibri"/>
                <a:ea typeface="Calibri"/>
              </a:rPr>
              <a:t>Re-declare on a child to override the inherited </a:t>
            </a:r>
            <a:r>
              <a:rPr sz="1500" b="0" i="0">
                <a:solidFill>
                  <a:srgbClr val="B8860B"/>
                </a:solidFill>
                <a:latin typeface="Consolas"/>
                <a:ea typeface="Consolas"/>
              </a:rPr>
              <a:t>value</a:t>
            </a:r>
            <a:r>
              <a:rPr sz="1500" b="0" i="0">
                <a:solidFill>
                  <a:srgbClr val="4A5568"/>
                </a:solidFill>
                <a:latin typeface="Calibri"/>
                <a:ea typeface="Calibri"/>
              </a:rPr>
              <a:t>.</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Theme at :root, tweak at the component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editor.html?example=css-layout/var-scope</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:root { --brand: #1e4fa8; }   .card { --brand: #3d7bd9; }</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A Theme with Variables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Variables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One place</a:t>
            </a:r>
            <a:br/>
            <a:r>
              <a:rPr sz="1350" b="0" i="0">
                <a:solidFill>
                  <a:srgbClr val="4A5568"/>
                </a:solidFill>
                <a:latin typeface="Calibri"/>
                <a:ea typeface="Calibri"/>
              </a:rPr>
              <a:t>Colours and </a:t>
            </a:r>
            <a:r>
              <a:rPr sz="1350" b="0" i="0">
                <a:solidFill>
                  <a:srgbClr val="B8860B"/>
                </a:solidFill>
                <a:latin typeface="Consolas"/>
                <a:ea typeface="Consolas"/>
              </a:rPr>
              <a:t>sizes</a:t>
            </a:r>
            <a:r>
              <a:rPr sz="1350" b="0" i="0">
                <a:solidFill>
                  <a:srgbClr val="4A5568"/>
                </a:solidFill>
                <a:latin typeface="Calibri"/>
                <a:ea typeface="Calibri"/>
              </a:rPr>
              <a:t> live in :root.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Dark mode</a:t>
            </a:r>
            <a:br/>
            <a:r>
              <a:rPr sz="1350" b="0" i="0">
                <a:solidFill>
                  <a:srgbClr val="4A5568"/>
                </a:solidFill>
                <a:latin typeface="Calibri"/>
                <a:ea typeface="Calibri"/>
              </a:rPr>
              <a:t>A .dark </a:t>
            </a:r>
            <a:r>
              <a:rPr sz="1350" b="0" i="0">
                <a:solidFill>
                  <a:srgbClr val="B8860B"/>
                </a:solidFill>
                <a:latin typeface="Consolas"/>
                <a:ea typeface="Consolas"/>
              </a:rPr>
              <a:t>class</a:t>
            </a:r>
            <a:r>
              <a:rPr sz="1350" b="0" i="0">
                <a:solidFill>
                  <a:srgbClr val="4A5568"/>
                </a:solidFill>
                <a:latin typeface="Calibri"/>
                <a:ea typeface="Calibri"/>
              </a:rPr>
              <a:t> overrides just the variables.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No rewrite</a:t>
            </a:r>
            <a:br/>
            <a:r>
              <a:rPr sz="1350" b="0" i="0">
                <a:solidFill>
                  <a:srgbClr val="4A5568"/>
                </a:solidFill>
                <a:latin typeface="Calibri"/>
                <a:ea typeface="Calibri"/>
              </a:rPr>
              <a:t>Components keep using var(--brand) — they update for free.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Toggle</a:t>
            </a:r>
            <a:br/>
            <a:r>
              <a:rPr sz="1350" b="0" i="0">
                <a:solidFill>
                  <a:srgbClr val="4A5568"/>
                </a:solidFill>
                <a:latin typeface="Calibri"/>
                <a:ea typeface="Calibri"/>
              </a:rPr>
              <a:t>Flip the </a:t>
            </a:r>
            <a:r>
              <a:rPr sz="1350" b="0" i="0">
                <a:solidFill>
                  <a:srgbClr val="B8860B"/>
                </a:solidFill>
                <a:latin typeface="Consolas"/>
                <a:ea typeface="Consolas"/>
              </a:rPr>
              <a:t>class</a:t>
            </a:r>
            <a:r>
              <a:rPr sz="1350" b="0" i="0">
                <a:solidFill>
                  <a:srgbClr val="4A5568"/>
                </a:solidFill>
                <a:latin typeface="Calibri"/>
                <a:ea typeface="Calibri"/>
              </a:rPr>
              <a:t> from JavaScript.</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:root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--bg</a:t>
            </a:r>
            <a:r>
              <a:rPr sz="1300" b="0" i="0">
                <a:solidFill>
                  <a:srgbClr val="98C379"/>
                </a:solidFill>
                <a:latin typeface="Consolas"/>
                <a:ea typeface="Consolas"/>
              </a:rPr>
              <a:t>: #f0f5fc;</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--text</a:t>
            </a:r>
            <a:r>
              <a:rPr sz="1300" b="0" i="0">
                <a:solidFill>
                  <a:srgbClr val="98C379"/>
                </a:solidFill>
                <a:latin typeface="Consolas"/>
                <a:ea typeface="Consolas"/>
              </a:rPr>
              <a:t>: #1a2230;</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61AFEF"/>
                </a:solidFill>
                <a:latin typeface="Consolas"/>
                <a:ea typeface="Consolas"/>
              </a:rPr>
              <a:t>body.dark {</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--bg</a:t>
            </a:r>
            <a:r>
              <a:rPr sz="1300" b="0" i="0">
                <a:solidFill>
                  <a:srgbClr val="98C379"/>
                </a:solidFill>
                <a:latin typeface="Consolas"/>
                <a:ea typeface="Consolas"/>
              </a:rPr>
              <a:t>: #1a2230;</a:t>
            </a:r>
          </a:p>
          <a:p>
            <a:pPr>
              <a:spcAft>
                <a:spcPts val="350"/>
              </a:spcAft>
            </a:pPr>
            <a:r>
              <a:rPr sz="1300" b="0" i="0">
                <a:solidFill>
                  <a:srgbClr val="7F8C98"/>
                </a:solidFill>
                <a:latin typeface="Consolas"/>
                <a:ea typeface="Consolas"/>
              </a:rPr>
              <a:t>  </a:t>
            </a:r>
            <a:r>
              <a:rPr sz="1300" b="0" i="0">
                <a:solidFill>
                  <a:srgbClr val="E5C07B"/>
                </a:solidFill>
                <a:latin typeface="Consolas"/>
                <a:ea typeface="Consolas"/>
              </a:rPr>
              <a:t>--text</a:t>
            </a:r>
            <a:r>
              <a:rPr sz="1300" b="0" i="0">
                <a:solidFill>
                  <a:srgbClr val="98C379"/>
                </a:solidFill>
                <a:latin typeface="Consolas"/>
                <a:ea typeface="Consolas"/>
              </a:rPr>
              <a:t>: #f0f5fc;</a:t>
            </a:r>
          </a:p>
          <a:p>
            <a:pPr>
              <a:spcAft>
                <a:spcPts val="350"/>
              </a:spcAft>
            </a:pPr>
            <a:r>
              <a:rPr sz="1300" b="0" i="0">
                <a:solidFill>
                  <a:srgbClr val="61AFEF"/>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editor.html?example=css-layout/variables</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Swap a handful of variables and the entire theme changes.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box-shadow</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Shadows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Five values</a:t>
            </a:r>
            <a:br/>
            <a:r>
              <a:rPr sz="1350" b="0" i="0">
                <a:solidFill>
                  <a:srgbClr val="4A5568"/>
                </a:solidFill>
                <a:latin typeface="Calibri"/>
                <a:ea typeface="Calibri"/>
              </a:rPr>
              <a:t>offset-x · offset-y · blur · spread · colour.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Spread</a:t>
            </a:r>
            <a:br/>
            <a:r>
              <a:rPr sz="1350" b="0" i="0">
                <a:solidFill>
                  <a:srgbClr val="4A5568"/>
                </a:solidFill>
                <a:latin typeface="Calibri"/>
                <a:ea typeface="Calibri"/>
              </a:rPr>
              <a:t>Grows or shrinks the shadow — a focus ring is spread with no blur.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inset</a:t>
            </a:r>
            <a:br/>
            <a:r>
              <a:rPr sz="1350" b="0" i="0">
                <a:solidFill>
                  <a:srgbClr val="4A5568"/>
                </a:solidFill>
                <a:latin typeface="Calibri"/>
                <a:ea typeface="Calibri"/>
              </a:rPr>
              <a:t>Puts the shadow inside the box — a pressed-in look.</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Several shadows</a:t>
            </a:r>
            <a:br/>
            <a:r>
              <a:rPr sz="1350" b="0" i="0">
                <a:solidFill>
                  <a:srgbClr val="4A5568"/>
                </a:solidFill>
                <a:latin typeface="Calibri"/>
                <a:ea typeface="Calibri"/>
              </a:rPr>
              <a:t>Comma-separated; they stack in order.</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x  y  blur  spread  colour */</a:t>
            </a:r>
          </a:p>
          <a:p>
            <a:pPr>
              <a:spcAft>
                <a:spcPts val="350"/>
              </a:spcAft>
            </a:pPr>
            <a:r>
              <a:rPr sz="1300" b="0" i="0">
                <a:solidFill>
                  <a:srgbClr val="61AFEF"/>
                </a:solidFill>
                <a:latin typeface="Consolas"/>
                <a:ea typeface="Consolas"/>
              </a:rPr>
              <a:t>.card    {</a:t>
            </a:r>
          </a:p>
          <a:p>
            <a:pPr>
              <a:spcAft>
                <a:spcPts val="350"/>
              </a:spcAft>
            </a:pPr>
            <a:r>
              <a:rPr sz="1300" b="0" i="0">
                <a:solidFill>
                  <a:srgbClr val="98C379"/>
                </a:solidFill>
                <a:latin typeface="Consolas"/>
                <a:ea typeface="Consolas"/>
              </a:rPr>
              <a:t>  box-shadow: 0 6px 16px 0 rgba(0,0,0,.18);</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inset = a shadow inside the box */</a:t>
            </a:r>
          </a:p>
          <a:p>
            <a:pPr>
              <a:spcAft>
                <a:spcPts val="350"/>
              </a:spcAft>
            </a:pPr>
            <a:r>
              <a:rPr sz="1300" b="0" i="0">
                <a:solidFill>
                  <a:srgbClr val="61AFEF"/>
                </a:solidFill>
                <a:latin typeface="Consolas"/>
                <a:ea typeface="Consolas"/>
              </a:rPr>
              <a:t>.pressed {</a:t>
            </a:r>
          </a:p>
          <a:p>
            <a:pPr>
              <a:spcAft>
                <a:spcPts val="350"/>
              </a:spcAft>
            </a:pPr>
            <a:r>
              <a:rPr sz="1300" b="0" i="0">
                <a:solidFill>
                  <a:srgbClr val="98C379"/>
                </a:solidFill>
                <a:latin typeface="Consolas"/>
                <a:ea typeface="Consolas"/>
              </a:rPr>
              <a:t>  box-shadow: inset 0 2px 6px rgba(0,0,0,.35);</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two shadows: a ring, then depth below it */</a:t>
            </a:r>
          </a:p>
          <a:p>
            <a:pPr>
              <a:spcAft>
                <a:spcPts val="350"/>
              </a:spcAft>
            </a:pPr>
            <a:r>
              <a:rPr sz="1300" b="0" i="0">
                <a:solidFill>
                  <a:srgbClr val="61AFEF"/>
                </a:solidFill>
                <a:latin typeface="Consolas"/>
                <a:ea typeface="Consolas"/>
              </a:rPr>
              <a:t>.ring    {</a:t>
            </a:r>
          </a:p>
          <a:p>
            <a:pPr>
              <a:spcAft>
                <a:spcPts val="350"/>
              </a:spcAft>
            </a:pPr>
            <a:r>
              <a:rPr sz="1300" b="0" i="0">
                <a:solidFill>
                  <a:srgbClr val="98C379"/>
                </a:solidFill>
                <a:latin typeface="Consolas"/>
                <a:ea typeface="Consolas"/>
              </a:rPr>
              <a:t>  box-shadow: 0 0 0 3px #3d7bd9,</a:t>
            </a:r>
          </a:p>
          <a:p>
            <a:pPr>
              <a:spcAft>
                <a:spcPts val="350"/>
              </a:spcAft>
            </a:pPr>
            <a:r>
              <a:rPr sz="1300" b="0" i="0">
                <a:solidFill>
                  <a:srgbClr val="98C379"/>
                </a:solidFill>
                <a:latin typeface="Consolas"/>
                <a:ea typeface="Consolas"/>
              </a:rPr>
              <a:t>              0 8px 20px #0003;</a:t>
            </a:r>
          </a:p>
          <a:p>
            <a:pPr>
              <a:spcAft>
                <a:spcPts val="350"/>
              </a:spcAft>
            </a:pPr>
            <a:r>
              <a:rPr sz="1300" b="0" i="0">
                <a:solidFill>
                  <a:srgbClr val="61AFEF"/>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editor.html?example=css-layout/shadow</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box-shadow takes a spread and inset; text-shadow takes neither.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Shadow Recipes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Shadows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Subtle elevation</a:t>
            </a:r>
            <a:br/>
            <a:r>
              <a:rPr sz="1500" b="0" i="0">
                <a:solidFill>
                  <a:srgbClr val="4A5568"/>
                </a:solidFill>
                <a:latin typeface="Calibri"/>
                <a:ea typeface="Calibri"/>
              </a:rPr>
              <a:t>0 1px 3px rgba(0,0,0,.12) — a resting card.</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Raised on hover</a:t>
            </a:r>
            <a:br/>
            <a:r>
              <a:rPr sz="1500" b="0" i="0">
                <a:solidFill>
                  <a:srgbClr val="4A5568"/>
                </a:solidFill>
                <a:latin typeface="Calibri"/>
                <a:ea typeface="Calibri"/>
              </a:rPr>
              <a:t>Deepen the blur and add a few pixels of offset.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Focus ring</a:t>
            </a:r>
            <a:br/>
            <a:r>
              <a:rPr sz="1500" b="0" i="0">
                <a:solidFill>
                  <a:srgbClr val="4A5568"/>
                </a:solidFill>
                <a:latin typeface="Calibri"/>
                <a:ea typeface="Calibri"/>
              </a:rPr>
              <a:t>0 0 0 3px — spread only, no blur, no offset.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Pressed in</a:t>
            </a:r>
            <a:br/>
            <a:r>
              <a:rPr sz="1500" b="0" i="0">
                <a:solidFill>
                  <a:srgbClr val="4A5568"/>
                </a:solidFill>
                <a:latin typeface="Calibri"/>
                <a:ea typeface="Calibri"/>
              </a:rPr>
              <a:t>inset 0 2px 6px — the box looks pushed into the page.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Text on a photo</a:t>
            </a:r>
            <a:br/>
            <a:r>
              <a:rPr sz="1500" b="0" i="0">
                <a:solidFill>
                  <a:srgbClr val="4A5568"/>
                </a:solidFill>
                <a:latin typeface="Calibri"/>
                <a:ea typeface="Calibri"/>
              </a:rPr>
              <a:t>A soft dark shadow under white </a:t>
            </a:r>
            <a:r>
              <a:rPr sz="1500" b="0" i="0">
                <a:solidFill>
                  <a:srgbClr val="B8860B"/>
                </a:solidFill>
                <a:latin typeface="Consolas"/>
                <a:ea typeface="Consolas"/>
              </a:rPr>
              <a:t>type</a:t>
            </a:r>
            <a:r>
              <a:rPr sz="1500" b="0" i="0">
                <a:solidFill>
                  <a:srgbClr val="4A5568"/>
                </a:solidFill>
                <a:latin typeface="Calibri"/>
                <a:ea typeface="Calibri"/>
              </a:rPr>
              <a: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One dark shadow only</a:t>
            </a:r>
            <a:br/>
            <a:r>
              <a:rPr sz="1500" b="0" i="0">
                <a:solidFill>
                  <a:srgbClr val="4A5568"/>
                </a:solidFill>
                <a:latin typeface="Calibri"/>
                <a:ea typeface="Calibri"/>
              </a:rPr>
              <a:t>Two or three soft ones read better than one hard one.</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Depth is a design decision you can name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editor.html?example=css-layout/shadow-recipes</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box-shadow: 0 10px 20px -6px rgba(0,0,0,.25);</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display — the outer box type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Display</a:t>
            </a:r>
          </a:p>
        </p:txBody>
      </p:sp>
      <p:sp>
        <p:nvSpPr>
          <p:cNvPr id="5" name="Rectangle 4"/>
          <p:cNvSpPr/>
          <p:nvPr/>
        </p:nvSpPr>
        <p:spPr>
          <a:xfrm>
            <a:off x="548640" y="932688"/>
            <a:ext cx="1894168"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1564984"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Value</a:t>
            </a:r>
          </a:p>
        </p:txBody>
      </p:sp>
      <p:sp>
        <p:nvSpPr>
          <p:cNvPr id="7" name="Rectangle 6"/>
          <p:cNvSpPr/>
          <p:nvPr/>
        </p:nvSpPr>
        <p:spPr>
          <a:xfrm>
            <a:off x="2442808" y="932688"/>
            <a:ext cx="4870718"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07400" y="932688"/>
            <a:ext cx="4541534"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What it does</a:t>
            </a:r>
          </a:p>
        </p:txBody>
      </p:sp>
      <p:sp>
        <p:nvSpPr>
          <p:cNvPr id="9" name="Rectangle 8"/>
          <p:cNvSpPr/>
          <p:nvPr/>
        </p:nvSpPr>
        <p:spPr>
          <a:xfrm>
            <a:off x="7313527" y="932688"/>
            <a:ext cx="4329527"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78119" y="932688"/>
            <a:ext cx="4000343"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You meet it on</a:t>
            </a:r>
          </a:p>
        </p:txBody>
      </p:sp>
      <p:sp>
        <p:nvSpPr>
          <p:cNvPr id="11" name="Rectangle 10"/>
          <p:cNvSpPr/>
          <p:nvPr/>
        </p:nvSpPr>
        <p:spPr>
          <a:xfrm>
            <a:off x="548640" y="1444752"/>
            <a:ext cx="189416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444752"/>
            <a:ext cx="1564984"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block</a:t>
            </a:r>
          </a:p>
        </p:txBody>
      </p:sp>
      <p:sp>
        <p:nvSpPr>
          <p:cNvPr id="13" name="Rectangle 12"/>
          <p:cNvSpPr/>
          <p:nvPr/>
        </p:nvSpPr>
        <p:spPr>
          <a:xfrm>
            <a:off x="2442808" y="1444752"/>
            <a:ext cx="487071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7400" y="1444752"/>
            <a:ext cx="454153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starts a new line, fills the width</a:t>
            </a:r>
          </a:p>
        </p:txBody>
      </p:sp>
      <p:sp>
        <p:nvSpPr>
          <p:cNvPr id="15" name="Rectangle 14"/>
          <p:cNvSpPr/>
          <p:nvPr/>
        </p:nvSpPr>
        <p:spPr>
          <a:xfrm>
            <a:off x="7313527" y="1444752"/>
            <a:ext cx="432952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78119" y="1444752"/>
            <a:ext cx="4000343"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&lt;div&gt;  &lt;p&gt;  &lt;h1&gt;  &lt;li&gt;</a:t>
            </a:r>
          </a:p>
        </p:txBody>
      </p:sp>
      <p:sp>
        <p:nvSpPr>
          <p:cNvPr id="17" name="Rectangle 16"/>
          <p:cNvSpPr/>
          <p:nvPr/>
        </p:nvSpPr>
        <p:spPr>
          <a:xfrm>
            <a:off x="548640" y="2011680"/>
            <a:ext cx="189416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011680"/>
            <a:ext cx="1564984"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inline</a:t>
            </a:r>
          </a:p>
        </p:txBody>
      </p:sp>
      <p:sp>
        <p:nvSpPr>
          <p:cNvPr id="19" name="Rectangle 18"/>
          <p:cNvSpPr/>
          <p:nvPr/>
        </p:nvSpPr>
        <p:spPr>
          <a:xfrm>
            <a:off x="2442808" y="2011680"/>
            <a:ext cx="487071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07400" y="2011680"/>
            <a:ext cx="454153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sits in the text, width from content</a:t>
            </a:r>
          </a:p>
        </p:txBody>
      </p:sp>
      <p:sp>
        <p:nvSpPr>
          <p:cNvPr id="21" name="Rectangle 20"/>
          <p:cNvSpPr/>
          <p:nvPr/>
        </p:nvSpPr>
        <p:spPr>
          <a:xfrm>
            <a:off x="7313527" y="2011680"/>
            <a:ext cx="432952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78119" y="2011680"/>
            <a:ext cx="4000343"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&lt;span&gt;  &lt;a&gt;  &lt;em&gt;</a:t>
            </a:r>
          </a:p>
        </p:txBody>
      </p:sp>
      <p:sp>
        <p:nvSpPr>
          <p:cNvPr id="23" name="Rectangle 22"/>
          <p:cNvSpPr/>
          <p:nvPr/>
        </p:nvSpPr>
        <p:spPr>
          <a:xfrm>
            <a:off x="548640" y="2578608"/>
            <a:ext cx="189416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2578608"/>
            <a:ext cx="1564984"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inline-block</a:t>
            </a:r>
          </a:p>
        </p:txBody>
      </p:sp>
      <p:sp>
        <p:nvSpPr>
          <p:cNvPr id="25" name="Rectangle 24"/>
          <p:cNvSpPr/>
          <p:nvPr/>
        </p:nvSpPr>
        <p:spPr>
          <a:xfrm>
            <a:off x="2442808" y="2578608"/>
            <a:ext cx="487071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07400" y="2578608"/>
            <a:ext cx="454153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sits in the text but takes a size</a:t>
            </a:r>
          </a:p>
        </p:txBody>
      </p:sp>
      <p:sp>
        <p:nvSpPr>
          <p:cNvPr id="27" name="Rectangle 26"/>
          <p:cNvSpPr/>
          <p:nvPr/>
        </p:nvSpPr>
        <p:spPr>
          <a:xfrm>
            <a:off x="7313527" y="2578608"/>
            <a:ext cx="432952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78119" y="2578608"/>
            <a:ext cx="4000343"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&lt;img&gt;  &lt;button&gt;</a:t>
            </a:r>
          </a:p>
        </p:txBody>
      </p:sp>
      <p:sp>
        <p:nvSpPr>
          <p:cNvPr id="29" name="Rectangle 28"/>
          <p:cNvSpPr/>
          <p:nvPr/>
        </p:nvSpPr>
        <p:spPr>
          <a:xfrm>
            <a:off x="548640" y="3145536"/>
            <a:ext cx="189416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3145536"/>
            <a:ext cx="1564984"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flex</a:t>
            </a:r>
          </a:p>
        </p:txBody>
      </p:sp>
      <p:sp>
        <p:nvSpPr>
          <p:cNvPr id="31" name="Rectangle 30"/>
          <p:cNvSpPr/>
          <p:nvPr/>
        </p:nvSpPr>
        <p:spPr>
          <a:xfrm>
            <a:off x="2442808" y="3145536"/>
            <a:ext cx="487071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607400" y="3145536"/>
            <a:ext cx="454153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a block box whose children are flex items</a:t>
            </a:r>
          </a:p>
        </p:txBody>
      </p:sp>
      <p:sp>
        <p:nvSpPr>
          <p:cNvPr id="33" name="Rectangle 32"/>
          <p:cNvSpPr/>
          <p:nvPr/>
        </p:nvSpPr>
        <p:spPr>
          <a:xfrm>
            <a:off x="7313527" y="3145536"/>
            <a:ext cx="432952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78119" y="3145536"/>
            <a:ext cx="4000343"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display: flex;</a:t>
            </a:r>
          </a:p>
        </p:txBody>
      </p:sp>
      <p:sp>
        <p:nvSpPr>
          <p:cNvPr id="35" name="Rectangle 34"/>
          <p:cNvSpPr/>
          <p:nvPr/>
        </p:nvSpPr>
        <p:spPr>
          <a:xfrm>
            <a:off x="548640" y="3712464"/>
            <a:ext cx="189416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3232" y="3712464"/>
            <a:ext cx="1564984"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none</a:t>
            </a:r>
          </a:p>
        </p:txBody>
      </p:sp>
      <p:sp>
        <p:nvSpPr>
          <p:cNvPr id="37" name="Rectangle 36"/>
          <p:cNvSpPr/>
          <p:nvPr/>
        </p:nvSpPr>
        <p:spPr>
          <a:xfrm>
            <a:off x="2442808" y="3712464"/>
            <a:ext cx="487071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607400" y="3712464"/>
            <a:ext cx="454153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not rendered — takes no space</a:t>
            </a:r>
          </a:p>
        </p:txBody>
      </p:sp>
      <p:sp>
        <p:nvSpPr>
          <p:cNvPr id="39" name="Rectangle 38"/>
          <p:cNvSpPr/>
          <p:nvPr/>
        </p:nvSpPr>
        <p:spPr>
          <a:xfrm>
            <a:off x="7313527" y="3712464"/>
            <a:ext cx="432952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78119" y="3712464"/>
            <a:ext cx="4000343"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display: none;</a:t>
            </a:r>
          </a:p>
        </p:txBody>
      </p:sp>
      <p:sp>
        <p:nvSpPr>
          <p:cNvPr id="41" name="Rounded Rectangle 40"/>
          <p:cNvSpPr/>
          <p:nvPr/>
        </p:nvSpPr>
        <p:spPr>
          <a:xfrm>
            <a:off x="548640" y="4462272"/>
            <a:ext cx="11094415" cy="105156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8680" y="4553712"/>
            <a:ext cx="10454335" cy="365760"/>
          </a:xfrm>
          <a:prstGeom prst="rect">
            <a:avLst/>
          </a:prstGeom>
          <a:noFill/>
        </p:spPr>
        <p:txBody>
          <a:bodyPr wrap="square" anchor="t" lIns="0" rIns="0" tIns="0" bIns="0">
            <a:spAutoFit/>
          </a:bodyPr>
          <a:lstStyle/>
          <a:p>
            <a:pPr algn="l">
              <a:lnSpc>
                <a:spcPct val="110000"/>
              </a:lnSpc>
              <a:spcAft>
                <a:spcPts val="400"/>
              </a:spcAft>
            </a:pPr>
            <a:r>
              <a:rPr sz="1450" b="1" i="0">
                <a:solidFill>
                  <a:srgbClr val="0E3F8C"/>
                </a:solidFill>
                <a:latin typeface="Calibri"/>
                <a:ea typeface="Calibri"/>
              </a:rPr>
              <a:t>The outside decides how it sits in the line; the inside decides how its children lay out.</a:t>
            </a:r>
          </a:p>
        </p:txBody>
      </p:sp>
      <p:sp>
        <p:nvSpPr>
          <p:cNvPr id="43" name="TextBox 42"/>
          <p:cNvSpPr txBox="1"/>
          <p:nvPr/>
        </p:nvSpPr>
        <p:spPr>
          <a:xfrm>
            <a:off x="868680" y="4937760"/>
            <a:ext cx="10454335" cy="329184"/>
          </a:xfrm>
          <a:prstGeom prst="rect">
            <a:avLst/>
          </a:prstGeom>
          <a:noFill/>
        </p:spPr>
        <p:txBody>
          <a:bodyPr wrap="square" anchor="t" lIns="0" rIns="0" tIns="0" bIns="0">
            <a:spAutoFit/>
          </a:bodyPr>
          <a:lstStyle/>
          <a:p>
            <a:pPr algn="l">
              <a:lnSpc>
                <a:spcPct val="110000"/>
              </a:lnSpc>
              <a:spcAft>
                <a:spcPts val="400"/>
              </a:spcAft>
            </a:pPr>
            <a:r>
              <a:rPr sz="1300" b="1" i="0">
                <a:solidFill>
                  <a:srgbClr val="1E4FA8"/>
                </a:solidFill>
                <a:latin typeface="Calibri"/>
                <a:ea typeface="Calibri"/>
              </a:rPr>
              <a:t>open in editor →  </a:t>
            </a:r>
            <a:r>
              <a:rPr sz="130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editor.html?example=css-layout/display-outer-box</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display in Practice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Display</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block</a:t>
            </a:r>
            <a:br/>
            <a:r>
              <a:rPr sz="1350" b="0" i="0">
                <a:solidFill>
                  <a:srgbClr val="4A5568"/>
                </a:solidFill>
                <a:latin typeface="Calibri"/>
                <a:ea typeface="Calibri"/>
              </a:rPr>
              <a:t>One per line. A </a:t>
            </a:r>
            <a:r>
              <a:rPr sz="1350" b="0" i="0">
                <a:solidFill>
                  <a:srgbClr val="B8860B"/>
                </a:solidFill>
                <a:latin typeface="Consolas"/>
                <a:ea typeface="Consolas"/>
              </a:rPr>
              <a:t>width</a:t>
            </a:r>
            <a:r>
              <a:rPr sz="1350" b="0" i="0">
                <a:solidFill>
                  <a:srgbClr val="4A5568"/>
                </a:solidFill>
                <a:latin typeface="Calibri"/>
                <a:ea typeface="Calibri"/>
              </a:rPr>
              <a:t> you set is respected.</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inline</a:t>
            </a:r>
            <a:br/>
            <a:r>
              <a:rPr sz="1350" b="0" i="0">
                <a:solidFill>
                  <a:srgbClr val="4A5568"/>
                </a:solidFill>
                <a:latin typeface="Calibri"/>
                <a:ea typeface="Calibri"/>
              </a:rPr>
              <a:t>They run together in the sentence. Width and </a:t>
            </a:r>
            <a:r>
              <a:rPr sz="1350" b="0" i="0">
                <a:solidFill>
                  <a:srgbClr val="B8860B"/>
                </a:solidFill>
                <a:latin typeface="Consolas"/>
                <a:ea typeface="Consolas"/>
              </a:rPr>
              <a:t>height</a:t>
            </a:r>
            <a:r>
              <a:rPr sz="1350" b="0" i="0">
                <a:solidFill>
                  <a:srgbClr val="4A5568"/>
                </a:solidFill>
                <a:latin typeface="Calibri"/>
                <a:ea typeface="Calibri"/>
              </a:rPr>
              <a:t> are ignored.</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inline-block</a:t>
            </a:r>
            <a:br/>
            <a:r>
              <a:rPr sz="1350" b="0" i="0">
                <a:solidFill>
                  <a:srgbClr val="4A5568"/>
                </a:solidFill>
                <a:latin typeface="Calibri"/>
                <a:ea typeface="Calibri"/>
              </a:rPr>
              <a:t>Sits in the line, but is a box you can size.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The classic bug</a:t>
            </a:r>
            <a:br/>
            <a:r>
              <a:rPr sz="1350" b="0" i="0">
                <a:solidFill>
                  <a:srgbClr val="4A5568"/>
                </a:solidFill>
                <a:latin typeface="Calibri"/>
                <a:ea typeface="Calibri"/>
              </a:rPr>
              <a:t>Setting </a:t>
            </a:r>
            <a:r>
              <a:rPr sz="1350" b="0" i="0">
                <a:solidFill>
                  <a:srgbClr val="B8860B"/>
                </a:solidFill>
                <a:latin typeface="Consolas"/>
                <a:ea typeface="Consolas"/>
              </a:rPr>
              <a:t>width</a:t>
            </a:r>
            <a:r>
              <a:rPr sz="1350" b="0" i="0">
                <a:solidFill>
                  <a:srgbClr val="4A5568"/>
                </a:solidFill>
                <a:latin typeface="Calibri"/>
                <a:ea typeface="Calibri"/>
              </a:rPr>
              <a:t> on an inline element and seeing nothing happen.</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block: full width, one per line */</a:t>
            </a:r>
          </a:p>
          <a:p>
            <a:pPr>
              <a:spcAft>
                <a:spcPts val="350"/>
              </a:spcAft>
            </a:pPr>
            <a:r>
              <a:rPr sz="1300" b="0" i="0">
                <a:solidFill>
                  <a:srgbClr val="61AFEF"/>
                </a:solidFill>
                <a:latin typeface="Consolas"/>
                <a:ea typeface="Consolas"/>
              </a:rPr>
              <a:t>.tag { display: block; }</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inline: they sit in the sentence */</a:t>
            </a:r>
          </a:p>
          <a:p>
            <a:pPr>
              <a:spcAft>
                <a:spcPts val="350"/>
              </a:spcAft>
            </a:pPr>
            <a:r>
              <a:rPr sz="1300" b="0" i="0">
                <a:solidFill>
                  <a:srgbClr val="61AFEF"/>
                </a:solidFill>
                <a:latin typeface="Consolas"/>
                <a:ea typeface="Consolas"/>
              </a:rPr>
              <a:t>.tag { display: inline; }</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inline-block: in the line, but with a box */</a:t>
            </a:r>
          </a:p>
          <a:p>
            <a:pPr>
              <a:spcAft>
                <a:spcPts val="350"/>
              </a:spcAft>
            </a:pPr>
            <a:r>
              <a:rPr sz="1300" b="0" i="0">
                <a:solidFill>
                  <a:srgbClr val="61AFEF"/>
                </a:solidFill>
                <a:latin typeface="Consolas"/>
                <a:ea typeface="Consolas"/>
              </a:rPr>
              <a:t>.tag { display: inline-block; width: 120px;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editor.html?example=css-layout/display</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If a width is being ignored, check the display value first.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Hiding Things — Three Ways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Display</a:t>
            </a:r>
          </a:p>
        </p:txBody>
      </p:sp>
      <p:sp>
        <p:nvSpPr>
          <p:cNvPr id="5" name="Rectangle 4"/>
          <p:cNvSpPr/>
          <p:nvPr/>
        </p:nvSpPr>
        <p:spPr>
          <a:xfrm>
            <a:off x="548640" y="932688"/>
            <a:ext cx="2910010"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2580826"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Property</a:t>
            </a:r>
          </a:p>
        </p:txBody>
      </p:sp>
      <p:sp>
        <p:nvSpPr>
          <p:cNvPr id="7" name="Rectangle 6"/>
          <p:cNvSpPr/>
          <p:nvPr/>
        </p:nvSpPr>
        <p:spPr>
          <a:xfrm>
            <a:off x="3458650" y="932688"/>
            <a:ext cx="2000632"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23242" y="932688"/>
            <a:ext cx="1671448"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Visible?</a:t>
            </a:r>
          </a:p>
        </p:txBody>
      </p:sp>
      <p:sp>
        <p:nvSpPr>
          <p:cNvPr id="9" name="Rectangle 8"/>
          <p:cNvSpPr/>
          <p:nvPr/>
        </p:nvSpPr>
        <p:spPr>
          <a:xfrm>
            <a:off x="5459282" y="932688"/>
            <a:ext cx="3091886"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23874" y="932688"/>
            <a:ext cx="2762702"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Keeps its space?</a:t>
            </a:r>
          </a:p>
        </p:txBody>
      </p:sp>
      <p:sp>
        <p:nvSpPr>
          <p:cNvPr id="11" name="Rectangle 10"/>
          <p:cNvSpPr/>
          <p:nvPr/>
        </p:nvSpPr>
        <p:spPr>
          <a:xfrm>
            <a:off x="8551168" y="932688"/>
            <a:ext cx="3091886"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15760" y="932688"/>
            <a:ext cx="2762702"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Still clickable?</a:t>
            </a:r>
          </a:p>
        </p:txBody>
      </p:sp>
      <p:sp>
        <p:nvSpPr>
          <p:cNvPr id="13" name="Rectangle 12"/>
          <p:cNvSpPr/>
          <p:nvPr/>
        </p:nvSpPr>
        <p:spPr>
          <a:xfrm>
            <a:off x="548640" y="1444752"/>
            <a:ext cx="291001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44752"/>
            <a:ext cx="2580826"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display: none</a:t>
            </a:r>
          </a:p>
        </p:txBody>
      </p:sp>
      <p:sp>
        <p:nvSpPr>
          <p:cNvPr id="15" name="Rectangle 14"/>
          <p:cNvSpPr/>
          <p:nvPr/>
        </p:nvSpPr>
        <p:spPr>
          <a:xfrm>
            <a:off x="3458650" y="1444752"/>
            <a:ext cx="2000632"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3242" y="1444752"/>
            <a:ext cx="1671448"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no</a:t>
            </a:r>
          </a:p>
        </p:txBody>
      </p:sp>
      <p:sp>
        <p:nvSpPr>
          <p:cNvPr id="17" name="Rectangle 16"/>
          <p:cNvSpPr/>
          <p:nvPr/>
        </p:nvSpPr>
        <p:spPr>
          <a:xfrm>
            <a:off x="5459282" y="1444752"/>
            <a:ext cx="3091886"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23874" y="1444752"/>
            <a:ext cx="2762702"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no</a:t>
            </a:r>
          </a:p>
        </p:txBody>
      </p:sp>
      <p:sp>
        <p:nvSpPr>
          <p:cNvPr id="19" name="Rectangle 18"/>
          <p:cNvSpPr/>
          <p:nvPr/>
        </p:nvSpPr>
        <p:spPr>
          <a:xfrm>
            <a:off x="8551168" y="1444752"/>
            <a:ext cx="3091886"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15760" y="1444752"/>
            <a:ext cx="2762702"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no</a:t>
            </a:r>
          </a:p>
        </p:txBody>
      </p:sp>
      <p:sp>
        <p:nvSpPr>
          <p:cNvPr id="21" name="Rectangle 20"/>
          <p:cNvSpPr/>
          <p:nvPr/>
        </p:nvSpPr>
        <p:spPr>
          <a:xfrm>
            <a:off x="548640" y="2011680"/>
            <a:ext cx="2910010"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2011680"/>
            <a:ext cx="2580826"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visibility: hidden</a:t>
            </a:r>
          </a:p>
        </p:txBody>
      </p:sp>
      <p:sp>
        <p:nvSpPr>
          <p:cNvPr id="23" name="Rectangle 22"/>
          <p:cNvSpPr/>
          <p:nvPr/>
        </p:nvSpPr>
        <p:spPr>
          <a:xfrm>
            <a:off x="3458650" y="2011680"/>
            <a:ext cx="2000632"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23242" y="2011680"/>
            <a:ext cx="1671448"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no</a:t>
            </a:r>
          </a:p>
        </p:txBody>
      </p:sp>
      <p:sp>
        <p:nvSpPr>
          <p:cNvPr id="25" name="Rectangle 24"/>
          <p:cNvSpPr/>
          <p:nvPr/>
        </p:nvSpPr>
        <p:spPr>
          <a:xfrm>
            <a:off x="5459282" y="2011680"/>
            <a:ext cx="3091886"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23874" y="2011680"/>
            <a:ext cx="2762702"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yes</a:t>
            </a:r>
          </a:p>
        </p:txBody>
      </p:sp>
      <p:sp>
        <p:nvSpPr>
          <p:cNvPr id="27" name="Rectangle 26"/>
          <p:cNvSpPr/>
          <p:nvPr/>
        </p:nvSpPr>
        <p:spPr>
          <a:xfrm>
            <a:off x="8551168" y="2011680"/>
            <a:ext cx="3091886"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15760" y="2011680"/>
            <a:ext cx="2762702"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no</a:t>
            </a:r>
          </a:p>
        </p:txBody>
      </p:sp>
      <p:sp>
        <p:nvSpPr>
          <p:cNvPr id="29" name="Rectangle 28"/>
          <p:cNvSpPr/>
          <p:nvPr/>
        </p:nvSpPr>
        <p:spPr>
          <a:xfrm>
            <a:off x="548640" y="2578608"/>
            <a:ext cx="291001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2578608"/>
            <a:ext cx="2580826"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opacity: 0</a:t>
            </a:r>
          </a:p>
        </p:txBody>
      </p:sp>
      <p:sp>
        <p:nvSpPr>
          <p:cNvPr id="31" name="Rectangle 30"/>
          <p:cNvSpPr/>
          <p:nvPr/>
        </p:nvSpPr>
        <p:spPr>
          <a:xfrm>
            <a:off x="3458650" y="2578608"/>
            <a:ext cx="2000632"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23242" y="2578608"/>
            <a:ext cx="1671448"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no</a:t>
            </a:r>
          </a:p>
        </p:txBody>
      </p:sp>
      <p:sp>
        <p:nvSpPr>
          <p:cNvPr id="33" name="Rectangle 32"/>
          <p:cNvSpPr/>
          <p:nvPr/>
        </p:nvSpPr>
        <p:spPr>
          <a:xfrm>
            <a:off x="5459282" y="2578608"/>
            <a:ext cx="3091886"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23874" y="2578608"/>
            <a:ext cx="2762702"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yes</a:t>
            </a:r>
          </a:p>
        </p:txBody>
      </p:sp>
      <p:sp>
        <p:nvSpPr>
          <p:cNvPr id="35" name="Rectangle 34"/>
          <p:cNvSpPr/>
          <p:nvPr/>
        </p:nvSpPr>
        <p:spPr>
          <a:xfrm>
            <a:off x="8551168" y="2578608"/>
            <a:ext cx="3091886"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715760" y="2578608"/>
            <a:ext cx="2762702"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yes</a:t>
            </a:r>
          </a:p>
        </p:txBody>
      </p:sp>
      <p:sp>
        <p:nvSpPr>
          <p:cNvPr id="37" name="Rounded Rectangle 36"/>
          <p:cNvSpPr/>
          <p:nvPr/>
        </p:nvSpPr>
        <p:spPr>
          <a:xfrm>
            <a:off x="548640" y="3328416"/>
            <a:ext cx="11094415" cy="105156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8680" y="3419856"/>
            <a:ext cx="10454335" cy="365760"/>
          </a:xfrm>
          <a:prstGeom prst="rect">
            <a:avLst/>
          </a:prstGeom>
          <a:noFill/>
        </p:spPr>
        <p:txBody>
          <a:bodyPr wrap="square" anchor="t" lIns="0" rIns="0" tIns="0" bIns="0">
            <a:spAutoFit/>
          </a:bodyPr>
          <a:lstStyle/>
          <a:p>
            <a:pPr algn="l">
              <a:lnSpc>
                <a:spcPct val="110000"/>
              </a:lnSpc>
              <a:spcAft>
                <a:spcPts val="400"/>
              </a:spcAft>
            </a:pPr>
            <a:r>
              <a:rPr sz="1450" b="1" i="0">
                <a:solidFill>
                  <a:srgbClr val="0E3F8C"/>
                </a:solidFill>
                <a:latin typeface="Calibri"/>
                <a:ea typeface="Calibri"/>
              </a:rPr>
              <a:t>display: none is for layout; visibility and opacity are for effects.</a:t>
            </a:r>
          </a:p>
        </p:txBody>
      </p:sp>
      <p:sp>
        <p:nvSpPr>
          <p:cNvPr id="39" name="TextBox 38"/>
          <p:cNvSpPr txBox="1"/>
          <p:nvPr/>
        </p:nvSpPr>
        <p:spPr>
          <a:xfrm>
            <a:off x="868680" y="3803904"/>
            <a:ext cx="10454335" cy="329184"/>
          </a:xfrm>
          <a:prstGeom prst="rect">
            <a:avLst/>
          </a:prstGeom>
          <a:noFill/>
        </p:spPr>
        <p:txBody>
          <a:bodyPr wrap="square" anchor="t" lIns="0" rIns="0" tIns="0" bIns="0">
            <a:spAutoFit/>
          </a:bodyPr>
          <a:lstStyle/>
          <a:p>
            <a:pPr algn="l">
              <a:lnSpc>
                <a:spcPct val="110000"/>
              </a:lnSpc>
              <a:spcAft>
                <a:spcPts val="400"/>
              </a:spcAft>
            </a:pPr>
            <a:r>
              <a:rPr sz="1300" b="1" i="0">
                <a:solidFill>
                  <a:srgbClr val="1E4FA8"/>
                </a:solidFill>
                <a:latin typeface="Calibri"/>
                <a:ea typeface="Calibri"/>
              </a:rPr>
              <a:t>open in editor →  </a:t>
            </a:r>
            <a:r>
              <a:rPr sz="130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editor.html?example=css-layout/hiding</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Icons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Icons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Three ways</a:t>
            </a:r>
            <a:br/>
            <a:r>
              <a:rPr sz="1350" b="0" i="0">
                <a:solidFill>
                  <a:srgbClr val="4A5568"/>
                </a:solidFill>
                <a:latin typeface="Calibri"/>
                <a:ea typeface="Calibri"/>
              </a:rPr>
              <a:t>An icon font, an inline SVG, or a picture file.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Font and SVG scale</a:t>
            </a:r>
            <a:br/>
            <a:r>
              <a:rPr sz="1350" b="0" i="0">
                <a:solidFill>
                  <a:srgbClr val="4A5568"/>
                </a:solidFill>
                <a:latin typeface="Calibri"/>
                <a:ea typeface="Calibri"/>
              </a:rPr>
              <a:t>Both are drawn: any size, and they follow the text colour.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 picture cannot</a:t>
            </a:r>
            <a:br/>
            <a:r>
              <a:rPr sz="1350" b="0" i="0">
                <a:solidFill>
                  <a:srgbClr val="4A5568"/>
                </a:solidFill>
                <a:latin typeface="Calibri"/>
                <a:ea typeface="Calibri"/>
              </a:rPr>
              <a:t>Fixed pixels: one file per size, and one more per colour.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So use few</a:t>
            </a:r>
            <a:br/>
            <a:r>
              <a:rPr sz="1350" b="0" i="0">
                <a:solidFill>
                  <a:srgbClr val="4A5568"/>
                </a:solidFill>
                <a:latin typeface="Calibri"/>
                <a:ea typeface="Calibri"/>
              </a:rPr>
              <a:t>A logo, a favicon, one glyph — not a toolbar of twenty.</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&lt;!-- 1 · an icon font: a &lt;link&gt;, then a class --&gt;</a:t>
            </a:r>
          </a:p>
          <a:p>
            <a:pPr>
              <a:spcAft>
                <a:spcPts val="350"/>
              </a:spcAft>
            </a:pPr>
            <a:r>
              <a:rPr sz="1300" b="0" i="0">
                <a:solidFill>
                  <a:srgbClr val="61AFEF"/>
                </a:solidFill>
                <a:latin typeface="Consolas"/>
                <a:ea typeface="Consolas"/>
              </a:rPr>
              <a:t>&lt;i class="fa-solid fa-star"&gt;&lt;/i&gt;</a:t>
            </a:r>
          </a:p>
          <a:p>
            <a:pPr>
              <a:spcAft>
                <a:spcPts val="350"/>
              </a:spcAft>
            </a:pPr>
            <a:r>
              <a:rPr sz="1300" b="0" i="0">
                <a:solidFill>
                  <a:srgbClr val="7F8C98"/>
                </a:solidFill>
                <a:latin typeface="Consolas"/>
                <a:ea typeface="Consolas"/>
              </a:rPr>
              <a:t>&lt;!-- 2 · inline SVG: the shape is in the page --&gt;</a:t>
            </a:r>
          </a:p>
          <a:p>
            <a:pPr>
              <a:spcAft>
                <a:spcPts val="350"/>
              </a:spcAft>
            </a:pPr>
            <a:r>
              <a:rPr sz="1300" b="0" i="0">
                <a:solidFill>
                  <a:srgbClr val="98C379"/>
                </a:solidFill>
                <a:latin typeface="Consolas"/>
                <a:ea typeface="Consolas"/>
              </a:rPr>
              <a:t>&lt;svg viewBox="0 0 24 24"&gt;</a:t>
            </a:r>
          </a:p>
          <a:p>
            <a:pPr>
              <a:spcAft>
                <a:spcPts val="350"/>
              </a:spcAft>
            </a:pPr>
            <a:r>
              <a:rPr sz="1300" b="0" i="0">
                <a:solidFill>
                  <a:srgbClr val="98C379"/>
                </a:solidFill>
                <a:latin typeface="Consolas"/>
                <a:ea typeface="Consolas"/>
              </a:rPr>
              <a:t>  &lt;path d="M12 1.2 L14.82 8.6 L22.73 8.99</a:t>
            </a:r>
          </a:p>
          <a:p>
            <a:pPr>
              <a:spcAft>
                <a:spcPts val="350"/>
              </a:spcAft>
            </a:pPr>
            <a:r>
              <a:rPr sz="1300" b="0" i="0">
                <a:solidFill>
                  <a:srgbClr val="98C379"/>
                </a:solidFill>
                <a:latin typeface="Consolas"/>
                <a:ea typeface="Consolas"/>
              </a:rPr>
              <a:t>           L16.57 13.96 L18.63 21.61 L12 17.28</a:t>
            </a:r>
          </a:p>
          <a:p>
            <a:pPr>
              <a:spcAft>
                <a:spcPts val="350"/>
              </a:spcAft>
            </a:pPr>
            <a:r>
              <a:rPr sz="1300" b="0" i="0">
                <a:solidFill>
                  <a:srgbClr val="98C379"/>
                </a:solidFill>
                <a:latin typeface="Consolas"/>
                <a:ea typeface="Consolas"/>
              </a:rPr>
              <a:t>           L5.37 21.61 L7.43 13.96 L1.27 8.99</a:t>
            </a:r>
          </a:p>
          <a:p>
            <a:pPr>
              <a:spcAft>
                <a:spcPts val="350"/>
              </a:spcAft>
            </a:pPr>
            <a:r>
              <a:rPr sz="1300" b="0" i="0">
                <a:solidFill>
                  <a:srgbClr val="98C379"/>
                </a:solidFill>
                <a:latin typeface="Consolas"/>
                <a:ea typeface="Consolas"/>
              </a:rPr>
              <a:t>           L9.18 8.6 Z" /&gt;</a:t>
            </a:r>
          </a:p>
          <a:p>
            <a:pPr>
              <a:spcAft>
                <a:spcPts val="350"/>
              </a:spcAft>
            </a:pPr>
            <a:r>
              <a:rPr sz="1300" b="0" i="0">
                <a:solidFill>
                  <a:srgbClr val="98C379"/>
                </a:solidFill>
                <a:latin typeface="Consolas"/>
                <a:ea typeface="Consolas"/>
              </a:rPr>
              <a:t>&lt;/svg&gt;</a:t>
            </a:r>
          </a:p>
          <a:p>
            <a:pPr>
              <a:spcAft>
                <a:spcPts val="350"/>
              </a:spcAft>
            </a:pPr>
            <a:r>
              <a:rPr sz="1300" b="0" i="0">
                <a:solidFill>
                  <a:srgbClr val="7F8C98"/>
                </a:solidFill>
                <a:latin typeface="Consolas"/>
                <a:ea typeface="Consolas"/>
              </a:rPr>
              <a:t>&lt;!-- 3 · a picture: a file per size, per colour --&gt;</a:t>
            </a:r>
          </a:p>
          <a:p>
            <a:pPr>
              <a:spcAft>
                <a:spcPts val="350"/>
              </a:spcAft>
            </a:pPr>
            <a:r>
              <a:rPr sz="1300" b="0" i="0">
                <a:solidFill>
                  <a:srgbClr val="61AFEF"/>
                </a:solidFill>
                <a:latin typeface="Consolas"/>
                <a:ea typeface="Consolas"/>
              </a:rPr>
              <a:t>&lt;img src="icon-star.png" width="24" alt=""&gt;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editor.html?example=css-layout/icons</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Icons are drawn, not sampled; a picture is the exception you keep to a few.</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Icon Fonts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Icons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 font of pictures</a:t>
            </a:r>
            <a:br/>
            <a:r>
              <a:rPr sz="1350" b="0" i="0">
                <a:solidFill>
                  <a:srgbClr val="4A5568"/>
                </a:solidFill>
                <a:latin typeface="Calibri"/>
                <a:ea typeface="Calibri"/>
              </a:rPr>
              <a:t>The glyphs are shapes, not letters — icons in a font file.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Load, then mark up</a:t>
            </a:r>
            <a:br/>
            <a:r>
              <a:rPr sz="1350" b="0" i="0">
                <a:solidFill>
                  <a:srgbClr val="4A5568"/>
                </a:solidFill>
                <a:latin typeface="Calibri"/>
                <a:ea typeface="Calibri"/>
              </a:rPr>
              <a:t>The stylesheet, then an icon on </a:t>
            </a:r>
            <a:r>
              <a:rPr sz="1350" b="0" i="0">
                <a:solidFill>
                  <a:srgbClr val="1E4FA8"/>
                </a:solidFill>
                <a:latin typeface="Consolas"/>
                <a:ea typeface="Consolas"/>
              </a:rPr>
              <a:t>&lt;i&gt;</a:t>
            </a:r>
            <a:r>
              <a:rPr sz="1350" b="0" i="0">
                <a:solidFill>
                  <a:srgbClr val="4A5568"/>
                </a:solidFill>
                <a:latin typeface="Calibri"/>
                <a:ea typeface="Calibri"/>
              </a:rPr>
              <a:t> or </a:t>
            </a:r>
            <a:r>
              <a:rPr sz="1350" b="0" i="0">
                <a:solidFill>
                  <a:srgbClr val="1E4FA8"/>
                </a:solidFill>
                <a:latin typeface="Consolas"/>
                <a:ea typeface="Consolas"/>
              </a:rPr>
              <a:t>&lt;span&gt;</a:t>
            </a:r>
            <a:r>
              <a:rPr sz="1350" b="0" i="0">
                <a:solidFill>
                  <a:srgbClr val="4A5568"/>
                </a:solidFill>
                <a:latin typeface="Calibri"/>
                <a:ea typeface="Calibri"/>
              </a:rPr>
              <a: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It is text</a:t>
            </a:r>
            <a:br/>
            <a:r>
              <a:rPr sz="1350" b="0" i="0">
                <a:solidFill>
                  <a:srgbClr val="4A5568"/>
                </a:solidFill>
                <a:latin typeface="Calibri"/>
                <a:ea typeface="Calibri"/>
              </a:rPr>
              <a:t>So font-size and color work on it — the glyph paints itself.</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What it costs</a:t>
            </a:r>
            <a:br/>
            <a:r>
              <a:rPr sz="1350" b="0" i="0">
                <a:solidFill>
                  <a:srgbClr val="4A5568"/>
                </a:solidFill>
                <a:latin typeface="Calibri"/>
                <a:ea typeface="Calibri"/>
              </a:rPr>
              <a:t>The whole font arrives — subset it, and hide decoration.</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&lt;!-- one stylesheet brings the whole set --&gt;</a:t>
            </a:r>
          </a:p>
          <a:p>
            <a:pPr>
              <a:spcAft>
                <a:spcPts val="350"/>
              </a:spcAft>
            </a:pPr>
            <a:r>
              <a:rPr sz="1300" b="0" i="0">
                <a:solidFill>
                  <a:srgbClr val="61AFEF"/>
                </a:solidFill>
                <a:latin typeface="Consolas"/>
                <a:ea typeface="Consolas"/>
              </a:rPr>
              <a:t>&lt;link rel="stylesheet"</a:t>
            </a:r>
          </a:p>
          <a:p>
            <a:pPr>
              <a:spcAft>
                <a:spcPts val="350"/>
              </a:spcAft>
            </a:pPr>
            <a:r>
              <a:rPr sz="1300" b="0" i="0">
                <a:solidFill>
                  <a:srgbClr val="98C379"/>
                </a:solidFill>
                <a:latin typeface="Consolas"/>
                <a:ea typeface="Consolas"/>
              </a:rPr>
              <a:t>      href="…/font-awesome.min.css"&gt;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&lt;!-- the class name is the icon --&gt;</a:t>
            </a:r>
          </a:p>
          <a:p>
            <a:pPr>
              <a:spcAft>
                <a:spcPts val="350"/>
              </a:spcAft>
            </a:pPr>
            <a:r>
              <a:rPr sz="1300" b="0" i="0">
                <a:solidFill>
                  <a:srgbClr val="61AFEF"/>
                </a:solidFill>
                <a:latin typeface="Consolas"/>
                <a:ea typeface="Consolas"/>
              </a:rPr>
              <a:t>&lt;i class="fa-solid fa-cloud"&gt;&lt;/i&gt;</a:t>
            </a:r>
          </a:p>
          <a:p>
            <a:pPr>
              <a:spcAft>
                <a:spcPts val="350"/>
              </a:spcAft>
            </a:pPr>
            <a:r>
              <a:rPr sz="1300" b="0" i="0">
                <a:solidFill>
                  <a:srgbClr val="61AFEF"/>
                </a:solidFill>
                <a:latin typeface="Consolas"/>
                <a:ea typeface="Consolas"/>
              </a:rPr>
              <a:t>&lt;i class="fa-solid fa-heart"&gt;&lt;/i&gt;</a:t>
            </a:r>
          </a:p>
          <a:p>
            <a:pPr>
              <a:spcAft>
                <a:spcPts val="350"/>
              </a:spcAft>
            </a:pPr>
            <a:r>
              <a:rPr sz="1300" b="0" i="0">
                <a:solidFill>
                  <a:srgbClr val="61AFEF"/>
                </a:solidFill>
                <a:latin typeface="Consolas"/>
                <a:ea typeface="Consolas"/>
              </a:rPr>
              <a:t>&lt;i class="fa-solid fa-bars"&gt;&lt;/i&gt;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it is a glyph, so the text CSS applies */</a:t>
            </a:r>
          </a:p>
          <a:p>
            <a:pPr>
              <a:spcAft>
                <a:spcPts val="350"/>
              </a:spcAft>
            </a:pPr>
            <a:r>
              <a:rPr sz="1300" b="0" i="0">
                <a:solidFill>
                  <a:srgbClr val="98C379"/>
                </a:solidFill>
                <a:latin typeface="Consolas"/>
                <a:ea typeface="Consolas"/>
              </a:rPr>
              <a:t>.icon { color: #b93a33;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editor.html?example=css-layout/icon-font</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An icon font is a web font whose glyphs are pictures — the icon is text.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Miscellaneous Cheatsheet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Miscellaneous</a:t>
            </a:r>
          </a:p>
        </p:txBody>
      </p:sp>
      <p:sp>
        <p:nvSpPr>
          <p:cNvPr id="5" name="Rectangle 4"/>
          <p:cNvSpPr/>
          <p:nvPr/>
        </p:nvSpPr>
        <p:spPr>
          <a:xfrm>
            <a:off x="548640" y="932688"/>
            <a:ext cx="2842370"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2513186"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Property</a:t>
            </a:r>
          </a:p>
        </p:txBody>
      </p:sp>
      <p:sp>
        <p:nvSpPr>
          <p:cNvPr id="7" name="Rectangle 6"/>
          <p:cNvSpPr/>
          <p:nvPr/>
        </p:nvSpPr>
        <p:spPr>
          <a:xfrm>
            <a:off x="3391010" y="932688"/>
            <a:ext cx="3667575"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55602" y="932688"/>
            <a:ext cx="3338391"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What it does</a:t>
            </a:r>
          </a:p>
        </p:txBody>
      </p:sp>
      <p:sp>
        <p:nvSpPr>
          <p:cNvPr id="9" name="Rectangle 8"/>
          <p:cNvSpPr/>
          <p:nvPr/>
        </p:nvSpPr>
        <p:spPr>
          <a:xfrm>
            <a:off x="7058586" y="932688"/>
            <a:ext cx="4584469"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178" y="932688"/>
            <a:ext cx="4255285"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One-liner</a:t>
            </a:r>
          </a:p>
        </p:txBody>
      </p:sp>
      <p:sp>
        <p:nvSpPr>
          <p:cNvPr id="11" name="Rectangle 10"/>
          <p:cNvSpPr/>
          <p:nvPr/>
        </p:nvSpPr>
        <p:spPr>
          <a:xfrm>
            <a:off x="548640" y="1444752"/>
            <a:ext cx="284237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444752"/>
            <a:ext cx="2513186"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custom property</a:t>
            </a:r>
          </a:p>
        </p:txBody>
      </p:sp>
      <p:sp>
        <p:nvSpPr>
          <p:cNvPr id="13" name="Rectangle 12"/>
          <p:cNvSpPr/>
          <p:nvPr/>
        </p:nvSpPr>
        <p:spPr>
          <a:xfrm>
            <a:off x="3391010" y="1444752"/>
            <a:ext cx="366757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55602" y="1444752"/>
            <a:ext cx="3338391"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a named value you reuse</a:t>
            </a:r>
          </a:p>
        </p:txBody>
      </p:sp>
      <p:sp>
        <p:nvSpPr>
          <p:cNvPr id="15" name="Rectangle 14"/>
          <p:cNvSpPr/>
          <p:nvPr/>
        </p:nvSpPr>
        <p:spPr>
          <a:xfrm>
            <a:off x="7058586" y="1444752"/>
            <a:ext cx="4584469"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178" y="1444752"/>
            <a:ext cx="4255285"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--brand: #1e4fa8;  var(--brand)</a:t>
            </a:r>
          </a:p>
        </p:txBody>
      </p:sp>
      <p:sp>
        <p:nvSpPr>
          <p:cNvPr id="17" name="Rectangle 16"/>
          <p:cNvSpPr/>
          <p:nvPr/>
        </p:nvSpPr>
        <p:spPr>
          <a:xfrm>
            <a:off x="548640" y="2011680"/>
            <a:ext cx="2842370"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011680"/>
            <a:ext cx="2513186"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icons</a:t>
            </a:r>
          </a:p>
        </p:txBody>
      </p:sp>
      <p:sp>
        <p:nvSpPr>
          <p:cNvPr id="19" name="Rectangle 18"/>
          <p:cNvSpPr/>
          <p:nvPr/>
        </p:nvSpPr>
        <p:spPr>
          <a:xfrm>
            <a:off x="3391010" y="2011680"/>
            <a:ext cx="366757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5602" y="2011680"/>
            <a:ext cx="3338391"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a font whose glyphs are pictures</a:t>
            </a:r>
          </a:p>
        </p:txBody>
      </p:sp>
      <p:sp>
        <p:nvSpPr>
          <p:cNvPr id="21" name="Rectangle 20"/>
          <p:cNvSpPr/>
          <p:nvPr/>
        </p:nvSpPr>
        <p:spPr>
          <a:xfrm>
            <a:off x="7058586" y="2011680"/>
            <a:ext cx="4584469"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178" y="2011680"/>
            <a:ext cx="4255285"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&lt;i class="fa-solid fa-cloud"&gt;&lt;/i&gt;</a:t>
            </a:r>
          </a:p>
        </p:txBody>
      </p:sp>
      <p:sp>
        <p:nvSpPr>
          <p:cNvPr id="23" name="Rectangle 22"/>
          <p:cNvSpPr/>
          <p:nvPr/>
        </p:nvSpPr>
        <p:spPr>
          <a:xfrm>
            <a:off x="548640" y="2578608"/>
            <a:ext cx="284237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2578608"/>
            <a:ext cx="2513186"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box-shadow</a:t>
            </a:r>
          </a:p>
        </p:txBody>
      </p:sp>
      <p:sp>
        <p:nvSpPr>
          <p:cNvPr id="25" name="Rectangle 24"/>
          <p:cNvSpPr/>
          <p:nvPr/>
        </p:nvSpPr>
        <p:spPr>
          <a:xfrm>
            <a:off x="3391010" y="2578608"/>
            <a:ext cx="366757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55602" y="2578608"/>
            <a:ext cx="3338391"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depth, rings, inset</a:t>
            </a:r>
          </a:p>
        </p:txBody>
      </p:sp>
      <p:sp>
        <p:nvSpPr>
          <p:cNvPr id="27" name="Rectangle 26"/>
          <p:cNvSpPr/>
          <p:nvPr/>
        </p:nvSpPr>
        <p:spPr>
          <a:xfrm>
            <a:off x="7058586" y="2578608"/>
            <a:ext cx="4584469"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23178" y="2578608"/>
            <a:ext cx="4255285"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0 6px 16px rgba(0,0,0,.18)</a:t>
            </a:r>
          </a:p>
        </p:txBody>
      </p:sp>
      <p:sp>
        <p:nvSpPr>
          <p:cNvPr id="29" name="Rectangle 28"/>
          <p:cNvSpPr/>
          <p:nvPr/>
        </p:nvSpPr>
        <p:spPr>
          <a:xfrm>
            <a:off x="548640" y="3145536"/>
            <a:ext cx="2842370"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3145536"/>
            <a:ext cx="2513186"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display</a:t>
            </a:r>
          </a:p>
        </p:txBody>
      </p:sp>
      <p:sp>
        <p:nvSpPr>
          <p:cNvPr id="31" name="Rectangle 30"/>
          <p:cNvSpPr/>
          <p:nvPr/>
        </p:nvSpPr>
        <p:spPr>
          <a:xfrm>
            <a:off x="3391010" y="3145536"/>
            <a:ext cx="366757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55602" y="3145536"/>
            <a:ext cx="3338391"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outer box type</a:t>
            </a:r>
          </a:p>
        </p:txBody>
      </p:sp>
      <p:sp>
        <p:nvSpPr>
          <p:cNvPr id="33" name="Rectangle 32"/>
          <p:cNvSpPr/>
          <p:nvPr/>
        </p:nvSpPr>
        <p:spPr>
          <a:xfrm>
            <a:off x="7058586" y="3145536"/>
            <a:ext cx="4584469"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23178" y="3145536"/>
            <a:ext cx="4255285"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block | inline | inline-block | none</a:t>
            </a:r>
          </a:p>
        </p:txBody>
      </p:sp>
      <p:sp>
        <p:nvSpPr>
          <p:cNvPr id="35" name="Rectangle 34"/>
          <p:cNvSpPr/>
          <p:nvPr/>
        </p:nvSpPr>
        <p:spPr>
          <a:xfrm>
            <a:off x="548640" y="3712464"/>
            <a:ext cx="284237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3232" y="3712464"/>
            <a:ext cx="2513186"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visibility &amp; opacity</a:t>
            </a:r>
          </a:p>
        </p:txBody>
      </p:sp>
      <p:sp>
        <p:nvSpPr>
          <p:cNvPr id="37" name="Rectangle 36"/>
          <p:cNvSpPr/>
          <p:nvPr/>
        </p:nvSpPr>
        <p:spPr>
          <a:xfrm>
            <a:off x="3391010" y="3712464"/>
            <a:ext cx="366757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55602" y="3712464"/>
            <a:ext cx="3338391"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hidden, but still there</a:t>
            </a:r>
          </a:p>
        </p:txBody>
      </p:sp>
      <p:sp>
        <p:nvSpPr>
          <p:cNvPr id="39" name="Rectangle 38"/>
          <p:cNvSpPr/>
          <p:nvPr/>
        </p:nvSpPr>
        <p:spPr>
          <a:xfrm>
            <a:off x="7058586" y="3712464"/>
            <a:ext cx="4584469"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23178" y="3712464"/>
            <a:ext cx="4255285"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visibility: hidden  ·  opacity: .5</a:t>
            </a:r>
          </a:p>
        </p:txBody>
      </p:sp>
      <p:sp>
        <p:nvSpPr>
          <p:cNvPr id="41" name="Rounded Rectangle 40"/>
          <p:cNvSpPr/>
          <p:nvPr/>
        </p:nvSpPr>
        <p:spPr>
          <a:xfrm>
            <a:off x="548640" y="4462272"/>
            <a:ext cx="11094415" cy="6858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8680" y="4553712"/>
            <a:ext cx="10454335" cy="365760"/>
          </a:xfrm>
          <a:prstGeom prst="rect">
            <a:avLst/>
          </a:prstGeom>
          <a:noFill/>
        </p:spPr>
        <p:txBody>
          <a:bodyPr wrap="square" anchor="t" lIns="0" rIns="0" tIns="0" bIns="0">
            <a:spAutoFit/>
          </a:bodyPr>
          <a:lstStyle/>
          <a:p>
            <a:pPr algn="l">
              <a:lnSpc>
                <a:spcPct val="110000"/>
              </a:lnSpc>
              <a:spcAft>
                <a:spcPts val="400"/>
              </a:spcAft>
            </a:pPr>
            <a:r>
              <a:rPr sz="1450" b="1" i="0">
                <a:solidFill>
                  <a:srgbClr val="0E3F8C"/>
                </a:solidFill>
                <a:latin typeface="Calibri"/>
                <a:ea typeface="Calibri"/>
              </a:rPr>
              <a:t>The properties that finish the page off — each one a single declaration.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Best Practices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Lecture 5</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transition on the base</a:t>
            </a:r>
            <a:br/>
            <a:r>
              <a:rPr sz="1500" b="0" i="0">
                <a:solidFill>
                  <a:srgbClr val="4A5568"/>
                </a:solidFill>
                <a:latin typeface="Calibri"/>
                <a:ea typeface="Calibri"/>
              </a:rPr>
              <a:t>It plays both in and out smoothly.</a:t>
            </a:r>
          </a:p>
          <a:p>
            <a:pPr marL="256032" indent="-237744">
              <a:lnSpc>
                <a:spcPct val="112000"/>
              </a:lnSpc>
              <a:spcAft>
                <a:spcPts val="700"/>
              </a:spcAft>
              <a:buClr>
                <a:srgbClr val="1E4FA8"/>
              </a:buClr>
              <a:buSzPct val="90000"/>
              <a:buFont typeface="Arial"/>
              <a:buChar char="▪"/>
            </a:pPr>
            <a:r>
              <a:rPr sz="1700" b="1" i="0">
                <a:solidFill>
                  <a:srgbClr val="B8860B"/>
                </a:solidFill>
                <a:latin typeface="Consolas"/>
                <a:ea typeface="Consolas"/>
              </a:rPr>
              <a:t>transform</a:t>
            </a:r>
            <a:r>
              <a:rPr sz="1700" b="1" i="0">
                <a:solidFill>
                  <a:srgbClr val="1A2230"/>
                </a:solidFill>
                <a:latin typeface="Calibri"/>
                <a:ea typeface="Calibri"/>
              </a:rPr>
              <a:t> + opacity</a:t>
            </a:r>
            <a:br/>
            <a:r>
              <a:rPr sz="1500" b="0" i="0">
                <a:solidFill>
                  <a:srgbClr val="4A5568"/>
                </a:solidFill>
                <a:latin typeface="Calibri"/>
                <a:ea typeface="Calibri"/>
              </a:rPr>
              <a:t>The cheap properties — animate those, not </a:t>
            </a:r>
            <a:r>
              <a:rPr sz="1500" b="0" i="0">
                <a:solidFill>
                  <a:srgbClr val="B8860B"/>
                </a:solidFill>
                <a:latin typeface="Consolas"/>
                <a:ea typeface="Consolas"/>
              </a:rPr>
              <a:t>width</a:t>
            </a:r>
            <a:r>
              <a:rPr sz="1500" b="0" i="0">
                <a:solidFill>
                  <a:srgbClr val="4A5568"/>
                </a:solidFill>
                <a:latin typeface="Calibri"/>
                <a:ea typeface="Calibri"/>
              </a:rPr>
              <a:t> or </a:t>
            </a:r>
            <a:r>
              <a:rPr sz="1500" b="0" i="0">
                <a:solidFill>
                  <a:srgbClr val="B8860B"/>
                </a:solidFill>
                <a:latin typeface="Consolas"/>
                <a:ea typeface="Consolas"/>
              </a:rPr>
              <a:t>height</a:t>
            </a:r>
            <a:r>
              <a:rPr sz="1500" b="0" i="0">
                <a:solidFill>
                  <a:srgbClr val="4A5568"/>
                </a:solidFill>
                <a:latin typeface="Calibri"/>
                <a:ea typeface="Calibri"/>
              </a:rPr>
              <a: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prefers-reduced-motion</a:t>
            </a:r>
            <a:br/>
            <a:r>
              <a:rPr sz="1500" b="0" i="0">
                <a:solidFill>
                  <a:srgbClr val="4A5568"/>
                </a:solidFill>
                <a:latin typeface="Calibri"/>
                <a:ea typeface="Calibri"/>
              </a:rPr>
              <a:t>Respect users who want less movement.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Pick the right layout</a:t>
            </a:r>
            <a:br/>
            <a:r>
              <a:rPr sz="1500" b="0" i="0">
                <a:solidFill>
                  <a:srgbClr val="4A5568"/>
                </a:solidFill>
                <a:latin typeface="Calibri"/>
                <a:ea typeface="Calibri"/>
              </a:rPr>
              <a:t>One axis → Flexbox, two → Grid, and queries for the rest.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Mobile-first</a:t>
            </a:r>
            <a:br/>
            <a:r>
              <a:rPr sz="1500" b="0" i="0">
                <a:solidFill>
                  <a:srgbClr val="4A5568"/>
                </a:solidFill>
                <a:latin typeface="Calibri"/>
                <a:ea typeface="Calibri"/>
              </a:rPr>
              <a:t>Base styles for small screens; min-width to add layout.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Name your transitions</a:t>
            </a:r>
            <a:br/>
            <a:r>
              <a:rPr sz="1500" b="0" i="0">
                <a:solidFill>
                  <a:srgbClr val="4A5568"/>
                </a:solidFill>
                <a:latin typeface="Calibri"/>
                <a:ea typeface="Calibri"/>
              </a:rPr>
              <a:t>Avoid transition: all — it animates what you forgot.</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The habits that keep layout and motion sane</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animate  →  mobile-first  →  token  →  pick the right layout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Key Takeaways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Lecture 5</a:t>
            </a:r>
          </a:p>
        </p:txBody>
      </p:sp>
      <p:sp>
        <p:nvSpPr>
          <p:cNvPr id="5" name="TextBox 4"/>
          <p:cNvSpPr txBox="1"/>
          <p:nvPr/>
        </p:nvSpPr>
        <p:spPr>
          <a:xfrm>
            <a:off x="822959" y="1252728"/>
            <a:ext cx="10545775" cy="658368"/>
          </a:xfrm>
          <a:prstGeom prst="rect">
            <a:avLst/>
          </a:prstGeom>
          <a:noFill/>
        </p:spPr>
        <p:txBody>
          <a:bodyPr wrap="square" anchor="t" lIns="0" rIns="0" tIns="0" bIns="0">
            <a:spAutoFit/>
          </a:bodyPr>
          <a:lstStyle/>
          <a:p>
            <a:pPr algn="l">
              <a:lnSpc>
                <a:spcPct val="120000"/>
              </a:lnSpc>
              <a:spcAft>
                <a:spcPts val="400"/>
              </a:spcAft>
            </a:pPr>
            <a:r>
              <a:rPr sz="1850" b="0" i="0">
                <a:solidFill>
                  <a:srgbClr val="1A2230"/>
                </a:solidFill>
                <a:latin typeface="Calibri"/>
                <a:ea typeface="Calibri"/>
              </a:rPr>
              <a:t>Normal flow </a:t>
            </a:r>
            <a:r>
              <a:rPr sz="1850" b="1" i="0">
                <a:solidFill>
                  <a:srgbClr val="1E4FA8"/>
                </a:solidFill>
                <a:latin typeface="Calibri"/>
                <a:ea typeface="Calibri"/>
              </a:rPr>
              <a:t>is the baseline</a:t>
            </a:r>
            <a:r>
              <a:rPr sz="1850" b="0" i="0">
                <a:solidFill>
                  <a:srgbClr val="1A2230"/>
                </a:solidFill>
                <a:latin typeface="Calibri"/>
                <a:ea typeface="Calibri"/>
              </a:rPr>
              <a:t> — leave it on purpose, with position.</a:t>
            </a:r>
          </a:p>
        </p:txBody>
      </p:sp>
      <p:sp>
        <p:nvSpPr>
          <p:cNvPr id="6" name="TextBox 5"/>
          <p:cNvSpPr txBox="1"/>
          <p:nvPr/>
        </p:nvSpPr>
        <p:spPr>
          <a:xfrm>
            <a:off x="822959" y="1984248"/>
            <a:ext cx="10545775" cy="658368"/>
          </a:xfrm>
          <a:prstGeom prst="rect">
            <a:avLst/>
          </a:prstGeom>
          <a:noFill/>
        </p:spPr>
        <p:txBody>
          <a:bodyPr wrap="square" anchor="t" lIns="0" rIns="0" tIns="0" bIns="0">
            <a:spAutoFit/>
          </a:bodyPr>
          <a:lstStyle/>
          <a:p>
            <a:pPr algn="l">
              <a:lnSpc>
                <a:spcPct val="120000"/>
              </a:lnSpc>
              <a:spcAft>
                <a:spcPts val="400"/>
              </a:spcAft>
            </a:pPr>
            <a:r>
              <a:rPr sz="1850" b="0" i="0">
                <a:solidFill>
                  <a:srgbClr val="1A2230"/>
                </a:solidFill>
                <a:latin typeface="Calibri"/>
                <a:ea typeface="Calibri"/>
              </a:rPr>
              <a:t>Flexbox &amp; Grid </a:t>
            </a:r>
            <a:r>
              <a:rPr sz="1850" b="1" i="0">
                <a:solidFill>
                  <a:srgbClr val="1E4FA8"/>
                </a:solidFill>
                <a:latin typeface="Calibri"/>
                <a:ea typeface="Calibri"/>
              </a:rPr>
              <a:t>lay out one or two axes</a:t>
            </a:r>
            <a:r>
              <a:rPr sz="1850" b="0" i="0">
                <a:solidFill>
                  <a:srgbClr val="1A2230"/>
                </a:solidFill>
                <a:latin typeface="Calibri"/>
                <a:ea typeface="Calibri"/>
              </a:rPr>
              <a:t> — one self-study page each.</a:t>
            </a:r>
          </a:p>
        </p:txBody>
      </p:sp>
      <p:sp>
        <p:nvSpPr>
          <p:cNvPr id="7" name="TextBox 6"/>
          <p:cNvSpPr txBox="1"/>
          <p:nvPr/>
        </p:nvSpPr>
        <p:spPr>
          <a:xfrm>
            <a:off x="822959" y="2715768"/>
            <a:ext cx="10545775" cy="658368"/>
          </a:xfrm>
          <a:prstGeom prst="rect">
            <a:avLst/>
          </a:prstGeom>
          <a:noFill/>
        </p:spPr>
        <p:txBody>
          <a:bodyPr wrap="square" anchor="t" lIns="0" rIns="0" tIns="0" bIns="0">
            <a:spAutoFit/>
          </a:bodyPr>
          <a:lstStyle/>
          <a:p>
            <a:pPr algn="l">
              <a:lnSpc>
                <a:spcPct val="120000"/>
              </a:lnSpc>
              <a:spcAft>
                <a:spcPts val="400"/>
              </a:spcAft>
            </a:pPr>
            <a:r>
              <a:rPr sz="1850" b="0" i="0">
                <a:solidFill>
                  <a:srgbClr val="1A2230"/>
                </a:solidFill>
                <a:latin typeface="Calibri"/>
                <a:ea typeface="Calibri"/>
              </a:rPr>
              <a:t>transform </a:t>
            </a:r>
            <a:r>
              <a:rPr sz="1850" b="1" i="0">
                <a:solidFill>
                  <a:srgbClr val="1E4FA8"/>
                </a:solidFill>
                <a:latin typeface="Calibri"/>
                <a:ea typeface="Calibri"/>
              </a:rPr>
              <a:t>reshapes a box</a:t>
            </a:r>
            <a:r>
              <a:rPr sz="1850" b="0" i="0">
                <a:solidFill>
                  <a:srgbClr val="1A2230"/>
                </a:solidFill>
                <a:latin typeface="Calibri"/>
                <a:ea typeface="Calibri"/>
              </a:rPr>
              <a:t> without reflowing anything around it.</a:t>
            </a:r>
          </a:p>
        </p:txBody>
      </p:sp>
      <p:sp>
        <p:nvSpPr>
          <p:cNvPr id="8" name="TextBox 7"/>
          <p:cNvSpPr txBox="1"/>
          <p:nvPr/>
        </p:nvSpPr>
        <p:spPr>
          <a:xfrm>
            <a:off x="822959" y="3447287"/>
            <a:ext cx="10545775" cy="658368"/>
          </a:xfrm>
          <a:prstGeom prst="rect">
            <a:avLst/>
          </a:prstGeom>
          <a:noFill/>
        </p:spPr>
        <p:txBody>
          <a:bodyPr wrap="square" anchor="t" lIns="0" rIns="0" tIns="0" bIns="0">
            <a:spAutoFit/>
          </a:bodyPr>
          <a:lstStyle/>
          <a:p>
            <a:pPr algn="l">
              <a:lnSpc>
                <a:spcPct val="120000"/>
              </a:lnSpc>
              <a:spcAft>
                <a:spcPts val="400"/>
              </a:spcAft>
            </a:pPr>
            <a:r>
              <a:rPr sz="1850" b="0" i="0">
                <a:solidFill>
                  <a:srgbClr val="1A2230"/>
                </a:solidFill>
                <a:latin typeface="Calibri"/>
                <a:ea typeface="Calibri"/>
              </a:rPr>
              <a:t>transition &amp; @keyframes </a:t>
            </a:r>
            <a:r>
              <a:rPr sz="1850" b="1" i="0">
                <a:solidFill>
                  <a:srgbClr val="1E4FA8"/>
                </a:solidFill>
                <a:latin typeface="Calibri"/>
                <a:ea typeface="Calibri"/>
              </a:rPr>
              <a:t>smooth and loop motion</a:t>
            </a:r>
            <a:r>
              <a:rPr sz="1850" b="0" i="0">
                <a:solidFill>
                  <a:srgbClr val="1A2230"/>
                </a:solidFill>
                <a:latin typeface="Calibri"/>
                <a:ea typeface="Calibri"/>
              </a:rPr>
              <a:t> — one for states, one for sequences.</a:t>
            </a:r>
          </a:p>
        </p:txBody>
      </p:sp>
      <p:sp>
        <p:nvSpPr>
          <p:cNvPr id="9" name="TextBox 8"/>
          <p:cNvSpPr txBox="1"/>
          <p:nvPr/>
        </p:nvSpPr>
        <p:spPr>
          <a:xfrm>
            <a:off x="822959" y="4178807"/>
            <a:ext cx="10545775" cy="658368"/>
          </a:xfrm>
          <a:prstGeom prst="rect">
            <a:avLst/>
          </a:prstGeom>
          <a:noFill/>
        </p:spPr>
        <p:txBody>
          <a:bodyPr wrap="square" anchor="t" lIns="0" rIns="0" tIns="0" bIns="0">
            <a:spAutoFit/>
          </a:bodyPr>
          <a:lstStyle/>
          <a:p>
            <a:pPr algn="l">
              <a:lnSpc>
                <a:spcPct val="120000"/>
              </a:lnSpc>
              <a:spcAft>
                <a:spcPts val="400"/>
              </a:spcAft>
            </a:pPr>
            <a:r>
              <a:rPr sz="1850" b="0" i="0">
                <a:solidFill>
                  <a:srgbClr val="1A2230"/>
                </a:solidFill>
                <a:latin typeface="Calibri"/>
                <a:ea typeface="Calibri"/>
              </a:rPr>
              <a:t>Variables, shadows &amp; display </a:t>
            </a:r>
            <a:r>
              <a:rPr sz="1850" b="1" i="0">
                <a:solidFill>
                  <a:srgbClr val="1E4FA8"/>
                </a:solidFill>
                <a:latin typeface="Calibri"/>
                <a:ea typeface="Calibri"/>
              </a:rPr>
              <a:t>finish the page</a:t>
            </a:r>
            <a:r>
              <a:rPr sz="1850" b="0" i="0">
                <a:solidFill>
                  <a:srgbClr val="1A2230"/>
                </a:solidFill>
                <a:latin typeface="Calibri"/>
                <a:ea typeface="Calibri"/>
              </a:rPr>
              <a:t> — the properties beyond layout.</a:t>
            </a:r>
          </a:p>
        </p:txBody>
      </p:sp>
      <p:sp>
        <p:nvSpPr>
          <p:cNvPr id="10" name="TextBox 9"/>
          <p:cNvSpPr txBox="1"/>
          <p:nvPr/>
        </p:nvSpPr>
        <p:spPr>
          <a:xfrm>
            <a:off x="822959" y="4910327"/>
            <a:ext cx="10545775" cy="658368"/>
          </a:xfrm>
          <a:prstGeom prst="rect">
            <a:avLst/>
          </a:prstGeom>
          <a:noFill/>
        </p:spPr>
        <p:txBody>
          <a:bodyPr wrap="square" anchor="t" lIns="0" rIns="0" tIns="0" bIns="0">
            <a:spAutoFit/>
          </a:bodyPr>
          <a:lstStyle/>
          <a:p>
            <a:pPr algn="l">
              <a:lnSpc>
                <a:spcPct val="120000"/>
              </a:lnSpc>
              <a:spcAft>
                <a:spcPts val="400"/>
              </a:spcAft>
            </a:pPr>
            <a:r>
              <a:rPr sz="1850" b="0" i="0">
                <a:solidFill>
                  <a:srgbClr val="1A2230"/>
                </a:solidFill>
                <a:latin typeface="Calibri"/>
                <a:ea typeface="Calibri"/>
              </a:rPr>
              <a:t>Responsive design </a:t>
            </a:r>
            <a:r>
              <a:rPr sz="1850" b="1" i="0">
                <a:solidFill>
                  <a:srgbClr val="1E4FA8"/>
                </a:solidFill>
                <a:latin typeface="Calibri"/>
                <a:ea typeface="Calibri"/>
              </a:rPr>
              <a:t>adapts one page to any screen</a:t>
            </a:r>
            <a:r>
              <a:rPr sz="1850" b="0" i="0">
                <a:solidFill>
                  <a:srgbClr val="1A2230"/>
                </a:solidFill>
                <a:latin typeface="Calibri"/>
                <a:ea typeface="Calibri"/>
              </a:rPr>
              <a:t> — fluid layout plus media queries.</a:t>
            </a:r>
          </a:p>
        </p:txBody>
      </p:sp>
      <p:sp>
        <p:nvSpPr>
          <p:cNvPr id="11" name="Rounded Rectangle 10"/>
          <p:cNvSpPr/>
          <p:nvPr/>
        </p:nvSpPr>
        <p:spPr>
          <a:xfrm>
            <a:off x="548640" y="5760720"/>
            <a:ext cx="11094415" cy="502920"/>
          </a:xfrm>
          <a:prstGeom prst="roundRect">
            <a:avLst>
              <a:gd name="adj" fmla="val 12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870448"/>
            <a:ext cx="10362895" cy="329184"/>
          </a:xfrm>
          <a:prstGeom prst="rect">
            <a:avLst/>
          </a:prstGeom>
          <a:noFill/>
        </p:spPr>
        <p:txBody>
          <a:bodyPr wrap="square" anchor="t" lIns="0" rIns="0" tIns="0" bIns="0">
            <a:spAutoFit/>
          </a:bodyPr>
          <a:lstStyle/>
          <a:p>
            <a:pPr algn="l">
              <a:lnSpc>
                <a:spcPct val="110000"/>
              </a:lnSpc>
              <a:spcAft>
                <a:spcPts val="400"/>
              </a:spcAft>
            </a:pPr>
            <a:r>
              <a:rPr sz="1400" b="1" i="0">
                <a:solidFill>
                  <a:srgbClr val="FFFFFF"/>
                </a:solidFill>
                <a:latin typeface="Calibri"/>
                <a:ea typeface="Calibri"/>
              </a:rPr>
              <a:t>Next week: JavaScript I — ES6+, events and DOM manipulation.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554480"/>
            <a:ext cx="9966960" cy="365760"/>
          </a:xfrm>
          <a:prstGeom prst="rect">
            <a:avLst/>
          </a:prstGeom>
          <a:noFill/>
        </p:spPr>
        <p:txBody>
          <a:bodyPr wrap="square" anchor="t" lIns="0" rIns="0" tIns="0" bIns="0">
            <a:spAutoFit/>
          </a:bodyPr>
          <a:lstStyle/>
          <a:p>
            <a:pPr algn="ctr">
              <a:lnSpc>
                <a:spcPct val="110000"/>
              </a:lnSpc>
              <a:spcAft>
                <a:spcPts val="400"/>
              </a:spcAft>
            </a:pPr>
            <a:r>
              <a:rPr sz="1400" b="1" i="0">
                <a:solidFill>
                  <a:srgbClr val="B9CDEE"/>
                </a:solidFill>
                <a:latin typeface="Calibri"/>
                <a:ea typeface="Calibri"/>
              </a:rPr>
              <a:t>COMP3421 · LECTURE 05 · WEEK 5</a:t>
            </a:r>
          </a:p>
        </p:txBody>
      </p:sp>
      <p:sp>
        <p:nvSpPr>
          <p:cNvPr id="4" name="TextBox 3"/>
          <p:cNvSpPr txBox="1"/>
          <p:nvPr/>
        </p:nvSpPr>
        <p:spPr>
          <a:xfrm>
            <a:off x="1097280" y="2103120"/>
            <a:ext cx="9966960" cy="1005840"/>
          </a:xfrm>
          <a:prstGeom prst="rect">
            <a:avLst/>
          </a:prstGeom>
          <a:noFill/>
        </p:spPr>
        <p:txBody>
          <a:bodyPr wrap="square" anchor="t" lIns="0" rIns="0" tIns="0" bIns="0">
            <a:spAutoFit/>
          </a:bodyPr>
          <a:lstStyle/>
          <a:p>
            <a:pPr algn="ctr">
              <a:lnSpc>
                <a:spcPct val="110000"/>
              </a:lnSpc>
              <a:spcAft>
                <a:spcPts val="400"/>
              </a:spcAft>
            </a:pPr>
            <a:r>
              <a:rPr sz="5800" b="1" i="0">
                <a:solidFill>
                  <a:srgbClr val="FFFFFF"/>
                </a:solidFill>
                <a:latin typeface="Calibri"/>
                <a:ea typeface="Calibri"/>
              </a:rPr>
              <a:t>Thank You</a:t>
            </a:r>
          </a:p>
        </p:txBody>
      </p:sp>
      <p:sp>
        <p:nvSpPr>
          <p:cNvPr id="5" name="Rectangle 4"/>
          <p:cNvSpPr/>
          <p:nvPr/>
        </p:nvSpPr>
        <p:spPr>
          <a:xfrm>
            <a:off x="5410047" y="3383280"/>
            <a:ext cx="1371600" cy="6400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678527" y="3794760"/>
            <a:ext cx="2834640" cy="566928"/>
          </a:xfrm>
          <a:prstGeom prst="roundRect">
            <a:avLst>
              <a:gd name="adj" fmla="val 50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78527" y="3913632"/>
            <a:ext cx="2834640" cy="347472"/>
          </a:xfrm>
          <a:prstGeom prst="rect">
            <a:avLst/>
          </a:prstGeom>
          <a:noFill/>
        </p:spPr>
        <p:txBody>
          <a:bodyPr wrap="square" anchor="t" lIns="0" rIns="0" tIns="0" bIns="0">
            <a:spAutoFit/>
          </a:bodyPr>
          <a:lstStyle/>
          <a:p>
            <a:pPr algn="ctr">
              <a:lnSpc>
                <a:spcPct val="110000"/>
              </a:lnSpc>
              <a:spcAft>
                <a:spcPts val="400"/>
              </a:spcAft>
            </a:pPr>
            <a:r>
              <a:rPr sz="1600" b="1" i="0">
                <a:solidFill>
                  <a:srgbClr val="0E3F8C"/>
                </a:solidFill>
                <a:latin typeface="Calibri"/>
                <a:ea typeface="Calibri"/>
              </a:rPr>
              <a:t>Questions &amp; Discussion</a:t>
            </a:r>
          </a:p>
        </p:txBody>
      </p:sp>
      <p:sp>
        <p:nvSpPr>
          <p:cNvPr id="8" name="TextBox 7"/>
          <p:cNvSpPr txBox="1"/>
          <p:nvPr/>
        </p:nvSpPr>
        <p:spPr>
          <a:xfrm>
            <a:off x="1097280" y="4892040"/>
            <a:ext cx="9966960" cy="365760"/>
          </a:xfrm>
          <a:prstGeom prst="rect">
            <a:avLst/>
          </a:prstGeom>
          <a:noFill/>
        </p:spPr>
        <p:txBody>
          <a:bodyPr wrap="square" anchor="t" lIns="0" rIns="0" tIns="0" bIns="0">
            <a:spAutoFit/>
          </a:bodyPr>
          <a:lstStyle/>
          <a:p>
            <a:pPr algn="ctr">
              <a:lnSpc>
                <a:spcPct val="110000"/>
              </a:lnSpc>
              <a:spcAft>
                <a:spcPts val="400"/>
              </a:spcAft>
            </a:pPr>
            <a:r>
              <a:rPr sz="1450" b="0" i="0">
                <a:solidFill>
                  <a:srgbClr val="B9CDEE"/>
                </a:solidFill>
                <a:latin typeface="Calibri"/>
                <a:ea typeface="Calibri"/>
              </a:rPr>
              <a:t>Prof. Lei Yang · ray.yang@polyu.edu.hk</a:t>
            </a:r>
          </a:p>
        </p:txBody>
      </p:sp>
      <p:sp>
        <p:nvSpPr>
          <p:cNvPr id="9" name="TextBox 8"/>
          <p:cNvSpPr txBox="1"/>
          <p:nvPr/>
        </p:nvSpPr>
        <p:spPr>
          <a:xfrm>
            <a:off x="1097280" y="5303520"/>
            <a:ext cx="9966960" cy="365760"/>
          </a:xfrm>
          <a:prstGeom prst="rect">
            <a:avLst/>
          </a:prstGeom>
          <a:noFill/>
        </p:spPr>
        <p:txBody>
          <a:bodyPr wrap="square" anchor="t" lIns="0" rIns="0" tIns="0" bIns="0">
            <a:spAutoFit/>
          </a:bodyPr>
          <a:lstStyle/>
          <a:p>
            <a:pPr algn="ctr">
              <a:lnSpc>
                <a:spcPct val="110000"/>
              </a:lnSpc>
              <a:spcAft>
                <a:spcPts val="400"/>
              </a:spcAft>
            </a:pPr>
            <a:r>
              <a:rPr sz="1450" b="0" i="0">
                <a:solidFill>
                  <a:srgbClr val="B9CDEE"/>
                </a:solidFill>
                <a:latin typeface="Calibri"/>
                <a:ea typeface="Calibri"/>
              </a:rPr>
              <a:t>Next: Week 6 — JavaScript I: ES6+, events &amp; DOM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B9BD5"/>
      </a:hlink>
      <a:folHlink>
        <a:srgbClr val="5B9BD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