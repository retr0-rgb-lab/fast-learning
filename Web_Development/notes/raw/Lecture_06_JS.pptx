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600" name="Footer Left"/>
          <p:cNvSpPr/>
          <p:nvPr/>
        </p:nvSpPr>
        <p:spPr>
          <a:xfrm>
            <a:off x="548640" y="6473952"/>
            <a:ext cx="8686800" cy="274320"/>
          </a:xfrm>
          <a:prstGeom prst="rect">
            <a:avLst/>
          </a:prstGeom>
        </p:spPr>
        <p:txBody>
          <a:bodyPr wrap="none"/>
          <a:lstStyle/>
          <a:p>
            <a:r>
              <a:rPr lang="en-US" sz="950">
                <a:solidFill>
                  <a:srgbClr val="8B97A8"/>
                </a:solidFill>
              </a:rPr>
              <a:t>COMP3421 Web Application Design and Development · The Hong Kong Polytechnic University · Department of Computing</a:t>
            </a:r>
          </a:p>
        </p:txBody>
      </p:sp>
      <p:sp>
        <p:nvSpPr>
          <p:cNvPr id="601" name="Footer Page"/>
          <p:cNvSpPr/>
          <p:nvPr/>
        </p:nvSpPr>
        <p:spPr>
          <a:xfrm>
            <a:off x="9265615" y="6473952"/>
            <a:ext cx="2377440" cy="274320"/>
          </a:xfrm>
          <a:prstGeom prst="rect">
            <a:avLst/>
          </a:prstGeom>
        </p:spPr>
        <p:txBody>
          <a:bodyPr wrap="none"/>
          <a:lstStyle/>
          <a:p>
            <a:pPr algn="r"/>
            <a:fld id="{BE3E547F-0D0E-4F0D-AD84-36292B1BCF05}" type="slidenum">
              <a:rPr lang="en-US" sz="1050" b="1">
                <a:solidFill>
                  <a:srgbClr val="1E4FA8"/>
                </a:solidFill>
              </a:rPr>
              <a:t>1</a:t>
            </a:fld>
            <a:r>
              <a:rPr lang="en-US" sz="950">
                <a:solidFill>
                  <a:srgbClr val="8B97A8"/>
                </a:solidFill>
              </a:rPr>
              <a:t> / 70</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change-styl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change-attribut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script-placemen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loop-for"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loop-for-in" TargetMode="External"/><Relationship Id="rId3" Type="http://schemas.openxmlformats.org/officeDocument/2006/relationships/hyperlink" Target="https://tagsysx.github.io/comp3421/editor.html?example=js-basics/loop-for-of"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error-try-catch"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function-return"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function-name-vs-cal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function-expression"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function-iife"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scope-global-leak"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strict-variable" TargetMode="External"/><Relationship Id="rId3" Type="http://schemas.openxmlformats.org/officeDocument/2006/relationships/hyperlink" Target="https://tagsysx.github.io/comp3421/editor.html?example=js-basics/strict-global" TargetMode="External"/><Relationship Id="rId4" Type="http://schemas.openxmlformats.org/officeDocument/2006/relationships/hyperlink" Target="https://tagsysx.github.io/comp3421/editor.html?example=js-basics/strict-loca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object-brackets"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object-method"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object-add-property" TargetMode="External"/><Relationship Id="rId3" Type="http://schemas.openxmlformats.org/officeDocument/2006/relationships/hyperlink" Target="https://tagsysx.github.io/comp3421/editor.html?example=js-basics/object-delete-property"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basics/window-size"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77240"/>
            <a:ext cx="10972800" cy="731520"/>
          </a:xfrm>
          <a:prstGeom prst="rect">
            <a:avLst/>
          </a:prstGeom>
          <a:noFill/>
        </p:spPr>
        <p:txBody>
          <a:bodyPr wrap="square" anchor="t" lIns="0" rIns="0" tIns="0" bIns="0">
            <a:spAutoFit/>
          </a:bodyPr>
          <a:lstStyle/>
          <a:p>
            <a:pPr algn="l">
              <a:lnSpc>
                <a:spcPct val="110000"/>
              </a:lnSpc>
              <a:spcAft>
                <a:spcPts val="200"/>
              </a:spcAft>
            </a:pPr>
            <a:r>
              <a:rPr sz="1300" b="1" i="0">
                <a:solidFill>
                  <a:srgbClr val="B9CDEE"/>
                </a:solidFill>
                <a:latin typeface="Calibri"/>
                <a:ea typeface="Calibri"/>
              </a:rPr>
              <a:t>THE HONG KONG POLYTECHNIC UNIVERSITY · DEPARTMENT OF COMPUTING</a:t>
            </a:r>
            <a:r>
              <a:rPr sz="1700" b="1" i="0">
                <a:solidFill>
                  <a:srgbClr val="FFFFFF"/>
                </a:solidFill>
                <a:latin typeface="Calibri"/>
                <a:ea typeface="Calibri"/>
              </a:rPr>
              <a:t>
COMP3421 Web Application Design and Development</a:t>
            </a:r>
          </a:p>
        </p:txBody>
      </p:sp>
      <p:sp>
        <p:nvSpPr>
          <p:cNvPr id="5" name="Rounded Rectangle 4"/>
          <p:cNvSpPr/>
          <p:nvPr/>
        </p:nvSpPr>
        <p:spPr>
          <a:xfrm>
            <a:off x="548640" y="1783080"/>
            <a:ext cx="1691640" cy="457200"/>
          </a:xfrm>
          <a:prstGeom prst="roundRect">
            <a:avLst>
              <a:gd name="adj" fmla="val 50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47088"/>
            <a:ext cx="1691640" cy="329184"/>
          </a:xfrm>
          <a:prstGeom prst="rect">
            <a:avLst/>
          </a:prstGeom>
          <a:noFill/>
        </p:spPr>
        <p:txBody>
          <a:bodyPr wrap="square" anchor="t" lIns="0" rIns="0" tIns="0" bIns="0">
            <a:spAutoFit/>
          </a:bodyPr>
          <a:lstStyle/>
          <a:p>
            <a:pPr algn="ctr">
              <a:lnSpc>
                <a:spcPct val="110000"/>
              </a:lnSpc>
              <a:spcAft>
                <a:spcPts val="400"/>
              </a:spcAft>
            </a:pPr>
            <a:r>
              <a:rPr sz="1600" b="1" i="0">
                <a:solidFill>
                  <a:srgbClr val="FFFFFF"/>
                </a:solidFill>
                <a:latin typeface="Calibri"/>
                <a:ea typeface="Calibri"/>
              </a:rPr>
              <a:t>COMP3421</a:t>
            </a:r>
          </a:p>
        </p:txBody>
      </p:sp>
      <p:sp>
        <p:nvSpPr>
          <p:cNvPr id="7" name="TextBox 6"/>
          <p:cNvSpPr txBox="1"/>
          <p:nvPr/>
        </p:nvSpPr>
        <p:spPr>
          <a:xfrm>
            <a:off x="548640" y="2514600"/>
            <a:ext cx="11064240" cy="1463040"/>
          </a:xfrm>
          <a:prstGeom prst="rect">
            <a:avLst/>
          </a:prstGeom>
          <a:noFill/>
        </p:spPr>
        <p:txBody>
          <a:bodyPr wrap="square" anchor="t" lIns="0" rIns="0" tIns="0" bIns="0">
            <a:spAutoFit/>
          </a:bodyPr>
          <a:lstStyle/>
          <a:p>
            <a:pPr algn="l">
              <a:lnSpc>
                <a:spcPct val="105000"/>
              </a:lnSpc>
              <a:spcAft>
                <a:spcPts val="400"/>
              </a:spcAft>
            </a:pPr>
            <a:r>
              <a:rPr sz="4400" b="1" i="0">
                <a:solidFill>
                  <a:srgbClr val="FFFFFF"/>
                </a:solidFill>
                <a:latin typeface="Calibri"/>
                <a:ea typeface="Calibri"/>
              </a:rPr>
              <a:t>JavaScript Basics</a:t>
            </a:r>
          </a:p>
        </p:txBody>
      </p:sp>
      <p:sp>
        <p:nvSpPr>
          <p:cNvPr id="8" name="TextBox 7"/>
          <p:cNvSpPr txBox="1"/>
          <p:nvPr/>
        </p:nvSpPr>
        <p:spPr>
          <a:xfrm>
            <a:off x="548640" y="3794760"/>
            <a:ext cx="11064240" cy="822960"/>
          </a:xfrm>
          <a:prstGeom prst="rect">
            <a:avLst/>
          </a:prstGeom>
          <a:noFill/>
        </p:spPr>
        <p:txBody>
          <a:bodyPr wrap="square" anchor="t" lIns="0" rIns="0" tIns="0" bIns="0">
            <a:spAutoFit/>
          </a:bodyPr>
          <a:lstStyle/>
          <a:p>
            <a:pPr algn="l">
              <a:lnSpc>
                <a:spcPct val="125000"/>
              </a:lnSpc>
              <a:spcAft>
                <a:spcPts val="400"/>
              </a:spcAft>
            </a:pPr>
            <a:r>
              <a:rPr sz="1900" b="0" i="0">
                <a:solidFill>
                  <a:srgbClr val="B9CDEE"/>
                </a:solidFill>
                <a:latin typeface="Calibri"/>
                <a:ea typeface="Calibri"/>
              </a:rPr>
              <a:t>The language itself — syntax, types, statements, functions and objects — and then the page it runs on: the DOM, the BOM and events.</a:t>
            </a:r>
          </a:p>
        </p:txBody>
      </p:sp>
      <p:sp>
        <p:nvSpPr>
          <p:cNvPr id="9" name="TextBox 8"/>
          <p:cNvSpPr txBox="1"/>
          <p:nvPr/>
        </p:nvSpPr>
        <p:spPr>
          <a:xfrm>
            <a:off x="548640" y="4846320"/>
            <a:ext cx="11064240" cy="365760"/>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COMP3421 · LECTURE 06 · WEEK 6</a:t>
            </a:r>
          </a:p>
        </p:txBody>
      </p:sp>
      <p:sp>
        <p:nvSpPr>
          <p:cNvPr id="10" name="TextBox 9"/>
          <p:cNvSpPr txBox="1"/>
          <p:nvPr/>
        </p:nvSpPr>
        <p:spPr>
          <a:xfrm>
            <a:off x="548640" y="5257800"/>
            <a:ext cx="11064240" cy="292608"/>
          </a:xfrm>
          <a:prstGeom prst="rect">
            <a:avLst/>
          </a:prstGeom>
          <a:noFill/>
        </p:spPr>
        <p:txBody>
          <a:bodyPr wrap="square" anchor="t" lIns="0" rIns="0" tIns="0" bIns="0">
            <a:spAutoFit/>
          </a:bodyPr>
          <a:lstStyle/>
          <a:p>
            <a:pPr algn="l">
              <a:lnSpc>
                <a:spcPct val="110000"/>
              </a:lnSpc>
              <a:spcAft>
                <a:spcPts val="400"/>
              </a:spcAft>
            </a:pPr>
            <a:r>
              <a:rPr sz="1300" b="0" i="0">
                <a:solidFill>
                  <a:srgbClr val="B9CDEE"/>
                </a:solidFill>
                <a:latin typeface="Calibri"/>
                <a:ea typeface="Calibri"/>
              </a:rPr>
              <a:t>Lecture 6 · Week 6 · Wed 12:30–14:20 · HHBUG06</a:t>
            </a:r>
          </a:p>
        </p:txBody>
      </p:sp>
      <p:sp>
        <p:nvSpPr>
          <p:cNvPr id="11" name="TextBox 10"/>
          <p:cNvSpPr txBox="1"/>
          <p:nvPr/>
        </p:nvSpPr>
        <p:spPr>
          <a:xfrm>
            <a:off x="548640" y="5605272"/>
            <a:ext cx="11064240" cy="292608"/>
          </a:xfrm>
          <a:prstGeom prst="rect">
            <a:avLst/>
          </a:prstGeom>
          <a:noFill/>
        </p:spPr>
        <p:txBody>
          <a:bodyPr wrap="square" anchor="t" lIns="0" rIns="0" tIns="0" bIns="0">
            <a:spAutoFit/>
          </a:bodyPr>
          <a:lstStyle/>
          <a:p>
            <a:pPr algn="l">
              <a:lnSpc>
                <a:spcPct val="110000"/>
              </a:lnSpc>
              <a:spcAft>
                <a:spcPts val="400"/>
              </a:spcAft>
            </a:pPr>
            <a:r>
              <a:rPr sz="1300" b="0" i="0">
                <a:solidFill>
                  <a:srgbClr val="B9CDEE"/>
                </a:solidFill>
                <a:latin typeface="Calibri"/>
                <a:ea typeface="Calibri"/>
              </a:rPr>
              <a:t>Examples &amp; code:  </a:t>
            </a:r>
            <a:r>
              <a:rPr sz="1300" b="1" i="0">
                <a:solidFill>
                  <a:srgbClr val="FFFFFF"/>
                </a:solidFill>
                <a:latin typeface="Calibri"/>
                <a:ea typeface="Calibri"/>
                <a:hlinkClick r:id="rId2"/>
                <a:extLst>
                  <a:ext uri="{A12FA001-AC4F-418D-AE19-62706E023703}">
                    <ahyp:hlinkClr xmlns:ahyp="http://schemas.microsoft.com/office/drawing/2018/hyperlinkcolor" val="tx"/>
                  </a:ext>
                </a:extLst>
              </a:rPr>
              <a:t>tagsysx.github.io/comp3421/</a:t>
            </a:r>
          </a:p>
        </p:txBody>
      </p:sp>
      <p:sp>
        <p:nvSpPr>
          <p:cNvPr id="12" name="TextBox 11"/>
          <p:cNvSpPr txBox="1"/>
          <p:nvPr/>
        </p:nvSpPr>
        <p:spPr>
          <a:xfrm>
            <a:off x="548640" y="5952744"/>
            <a:ext cx="11064240" cy="292608"/>
          </a:xfrm>
          <a:prstGeom prst="rect">
            <a:avLst/>
          </a:prstGeom>
          <a:noFill/>
        </p:spPr>
        <p:txBody>
          <a:bodyPr wrap="square" anchor="t" lIns="0" rIns="0" tIns="0" bIns="0">
            <a:spAutoFit/>
          </a:bodyPr>
          <a:lstStyle/>
          <a:p>
            <a:pPr algn="l">
              <a:lnSpc>
                <a:spcPct val="110000"/>
              </a:lnSpc>
              <a:spcAft>
                <a:spcPts val="400"/>
              </a:spcAft>
            </a:pPr>
            <a:r>
              <a:rPr sz="1300" b="1" i="0">
                <a:solidFill>
                  <a:srgbClr val="FFFFFF"/>
                </a:solidFill>
                <a:latin typeface="Calibri"/>
                <a:ea typeface="Calibri"/>
              </a:rPr>
              <a:t>Prof. Lei Yang</a:t>
            </a:r>
          </a:p>
        </p:txBody>
      </p:sp>
      <p:sp>
        <p:nvSpPr>
          <p:cNvPr id="13" name="TextBox 12"/>
          <p:cNvSpPr txBox="1"/>
          <p:nvPr/>
        </p:nvSpPr>
        <p:spPr>
          <a:xfrm>
            <a:off x="548640" y="6053328"/>
            <a:ext cx="11064240" cy="274320"/>
          </a:xfrm>
          <a:prstGeom prst="rect">
            <a:avLst/>
          </a:prstGeom>
          <a:noFill/>
        </p:spPr>
        <p:txBody>
          <a:bodyPr wrap="square" anchor="t" lIns="0" rIns="0" tIns="0" bIns="0">
            <a:spAutoFit/>
          </a:bodyPr>
          <a:lstStyle/>
          <a:p>
            <a:pPr algn="r">
              <a:lnSpc>
                <a:spcPct val="110000"/>
              </a:lnSpc>
              <a:spcAft>
                <a:spcPts val="400"/>
              </a:spcAft>
            </a:pPr>
            <a:r>
              <a:rPr sz="1100" b="0" i="0">
                <a:solidFill>
                  <a:srgbClr val="9DC0EE"/>
                </a:solidFill>
                <a:latin typeface="Calibri"/>
                <a:ea typeface="Calibri"/>
              </a:rPr>
              <a:t>version  </a:t>
            </a:r>
            <a:r>
              <a:rPr sz="1100" b="1" i="0">
                <a:solidFill>
                  <a:srgbClr val="FFFFFF"/>
                </a:solidFill>
                <a:latin typeface="Calibri"/>
                <a:ea typeface="Calibri"/>
              </a:rPr>
              <a:t>202610061811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85800"/>
            <a:ext cx="5486400" cy="320040"/>
          </a:xfrm>
          <a:prstGeom prst="rect">
            <a:avLst/>
          </a:prstGeom>
          <a:noFill/>
        </p:spPr>
        <p:txBody>
          <a:bodyPr wrap="square" anchor="t" lIns="0" rIns="0" tIns="0" bIns="0">
            <a:spAutoFit/>
          </a:bodyPr>
          <a:lstStyle/>
          <a:p>
            <a:pPr algn="l">
              <a:lnSpc>
                <a:spcPct val="110000"/>
              </a:lnSpc>
              <a:spcAft>
                <a:spcPts val="400"/>
              </a:spcAft>
            </a:pPr>
            <a:r>
              <a:rPr sz="1200" b="1" i="0">
                <a:solidFill>
                  <a:srgbClr val="1E4FA8"/>
                </a:solidFill>
                <a:latin typeface="Calibri"/>
                <a:ea typeface="Calibri"/>
              </a:rPr>
              <a:t>COMP3421</a:t>
            </a:r>
          </a:p>
        </p:txBody>
      </p:sp>
      <p:sp>
        <p:nvSpPr>
          <p:cNvPr id="3" name="TextBox 2"/>
          <p:cNvSpPr txBox="1"/>
          <p:nvPr/>
        </p:nvSpPr>
        <p:spPr>
          <a:xfrm>
            <a:off x="548640" y="1234440"/>
            <a:ext cx="11094415" cy="822960"/>
          </a:xfrm>
          <a:prstGeom prst="rect">
            <a:avLst/>
          </a:prstGeom>
          <a:noFill/>
        </p:spPr>
        <p:txBody>
          <a:bodyPr wrap="square" anchor="t" lIns="0" rIns="0" tIns="0" bIns="0">
            <a:spAutoFit/>
          </a:bodyPr>
          <a:lstStyle/>
          <a:p>
            <a:pPr algn="l">
              <a:lnSpc>
                <a:spcPct val="110000"/>
              </a:lnSpc>
              <a:spcAft>
                <a:spcPts val="400"/>
              </a:spcAft>
            </a:pPr>
            <a:r>
              <a:rPr sz="3000" b="1" i="0">
                <a:solidFill>
                  <a:srgbClr val="1A2230"/>
                </a:solidFill>
                <a:latin typeface="Calibri"/>
                <a:ea typeface="Calibri"/>
              </a:rPr>
              <a:t>Classroom Recording &amp; Sharing Policy</a:t>
            </a:r>
          </a:p>
        </p:txBody>
      </p:sp>
      <p:sp>
        <p:nvSpPr>
          <p:cNvPr id="4" name="Rectangle 3"/>
          <p:cNvSpPr/>
          <p:nvPr/>
        </p:nvSpPr>
        <p:spPr>
          <a:xfrm>
            <a:off x="548640" y="2331720"/>
            <a:ext cx="1463040" cy="457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880360"/>
            <a:ext cx="9448495" cy="1463040"/>
          </a:xfrm>
          <a:prstGeom prst="rect">
            <a:avLst/>
          </a:prstGeom>
          <a:noFill/>
        </p:spPr>
        <p:txBody>
          <a:bodyPr wrap="square" anchor="t" lIns="0" rIns="0" tIns="0" bIns="0">
            <a:spAutoFit/>
          </a:bodyPr>
          <a:lstStyle/>
          <a:p>
            <a:pPr algn="ctr">
              <a:lnSpc>
                <a:spcPct val="145000"/>
              </a:lnSpc>
              <a:spcAft>
                <a:spcPts val="400"/>
              </a:spcAft>
            </a:pPr>
            <a:r>
              <a:rPr sz="1700" b="0" i="0">
                <a:solidFill>
                  <a:srgbClr val="4A5568"/>
                </a:solidFill>
                <a:latin typeface="Calibri"/>
                <a:ea typeface="Calibri"/>
              </a:rPr>
              <a:t>Please do not photograph, audio/video record, or upload any lecture content to the Internet or social media without prior permission from the instructor. Course materials are provided for personal learning only and should not be redistributed without authorization.</a:t>
            </a:r>
          </a:p>
        </p:txBody>
      </p:sp>
      <p:sp>
        <p:nvSpPr>
          <p:cNvPr id="6" name="Rounded Rectangle 5"/>
          <p:cNvSpPr/>
          <p:nvPr/>
        </p:nvSpPr>
        <p:spPr>
          <a:xfrm>
            <a:off x="548640" y="4892040"/>
            <a:ext cx="11094415" cy="777240"/>
          </a:xfrm>
          <a:prstGeom prst="roundRect">
            <a:avLst>
              <a:gd name="adj" fmla="val 8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892040"/>
            <a:ext cx="10362895" cy="777240"/>
          </a:xfrm>
          <a:prstGeom prst="rect">
            <a:avLst/>
          </a:prstGeom>
          <a:noFill/>
        </p:spPr>
        <p:txBody>
          <a:bodyPr wrap="square" anchor="ctr" lIns="0" rIns="0" tIns="0" bIns="0">
            <a:spAutoFit/>
          </a:bodyPr>
          <a:lstStyle/>
          <a:p>
            <a:pPr algn="ctr">
              <a:lnSpc>
                <a:spcPct val="110000"/>
              </a:lnSpc>
              <a:spcAft>
                <a:spcPts val="400"/>
              </a:spcAft>
            </a:pPr>
            <a:r>
              <a:rPr sz="1700" b="1" i="0">
                <a:solidFill>
                  <a:srgbClr val="FFFFFF"/>
                </a:solidFill>
                <a:latin typeface="Calibri"/>
                <a:ea typeface="Calibri"/>
              </a:rPr>
              <a:t>Do not photograph, record, reproduce, or upload classroom content without permission.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85800"/>
            <a:ext cx="5486400" cy="320040"/>
          </a:xfrm>
          <a:prstGeom prst="rect">
            <a:avLst/>
          </a:prstGeom>
          <a:noFill/>
        </p:spPr>
        <p:txBody>
          <a:bodyPr wrap="square" anchor="t" lIns="0" rIns="0" tIns="0" bIns="0">
            <a:spAutoFit/>
          </a:bodyPr>
          <a:lstStyle/>
          <a:p>
            <a:pPr algn="l">
              <a:lnSpc>
                <a:spcPct val="110000"/>
              </a:lnSpc>
              <a:spcAft>
                <a:spcPts val="400"/>
              </a:spcAft>
            </a:pPr>
            <a:r>
              <a:rPr sz="1200" b="1" i="0">
                <a:solidFill>
                  <a:srgbClr val="1E4FA8"/>
                </a:solidFill>
                <a:latin typeface="Calibri"/>
                <a:ea typeface="Calibri"/>
              </a:rPr>
              <a:t>COMP3421 · LECTURE 06</a:t>
            </a:r>
          </a:p>
        </p:txBody>
      </p:sp>
      <p:sp>
        <p:nvSpPr>
          <p:cNvPr id="3" name="TextBox 2"/>
          <p:cNvSpPr txBox="1"/>
          <p:nvPr/>
        </p:nvSpPr>
        <p:spPr>
          <a:xfrm>
            <a:off x="548640" y="1024128"/>
            <a:ext cx="10972800" cy="731520"/>
          </a:xfrm>
          <a:prstGeom prst="rect">
            <a:avLst/>
          </a:prstGeom>
          <a:noFill/>
        </p:spPr>
        <p:txBody>
          <a:bodyPr wrap="square" anchor="t" lIns="0" rIns="0" tIns="0" bIns="0">
            <a:spAutoFit/>
          </a:bodyPr>
          <a:lstStyle/>
          <a:p>
            <a:pPr algn="l">
              <a:lnSpc>
                <a:spcPct val="110000"/>
              </a:lnSpc>
              <a:spcAft>
                <a:spcPts val="400"/>
              </a:spcAft>
            </a:pPr>
            <a:r>
              <a:rPr sz="4000" b="1" i="0">
                <a:solidFill>
                  <a:srgbClr val="1A2230"/>
                </a:solidFill>
                <a:latin typeface="Calibri"/>
                <a:ea typeface="Calibri"/>
              </a:rPr>
              <a:t>Agenda</a:t>
            </a:r>
          </a:p>
        </p:txBody>
      </p:sp>
      <p:sp>
        <p:nvSpPr>
          <p:cNvPr id="4" name="TextBox 3"/>
          <p:cNvSpPr txBox="1"/>
          <p:nvPr/>
        </p:nvSpPr>
        <p:spPr>
          <a:xfrm>
            <a:off x="594360" y="1874519"/>
            <a:ext cx="10820095" cy="4343400"/>
          </a:xfrm>
          <a:prstGeom prst="rect">
            <a:avLst/>
          </a:prstGeom>
          <a:noFill/>
        </p:spPr>
        <p:txBody>
          <a:bodyPr wrap="square" lIns="0" rIns="0" tIns="0" bIns="0">
            <a:normAutofit/>
          </a:bodyPr>
          <a:lstStyle/>
          <a:p>
            <a:pPr>
              <a:lnSpc>
                <a:spcPct val="110000"/>
              </a:lnSpc>
              <a:spcAft>
                <a:spcPts val="600"/>
              </a:spcAft>
            </a:pPr>
            <a:r>
              <a:rPr sz="1800" b="1" i="0">
                <a:solidFill>
                  <a:srgbClr val="1A2230"/>
                </a:solidFill>
                <a:latin typeface="Calibri"/>
                <a:ea typeface="Calibri"/>
              </a:rPr>
              <a:t>01. Introduction</a:t>
            </a:r>
            <a:br/>
            <a:r>
              <a:rPr sz="1250" b="0" i="0">
                <a:solidFill>
                  <a:srgbClr val="4A5568"/>
                </a:solidFill>
                <a:latin typeface="Calibri"/>
                <a:ea typeface="Calibri"/>
              </a:rPr>
              <a:t>What JavaScript is, what it changes, where the code goes.</a:t>
            </a:r>
          </a:p>
          <a:p>
            <a:pPr>
              <a:lnSpc>
                <a:spcPct val="110000"/>
              </a:lnSpc>
              <a:spcAft>
                <a:spcPts val="600"/>
              </a:spcAft>
            </a:pPr>
            <a:r>
              <a:rPr sz="1800" b="1" i="0">
                <a:solidFill>
                  <a:srgbClr val="1A2230"/>
                </a:solidFill>
                <a:latin typeface="Calibri"/>
                <a:ea typeface="Calibri"/>
              </a:rPr>
              <a:t>02. Syntax</a:t>
            </a:r>
            <a:br/>
            <a:r>
              <a:rPr sz="1250" b="0" i="0">
                <a:solidFill>
                  <a:srgbClr val="4A5568"/>
                </a:solidFill>
                <a:latin typeface="Calibri"/>
                <a:ea typeface="Calibri"/>
              </a:rPr>
              <a:t>Statements, keywords, variables, operators and comments.</a:t>
            </a:r>
          </a:p>
          <a:p>
            <a:pPr>
              <a:lnSpc>
                <a:spcPct val="110000"/>
              </a:lnSpc>
              <a:spcAft>
                <a:spcPts val="600"/>
              </a:spcAft>
            </a:pPr>
            <a:r>
              <a:rPr sz="1800" b="1" i="0">
                <a:solidFill>
                  <a:srgbClr val="1A2230"/>
                </a:solidFill>
                <a:latin typeface="Calibri"/>
                <a:ea typeface="Calibri"/>
              </a:rPr>
              <a:t>03. Data Types</a:t>
            </a:r>
            <a:br/>
            <a:r>
              <a:rPr sz="1250" b="0" i="0">
                <a:solidFill>
                  <a:srgbClr val="4A5568"/>
                </a:solidFill>
                <a:latin typeface="Calibri"/>
                <a:ea typeface="Calibri"/>
              </a:rPr>
              <a:t>Strings, numbers, arrays, null — and dynamic typing.</a:t>
            </a:r>
          </a:p>
          <a:p>
            <a:pPr>
              <a:lnSpc>
                <a:spcPct val="110000"/>
              </a:lnSpc>
              <a:spcAft>
                <a:spcPts val="600"/>
              </a:spcAft>
            </a:pPr>
            <a:r>
              <a:rPr sz="1800" b="1" i="0">
                <a:solidFill>
                  <a:srgbClr val="1A2230"/>
                </a:solidFill>
                <a:latin typeface="Calibri"/>
                <a:ea typeface="Calibri"/>
              </a:rPr>
              <a:t>04. Statements</a:t>
            </a:r>
            <a:br/>
            <a:r>
              <a:rPr sz="1250" b="0" i="0">
                <a:solidFill>
                  <a:srgbClr val="4A5568"/>
                </a:solidFill>
                <a:latin typeface="Calibri"/>
                <a:ea typeface="Calibri"/>
              </a:rPr>
              <a:t>Conditions, loops, bitwise operators and error handling.</a:t>
            </a:r>
          </a:p>
          <a:p>
            <a:pPr>
              <a:lnSpc>
                <a:spcPct val="110000"/>
              </a:lnSpc>
              <a:spcAft>
                <a:spcPts val="600"/>
              </a:spcAft>
            </a:pPr>
            <a:r>
              <a:rPr sz="1800" b="1" i="0">
                <a:solidFill>
                  <a:srgbClr val="1A2230"/>
                </a:solidFill>
                <a:latin typeface="Calibri"/>
                <a:ea typeface="Calibri"/>
              </a:rPr>
              <a:t>05. Functions</a:t>
            </a:r>
            <a:br/>
            <a:r>
              <a:rPr sz="1250" b="0" i="0">
                <a:solidFill>
                  <a:srgbClr val="4A5568"/>
                </a:solidFill>
                <a:latin typeface="Calibri"/>
                <a:ea typeface="Calibri"/>
              </a:rPr>
              <a:t>Definitions, parameters, return, scope and strict mode.</a:t>
            </a:r>
          </a:p>
          <a:p>
            <a:pPr>
              <a:lnSpc>
                <a:spcPct val="110000"/>
              </a:lnSpc>
              <a:spcAft>
                <a:spcPts val="600"/>
              </a:spcAft>
            </a:pPr>
            <a:r>
              <a:rPr sz="1800" b="1" i="0">
                <a:solidFill>
                  <a:srgbClr val="1A2230"/>
                </a:solidFill>
                <a:latin typeface="Calibri"/>
                <a:ea typeface="Calibri"/>
              </a:rPr>
              <a:t>06. Objects</a:t>
            </a:r>
            <a:br/>
            <a:r>
              <a:rPr sz="1250" b="0" i="0">
                <a:solidFill>
                  <a:srgbClr val="4A5568"/>
                </a:solidFill>
                <a:latin typeface="Calibri"/>
                <a:ea typeface="Calibri"/>
              </a:rPr>
              <a:t>Properties, methods, this, accessors.</a:t>
            </a:r>
          </a:p>
          <a:p>
            <a:pPr>
              <a:lnSpc>
                <a:spcPct val="110000"/>
              </a:lnSpc>
              <a:spcAft>
                <a:spcPts val="600"/>
              </a:spcAft>
            </a:pPr>
            <a:r>
              <a:rPr sz="1800" b="1" i="0">
                <a:solidFill>
                  <a:srgbClr val="1A2230"/>
                </a:solidFill>
                <a:latin typeface="Calibri"/>
                <a:ea typeface="Calibri"/>
              </a:rPr>
              <a:t>07. The DOM &amp; the BOM</a:t>
            </a:r>
            <a:br/>
            <a:r>
              <a:rPr sz="1250" b="0" i="0">
                <a:solidFill>
                  <a:srgbClr val="4A5568"/>
                </a:solidFill>
                <a:latin typeface="Calibri"/>
                <a:ea typeface="Calibri"/>
              </a:rPr>
              <a:t>The page as a tree, and the browser as an object.</a:t>
            </a:r>
          </a:p>
          <a:p>
            <a:pPr>
              <a:lnSpc>
                <a:spcPct val="110000"/>
              </a:lnSpc>
              <a:spcAft>
                <a:spcPts val="600"/>
              </a:spcAft>
            </a:pPr>
            <a:r>
              <a:rPr sz="1800" b="1" i="0">
                <a:solidFill>
                  <a:srgbClr val="1A2230"/>
                </a:solidFill>
                <a:latin typeface="Calibri"/>
                <a:ea typeface="Calibri"/>
              </a:rPr>
              <a:t>08. Events</a:t>
            </a:r>
            <a:br/>
            <a:r>
              <a:rPr sz="1250" b="0" i="0">
                <a:solidFill>
                  <a:srgbClr val="4A5568"/>
                </a:solidFill>
                <a:latin typeface="Calibri"/>
                <a:ea typeface="Calibri"/>
              </a:rPr>
              <a:t>Handlers, listeners and the event object.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01</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Introduction</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HTML is the content, CSS is the look — JavaScript is the behaviour</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Where the code lives: inline, in a file, in the head or the body</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Four ways to show output, and which one to use when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What Is JavaScript?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Introduction</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The third language</a:t>
            </a:r>
            <a:br/>
            <a:r>
              <a:rPr sz="1500" b="0" i="0">
                <a:solidFill>
                  <a:srgbClr val="4A5568"/>
                </a:solidFill>
                <a:latin typeface="Calibri"/>
                <a:ea typeface="Calibri"/>
              </a:rPr>
              <a:t>HTML gives the page its content and CSS gives it its look; JavaScript gives it behaviour.</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Runs in the browser</a:t>
            </a:r>
            <a:br/>
            <a:r>
              <a:rPr sz="1500" b="0" i="0">
                <a:solidFill>
                  <a:srgbClr val="4A5568"/>
                </a:solidFill>
                <a:latin typeface="Calibri"/>
                <a:ea typeface="Calibri"/>
              </a:rPr>
              <a:t>Every browser ships an engine — V8 in Chrome, SpiderMonkey in Firefox, JavaScriptCore in Safari.</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Also runs on servers</a:t>
            </a:r>
            <a:br/>
            <a:r>
              <a:rPr sz="1500" b="0" i="0">
                <a:solidFill>
                  <a:srgbClr val="4A5568"/>
                </a:solidFill>
                <a:latin typeface="Calibri"/>
                <a:ea typeface="Calibri"/>
              </a:rPr>
              <a:t>Node.js runs the same language outside the browser, so one language covers the whole stack.</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Interpreted, not compiled</a:t>
            </a:r>
            <a:br/>
            <a:r>
              <a:rPr sz="1500" b="0" i="0">
                <a:solidFill>
                  <a:srgbClr val="4A5568"/>
                </a:solidFill>
                <a:latin typeface="Calibri"/>
                <a:ea typeface="Calibri"/>
              </a:rPr>
              <a:t>The engine reads and runs the source directly; there is nothing to compile.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Standardised as ECMAScript</a:t>
            </a:r>
            <a:br/>
            <a:r>
              <a:rPr sz="1500" b="0" i="0">
                <a:solidFill>
                  <a:srgbClr val="4A5568"/>
                </a:solidFill>
                <a:latin typeface="Calibri"/>
                <a:ea typeface="Calibri"/>
              </a:rPr>
              <a:t>The standard is ECMAScript. ES2015 (ES6) began the yearly releases we use today.</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The behaviour layer of the page</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HTML = content    CSS = look    JavaScript = behaviour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JavaScript Can Change the Page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Introduction</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Change the content</a:t>
            </a:r>
            <a:br/>
            <a:r>
              <a:rPr sz="1600" b="0" i="0">
                <a:solidFill>
                  <a:srgbClr val="4A5568"/>
                </a:solidFill>
                <a:latin typeface="Calibri"/>
                <a:ea typeface="Calibri"/>
              </a:rPr>
              <a:t>Find an element and give its innerHTML a new string.</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Change an attribute</a:t>
            </a:r>
            <a:br/>
            <a:r>
              <a:rPr sz="1600" b="0" i="0">
                <a:solidFill>
                  <a:srgbClr val="4A5568"/>
                </a:solidFill>
                <a:latin typeface="Calibri"/>
                <a:ea typeface="Calibri"/>
              </a:rPr>
              <a:t>Images, links and inputs keep their state in attributes.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Change the look</a:t>
            </a:r>
            <a:br/>
            <a:r>
              <a:rPr sz="1600" b="0" i="0">
                <a:solidFill>
                  <a:srgbClr val="4A5568"/>
                </a:solidFill>
                <a:latin typeface="Calibri"/>
                <a:ea typeface="Calibri"/>
              </a:rPr>
              <a:t>Assign to a property of element.</a:t>
            </a:r>
            <a:r>
              <a:rPr sz="1600" b="0" i="0">
                <a:solidFill>
                  <a:srgbClr val="B8860B"/>
                </a:solidFill>
                <a:latin typeface="Consolas"/>
                <a:ea typeface="Consolas"/>
              </a:rPr>
              <a:t>style</a:t>
            </a:r>
            <a:r>
              <a:rPr sz="1600" b="0" i="0">
                <a:solidFill>
                  <a:srgbClr val="4A5568"/>
                </a:solidFill>
                <a:latin typeface="Calibri"/>
                <a:ea typeface="Calibri"/>
              </a:rPr>
              <a:t> and the page repaints at once.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All three are one idea</a:t>
            </a:r>
            <a:br/>
            <a:r>
              <a:rPr sz="1600" b="0" i="0">
                <a:solidFill>
                  <a:srgbClr val="4A5568"/>
                </a:solidFill>
                <a:latin typeface="Calibri"/>
                <a:ea typeface="Calibri"/>
              </a:rPr>
              <a:t>Reach a node in the tree, then change one of its properties.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"demo"</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innerHTML</a:t>
            </a:r>
            <a:r>
              <a:rPr sz="1300" b="0" i="0">
                <a:solidFill>
                  <a:srgbClr val="D7DDE6"/>
                </a:solidFill>
                <a:latin typeface="Consolas"/>
                <a:ea typeface="Consolas"/>
              </a:rPr>
              <a:t> = </a:t>
            </a:r>
            <a:r>
              <a:rPr sz="1300" b="0" i="0">
                <a:solidFill>
                  <a:srgbClr val="98C379"/>
                </a:solidFill>
                <a:latin typeface="Consolas"/>
                <a:ea typeface="Consolas"/>
              </a:rPr>
              <a:t>"Hello JavaScript";</a:t>
            </a:r>
          </a:p>
          <a:p>
            <a:pPr>
              <a:spcAft>
                <a:spcPts val="350"/>
              </a:spcAft>
            </a:pPr>
            <a:r>
              <a:rPr sz="1300" b="0" i="0">
                <a:solidFill>
                  <a:srgbClr val="D7DDE6"/>
                </a:solidFill>
                <a:latin typeface="Consolas"/>
                <a:ea typeface="Consolas"/>
              </a:rPr>
              <a:t/>
            </a:r>
          </a:p>
          <a:p>
            <a:pPr>
              <a:spcAft>
                <a:spcPts val="350"/>
              </a:spcAft>
            </a:pPr>
            <a:r>
              <a:rPr sz="1300" b="0" i="0">
                <a:solidFill>
                  <a:srgbClr val="7F8C98"/>
                </a:solidFill>
                <a:latin typeface="Consolas"/>
                <a:ea typeface="Consolas"/>
              </a:rPr>
              <a:t>// a button that restyles its paragraph</a:t>
            </a:r>
          </a:p>
          <a:p>
            <a:pPr>
              <a:spcAft>
                <a:spcPts val="350"/>
              </a:spcAft>
            </a:pP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"demo"</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style</a:t>
            </a:r>
            <a:r>
              <a:rPr sz="1300" b="0" i="0">
                <a:solidFill>
                  <a:srgbClr val="D7DDE6"/>
                </a:solidFill>
                <a:latin typeface="Consolas"/>
                <a:ea typeface="Consolas"/>
              </a:rPr>
              <a:t>.</a:t>
            </a:r>
            <a:r>
              <a:rPr sz="1300" b="0" i="0">
                <a:solidFill>
                  <a:srgbClr val="D7DDE6"/>
                </a:solidFill>
                <a:latin typeface="Consolas"/>
                <a:ea typeface="Consolas"/>
              </a:rPr>
              <a:t>fontSize</a:t>
            </a:r>
            <a:r>
              <a:rPr sz="1300" b="0" i="0">
                <a:solidFill>
                  <a:srgbClr val="D7DDE6"/>
                </a:solidFill>
                <a:latin typeface="Consolas"/>
                <a:ea typeface="Consolas"/>
              </a:rPr>
              <a:t> = </a:t>
            </a:r>
            <a:r>
              <a:rPr sz="1300" b="0" i="0">
                <a:solidFill>
                  <a:srgbClr val="98C379"/>
                </a:solidFill>
                <a:latin typeface="Consolas"/>
                <a:ea typeface="Consolas"/>
              </a:rPr>
              <a:t>"35px";</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editor.html?example=js-basics/change-style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JavaScript Reacts to Events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Introduction</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An event is something that happens</a:t>
            </a:r>
            <a:br/>
            <a:r>
              <a:rPr sz="1600" b="0" i="0">
                <a:solidFill>
                  <a:srgbClr val="4A5568"/>
                </a:solidFill>
                <a:latin typeface="Calibri"/>
                <a:ea typeface="Calibri"/>
              </a:rPr>
              <a:t>A click, a key press, the page finishing its load.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 handler is the answer</a:t>
            </a:r>
            <a:br/>
            <a:r>
              <a:rPr sz="1600" b="0" i="0">
                <a:solidFill>
                  <a:srgbClr val="4A5568"/>
                </a:solidFill>
                <a:latin typeface="Calibri"/>
                <a:ea typeface="Calibri"/>
              </a:rPr>
              <a:t>JavaScript that runs when that event reaches the element.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The page updates in place</a:t>
            </a:r>
            <a:br/>
            <a:r>
              <a:rPr sz="1600" b="0" i="0">
                <a:solidFill>
                  <a:srgbClr val="4A5568"/>
                </a:solidFill>
                <a:latin typeface="Calibri"/>
                <a:ea typeface="Calibri"/>
              </a:rPr>
              <a:t>No reload — the tree is edited and the browser repaints.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The classic first example</a:t>
            </a:r>
            <a:br/>
            <a:r>
              <a:rPr sz="1600" b="0" i="0">
                <a:solidFill>
                  <a:srgbClr val="4A5568"/>
                </a:solidFill>
                <a:latin typeface="Calibri"/>
                <a:ea typeface="Calibri"/>
              </a:rPr>
              <a:t>Two buttons that switch an image between on and off.</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E06C75"/>
                </a:solidFill>
                <a:latin typeface="Consolas"/>
                <a:ea typeface="Consolas"/>
              </a:rPr>
              <a:t>&lt;button</a:t>
            </a:r>
            <a:r>
              <a:rPr sz="1300" b="0" i="0">
                <a:solidFill>
                  <a:srgbClr val="D7DDE6"/>
                </a:solidFill>
                <a:latin typeface="Consolas"/>
                <a:ea typeface="Consolas"/>
              </a:rPr>
              <a:t> </a:t>
            </a:r>
            <a:r>
              <a:rPr sz="1300" b="0" i="0">
                <a:solidFill>
                  <a:srgbClr val="E5C07B"/>
                </a:solidFill>
                <a:latin typeface="Consolas"/>
                <a:ea typeface="Consolas"/>
              </a:rPr>
              <a:t>onclick</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document</a:t>
            </a:r>
            <a:r>
              <a:rPr sz="1300" b="0" i="0">
                <a:solidFill>
                  <a:srgbClr val="D7DDE6"/>
                </a:solidFill>
                <a:latin typeface="Consolas"/>
                <a:ea typeface="Consolas"/>
              </a:rPr>
              <a:t>.</a:t>
            </a:r>
            <a:r>
              <a:rPr sz="1300" b="0" i="0">
                <a:solidFill>
                  <a:srgbClr val="D7DDE6"/>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'myImage'</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E5C07B"/>
                </a:solidFill>
                <a:latin typeface="Consolas"/>
                <a:ea typeface="Consolas"/>
              </a:rPr>
              <a:t>src</a:t>
            </a:r>
            <a:r>
              <a:rPr sz="1300" b="0" i="0">
                <a:solidFill>
                  <a:srgbClr val="D7DDE6"/>
                </a:solidFill>
                <a:latin typeface="Consolas"/>
                <a:ea typeface="Consolas"/>
              </a:rPr>
              <a:t>=</a:t>
            </a:r>
            <a:r>
              <a:rPr sz="1300" b="0" i="0">
                <a:solidFill>
                  <a:srgbClr val="98C379"/>
                </a:solidFill>
                <a:latin typeface="Consolas"/>
                <a:ea typeface="Consolas"/>
              </a:rPr>
              <a:t>'pic_bulbon.gif'</a:t>
            </a:r>
            <a:r>
              <a:rPr sz="1300" b="0" i="0">
                <a:solidFill>
                  <a:srgbClr val="D7DDE6"/>
                </a:solidFill>
                <a:latin typeface="Consolas"/>
                <a:ea typeface="Consolas"/>
              </a:rPr>
              <a:t>"</a:t>
            </a:r>
            <a:r>
              <a:rPr sz="1300" b="0" i="0">
                <a:solidFill>
                  <a:srgbClr val="D7DDE6"/>
                </a:solidFill>
                <a:latin typeface="Consolas"/>
                <a:ea typeface="Consolas"/>
              </a:rPr>
              <a:t>&gt;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Turn</a:t>
            </a:r>
            <a:r>
              <a:rPr sz="1300" b="0" i="0">
                <a:solidFill>
                  <a:srgbClr val="D7DDE6"/>
                </a:solidFill>
                <a:latin typeface="Consolas"/>
                <a:ea typeface="Consolas"/>
              </a:rPr>
              <a:t> </a:t>
            </a:r>
            <a:r>
              <a:rPr sz="1300" b="0" i="0">
                <a:solidFill>
                  <a:srgbClr val="D7DDE6"/>
                </a:solidFill>
                <a:latin typeface="Consolas"/>
                <a:ea typeface="Consolas"/>
              </a:rPr>
              <a:t>on</a:t>
            </a:r>
            <a:r>
              <a:rPr sz="1300" b="0" i="0">
                <a:solidFill>
                  <a:srgbClr val="D7DDE6"/>
                </a:solidFill>
                <a:latin typeface="Consolas"/>
                <a:ea typeface="Consolas"/>
              </a:rPr>
              <a:t> </a:t>
            </a:r>
            <a:r>
              <a:rPr sz="1300" b="0" i="0">
                <a:solidFill>
                  <a:srgbClr val="D7DDE6"/>
                </a:solidFill>
                <a:latin typeface="Consolas"/>
                <a:ea typeface="Consolas"/>
              </a:rPr>
              <a:t>the</a:t>
            </a:r>
            <a:r>
              <a:rPr sz="1300" b="0" i="0">
                <a:solidFill>
                  <a:srgbClr val="D7DDE6"/>
                </a:solidFill>
                <a:latin typeface="Consolas"/>
                <a:ea typeface="Consolas"/>
              </a:rPr>
              <a:t> </a:t>
            </a:r>
            <a:r>
              <a:rPr sz="1300" b="0" i="0">
                <a:solidFill>
                  <a:srgbClr val="D7DDE6"/>
                </a:solidFill>
                <a:latin typeface="Consolas"/>
                <a:ea typeface="Consolas"/>
              </a:rPr>
              <a:t>light</a:t>
            </a:r>
          </a:p>
          <a:p>
            <a:pPr>
              <a:spcAft>
                <a:spcPts val="350"/>
              </a:spcAft>
            </a:pPr>
            <a:r>
              <a:rPr sz="1300" b="0" i="0">
                <a:solidFill>
                  <a:srgbClr val="E06C75"/>
                </a:solidFill>
                <a:latin typeface="Consolas"/>
                <a:ea typeface="Consolas"/>
              </a:rPr>
              <a:t>&lt;/button</a:t>
            </a:r>
            <a:r>
              <a:rPr sz="1300" b="0" i="0">
                <a:solidFill>
                  <a:srgbClr val="D7DDE6"/>
                </a:solidFill>
                <a:latin typeface="Consolas"/>
                <a:ea typeface="Consolas"/>
              </a:rPr>
              <a:t>&gt;</a:t>
            </a:r>
          </a:p>
          <a:p>
            <a:pPr>
              <a:spcAft>
                <a:spcPts val="350"/>
              </a:spcAft>
            </a:pPr>
            <a:r>
              <a:rPr sz="1300" b="0" i="0">
                <a:solidFill>
                  <a:srgbClr val="D7DDE6"/>
                </a:solidFill>
                <a:latin typeface="Consolas"/>
                <a:ea typeface="Consolas"/>
              </a:rPr>
              <a:t/>
            </a:r>
          </a:p>
          <a:p>
            <a:pPr>
              <a:spcAft>
                <a:spcPts val="350"/>
              </a:spcAft>
            </a:pPr>
            <a:r>
              <a:rPr sz="1300" b="0" i="0">
                <a:solidFill>
                  <a:srgbClr val="E06C75"/>
                </a:solidFill>
                <a:latin typeface="Consolas"/>
                <a:ea typeface="Consolas"/>
              </a:rPr>
              <a:t>&lt;img</a:t>
            </a:r>
            <a:r>
              <a:rPr sz="1300" b="0" i="0">
                <a:solidFill>
                  <a:srgbClr val="D7DDE6"/>
                </a:solidFill>
                <a:latin typeface="Consolas"/>
                <a:ea typeface="Consolas"/>
              </a:rPr>
              <a:t> </a:t>
            </a:r>
            <a:r>
              <a:rPr sz="1300" b="0" i="0">
                <a:solidFill>
                  <a:srgbClr val="E5C07B"/>
                </a:solidFill>
                <a:latin typeface="Consolas"/>
                <a:ea typeface="Consolas"/>
              </a:rPr>
              <a:t>id</a:t>
            </a:r>
            <a:r>
              <a:rPr sz="1300" b="0" i="0">
                <a:solidFill>
                  <a:srgbClr val="D7DDE6"/>
                </a:solidFill>
                <a:latin typeface="Consolas"/>
                <a:ea typeface="Consolas"/>
              </a:rPr>
              <a:t>=</a:t>
            </a:r>
            <a:r>
              <a:rPr sz="1300" b="0" i="0">
                <a:solidFill>
                  <a:srgbClr val="98C379"/>
                </a:solidFill>
                <a:latin typeface="Consolas"/>
                <a:ea typeface="Consolas"/>
              </a:rPr>
              <a:t>"myImage"</a:t>
            </a:r>
            <a:r>
              <a:rPr sz="1300" b="0" i="0">
                <a:solidFill>
                  <a:srgbClr val="D7DDE6"/>
                </a:solidFill>
                <a:latin typeface="Consolas"/>
                <a:ea typeface="Consolas"/>
              </a:rPr>
              <a:t> </a:t>
            </a:r>
            <a:r>
              <a:rPr sz="1300" b="0" i="0">
                <a:solidFill>
                  <a:srgbClr val="E5C07B"/>
                </a:solidFill>
                <a:latin typeface="Consolas"/>
                <a:ea typeface="Consolas"/>
              </a:rPr>
              <a:t>src</a:t>
            </a:r>
            <a:r>
              <a:rPr sz="1300" b="0" i="0">
                <a:solidFill>
                  <a:srgbClr val="D7DDE6"/>
                </a:solidFill>
                <a:latin typeface="Consolas"/>
                <a:ea typeface="Consolas"/>
              </a:rPr>
              <a:t>=</a:t>
            </a:r>
            <a:r>
              <a:rPr sz="1300" b="0" i="0">
                <a:solidFill>
                  <a:srgbClr val="98C379"/>
                </a:solidFill>
                <a:latin typeface="Consolas"/>
                <a:ea typeface="Consolas"/>
              </a:rPr>
              <a:t>"pic_bulboff.gif"</a:t>
            </a:r>
          </a:p>
          <a:p>
            <a:pPr>
              <a:spcAft>
                <a:spcPts val="350"/>
              </a:spcAft>
            </a:pPr>
            <a:r>
              <a:rPr sz="1300" b="0" i="0">
                <a:solidFill>
                  <a:srgbClr val="D7DDE6"/>
                </a:solidFill>
                <a:latin typeface="Consolas"/>
                <a:ea typeface="Consolas"/>
              </a:rPr>
              <a:t>     </a:t>
            </a:r>
            <a:r>
              <a:rPr sz="1300" b="0" i="0">
                <a:solidFill>
                  <a:srgbClr val="E5C07B"/>
                </a:solidFill>
                <a:latin typeface="Consolas"/>
                <a:ea typeface="Consolas"/>
              </a:rPr>
              <a:t>style</a:t>
            </a:r>
            <a:r>
              <a:rPr sz="1300" b="0" i="0">
                <a:solidFill>
                  <a:srgbClr val="D7DDE6"/>
                </a:solidFill>
                <a:latin typeface="Consolas"/>
                <a:ea typeface="Consolas"/>
              </a:rPr>
              <a:t>=</a:t>
            </a:r>
            <a:r>
              <a:rPr sz="1300" b="0" i="0">
                <a:solidFill>
                  <a:srgbClr val="98C379"/>
                </a:solidFill>
                <a:latin typeface="Consolas"/>
                <a:ea typeface="Consolas"/>
              </a:rPr>
              <a:t>"width:100px"</a:t>
            </a:r>
            <a:r>
              <a:rPr sz="1300" b="0" i="0">
                <a:solidFill>
                  <a:srgbClr val="D7DDE6"/>
                </a:solidFill>
                <a:latin typeface="Consolas"/>
                <a:ea typeface="Consolas"/>
              </a:rPr>
              <a:t>&gt;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editor.html?example=js-basics/change-attribute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Where Does the Script Go?</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Introduction</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Inline</a:t>
            </a:r>
            <a:br/>
            <a:r>
              <a:rPr sz="1600" b="0" i="0">
                <a:solidFill>
                  <a:srgbClr val="4A5568"/>
                </a:solidFill>
                <a:latin typeface="Calibri"/>
                <a:ea typeface="Calibri"/>
              </a:rPr>
              <a:t>Between </a:t>
            </a:r>
            <a:r>
              <a:rPr sz="1600" b="0" i="0">
                <a:solidFill>
                  <a:srgbClr val="1E4FA8"/>
                </a:solidFill>
                <a:latin typeface="Consolas"/>
                <a:ea typeface="Consolas"/>
              </a:rPr>
              <a:t>&lt;script&gt;</a:t>
            </a:r>
            <a:r>
              <a:rPr sz="1600" b="0" i="0">
                <a:solidFill>
                  <a:srgbClr val="4A5568"/>
                </a:solidFill>
                <a:latin typeface="Calibri"/>
                <a:ea typeface="Calibri"/>
              </a:rPr>
              <a:t> and </a:t>
            </a:r>
            <a:r>
              <a:rPr sz="1600" b="0" i="0">
                <a:solidFill>
                  <a:srgbClr val="1E4FA8"/>
                </a:solidFill>
                <a:latin typeface="Consolas"/>
                <a:ea typeface="Consolas"/>
              </a:rPr>
              <a:t>&lt;/script&gt;</a:t>
            </a:r>
            <a:r>
              <a:rPr sz="1600" b="0" i="0">
                <a:solidFill>
                  <a:srgbClr val="4A5568"/>
                </a:solidFill>
                <a:latin typeface="Calibri"/>
                <a:ea typeface="Calibri"/>
              </a:rPr>
              <a:t>, right there in the page.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In an external file</a:t>
            </a:r>
            <a:br/>
            <a:r>
              <a:rPr sz="1600" b="0" i="0">
                <a:solidFill>
                  <a:srgbClr val="4A5568"/>
                </a:solidFill>
                <a:latin typeface="Calibri"/>
                <a:ea typeface="Calibri"/>
              </a:rPr>
              <a:t>A .js file linked with the </a:t>
            </a:r>
            <a:r>
              <a:rPr sz="1600" b="0" i="0">
                <a:solidFill>
                  <a:srgbClr val="B8860B"/>
                </a:solidFill>
                <a:latin typeface="Consolas"/>
                <a:ea typeface="Consolas"/>
              </a:rPr>
              <a:t>src</a:t>
            </a:r>
            <a:r>
              <a:rPr sz="1600" b="0" i="0">
                <a:solidFill>
                  <a:srgbClr val="4A5568"/>
                </a:solidFill>
                <a:latin typeface="Calibri"/>
                <a:ea typeface="Calibri"/>
              </a:rPr>
              <a:t> attribute — reusable, and the browser caches it.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Placement decides what exists</a:t>
            </a:r>
            <a:br/>
            <a:r>
              <a:rPr sz="1600" b="0" i="0">
                <a:solidFill>
                  <a:srgbClr val="4A5568"/>
                </a:solidFill>
                <a:latin typeface="Calibri"/>
                <a:ea typeface="Calibri"/>
              </a:rPr>
              <a:t>A script in the head runs before the body is parsed; at the end of the body the tree is ready.</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Several files are fine</a:t>
            </a:r>
            <a:br/>
            <a:r>
              <a:rPr sz="1600" b="0" i="0">
                <a:solidFill>
                  <a:srgbClr val="4A5568"/>
                </a:solidFill>
                <a:latin typeface="Calibri"/>
                <a:ea typeface="Calibri"/>
              </a:rPr>
              <a:t>One tag each; they run in the order they appear.</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E06C75"/>
                </a:solidFill>
                <a:latin typeface="Consolas"/>
                <a:ea typeface="Consolas"/>
              </a:rPr>
              <a:t>&lt;script</a:t>
            </a:r>
            <a:r>
              <a:rPr sz="1300" b="0" i="0">
                <a:solidFill>
                  <a:srgbClr val="D7DDE6"/>
                </a:solidFill>
                <a:latin typeface="Consolas"/>
                <a:ea typeface="Consolas"/>
              </a:rPr>
              <a:t>&gt;</a:t>
            </a:r>
          </a:p>
          <a:p>
            <a:pPr>
              <a:spcAft>
                <a:spcPts val="350"/>
              </a:spcAft>
            </a:pPr>
            <a:r>
              <a:rPr sz="1300" b="0" i="0">
                <a:solidFill>
                  <a:srgbClr val="D7DDE6"/>
                </a:solidFill>
                <a:latin typeface="Consolas"/>
                <a:ea typeface="Consolas"/>
              </a:rPr>
              <a:t>  </a:t>
            </a: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"demo"</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innerHTML</a:t>
            </a:r>
            <a:r>
              <a:rPr sz="1300" b="0" i="0">
                <a:solidFill>
                  <a:srgbClr val="D7DDE6"/>
                </a:solidFill>
                <a:latin typeface="Consolas"/>
                <a:ea typeface="Consolas"/>
              </a:rPr>
              <a:t> = </a:t>
            </a:r>
            <a:r>
              <a:rPr sz="1300" b="0" i="0">
                <a:solidFill>
                  <a:srgbClr val="98C379"/>
                </a:solidFill>
                <a:latin typeface="Consolas"/>
                <a:ea typeface="Consolas"/>
              </a:rPr>
              <a:t>"My First JavaScript";</a:t>
            </a:r>
          </a:p>
          <a:p>
            <a:pPr>
              <a:spcAft>
                <a:spcPts val="350"/>
              </a:spcAft>
            </a:pPr>
            <a:r>
              <a:rPr sz="1300" b="0" i="0">
                <a:solidFill>
                  <a:srgbClr val="E06C75"/>
                </a:solidFill>
                <a:latin typeface="Consolas"/>
                <a:ea typeface="Consolas"/>
              </a:rPr>
              <a:t>&lt;/script</a:t>
            </a:r>
            <a:r>
              <a:rPr sz="1300" b="0" i="0">
                <a:solidFill>
                  <a:srgbClr val="D7DDE6"/>
                </a:solidFill>
                <a:latin typeface="Consolas"/>
                <a:ea typeface="Consolas"/>
              </a:rPr>
              <a:t>&gt;</a:t>
            </a:r>
          </a:p>
          <a:p>
            <a:pPr>
              <a:spcAft>
                <a:spcPts val="350"/>
              </a:spcAft>
            </a:pPr>
            <a:r>
              <a:rPr sz="1300" b="0" i="0">
                <a:solidFill>
                  <a:srgbClr val="D7DDE6"/>
                </a:solidFill>
                <a:latin typeface="Consolas"/>
                <a:ea typeface="Consolas"/>
              </a:rPr>
              <a:t/>
            </a:r>
          </a:p>
          <a:p>
            <a:pPr>
              <a:spcAft>
                <a:spcPts val="350"/>
              </a:spcAft>
            </a:pPr>
            <a:r>
              <a:rPr sz="1300" b="0" i="0">
                <a:solidFill>
                  <a:srgbClr val="E06C75"/>
                </a:solidFill>
                <a:latin typeface="Consolas"/>
                <a:ea typeface="Consolas"/>
              </a:rPr>
              <a:t>&lt;script</a:t>
            </a:r>
            <a:r>
              <a:rPr sz="1300" b="0" i="0">
                <a:solidFill>
                  <a:srgbClr val="D7DDE6"/>
                </a:solidFill>
                <a:latin typeface="Consolas"/>
                <a:ea typeface="Consolas"/>
              </a:rPr>
              <a:t> </a:t>
            </a:r>
            <a:r>
              <a:rPr sz="1300" b="0" i="0">
                <a:solidFill>
                  <a:srgbClr val="E5C07B"/>
                </a:solidFill>
                <a:latin typeface="Consolas"/>
                <a:ea typeface="Consolas"/>
              </a:rPr>
              <a:t>src</a:t>
            </a:r>
            <a:r>
              <a:rPr sz="1300" b="0" i="0">
                <a:solidFill>
                  <a:srgbClr val="D7DDE6"/>
                </a:solidFill>
                <a:latin typeface="Consolas"/>
                <a:ea typeface="Consolas"/>
              </a:rPr>
              <a:t>=</a:t>
            </a:r>
            <a:r>
              <a:rPr sz="1300" b="0" i="0">
                <a:solidFill>
                  <a:srgbClr val="98C379"/>
                </a:solidFill>
                <a:latin typeface="Consolas"/>
                <a:ea typeface="Consolas"/>
              </a:rPr>
              <a:t>"myScript.js"</a:t>
            </a:r>
            <a:r>
              <a:rPr sz="1300" b="0" i="0">
                <a:solidFill>
                  <a:srgbClr val="D7DDE6"/>
                </a:solidFill>
                <a:latin typeface="Consolas"/>
                <a:ea typeface="Consolas"/>
              </a:rPr>
              <a:t>&gt;</a:t>
            </a:r>
            <a:r>
              <a:rPr sz="1300" b="0" i="0">
                <a:solidFill>
                  <a:srgbClr val="E06C75"/>
                </a:solidFill>
                <a:latin typeface="Consolas"/>
                <a:ea typeface="Consolas"/>
              </a:rPr>
              <a:t>&lt;/script</a:t>
            </a:r>
            <a:r>
              <a:rPr sz="1300" b="0" i="0">
                <a:solidFill>
                  <a:srgbClr val="D7DDE6"/>
                </a:solidFill>
                <a:latin typeface="Consolas"/>
                <a:ea typeface="Consolas"/>
              </a:rPr>
              <a:t>&gt;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editor.html?example=js-basics/script-placement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How JavaScript Shows Output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Introduction</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Into an element</a:t>
            </a:r>
            <a:br/>
            <a:r>
              <a:rPr sz="1500" b="0" i="0">
                <a:solidFill>
                  <a:srgbClr val="4A5568"/>
                </a:solidFill>
                <a:latin typeface="Calibri"/>
                <a:ea typeface="Calibri"/>
              </a:rPr>
              <a:t>Set innerHTML on a node — the usual way; the user sees it on the page.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Into an alert box</a:t>
            </a:r>
            <a:br/>
            <a:r>
              <a:rPr sz="1500" b="0" i="0">
                <a:solidFill>
                  <a:srgbClr val="4A5568"/>
                </a:solidFill>
                <a:latin typeface="Calibri"/>
                <a:ea typeface="Calibri"/>
              </a:rPr>
              <a:t>window.alert(...) blocks the page until it is dismissed — demos only.</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Into the console</a:t>
            </a:r>
            <a:br/>
            <a:r>
              <a:rPr sz="1500" b="0" i="0">
                <a:solidFill>
                  <a:srgbClr val="4A5568"/>
                </a:solidFill>
                <a:latin typeface="Calibri"/>
                <a:ea typeface="Calibri"/>
              </a:rPr>
              <a:t>console.log(anything) is the developer's window on the running page.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Into the document stream</a:t>
            </a:r>
            <a:br/>
            <a:r>
              <a:rPr sz="1500" b="0" i="0">
                <a:solidFill>
                  <a:srgbClr val="4A5568"/>
                </a:solidFill>
                <a:latin typeface="Calibri"/>
                <a:ea typeface="Calibri"/>
              </a:rPr>
              <a:t>document.write() after load wipes the page — testing only.</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Choose deliberately</a:t>
            </a:r>
            <a:br/>
            <a:r>
              <a:rPr sz="1500" b="0" i="0">
                <a:solidFill>
                  <a:srgbClr val="4A5568"/>
                </a:solidFill>
                <a:latin typeface="Calibri"/>
                <a:ea typeface="Calibri"/>
              </a:rPr>
              <a:t>Users see the first; you see the last two. Never leave an alert in shipped code.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Open DevTools and watch the console</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61AFEF"/>
                </a:solidFill>
                <a:latin typeface="Consolas"/>
                <a:ea typeface="Consolas"/>
              </a:rPr>
              <a:t>console</a:t>
            </a:r>
            <a:r>
              <a:rPr sz="1350" b="0" i="0">
                <a:solidFill>
                  <a:srgbClr val="D7DDE6"/>
                </a:solidFill>
                <a:latin typeface="Consolas"/>
                <a:ea typeface="Consolas"/>
              </a:rPr>
              <a:t>.</a:t>
            </a:r>
            <a:r>
              <a:rPr sz="1350" b="0" i="0">
                <a:solidFill>
                  <a:srgbClr val="E5C07B"/>
                </a:solidFill>
                <a:latin typeface="Consolas"/>
                <a:ea typeface="Consolas"/>
              </a:rPr>
              <a:t>log</a:t>
            </a:r>
            <a:r>
              <a:rPr sz="1350" b="0" i="0">
                <a:solidFill>
                  <a:srgbClr val="D7DDE6"/>
                </a:solidFill>
                <a:latin typeface="Consolas"/>
                <a:ea typeface="Consolas"/>
              </a:rPr>
              <a:t>(</a:t>
            </a:r>
            <a:r>
              <a:rPr sz="1350" b="0" i="0">
                <a:solidFill>
                  <a:srgbClr val="98C379"/>
                </a:solidFill>
                <a:latin typeface="Consolas"/>
                <a:ea typeface="Consolas"/>
              </a:rPr>
              <a:t>"debug"</a:t>
            </a:r>
            <a:r>
              <a:rPr sz="1350" b="0" i="0">
                <a:solidFill>
                  <a:srgbClr val="D7DDE6"/>
                </a:solidFill>
                <a:latin typeface="Consolas"/>
                <a:ea typeface="Consolas"/>
              </a:rPr>
              <a:t>)</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7F8C98"/>
                </a:solidFill>
                <a:latin typeface="Consolas"/>
                <a:ea typeface="Consolas"/>
              </a:rPr>
              <a:t>// F12 · Cmd+Option+I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JavaScript and ECMAScript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Introduction</a:t>
            </a:r>
          </a:p>
        </p:txBody>
      </p:sp>
      <p:sp>
        <p:nvSpPr>
          <p:cNvPr id="5" name="TextBox 4"/>
          <p:cNvSpPr txBox="1"/>
          <p:nvPr/>
        </p:nvSpPr>
        <p:spPr>
          <a:xfrm>
            <a:off x="548640" y="932688"/>
            <a:ext cx="10820095" cy="5394960"/>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Born at Netscape</a:t>
            </a:r>
            <a:br/>
            <a:r>
              <a:rPr sz="1500" b="0" i="0">
                <a:solidFill>
                  <a:srgbClr val="4A5568"/>
                </a:solidFill>
                <a:latin typeface="Calibri"/>
                <a:ea typeface="Calibri"/>
              </a:rPr>
              <a:t>Netscape 2 shipped the first JavaScript in 1996.</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Standardised in 1997</a:t>
            </a:r>
            <a:br/>
            <a:r>
              <a:rPr sz="1500" b="0" i="0">
                <a:solidFill>
                  <a:srgbClr val="4A5568"/>
                </a:solidFill>
                <a:latin typeface="Calibri"/>
                <a:ea typeface="Calibri"/>
              </a:rPr>
              <a:t>ECMA International published ECMAScript as the official standard; it is also ISO/IEC 16262.</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Two names, one language</a:t>
            </a:r>
            <a:br/>
            <a:r>
              <a:rPr sz="1500" b="0" i="0">
                <a:solidFill>
                  <a:srgbClr val="4A5568"/>
                </a:solidFill>
                <a:latin typeface="Calibri"/>
                <a:ea typeface="Calibri"/>
              </a:rPr>
              <a:t>JavaScript is the trademarked brand; ECMAScript is the standard.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Yearly editions since 2015</a:t>
            </a:r>
            <a:br/>
            <a:r>
              <a:rPr sz="1500" b="0" i="0">
                <a:solidFill>
                  <a:srgbClr val="4A5568"/>
                </a:solidFill>
                <a:latin typeface="Calibri"/>
                <a:ea typeface="Calibri"/>
              </a:rPr>
              <a:t>ES2015, ES2016, ES2017 … — "ES6" is just the nickname of ES2015.</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The engine decides</a:t>
            </a:r>
            <a:br/>
            <a:r>
              <a:rPr sz="1500" b="0" i="0">
                <a:solidFill>
                  <a:srgbClr val="4A5568"/>
                </a:solidFill>
                <a:latin typeface="Calibri"/>
                <a:ea typeface="Calibri"/>
              </a:rPr>
              <a:t>Each browser adds features at its own pace, so check before you rely on the newest 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JavaScript Version History</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Introduction</a:t>
            </a:r>
          </a:p>
        </p:txBody>
      </p:sp>
      <p:sp>
        <p:nvSpPr>
          <p:cNvPr id="5" name="Rectangle 4"/>
          <p:cNvSpPr/>
          <p:nvPr/>
        </p:nvSpPr>
        <p:spPr>
          <a:xfrm>
            <a:off x="548640" y="932688"/>
            <a:ext cx="2017166"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687982" cy="512064"/>
          </a:xfrm>
          <a:prstGeom prst="rect">
            <a:avLst/>
          </a:prstGeom>
          <a:noFill/>
        </p:spPr>
        <p:txBody>
          <a:bodyPr wrap="square" anchor="ctr" lIns="0" rIns="0" tIns="0" bIns="0">
            <a:spAutoFit/>
          </a:bodyPr>
          <a:lstStyle/>
          <a:p>
            <a:pPr algn="l">
              <a:lnSpc>
                <a:spcPct val="110000"/>
              </a:lnSpc>
              <a:spcAft>
                <a:spcPts val="0"/>
              </a:spcAft>
            </a:pPr>
            <a:r>
              <a:rPr sz="1350" b="1" i="0">
                <a:solidFill>
                  <a:srgbClr val="FFFFFF"/>
                </a:solidFill>
                <a:latin typeface="Calibri"/>
                <a:ea typeface="Calibri"/>
              </a:rPr>
              <a:t>Year</a:t>
            </a:r>
          </a:p>
        </p:txBody>
      </p:sp>
      <p:sp>
        <p:nvSpPr>
          <p:cNvPr id="7" name="Rectangle 6"/>
          <p:cNvSpPr/>
          <p:nvPr/>
        </p:nvSpPr>
        <p:spPr>
          <a:xfrm>
            <a:off x="2565806" y="932688"/>
            <a:ext cx="4217711"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30398" y="932688"/>
            <a:ext cx="3888527" cy="512064"/>
          </a:xfrm>
          <a:prstGeom prst="rect">
            <a:avLst/>
          </a:prstGeom>
          <a:noFill/>
        </p:spPr>
        <p:txBody>
          <a:bodyPr wrap="square" anchor="ctr" lIns="0" rIns="0" tIns="0" bIns="0">
            <a:spAutoFit/>
          </a:bodyPr>
          <a:lstStyle/>
          <a:p>
            <a:pPr algn="l">
              <a:lnSpc>
                <a:spcPct val="110000"/>
              </a:lnSpc>
              <a:spcAft>
                <a:spcPts val="0"/>
              </a:spcAft>
            </a:pPr>
            <a:r>
              <a:rPr sz="1350" b="1" i="0">
                <a:solidFill>
                  <a:srgbClr val="FFFFFF"/>
                </a:solidFill>
                <a:latin typeface="Calibri"/>
                <a:ea typeface="Calibri"/>
              </a:rPr>
              <a:t>Released as</a:t>
            </a:r>
          </a:p>
        </p:txBody>
      </p:sp>
      <p:sp>
        <p:nvSpPr>
          <p:cNvPr id="9" name="Rectangle 8"/>
          <p:cNvSpPr/>
          <p:nvPr/>
        </p:nvSpPr>
        <p:spPr>
          <a:xfrm>
            <a:off x="6783517" y="932688"/>
            <a:ext cx="4859537"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8109" y="932688"/>
            <a:ext cx="4530353" cy="512064"/>
          </a:xfrm>
          <a:prstGeom prst="rect">
            <a:avLst/>
          </a:prstGeom>
          <a:noFill/>
        </p:spPr>
        <p:txBody>
          <a:bodyPr wrap="square" anchor="ctr" lIns="0" rIns="0" tIns="0" bIns="0">
            <a:spAutoFit/>
          </a:bodyPr>
          <a:lstStyle/>
          <a:p>
            <a:pPr algn="l">
              <a:lnSpc>
                <a:spcPct val="110000"/>
              </a:lnSpc>
              <a:spcAft>
                <a:spcPts val="0"/>
              </a:spcAft>
            </a:pPr>
            <a:r>
              <a:rPr sz="1350" b="1" i="0">
                <a:solidFill>
                  <a:srgbClr val="FFFFFF"/>
                </a:solidFill>
                <a:latin typeface="Calibri"/>
                <a:ea typeface="Calibri"/>
              </a:rPr>
              <a:t>First browser</a:t>
            </a:r>
          </a:p>
        </p:txBody>
      </p:sp>
      <p:sp>
        <p:nvSpPr>
          <p:cNvPr id="11" name="Rectangle 10"/>
          <p:cNvSpPr/>
          <p:nvPr/>
        </p:nvSpPr>
        <p:spPr>
          <a:xfrm>
            <a:off x="548640" y="1444752"/>
            <a:ext cx="201716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1687982"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1996</a:t>
            </a:r>
          </a:p>
        </p:txBody>
      </p:sp>
      <p:sp>
        <p:nvSpPr>
          <p:cNvPr id="13" name="Rectangle 12"/>
          <p:cNvSpPr/>
          <p:nvPr/>
        </p:nvSpPr>
        <p:spPr>
          <a:xfrm>
            <a:off x="2565806" y="1444752"/>
            <a:ext cx="421771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30398" y="1444752"/>
            <a:ext cx="3888527"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JavaScript 1.0</a:t>
            </a:r>
          </a:p>
        </p:txBody>
      </p:sp>
      <p:sp>
        <p:nvSpPr>
          <p:cNvPr id="15" name="Rectangle 14"/>
          <p:cNvSpPr/>
          <p:nvPr/>
        </p:nvSpPr>
        <p:spPr>
          <a:xfrm>
            <a:off x="6783517" y="1444752"/>
            <a:ext cx="485953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48109" y="1444752"/>
            <a:ext cx="453035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Netscape 2</a:t>
            </a:r>
          </a:p>
        </p:txBody>
      </p:sp>
      <p:sp>
        <p:nvSpPr>
          <p:cNvPr id="17" name="Rectangle 16"/>
          <p:cNvSpPr/>
          <p:nvPr/>
        </p:nvSpPr>
        <p:spPr>
          <a:xfrm>
            <a:off x="548640" y="2011680"/>
            <a:ext cx="201716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1687982"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1997</a:t>
            </a:r>
          </a:p>
        </p:txBody>
      </p:sp>
      <p:sp>
        <p:nvSpPr>
          <p:cNvPr id="19" name="Rectangle 18"/>
          <p:cNvSpPr/>
          <p:nvPr/>
        </p:nvSpPr>
        <p:spPr>
          <a:xfrm>
            <a:off x="2565806" y="2011680"/>
            <a:ext cx="421771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30398" y="2011680"/>
            <a:ext cx="3888527"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ECMAScript 1</a:t>
            </a:r>
          </a:p>
        </p:txBody>
      </p:sp>
      <p:sp>
        <p:nvSpPr>
          <p:cNvPr id="21" name="Rectangle 20"/>
          <p:cNvSpPr/>
          <p:nvPr/>
        </p:nvSpPr>
        <p:spPr>
          <a:xfrm>
            <a:off x="6783517" y="2011680"/>
            <a:ext cx="485953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48109" y="2011680"/>
            <a:ext cx="453035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Internet Explorer 4</a:t>
            </a:r>
          </a:p>
        </p:txBody>
      </p:sp>
      <p:sp>
        <p:nvSpPr>
          <p:cNvPr id="23" name="Rectangle 22"/>
          <p:cNvSpPr/>
          <p:nvPr/>
        </p:nvSpPr>
        <p:spPr>
          <a:xfrm>
            <a:off x="548640" y="2578608"/>
            <a:ext cx="201716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1687982"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1999</a:t>
            </a:r>
          </a:p>
        </p:txBody>
      </p:sp>
      <p:sp>
        <p:nvSpPr>
          <p:cNvPr id="25" name="Rectangle 24"/>
          <p:cNvSpPr/>
          <p:nvPr/>
        </p:nvSpPr>
        <p:spPr>
          <a:xfrm>
            <a:off x="2565806" y="2578608"/>
            <a:ext cx="421771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30398" y="2578608"/>
            <a:ext cx="3888527"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ECMAScript 3</a:t>
            </a:r>
          </a:p>
        </p:txBody>
      </p:sp>
      <p:sp>
        <p:nvSpPr>
          <p:cNvPr id="27" name="Rectangle 26"/>
          <p:cNvSpPr/>
          <p:nvPr/>
        </p:nvSpPr>
        <p:spPr>
          <a:xfrm>
            <a:off x="6783517" y="2578608"/>
            <a:ext cx="485953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8109" y="2578608"/>
            <a:ext cx="453035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Internet Explorer 5</a:t>
            </a:r>
          </a:p>
        </p:txBody>
      </p:sp>
      <p:sp>
        <p:nvSpPr>
          <p:cNvPr id="29" name="Rectangle 28"/>
          <p:cNvSpPr/>
          <p:nvPr/>
        </p:nvSpPr>
        <p:spPr>
          <a:xfrm>
            <a:off x="548640" y="3145536"/>
            <a:ext cx="201716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1687982"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2000</a:t>
            </a:r>
          </a:p>
        </p:txBody>
      </p:sp>
      <p:sp>
        <p:nvSpPr>
          <p:cNvPr id="31" name="Rectangle 30"/>
          <p:cNvSpPr/>
          <p:nvPr/>
        </p:nvSpPr>
        <p:spPr>
          <a:xfrm>
            <a:off x="2565806" y="3145536"/>
            <a:ext cx="421771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30398" y="3145536"/>
            <a:ext cx="3888527"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JavaScript 1.5</a:t>
            </a:r>
          </a:p>
        </p:txBody>
      </p:sp>
      <p:sp>
        <p:nvSpPr>
          <p:cNvPr id="33" name="Rectangle 32"/>
          <p:cNvSpPr/>
          <p:nvPr/>
        </p:nvSpPr>
        <p:spPr>
          <a:xfrm>
            <a:off x="6783517" y="3145536"/>
            <a:ext cx="485953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8109" y="3145536"/>
            <a:ext cx="453035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Netscape 6</a:t>
            </a:r>
          </a:p>
        </p:txBody>
      </p:sp>
      <p:sp>
        <p:nvSpPr>
          <p:cNvPr id="35" name="Rectangle 34"/>
          <p:cNvSpPr/>
          <p:nvPr/>
        </p:nvSpPr>
        <p:spPr>
          <a:xfrm>
            <a:off x="548640" y="3712464"/>
            <a:ext cx="201716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1687982"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2011</a:t>
            </a:r>
          </a:p>
        </p:txBody>
      </p:sp>
      <p:sp>
        <p:nvSpPr>
          <p:cNvPr id="37" name="Rectangle 36"/>
          <p:cNvSpPr/>
          <p:nvPr/>
        </p:nvSpPr>
        <p:spPr>
          <a:xfrm>
            <a:off x="2565806" y="3712464"/>
            <a:ext cx="421771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30398" y="3712464"/>
            <a:ext cx="3888527"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ECMAScript 5</a:t>
            </a:r>
          </a:p>
        </p:txBody>
      </p:sp>
      <p:sp>
        <p:nvSpPr>
          <p:cNvPr id="39" name="Rectangle 38"/>
          <p:cNvSpPr/>
          <p:nvPr/>
        </p:nvSpPr>
        <p:spPr>
          <a:xfrm>
            <a:off x="6783517" y="3712464"/>
            <a:ext cx="485953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48109" y="3712464"/>
            <a:ext cx="453035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Internet Explorer 9</a:t>
            </a:r>
          </a:p>
        </p:txBody>
      </p:sp>
      <p:sp>
        <p:nvSpPr>
          <p:cNvPr id="41" name="Rectangle 40"/>
          <p:cNvSpPr/>
          <p:nvPr/>
        </p:nvSpPr>
        <p:spPr>
          <a:xfrm>
            <a:off x="548640" y="4279392"/>
            <a:ext cx="201716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 y="4279392"/>
            <a:ext cx="1687982"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2012</a:t>
            </a:r>
          </a:p>
        </p:txBody>
      </p:sp>
      <p:sp>
        <p:nvSpPr>
          <p:cNvPr id="43" name="Rectangle 42"/>
          <p:cNvSpPr/>
          <p:nvPr/>
        </p:nvSpPr>
        <p:spPr>
          <a:xfrm>
            <a:off x="2565806" y="4279392"/>
            <a:ext cx="421771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30398" y="4279392"/>
            <a:ext cx="3888527"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a:t>
            </a:r>
          </a:p>
        </p:txBody>
      </p:sp>
      <p:sp>
        <p:nvSpPr>
          <p:cNvPr id="45" name="Rectangle 44"/>
          <p:cNvSpPr/>
          <p:nvPr/>
        </p:nvSpPr>
        <p:spPr>
          <a:xfrm>
            <a:off x="6783517" y="4279392"/>
            <a:ext cx="485953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948109" y="4279392"/>
            <a:ext cx="453035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Chrome 23, Safari 6</a:t>
            </a:r>
          </a:p>
        </p:txBody>
      </p:sp>
      <p:sp>
        <p:nvSpPr>
          <p:cNvPr id="47" name="Rectangle 46"/>
          <p:cNvSpPr/>
          <p:nvPr/>
        </p:nvSpPr>
        <p:spPr>
          <a:xfrm>
            <a:off x="548640" y="4846320"/>
            <a:ext cx="201716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3232" y="4846320"/>
            <a:ext cx="1687982"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2015</a:t>
            </a:r>
          </a:p>
        </p:txBody>
      </p:sp>
      <p:sp>
        <p:nvSpPr>
          <p:cNvPr id="49" name="Rectangle 48"/>
          <p:cNvSpPr/>
          <p:nvPr/>
        </p:nvSpPr>
        <p:spPr>
          <a:xfrm>
            <a:off x="2565806" y="4846320"/>
            <a:ext cx="421771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30398" y="4846320"/>
            <a:ext cx="3888527"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ECMAScript 2015 (ES6)</a:t>
            </a:r>
          </a:p>
        </p:txBody>
      </p:sp>
      <p:sp>
        <p:nvSpPr>
          <p:cNvPr id="51" name="Rectangle 50"/>
          <p:cNvSpPr/>
          <p:nvPr/>
        </p:nvSpPr>
        <p:spPr>
          <a:xfrm>
            <a:off x="6783517" y="4846320"/>
            <a:ext cx="485953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48109" y="4846320"/>
            <a:ext cx="4530353"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all browsers, partly</a:t>
            </a:r>
          </a:p>
        </p:txBody>
      </p:sp>
      <p:sp>
        <p:nvSpPr>
          <p:cNvPr id="53" name="Rounded Rectangle 52"/>
          <p:cNvSpPr/>
          <p:nvPr/>
        </p:nvSpPr>
        <p:spPr>
          <a:xfrm>
            <a:off x="548640" y="5596128"/>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80" y="5687568"/>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After 2015 the standard ships one edition per year — ES6 was the last big jump.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02</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Syntax</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A program is a list of statements, run in order</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Keywords begin each instruction; identifiers label what you create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Operators, comments, and the rules that never change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Statements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Syntax</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One instruction per statement</a:t>
            </a:r>
            <a:br/>
            <a:r>
              <a:rPr sz="1600" b="0" i="0">
                <a:solidFill>
                  <a:srgbClr val="4A5568"/>
                </a:solidFill>
                <a:latin typeface="Calibri"/>
                <a:ea typeface="Calibri"/>
              </a:rPr>
              <a:t>Statements run one by one, top to bottom, in the order written.</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End each with a semicolon</a:t>
            </a:r>
            <a:br/>
            <a:r>
              <a:rPr sz="1600" b="0" i="0">
                <a:solidFill>
                  <a:srgbClr val="4A5568"/>
                </a:solidFill>
                <a:latin typeface="Calibri"/>
                <a:ea typeface="Calibri"/>
              </a:rPr>
              <a:t>It separates statements and makes your intent explicit.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Several on one line is legal</a:t>
            </a:r>
            <a:br/>
            <a:r>
              <a:rPr sz="1600" b="0" i="0">
                <a:solidFill>
                  <a:srgbClr val="4A5568"/>
                </a:solidFill>
                <a:latin typeface="Calibri"/>
                <a:ea typeface="Calibri"/>
              </a:rPr>
              <a:t>a = 5; b = 6; — allowed, but one per line reads better.</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Whitespace is free</a:t>
            </a:r>
            <a:br/>
            <a:r>
              <a:rPr sz="1600" b="0" i="0">
                <a:solidFill>
                  <a:srgbClr val="4A5568"/>
                </a:solidFill>
                <a:latin typeface="Calibri"/>
                <a:ea typeface="Calibri"/>
              </a:rPr>
              <a:t>Spaces and line breaks are ignored everywhere except inside a string.</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a</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b</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c</a:t>
            </a:r>
            <a:r>
              <a:rPr sz="1300" b="0" i="0">
                <a:solidFill>
                  <a:srgbClr val="D7DDE6"/>
                </a:solidFill>
                <a:latin typeface="Consolas"/>
                <a:ea typeface="Consolas"/>
              </a:rPr>
              <a:t>;</a:t>
            </a:r>
            <a:r>
              <a:rPr sz="1300" b="0" i="0">
                <a:solidFill>
                  <a:srgbClr val="7F8C98"/>
                </a:solidFill>
                <a:latin typeface="Consolas"/>
                <a:ea typeface="Consolas"/>
              </a:rPr>
              <a:t>        // declare three variables</a:t>
            </a:r>
          </a:p>
          <a:p>
            <a:pPr>
              <a:spcAft>
                <a:spcPts val="350"/>
              </a:spcAft>
            </a:pPr>
            <a:r>
              <a:rPr sz="1300" b="0" i="0">
                <a:solidFill>
                  <a:srgbClr val="D7DDE6"/>
                </a:solidFill>
                <a:latin typeface="Consolas"/>
                <a:ea typeface="Consolas"/>
              </a:rPr>
              <a:t>a</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5</a:t>
            </a:r>
            <a:r>
              <a:rPr sz="1300" b="0" i="0">
                <a:solidFill>
                  <a:srgbClr val="D7DDE6"/>
                </a:solidFill>
                <a:latin typeface="Consolas"/>
                <a:ea typeface="Consolas"/>
              </a:rPr>
              <a:t>;</a:t>
            </a:r>
            <a:r>
              <a:rPr sz="1300" b="0" i="0">
                <a:solidFill>
                  <a:srgbClr val="7F8C98"/>
                </a:solidFill>
                <a:latin typeface="Consolas"/>
                <a:ea typeface="Consolas"/>
              </a:rPr>
              <a:t>            // assign a value</a:t>
            </a:r>
          </a:p>
          <a:p>
            <a:pPr>
              <a:spcAft>
                <a:spcPts val="350"/>
              </a:spcAft>
            </a:pPr>
            <a:r>
              <a:rPr sz="1300" b="0" i="0">
                <a:solidFill>
                  <a:srgbClr val="D7DDE6"/>
                </a:solidFill>
                <a:latin typeface="Consolas"/>
                <a:ea typeface="Consolas"/>
              </a:rPr>
              <a:t>b</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6</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c</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b</a:t>
            </a:r>
            <a:r>
              <a:rPr sz="1300" b="0" i="0">
                <a:solidFill>
                  <a:srgbClr val="D7DDE6"/>
                </a:solidFill>
                <a:latin typeface="Consolas"/>
                <a:ea typeface="Consolas"/>
              </a:rPr>
              <a:t>;</a:t>
            </a:r>
            <a:r>
              <a:rPr sz="1300" b="0" i="0">
                <a:solidFill>
                  <a:srgbClr val="7F8C98"/>
                </a:solidFill>
                <a:latin typeface="Consolas"/>
                <a:ea typeface="Consolas"/>
              </a:rPr>
              <a:t>        // 11</a:t>
            </a:r>
          </a:p>
          <a:p>
            <a:pPr>
              <a:spcAft>
                <a:spcPts val="350"/>
              </a:spcAft>
            </a:pPr>
            <a:r>
              <a:rPr sz="1300" b="0" i="0">
                <a:solidFill>
                  <a:srgbClr val="D7DDE6"/>
                </a:solidFill>
                <a:latin typeface="Consolas"/>
                <a:ea typeface="Consolas"/>
              </a:rPr>
              <a:t/>
            </a:r>
          </a:p>
          <a:p>
            <a:pPr>
              <a:spcAft>
                <a:spcPts val="350"/>
              </a:spcAft>
            </a:pPr>
            <a:r>
              <a:rPr sz="1300" b="0" i="0">
                <a:solidFill>
                  <a:srgbClr val="D7DDE6"/>
                </a:solidFill>
                <a:latin typeface="Consolas"/>
                <a:ea typeface="Consolas"/>
              </a:rPr>
              <a:t>a</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5</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b</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6</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c</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b</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"demo"</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innerHTML</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98C379"/>
                </a:solidFill>
                <a:latin typeface="Consolas"/>
                <a:ea typeface="Consolas"/>
              </a:rPr>
              <a:t>"Hello JavaScript"</a:t>
            </a:r>
            <a:r>
              <a:rPr sz="1300" b="0" i="0">
                <a:solidFill>
                  <a:srgbClr val="D7DDE6"/>
                </a:solidFill>
                <a:latin typeface="Consolas"/>
                <a:ea typeface="Consolas"/>
              </a:rPr>
              <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Code Blocks, Keywords &amp; Identifiers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Syntax</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Blocks group statements</a:t>
            </a:r>
            <a:br/>
            <a:r>
              <a:rPr sz="1500" b="0" i="0">
                <a:solidFill>
                  <a:srgbClr val="4A5568"/>
                </a:solidFill>
                <a:latin typeface="Calibri"/>
                <a:ea typeface="Calibri"/>
              </a:rPr>
              <a:t>Curly braces { } tie statements together — the body of a function, an if or a for.</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Keywords start the </a:t>
            </a:r>
            <a:r>
              <a:rPr sz="1700" b="1" i="0">
                <a:solidFill>
                  <a:srgbClr val="B8860B"/>
                </a:solidFill>
                <a:latin typeface="Consolas"/>
                <a:ea typeface="Consolas"/>
              </a:rPr>
              <a:t>action</a:t>
            </a:r>
            <a:br/>
            <a:r>
              <a:rPr sz="1500" b="0" i="0">
                <a:solidFill>
                  <a:srgbClr val="4A5568"/>
                </a:solidFill>
                <a:latin typeface="Calibri"/>
                <a:ea typeface="Calibri"/>
              </a:rPr>
              <a:t>if, else, for, while, return, function, var, let, const, switch, break, try, catch.</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Identifiers are names</a:t>
            </a:r>
            <a:br/>
            <a:r>
              <a:rPr sz="1500" b="0" i="0">
                <a:solidFill>
                  <a:srgbClr val="4A5568"/>
                </a:solidFill>
                <a:latin typeface="Calibri"/>
                <a:ea typeface="Calibri"/>
              </a:rPr>
              <a:t>Letters, digits, _ and $; must not start with a digit; case sensitive throughout.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Reserved words are off limits</a:t>
            </a:r>
            <a:br/>
            <a:r>
              <a:rPr sz="1500" b="0" i="0">
                <a:solidFill>
                  <a:srgbClr val="4A5568"/>
                </a:solidFill>
                <a:latin typeface="Calibri"/>
                <a:ea typeface="Calibri"/>
              </a:rPr>
              <a:t>A keyword can never be used as an identifier.</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Conventions help the reader</a:t>
            </a:r>
            <a:br/>
            <a:r>
              <a:rPr sz="1500" b="0" i="0">
                <a:solidFill>
                  <a:srgbClr val="4A5568"/>
                </a:solidFill>
                <a:latin typeface="Calibri"/>
                <a:ea typeface="Calibri"/>
              </a:rPr>
              <a:t>camelCase for variables and functions, UPPER_CASE for constants you never change.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Same letters, different variable</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D7DDE6"/>
                </a:solidFill>
                <a:latin typeface="Consolas"/>
                <a:ea typeface="Consolas"/>
              </a:rPr>
              <a:t>lastName</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98C379"/>
                </a:solidFill>
                <a:latin typeface="Consolas"/>
                <a:ea typeface="Consolas"/>
              </a:rPr>
              <a:t>"Doe"</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lastname</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98C379"/>
                </a:solidFill>
                <a:latin typeface="Consolas"/>
                <a:ea typeface="Consolas"/>
              </a:rPr>
              <a:t>"Peterson"</a:t>
            </a:r>
            <a:r>
              <a:rPr sz="1350" b="0" i="0">
                <a:solidFill>
                  <a:srgbClr val="D7DDE6"/>
                </a:solidFill>
                <a:latin typeface="Consolas"/>
                <a:ea typeface="Consolas"/>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Literals and Variables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Syntax</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Fixed and variable</a:t>
            </a:r>
            <a:br/>
            <a:r>
              <a:rPr sz="1600" b="0" i="0">
                <a:solidFill>
                  <a:srgbClr val="4A5568"/>
                </a:solidFill>
                <a:latin typeface="Calibri"/>
                <a:ea typeface="Calibri"/>
              </a:rPr>
              <a:t>A literal is written out in the code; a variable stores whatever you put in it.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 assigns, it does not compare</a:t>
            </a:r>
            <a:br/>
            <a:r>
              <a:rPr sz="1600" b="0" i="0">
                <a:solidFill>
                  <a:srgbClr val="4A5568"/>
                </a:solidFill>
                <a:latin typeface="Calibri"/>
                <a:ea typeface="Calibri"/>
              </a:rPr>
              <a:t>The equal sign puts something into a variable.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Declared but not assigned</a:t>
            </a:r>
            <a:br/>
            <a:r>
              <a:rPr sz="1600" b="0" i="0">
                <a:solidFill>
                  <a:srgbClr val="4A5568"/>
                </a:solidFill>
                <a:latin typeface="Calibri"/>
                <a:ea typeface="Calibri"/>
              </a:rPr>
              <a:t>The variable exists and holds undefined.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Assign at the declaration</a:t>
            </a:r>
            <a:br/>
            <a:r>
              <a:rPr sz="1600" b="0" i="0">
                <a:solidFill>
                  <a:srgbClr val="4A5568"/>
                </a:solidFill>
                <a:latin typeface="Calibri"/>
                <a:ea typeface="Calibri"/>
              </a:rPr>
              <a:t>One line does both, which is the usual way.</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x</a:t>
            </a:r>
            <a:r>
              <a:rPr sz="1300" b="0" i="0">
                <a:solidFill>
                  <a:srgbClr val="D7DDE6"/>
                </a:solidFill>
                <a:latin typeface="Consolas"/>
                <a:ea typeface="Consolas"/>
              </a:rPr>
              <a:t>;</a:t>
            </a:r>
            <a:r>
              <a:rPr sz="1300" b="0" i="0">
                <a:solidFill>
                  <a:srgbClr val="7F8C98"/>
                </a:solidFill>
                <a:latin typeface="Consolas"/>
                <a:ea typeface="Consolas"/>
              </a:rPr>
              <a:t>             // undefined</a:t>
            </a:r>
          </a:p>
          <a:p>
            <a:pPr>
              <a:spcAft>
                <a:spcPts val="350"/>
              </a:spcAft>
            </a:pPr>
            <a:r>
              <a:rPr sz="1300" b="0" i="0">
                <a:solidFill>
                  <a:srgbClr val="D7DDE6"/>
                </a:solidFill>
                <a:latin typeface="Consolas"/>
                <a:ea typeface="Consolas"/>
              </a:rPr>
              <a:t>x</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6</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carName</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"Volvo"</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D7DDE6"/>
                </a:solidFill>
                <a:latin typeface="Consolas"/>
                <a:ea typeface="Consolas"/>
              </a:rPr>
              <a:t>x</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x</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5</a:t>
            </a:r>
            <a:r>
              <a:rPr sz="1300" b="0" i="0">
                <a:solidFill>
                  <a:srgbClr val="D7DDE6"/>
                </a:solidFill>
                <a:latin typeface="Consolas"/>
                <a:ea typeface="Consolas"/>
              </a:rPr>
              <a:t>;</a:t>
            </a:r>
            <a:r>
              <a:rPr sz="1300" b="0" i="0">
                <a:solidFill>
                  <a:srgbClr val="7F8C98"/>
                </a:solidFill>
                <a:latin typeface="Consolas"/>
                <a:ea typeface="Consolas"/>
              </a:rPr>
              <a:t>         // 11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let, const and Block Scope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Syntax</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let cannot be redeclared</a:t>
            </a:r>
            <a:br/>
            <a:r>
              <a:rPr sz="1500" b="0" i="0">
                <a:solidFill>
                  <a:srgbClr val="4A5568"/>
                </a:solidFill>
                <a:latin typeface="Calibri"/>
                <a:ea typeface="Calibri"/>
              </a:rPr>
              <a:t>let x = 1; let x = 2; is a SyntaxError in the same scope.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let must come first</a:t>
            </a:r>
            <a:br/>
            <a:r>
              <a:rPr sz="1500" b="0" i="0">
                <a:solidFill>
                  <a:srgbClr val="4A5568"/>
                </a:solidFill>
                <a:latin typeface="Calibri"/>
                <a:ea typeface="Calibri"/>
              </a:rPr>
              <a:t>Reading it before its declaration is an error, not undefined.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Both are block scoped</a:t>
            </a:r>
            <a:br/>
            <a:r>
              <a:rPr sz="1500" b="0" i="0">
                <a:solidFill>
                  <a:srgbClr val="4A5568"/>
                </a:solidFill>
                <a:latin typeface="Calibri"/>
                <a:ea typeface="Calibri"/>
              </a:rPr>
              <a:t>A variable declared inside { } does not exist outside those braces.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const cannot be reassigned</a:t>
            </a:r>
            <a:br/>
            <a:r>
              <a:rPr sz="1500" b="0" i="0">
                <a:solidFill>
                  <a:srgbClr val="4A5568"/>
                </a:solidFill>
                <a:latin typeface="Calibri"/>
                <a:ea typeface="Calibri"/>
              </a:rPr>
              <a:t>Bind it once, and use it for things that must never change.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var ignores blocks</a:t>
            </a:r>
            <a:br/>
            <a:r>
              <a:rPr sz="1500" b="0" i="0">
                <a:solidFill>
                  <a:srgbClr val="4A5568"/>
                </a:solidFill>
                <a:latin typeface="Calibri"/>
                <a:ea typeface="Calibri"/>
              </a:rPr>
              <a:t>A var declared inside a block leaks out to the whole function — the classic bug this fixed.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Prefer const, then let</a:t>
            </a:r>
            <a:br/>
            <a:r>
              <a:rPr sz="1500" b="0" i="0">
                <a:solidFill>
                  <a:srgbClr val="4A5568"/>
                </a:solidFill>
                <a:latin typeface="Calibri"/>
                <a:ea typeface="Calibri"/>
              </a:rPr>
              <a:t>Leave var to the legacy code you have to read.</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Block scope in one line</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C678DD"/>
                </a:solidFill>
                <a:latin typeface="Consolas"/>
                <a:ea typeface="Consolas"/>
              </a:rPr>
              <a:t>let</a:t>
            </a:r>
            <a:r>
              <a:rPr sz="1350" b="0" i="0">
                <a:solidFill>
                  <a:srgbClr val="D7DDE6"/>
                </a:solidFill>
                <a:latin typeface="Consolas"/>
                <a:ea typeface="Consolas"/>
              </a:rPr>
              <a:t> </a:t>
            </a:r>
            <a:r>
              <a:rPr sz="1350" b="0" i="0">
                <a:solidFill>
                  <a:srgbClr val="D7DDE6"/>
                </a:solidFill>
                <a:latin typeface="Consolas"/>
                <a:ea typeface="Consolas"/>
              </a:rPr>
              <a:t>x</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E5C07B"/>
                </a:solidFill>
                <a:latin typeface="Consolas"/>
                <a:ea typeface="Consolas"/>
              </a:rPr>
              <a:t>2</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7F8C98"/>
                </a:solidFill>
                <a:latin typeface="Consolas"/>
                <a:ea typeface="Consolas"/>
              </a:rPr>
              <a:t>// x does not exist here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Arithmetic and Assignment Operators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Syntax</a:t>
            </a:r>
          </a:p>
        </p:txBody>
      </p:sp>
      <p:sp>
        <p:nvSpPr>
          <p:cNvPr id="5" name="Rectangle 4"/>
          <p:cNvSpPr/>
          <p:nvPr/>
        </p:nvSpPr>
        <p:spPr>
          <a:xfrm>
            <a:off x="548640" y="932688"/>
            <a:ext cx="1833787"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504603"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Operator</a:t>
            </a:r>
          </a:p>
        </p:txBody>
      </p:sp>
      <p:sp>
        <p:nvSpPr>
          <p:cNvPr id="7" name="Rectangle 6"/>
          <p:cNvSpPr/>
          <p:nvPr/>
        </p:nvSpPr>
        <p:spPr>
          <a:xfrm>
            <a:off x="2382427" y="932688"/>
            <a:ext cx="3300817"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47019" y="932688"/>
            <a:ext cx="2971633"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Meaning</a:t>
            </a:r>
          </a:p>
        </p:txBody>
      </p:sp>
      <p:sp>
        <p:nvSpPr>
          <p:cNvPr id="9" name="Rectangle 8"/>
          <p:cNvSpPr/>
          <p:nvPr/>
        </p:nvSpPr>
        <p:spPr>
          <a:xfrm>
            <a:off x="5683245" y="932688"/>
            <a:ext cx="2750681"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47837" y="932688"/>
            <a:ext cx="2421497"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Example</a:t>
            </a:r>
          </a:p>
        </p:txBody>
      </p:sp>
      <p:sp>
        <p:nvSpPr>
          <p:cNvPr id="11" name="Rectangle 10"/>
          <p:cNvSpPr/>
          <p:nvPr/>
        </p:nvSpPr>
        <p:spPr>
          <a:xfrm>
            <a:off x="8433926" y="932688"/>
            <a:ext cx="320912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8518" y="932688"/>
            <a:ext cx="2879944"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Result</a:t>
            </a:r>
          </a:p>
        </p:txBody>
      </p:sp>
      <p:sp>
        <p:nvSpPr>
          <p:cNvPr id="13" name="Rectangle 12"/>
          <p:cNvSpPr/>
          <p:nvPr/>
        </p:nvSpPr>
        <p:spPr>
          <a:xfrm>
            <a:off x="548640" y="1444752"/>
            <a:ext cx="183378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44752"/>
            <a:ext cx="1504603"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15" name="Rectangle 14"/>
          <p:cNvSpPr/>
          <p:nvPr/>
        </p:nvSpPr>
        <p:spPr>
          <a:xfrm>
            <a:off x="2382427" y="1444752"/>
            <a:ext cx="330081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47019" y="1444752"/>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addition</a:t>
            </a:r>
          </a:p>
        </p:txBody>
      </p:sp>
      <p:sp>
        <p:nvSpPr>
          <p:cNvPr id="17" name="Rectangle 16"/>
          <p:cNvSpPr/>
          <p:nvPr/>
        </p:nvSpPr>
        <p:spPr>
          <a:xfrm>
            <a:off x="5683245" y="1444752"/>
            <a:ext cx="275068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47837" y="1444752"/>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5 + 6</a:t>
            </a:r>
          </a:p>
        </p:txBody>
      </p:sp>
      <p:sp>
        <p:nvSpPr>
          <p:cNvPr id="19" name="Rectangle 18"/>
          <p:cNvSpPr/>
          <p:nvPr/>
        </p:nvSpPr>
        <p:spPr>
          <a:xfrm>
            <a:off x="8433926" y="1444752"/>
            <a:ext cx="320912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98518" y="1444752"/>
            <a:ext cx="287994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11</a:t>
            </a:r>
          </a:p>
        </p:txBody>
      </p:sp>
      <p:sp>
        <p:nvSpPr>
          <p:cNvPr id="21" name="Rectangle 20"/>
          <p:cNvSpPr/>
          <p:nvPr/>
        </p:nvSpPr>
        <p:spPr>
          <a:xfrm>
            <a:off x="548640" y="2011680"/>
            <a:ext cx="183378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011680"/>
            <a:ext cx="1504603"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23" name="Rectangle 22"/>
          <p:cNvSpPr/>
          <p:nvPr/>
        </p:nvSpPr>
        <p:spPr>
          <a:xfrm>
            <a:off x="2382427" y="2011680"/>
            <a:ext cx="330081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47019" y="2011680"/>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subtraction</a:t>
            </a:r>
          </a:p>
        </p:txBody>
      </p:sp>
      <p:sp>
        <p:nvSpPr>
          <p:cNvPr id="25" name="Rectangle 24"/>
          <p:cNvSpPr/>
          <p:nvPr/>
        </p:nvSpPr>
        <p:spPr>
          <a:xfrm>
            <a:off x="5683245" y="2011680"/>
            <a:ext cx="275068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47837" y="2011680"/>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5 - 6</a:t>
            </a:r>
          </a:p>
        </p:txBody>
      </p:sp>
      <p:sp>
        <p:nvSpPr>
          <p:cNvPr id="27" name="Rectangle 26"/>
          <p:cNvSpPr/>
          <p:nvPr/>
        </p:nvSpPr>
        <p:spPr>
          <a:xfrm>
            <a:off x="8433926" y="2011680"/>
            <a:ext cx="320912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98518" y="2011680"/>
            <a:ext cx="287994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-1</a:t>
            </a:r>
          </a:p>
        </p:txBody>
      </p:sp>
      <p:sp>
        <p:nvSpPr>
          <p:cNvPr id="29" name="Rectangle 28"/>
          <p:cNvSpPr/>
          <p:nvPr/>
        </p:nvSpPr>
        <p:spPr>
          <a:xfrm>
            <a:off x="548640" y="2578608"/>
            <a:ext cx="183378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2578608"/>
            <a:ext cx="1504603"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31" name="Rectangle 30"/>
          <p:cNvSpPr/>
          <p:nvPr/>
        </p:nvSpPr>
        <p:spPr>
          <a:xfrm>
            <a:off x="2382427" y="2578608"/>
            <a:ext cx="330081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547019" y="2578608"/>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multiplication</a:t>
            </a:r>
          </a:p>
        </p:txBody>
      </p:sp>
      <p:sp>
        <p:nvSpPr>
          <p:cNvPr id="33" name="Rectangle 32"/>
          <p:cNvSpPr/>
          <p:nvPr/>
        </p:nvSpPr>
        <p:spPr>
          <a:xfrm>
            <a:off x="5683245" y="2578608"/>
            <a:ext cx="275068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47837" y="2578608"/>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5 * 6</a:t>
            </a:r>
          </a:p>
        </p:txBody>
      </p:sp>
      <p:sp>
        <p:nvSpPr>
          <p:cNvPr id="35" name="Rectangle 34"/>
          <p:cNvSpPr/>
          <p:nvPr/>
        </p:nvSpPr>
        <p:spPr>
          <a:xfrm>
            <a:off x="8433926" y="2578608"/>
            <a:ext cx="320912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98518" y="2578608"/>
            <a:ext cx="287994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30</a:t>
            </a:r>
          </a:p>
        </p:txBody>
      </p:sp>
      <p:sp>
        <p:nvSpPr>
          <p:cNvPr id="37" name="Rectangle 36"/>
          <p:cNvSpPr/>
          <p:nvPr/>
        </p:nvSpPr>
        <p:spPr>
          <a:xfrm>
            <a:off x="548640" y="3145536"/>
            <a:ext cx="183378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 y="3145536"/>
            <a:ext cx="1504603"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39" name="Rectangle 38"/>
          <p:cNvSpPr/>
          <p:nvPr/>
        </p:nvSpPr>
        <p:spPr>
          <a:xfrm>
            <a:off x="2382427" y="3145536"/>
            <a:ext cx="330081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547019" y="3145536"/>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division</a:t>
            </a:r>
          </a:p>
        </p:txBody>
      </p:sp>
      <p:sp>
        <p:nvSpPr>
          <p:cNvPr id="41" name="Rectangle 40"/>
          <p:cNvSpPr/>
          <p:nvPr/>
        </p:nvSpPr>
        <p:spPr>
          <a:xfrm>
            <a:off x="5683245" y="3145536"/>
            <a:ext cx="275068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847837" y="3145536"/>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 / b</a:t>
            </a:r>
          </a:p>
        </p:txBody>
      </p:sp>
      <p:sp>
        <p:nvSpPr>
          <p:cNvPr id="43" name="Rectangle 42"/>
          <p:cNvSpPr/>
          <p:nvPr/>
        </p:nvSpPr>
        <p:spPr>
          <a:xfrm>
            <a:off x="8433926" y="3145536"/>
            <a:ext cx="320912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598518" y="3145536"/>
            <a:ext cx="287994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the quotient</a:t>
            </a:r>
          </a:p>
        </p:txBody>
      </p:sp>
      <p:sp>
        <p:nvSpPr>
          <p:cNvPr id="45" name="Rectangle 44"/>
          <p:cNvSpPr/>
          <p:nvPr/>
        </p:nvSpPr>
        <p:spPr>
          <a:xfrm>
            <a:off x="548640" y="3712464"/>
            <a:ext cx="183378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3232" y="3712464"/>
            <a:ext cx="1504603"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47" name="Rectangle 46"/>
          <p:cNvSpPr/>
          <p:nvPr/>
        </p:nvSpPr>
        <p:spPr>
          <a:xfrm>
            <a:off x="2382427" y="3712464"/>
            <a:ext cx="330081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547019" y="3712464"/>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remainder</a:t>
            </a:r>
          </a:p>
        </p:txBody>
      </p:sp>
      <p:sp>
        <p:nvSpPr>
          <p:cNvPr id="49" name="Rectangle 48"/>
          <p:cNvSpPr/>
          <p:nvPr/>
        </p:nvSpPr>
        <p:spPr>
          <a:xfrm>
            <a:off x="5683245" y="3712464"/>
            <a:ext cx="275068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847837" y="3712464"/>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5 % 6</a:t>
            </a:r>
          </a:p>
        </p:txBody>
      </p:sp>
      <p:sp>
        <p:nvSpPr>
          <p:cNvPr id="51" name="Rectangle 50"/>
          <p:cNvSpPr/>
          <p:nvPr/>
        </p:nvSpPr>
        <p:spPr>
          <a:xfrm>
            <a:off x="8433926" y="3712464"/>
            <a:ext cx="320912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598518" y="3712464"/>
            <a:ext cx="287994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5</a:t>
            </a:r>
          </a:p>
        </p:txBody>
      </p:sp>
      <p:sp>
        <p:nvSpPr>
          <p:cNvPr id="53" name="Rectangle 52"/>
          <p:cNvSpPr/>
          <p:nvPr/>
        </p:nvSpPr>
        <p:spPr>
          <a:xfrm>
            <a:off x="548640" y="4279392"/>
            <a:ext cx="183378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13232" y="4279392"/>
            <a:ext cx="1504603"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55" name="Rectangle 54"/>
          <p:cNvSpPr/>
          <p:nvPr/>
        </p:nvSpPr>
        <p:spPr>
          <a:xfrm>
            <a:off x="2382427" y="4279392"/>
            <a:ext cx="330081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547019" y="4279392"/>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increment by one</a:t>
            </a:r>
          </a:p>
        </p:txBody>
      </p:sp>
      <p:sp>
        <p:nvSpPr>
          <p:cNvPr id="57" name="Rectangle 56"/>
          <p:cNvSpPr/>
          <p:nvPr/>
        </p:nvSpPr>
        <p:spPr>
          <a:xfrm>
            <a:off x="5683245" y="4279392"/>
            <a:ext cx="275068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847837" y="4279392"/>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a:t>
            </a:r>
          </a:p>
        </p:txBody>
      </p:sp>
      <p:sp>
        <p:nvSpPr>
          <p:cNvPr id="59" name="Rectangle 58"/>
          <p:cNvSpPr/>
          <p:nvPr/>
        </p:nvSpPr>
        <p:spPr>
          <a:xfrm>
            <a:off x="8433926" y="4279392"/>
            <a:ext cx="320912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598518" y="4279392"/>
            <a:ext cx="287994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 = x + 1</a:t>
            </a:r>
          </a:p>
        </p:txBody>
      </p:sp>
      <p:sp>
        <p:nvSpPr>
          <p:cNvPr id="61" name="Rectangle 60"/>
          <p:cNvSpPr/>
          <p:nvPr/>
        </p:nvSpPr>
        <p:spPr>
          <a:xfrm>
            <a:off x="548640" y="4846320"/>
            <a:ext cx="183378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13232" y="4846320"/>
            <a:ext cx="1504603"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63" name="Rectangle 62"/>
          <p:cNvSpPr/>
          <p:nvPr/>
        </p:nvSpPr>
        <p:spPr>
          <a:xfrm>
            <a:off x="2382427" y="4846320"/>
            <a:ext cx="330081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547019" y="4846320"/>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assign</a:t>
            </a:r>
          </a:p>
        </p:txBody>
      </p:sp>
      <p:sp>
        <p:nvSpPr>
          <p:cNvPr id="65" name="Rectangle 64"/>
          <p:cNvSpPr/>
          <p:nvPr/>
        </p:nvSpPr>
        <p:spPr>
          <a:xfrm>
            <a:off x="5683245" y="4846320"/>
            <a:ext cx="275068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847837" y="4846320"/>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 = 5</a:t>
            </a:r>
          </a:p>
        </p:txBody>
      </p:sp>
      <p:sp>
        <p:nvSpPr>
          <p:cNvPr id="67" name="Rectangle 66"/>
          <p:cNvSpPr/>
          <p:nvPr/>
        </p:nvSpPr>
        <p:spPr>
          <a:xfrm>
            <a:off x="8433926" y="4846320"/>
            <a:ext cx="320912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598518" y="4846320"/>
            <a:ext cx="287994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stores 5</a:t>
            </a:r>
          </a:p>
        </p:txBody>
      </p:sp>
      <p:sp>
        <p:nvSpPr>
          <p:cNvPr id="69" name="Rectangle 68"/>
          <p:cNvSpPr/>
          <p:nvPr/>
        </p:nvSpPr>
        <p:spPr>
          <a:xfrm>
            <a:off x="548640" y="5413248"/>
            <a:ext cx="183378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13232" y="5413248"/>
            <a:ext cx="1504603"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71" name="Rectangle 70"/>
          <p:cNvSpPr/>
          <p:nvPr/>
        </p:nvSpPr>
        <p:spPr>
          <a:xfrm>
            <a:off x="2382427" y="5413248"/>
            <a:ext cx="330081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547019" y="5413248"/>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add, then store</a:t>
            </a:r>
          </a:p>
        </p:txBody>
      </p:sp>
      <p:sp>
        <p:nvSpPr>
          <p:cNvPr id="73" name="Rectangle 72"/>
          <p:cNvSpPr/>
          <p:nvPr/>
        </p:nvSpPr>
        <p:spPr>
          <a:xfrm>
            <a:off x="5683245" y="5413248"/>
            <a:ext cx="275068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847837" y="5413248"/>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 += 5</a:t>
            </a:r>
          </a:p>
        </p:txBody>
      </p:sp>
      <p:sp>
        <p:nvSpPr>
          <p:cNvPr id="75" name="Rectangle 74"/>
          <p:cNvSpPr/>
          <p:nvPr/>
        </p:nvSpPr>
        <p:spPr>
          <a:xfrm>
            <a:off x="8433926" y="5413248"/>
            <a:ext cx="320912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598518" y="5413248"/>
            <a:ext cx="287994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 = x + 5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String Operators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Syntax</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 joins strings</a:t>
            </a:r>
            <a:br/>
            <a:r>
              <a:rPr sz="1600" b="0" i="0">
                <a:solidFill>
                  <a:srgbClr val="4A5568"/>
                </a:solidFill>
                <a:latin typeface="Calibri"/>
                <a:ea typeface="Calibri"/>
              </a:rPr>
              <a:t>Adding two strings glues them together.</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Numbers add, strings join</a:t>
            </a:r>
            <a:br/>
            <a:r>
              <a:rPr sz="1600" b="0" i="0">
                <a:solidFill>
                  <a:srgbClr val="4A5568"/>
                </a:solidFill>
                <a:latin typeface="Calibri"/>
                <a:ea typeface="Calibri"/>
              </a:rPr>
              <a:t>5 + 5 is 10, but "5" + 5 is "55".</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Order decides the result</a:t>
            </a:r>
            <a:br/>
            <a:r>
              <a:rPr sz="1600" b="0" i="0">
                <a:solidFill>
                  <a:srgbClr val="4A5568"/>
                </a:solidFill>
                <a:latin typeface="Calibri"/>
                <a:ea typeface="Calibri"/>
              </a:rPr>
              <a:t>16 + 4 + "Volvo" is "20Volvo"; "Volvo" + 16 + 4 is "Volvo164".</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Check with typeof</a:t>
            </a:r>
            <a:br/>
            <a:r>
              <a:rPr sz="1600" b="0" i="0">
                <a:solidFill>
                  <a:srgbClr val="4A5568"/>
                </a:solidFill>
                <a:latin typeface="Calibri"/>
                <a:ea typeface="Calibri"/>
              </a:rPr>
              <a:t>If a result surprises you, check what went in.</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txt1</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"John"</a:t>
            </a:r>
            <a:r>
              <a:rPr sz="1300" b="0" i="0">
                <a:solidFill>
                  <a:srgbClr val="D7DDE6"/>
                </a:solidFill>
                <a:latin typeface="Consolas"/>
                <a:ea typeface="Consolas"/>
              </a:rPr>
              <a:t>;</a:t>
            </a:r>
          </a:p>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txt2</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"Doe"</a:t>
            </a:r>
            <a:r>
              <a:rPr sz="1300" b="0" i="0">
                <a:solidFill>
                  <a:srgbClr val="D7DDE6"/>
                </a:solidFill>
                <a:latin typeface="Consolas"/>
                <a:ea typeface="Consolas"/>
              </a:rPr>
              <a:t>;</a:t>
            </a:r>
          </a:p>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txt3</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txt1</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 "</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txt2</a:t>
            </a:r>
            <a:r>
              <a:rPr sz="1300" b="0" i="0">
                <a:solidFill>
                  <a:srgbClr val="D7DDE6"/>
                </a:solidFill>
                <a:latin typeface="Consolas"/>
                <a:ea typeface="Consolas"/>
              </a:rPr>
              <a:t>;</a:t>
            </a:r>
            <a:r>
              <a:rPr sz="1300" b="0" i="0">
                <a:solidFill>
                  <a:srgbClr val="7F8C98"/>
                </a:solidFill>
                <a:latin typeface="Consolas"/>
                <a:ea typeface="Consolas"/>
              </a:rPr>
              <a:t>   // "John Doe"</a:t>
            </a:r>
          </a:p>
          <a:p>
            <a:pPr>
              <a:spcAft>
                <a:spcPts val="350"/>
              </a:spcAft>
            </a:pPr>
            <a:r>
              <a:rPr sz="1300" b="0" i="0">
                <a:solidFill>
                  <a:srgbClr val="D7DDE6"/>
                </a:solidFill>
                <a:latin typeface="Consolas"/>
                <a:ea typeface="Consolas"/>
              </a:rPr>
              <a:t/>
            </a:r>
          </a:p>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a</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5</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5</a:t>
            </a:r>
            <a:r>
              <a:rPr sz="1300" b="0" i="0">
                <a:solidFill>
                  <a:srgbClr val="D7DDE6"/>
                </a:solidFill>
                <a:latin typeface="Consolas"/>
                <a:ea typeface="Consolas"/>
              </a:rPr>
              <a:t>;</a:t>
            </a:r>
            <a:r>
              <a:rPr sz="1300" b="0" i="0">
                <a:solidFill>
                  <a:srgbClr val="7F8C98"/>
                </a:solidFill>
                <a:latin typeface="Consolas"/>
                <a:ea typeface="Consolas"/>
              </a:rPr>
              <a:t>                // 10</a:t>
            </a:r>
          </a:p>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b</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"5"</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5</a:t>
            </a:r>
            <a:r>
              <a:rPr sz="1300" b="0" i="0">
                <a:solidFill>
                  <a:srgbClr val="D7DDE6"/>
                </a:solidFill>
                <a:latin typeface="Consolas"/>
                <a:ea typeface="Consolas"/>
              </a:rPr>
              <a:t>;</a:t>
            </a:r>
            <a:r>
              <a:rPr sz="1300" b="0" i="0">
                <a:solidFill>
                  <a:srgbClr val="7F8C98"/>
                </a:solidFill>
                <a:latin typeface="Consolas"/>
                <a:ea typeface="Consolas"/>
              </a:rPr>
              <a:t>              // "55"</a:t>
            </a:r>
          </a:p>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c</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"Hello"</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5</a:t>
            </a:r>
            <a:r>
              <a:rPr sz="1300" b="0" i="0">
                <a:solidFill>
                  <a:srgbClr val="D7DDE6"/>
                </a:solidFill>
                <a:latin typeface="Consolas"/>
                <a:ea typeface="Consolas"/>
              </a:rPr>
              <a:t>;</a:t>
            </a:r>
            <a:r>
              <a:rPr sz="1300" b="0" i="0">
                <a:solidFill>
                  <a:srgbClr val="7F8C98"/>
                </a:solidFill>
                <a:latin typeface="Consolas"/>
                <a:ea typeface="Consolas"/>
              </a:rPr>
              <a:t>          // "Hello5"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Comparison Operators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Syntax</a:t>
            </a:r>
          </a:p>
        </p:txBody>
      </p:sp>
      <p:sp>
        <p:nvSpPr>
          <p:cNvPr id="5" name="Rectangle 4"/>
          <p:cNvSpPr/>
          <p:nvPr/>
        </p:nvSpPr>
        <p:spPr>
          <a:xfrm>
            <a:off x="548640" y="932688"/>
            <a:ext cx="2017166"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687982"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Operator</a:t>
            </a:r>
          </a:p>
        </p:txBody>
      </p:sp>
      <p:sp>
        <p:nvSpPr>
          <p:cNvPr id="7" name="Rectangle 6"/>
          <p:cNvSpPr/>
          <p:nvPr/>
        </p:nvSpPr>
        <p:spPr>
          <a:xfrm>
            <a:off x="2565806" y="932688"/>
            <a:ext cx="467615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30398" y="932688"/>
            <a:ext cx="4346974"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Meaning</a:t>
            </a:r>
          </a:p>
        </p:txBody>
      </p:sp>
      <p:sp>
        <p:nvSpPr>
          <p:cNvPr id="9" name="Rectangle 8"/>
          <p:cNvSpPr/>
          <p:nvPr/>
        </p:nvSpPr>
        <p:spPr>
          <a:xfrm>
            <a:off x="7241964" y="932688"/>
            <a:ext cx="2750681"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06556" y="932688"/>
            <a:ext cx="2421497"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with x = 5</a:t>
            </a:r>
          </a:p>
        </p:txBody>
      </p:sp>
      <p:sp>
        <p:nvSpPr>
          <p:cNvPr id="11" name="Rectangle 10"/>
          <p:cNvSpPr/>
          <p:nvPr/>
        </p:nvSpPr>
        <p:spPr>
          <a:xfrm>
            <a:off x="9992646" y="932688"/>
            <a:ext cx="165040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57238" y="932688"/>
            <a:ext cx="1321224"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Returns</a:t>
            </a:r>
          </a:p>
        </p:txBody>
      </p:sp>
      <p:sp>
        <p:nvSpPr>
          <p:cNvPr id="13" name="Rectangle 12"/>
          <p:cNvSpPr/>
          <p:nvPr/>
        </p:nvSpPr>
        <p:spPr>
          <a:xfrm>
            <a:off x="548640" y="1444752"/>
            <a:ext cx="201716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444752"/>
            <a:ext cx="1687982"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15" name="Rectangle 14"/>
          <p:cNvSpPr/>
          <p:nvPr/>
        </p:nvSpPr>
        <p:spPr>
          <a:xfrm>
            <a:off x="2565806" y="1444752"/>
            <a:ext cx="467615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30398" y="1444752"/>
            <a:ext cx="434697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equal value, after converting</a:t>
            </a:r>
          </a:p>
        </p:txBody>
      </p:sp>
      <p:sp>
        <p:nvSpPr>
          <p:cNvPr id="17" name="Rectangle 16"/>
          <p:cNvSpPr/>
          <p:nvPr/>
        </p:nvSpPr>
        <p:spPr>
          <a:xfrm>
            <a:off x="7241964" y="1444752"/>
            <a:ext cx="275068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556" y="1444752"/>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 == "5"</a:t>
            </a:r>
          </a:p>
        </p:txBody>
      </p:sp>
      <p:sp>
        <p:nvSpPr>
          <p:cNvPr id="19" name="Rectangle 18"/>
          <p:cNvSpPr/>
          <p:nvPr/>
        </p:nvSpPr>
        <p:spPr>
          <a:xfrm>
            <a:off x="9992646" y="1444752"/>
            <a:ext cx="165040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57238" y="1444752"/>
            <a:ext cx="132122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true</a:t>
            </a:r>
          </a:p>
        </p:txBody>
      </p:sp>
      <p:sp>
        <p:nvSpPr>
          <p:cNvPr id="21" name="Rectangle 20"/>
          <p:cNvSpPr/>
          <p:nvPr/>
        </p:nvSpPr>
        <p:spPr>
          <a:xfrm>
            <a:off x="548640" y="2011680"/>
            <a:ext cx="201716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2011680"/>
            <a:ext cx="1687982"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23" name="Rectangle 22"/>
          <p:cNvSpPr/>
          <p:nvPr/>
        </p:nvSpPr>
        <p:spPr>
          <a:xfrm>
            <a:off x="2565806" y="2011680"/>
            <a:ext cx="467615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30398" y="2011680"/>
            <a:ext cx="434697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equal value and equal type</a:t>
            </a:r>
          </a:p>
        </p:txBody>
      </p:sp>
      <p:sp>
        <p:nvSpPr>
          <p:cNvPr id="25" name="Rectangle 24"/>
          <p:cNvSpPr/>
          <p:nvPr/>
        </p:nvSpPr>
        <p:spPr>
          <a:xfrm>
            <a:off x="7241964" y="2011680"/>
            <a:ext cx="275068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06556" y="2011680"/>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 === "5"</a:t>
            </a:r>
          </a:p>
        </p:txBody>
      </p:sp>
      <p:sp>
        <p:nvSpPr>
          <p:cNvPr id="27" name="Rectangle 26"/>
          <p:cNvSpPr/>
          <p:nvPr/>
        </p:nvSpPr>
        <p:spPr>
          <a:xfrm>
            <a:off x="9992646" y="2011680"/>
            <a:ext cx="165040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157238" y="2011680"/>
            <a:ext cx="132122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false</a:t>
            </a:r>
          </a:p>
        </p:txBody>
      </p:sp>
      <p:sp>
        <p:nvSpPr>
          <p:cNvPr id="29" name="Rectangle 28"/>
          <p:cNvSpPr/>
          <p:nvPr/>
        </p:nvSpPr>
        <p:spPr>
          <a:xfrm>
            <a:off x="548640" y="2578608"/>
            <a:ext cx="201716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2578608"/>
            <a:ext cx="1687982"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31" name="Rectangle 30"/>
          <p:cNvSpPr/>
          <p:nvPr/>
        </p:nvSpPr>
        <p:spPr>
          <a:xfrm>
            <a:off x="2565806" y="2578608"/>
            <a:ext cx="467615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30398" y="2578608"/>
            <a:ext cx="434697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not equal value</a:t>
            </a:r>
          </a:p>
        </p:txBody>
      </p:sp>
      <p:sp>
        <p:nvSpPr>
          <p:cNvPr id="33" name="Rectangle 32"/>
          <p:cNvSpPr/>
          <p:nvPr/>
        </p:nvSpPr>
        <p:spPr>
          <a:xfrm>
            <a:off x="7241964" y="2578608"/>
            <a:ext cx="275068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06556" y="2578608"/>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 != 8</a:t>
            </a:r>
          </a:p>
        </p:txBody>
      </p:sp>
      <p:sp>
        <p:nvSpPr>
          <p:cNvPr id="35" name="Rectangle 34"/>
          <p:cNvSpPr/>
          <p:nvPr/>
        </p:nvSpPr>
        <p:spPr>
          <a:xfrm>
            <a:off x="9992646" y="2578608"/>
            <a:ext cx="165040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57238" y="2578608"/>
            <a:ext cx="132122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true</a:t>
            </a:r>
          </a:p>
        </p:txBody>
      </p:sp>
      <p:sp>
        <p:nvSpPr>
          <p:cNvPr id="37" name="Rectangle 36"/>
          <p:cNvSpPr/>
          <p:nvPr/>
        </p:nvSpPr>
        <p:spPr>
          <a:xfrm>
            <a:off x="548640" y="3145536"/>
            <a:ext cx="201716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 y="3145536"/>
            <a:ext cx="1687982"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39" name="Rectangle 38"/>
          <p:cNvSpPr/>
          <p:nvPr/>
        </p:nvSpPr>
        <p:spPr>
          <a:xfrm>
            <a:off x="2565806" y="3145536"/>
            <a:ext cx="467615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30398" y="3145536"/>
            <a:ext cx="434697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not equal value or type</a:t>
            </a:r>
          </a:p>
        </p:txBody>
      </p:sp>
      <p:sp>
        <p:nvSpPr>
          <p:cNvPr id="41" name="Rectangle 40"/>
          <p:cNvSpPr/>
          <p:nvPr/>
        </p:nvSpPr>
        <p:spPr>
          <a:xfrm>
            <a:off x="7241964" y="3145536"/>
            <a:ext cx="275068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06556" y="3145536"/>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 !== "5"</a:t>
            </a:r>
          </a:p>
        </p:txBody>
      </p:sp>
      <p:sp>
        <p:nvSpPr>
          <p:cNvPr id="43" name="Rectangle 42"/>
          <p:cNvSpPr/>
          <p:nvPr/>
        </p:nvSpPr>
        <p:spPr>
          <a:xfrm>
            <a:off x="9992646" y="3145536"/>
            <a:ext cx="165040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57238" y="3145536"/>
            <a:ext cx="132122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true</a:t>
            </a:r>
          </a:p>
        </p:txBody>
      </p:sp>
      <p:sp>
        <p:nvSpPr>
          <p:cNvPr id="45" name="Rectangle 44"/>
          <p:cNvSpPr/>
          <p:nvPr/>
        </p:nvSpPr>
        <p:spPr>
          <a:xfrm>
            <a:off x="548640" y="3712464"/>
            <a:ext cx="201716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3232" y="3712464"/>
            <a:ext cx="1687982"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&gt;</a:t>
            </a:r>
          </a:p>
        </p:txBody>
      </p:sp>
      <p:sp>
        <p:nvSpPr>
          <p:cNvPr id="47" name="Rectangle 46"/>
          <p:cNvSpPr/>
          <p:nvPr/>
        </p:nvSpPr>
        <p:spPr>
          <a:xfrm>
            <a:off x="2565806" y="3712464"/>
            <a:ext cx="467615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730398" y="3712464"/>
            <a:ext cx="434697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greater than</a:t>
            </a:r>
          </a:p>
        </p:txBody>
      </p:sp>
      <p:sp>
        <p:nvSpPr>
          <p:cNvPr id="49" name="Rectangle 48"/>
          <p:cNvSpPr/>
          <p:nvPr/>
        </p:nvSpPr>
        <p:spPr>
          <a:xfrm>
            <a:off x="7241964" y="3712464"/>
            <a:ext cx="275068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06556" y="3712464"/>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 &gt; 8</a:t>
            </a:r>
          </a:p>
        </p:txBody>
      </p:sp>
      <p:sp>
        <p:nvSpPr>
          <p:cNvPr id="51" name="Rectangle 50"/>
          <p:cNvSpPr/>
          <p:nvPr/>
        </p:nvSpPr>
        <p:spPr>
          <a:xfrm>
            <a:off x="9992646" y="3712464"/>
            <a:ext cx="165040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157238" y="3712464"/>
            <a:ext cx="132122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false</a:t>
            </a:r>
          </a:p>
        </p:txBody>
      </p:sp>
      <p:sp>
        <p:nvSpPr>
          <p:cNvPr id="53" name="Rectangle 52"/>
          <p:cNvSpPr/>
          <p:nvPr/>
        </p:nvSpPr>
        <p:spPr>
          <a:xfrm>
            <a:off x="548640" y="4279392"/>
            <a:ext cx="2017166"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13232" y="4279392"/>
            <a:ext cx="1687982"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&lt;</a:t>
            </a:r>
          </a:p>
        </p:txBody>
      </p:sp>
      <p:sp>
        <p:nvSpPr>
          <p:cNvPr id="55" name="Rectangle 54"/>
          <p:cNvSpPr/>
          <p:nvPr/>
        </p:nvSpPr>
        <p:spPr>
          <a:xfrm>
            <a:off x="2565806" y="4279392"/>
            <a:ext cx="467615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730398" y="4279392"/>
            <a:ext cx="434697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less than</a:t>
            </a:r>
          </a:p>
        </p:txBody>
      </p:sp>
      <p:sp>
        <p:nvSpPr>
          <p:cNvPr id="57" name="Rectangle 56"/>
          <p:cNvSpPr/>
          <p:nvPr/>
        </p:nvSpPr>
        <p:spPr>
          <a:xfrm>
            <a:off x="7241964" y="4279392"/>
            <a:ext cx="275068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406556" y="4279392"/>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 &lt; 8</a:t>
            </a:r>
          </a:p>
        </p:txBody>
      </p:sp>
      <p:sp>
        <p:nvSpPr>
          <p:cNvPr id="59" name="Rectangle 58"/>
          <p:cNvSpPr/>
          <p:nvPr/>
        </p:nvSpPr>
        <p:spPr>
          <a:xfrm>
            <a:off x="9992646" y="4279392"/>
            <a:ext cx="165040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157238" y="4279392"/>
            <a:ext cx="132122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true</a:t>
            </a:r>
          </a:p>
        </p:txBody>
      </p:sp>
      <p:sp>
        <p:nvSpPr>
          <p:cNvPr id="61" name="Rectangle 60"/>
          <p:cNvSpPr/>
          <p:nvPr/>
        </p:nvSpPr>
        <p:spPr>
          <a:xfrm>
            <a:off x="548640" y="4846320"/>
            <a:ext cx="2017166"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13232" y="4846320"/>
            <a:ext cx="1687982"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&lt;=</a:t>
            </a:r>
          </a:p>
        </p:txBody>
      </p:sp>
      <p:sp>
        <p:nvSpPr>
          <p:cNvPr id="63" name="Rectangle 62"/>
          <p:cNvSpPr/>
          <p:nvPr/>
        </p:nvSpPr>
        <p:spPr>
          <a:xfrm>
            <a:off x="2565806" y="4846320"/>
            <a:ext cx="467615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30398" y="4846320"/>
            <a:ext cx="434697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less than or equal</a:t>
            </a:r>
          </a:p>
        </p:txBody>
      </p:sp>
      <p:sp>
        <p:nvSpPr>
          <p:cNvPr id="65" name="Rectangle 64"/>
          <p:cNvSpPr/>
          <p:nvPr/>
        </p:nvSpPr>
        <p:spPr>
          <a:xfrm>
            <a:off x="7241964" y="4846320"/>
            <a:ext cx="275068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406556" y="4846320"/>
            <a:ext cx="2421497"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 &lt;= 8</a:t>
            </a:r>
          </a:p>
        </p:txBody>
      </p:sp>
      <p:sp>
        <p:nvSpPr>
          <p:cNvPr id="67" name="Rectangle 66"/>
          <p:cNvSpPr/>
          <p:nvPr/>
        </p:nvSpPr>
        <p:spPr>
          <a:xfrm>
            <a:off x="9992646" y="4846320"/>
            <a:ext cx="165040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157238" y="4846320"/>
            <a:ext cx="1321224"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true</a:t>
            </a:r>
          </a:p>
        </p:txBody>
      </p:sp>
      <p:sp>
        <p:nvSpPr>
          <p:cNvPr id="69" name="Rounded Rectangle 68"/>
          <p:cNvSpPr/>
          <p:nvPr/>
        </p:nvSpPr>
        <p:spPr>
          <a:xfrm>
            <a:off x="548640" y="5596128"/>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68680" y="5687568"/>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 converts before it compares; === does not. In new code, always reach for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typeof Operator</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Syntax</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Ask the engine what it has</a:t>
            </a:r>
            <a:br/>
            <a:r>
              <a:rPr sz="1600" b="0" i="0">
                <a:solidFill>
                  <a:srgbClr val="4A5568"/>
                </a:solidFill>
                <a:latin typeface="Calibri"/>
                <a:ea typeface="Calibri"/>
              </a:rPr>
              <a:t>typeof returns the </a:t>
            </a:r>
            <a:r>
              <a:rPr sz="1600" b="0" i="0">
                <a:solidFill>
                  <a:srgbClr val="B8860B"/>
                </a:solidFill>
                <a:latin typeface="Consolas"/>
                <a:ea typeface="Consolas"/>
              </a:rPr>
              <a:t>type</a:t>
            </a:r>
            <a:r>
              <a:rPr sz="1600" b="0" i="0">
                <a:solidFill>
                  <a:srgbClr val="4A5568"/>
                </a:solidFill>
                <a:latin typeface="Calibri"/>
                <a:ea typeface="Calibri"/>
              </a:rPr>
              <a:t> as a lowercase string.</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Works on anything</a:t>
            </a:r>
            <a:br/>
            <a:r>
              <a:rPr sz="1600" b="0" i="0">
                <a:solidFill>
                  <a:srgbClr val="4A5568"/>
                </a:solidFill>
                <a:latin typeface="Calibri"/>
                <a:ea typeface="Calibri"/>
              </a:rPr>
              <a:t>A literal, a variable, or a whole expression.</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One number </a:t>
            </a:r>
            <a:r>
              <a:rPr sz="1800" b="1" i="0">
                <a:solidFill>
                  <a:srgbClr val="B8860B"/>
                </a:solidFill>
                <a:latin typeface="Consolas"/>
                <a:ea typeface="Consolas"/>
              </a:rPr>
              <a:t>type</a:t>
            </a:r>
            <a:br/>
            <a:r>
              <a:rPr sz="1600" b="0" i="0">
                <a:solidFill>
                  <a:srgbClr val="4A5568"/>
                </a:solidFill>
                <a:latin typeface="Calibri"/>
                <a:ea typeface="Calibri"/>
              </a:rPr>
              <a:t>Integers and decimals both answer "number".</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Two famous quirks</a:t>
            </a:r>
            <a:br/>
            <a:r>
              <a:rPr sz="1600" b="0" i="0">
                <a:solidFill>
                  <a:srgbClr val="4A5568"/>
                </a:solidFill>
                <a:latin typeface="Calibri"/>
                <a:ea typeface="Calibri"/>
              </a:rPr>
              <a:t>Arrays and null both answer "object" — test with Array.isArray().</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typeof</a:t>
            </a:r>
            <a:r>
              <a:rPr sz="1300" b="0" i="0">
                <a:solidFill>
                  <a:srgbClr val="D7DDE6"/>
                </a:solidFill>
                <a:latin typeface="Consolas"/>
                <a:ea typeface="Consolas"/>
              </a:rPr>
              <a:t> </a:t>
            </a:r>
            <a:r>
              <a:rPr sz="1300" b="0" i="0">
                <a:solidFill>
                  <a:srgbClr val="98C379"/>
                </a:solidFill>
                <a:latin typeface="Consolas"/>
                <a:ea typeface="Consolas"/>
              </a:rPr>
              <a:t>""</a:t>
            </a:r>
            <a:r>
              <a:rPr sz="1300" b="0" i="0">
                <a:solidFill>
                  <a:srgbClr val="7F8C98"/>
                </a:solidFill>
                <a:latin typeface="Consolas"/>
                <a:ea typeface="Consolas"/>
              </a:rPr>
              <a:t>        // "string"</a:t>
            </a:r>
          </a:p>
          <a:p>
            <a:pPr>
              <a:spcAft>
                <a:spcPts val="350"/>
              </a:spcAft>
            </a:pPr>
            <a:r>
              <a:rPr sz="1300" b="0" i="0">
                <a:solidFill>
                  <a:srgbClr val="C678DD"/>
                </a:solidFill>
                <a:latin typeface="Consolas"/>
                <a:ea typeface="Consolas"/>
              </a:rPr>
              <a:t>typeof</a:t>
            </a:r>
            <a:r>
              <a:rPr sz="1300" b="0" i="0">
                <a:solidFill>
                  <a:srgbClr val="D7DDE6"/>
                </a:solidFill>
                <a:latin typeface="Consolas"/>
                <a:ea typeface="Consolas"/>
              </a:rPr>
              <a:t> </a:t>
            </a:r>
            <a:r>
              <a:rPr sz="1300" b="0" i="0">
                <a:solidFill>
                  <a:srgbClr val="98C379"/>
                </a:solidFill>
                <a:latin typeface="Consolas"/>
                <a:ea typeface="Consolas"/>
              </a:rPr>
              <a:t>"John"</a:t>
            </a:r>
            <a:r>
              <a:rPr sz="1300" b="0" i="0">
                <a:solidFill>
                  <a:srgbClr val="7F8C98"/>
                </a:solidFill>
                <a:latin typeface="Consolas"/>
                <a:ea typeface="Consolas"/>
              </a:rPr>
              <a:t>    // "string"</a:t>
            </a:r>
          </a:p>
          <a:p>
            <a:pPr>
              <a:spcAft>
                <a:spcPts val="350"/>
              </a:spcAft>
            </a:pPr>
            <a:r>
              <a:rPr sz="1300" b="0" i="0">
                <a:solidFill>
                  <a:srgbClr val="C678DD"/>
                </a:solidFill>
                <a:latin typeface="Consolas"/>
                <a:ea typeface="Consolas"/>
              </a:rPr>
              <a:t>typeof</a:t>
            </a:r>
            <a:r>
              <a:rPr sz="1300" b="0" i="0">
                <a:solidFill>
                  <a:srgbClr val="D7DDE6"/>
                </a:solidFill>
                <a:latin typeface="Consolas"/>
                <a:ea typeface="Consolas"/>
              </a:rPr>
              <a:t> </a:t>
            </a:r>
            <a:r>
              <a:rPr sz="1300" b="0" i="0">
                <a:solidFill>
                  <a:srgbClr val="E5C07B"/>
                </a:solidFill>
                <a:latin typeface="Consolas"/>
                <a:ea typeface="Consolas"/>
              </a:rPr>
              <a:t>3.14</a:t>
            </a:r>
            <a:r>
              <a:rPr sz="1300" b="0" i="0">
                <a:solidFill>
                  <a:srgbClr val="7F8C98"/>
                </a:solidFill>
                <a:latin typeface="Consolas"/>
                <a:ea typeface="Consolas"/>
              </a:rPr>
              <a:t>      // "number"</a:t>
            </a:r>
          </a:p>
          <a:p>
            <a:pPr>
              <a:spcAft>
                <a:spcPts val="350"/>
              </a:spcAft>
            </a:pPr>
            <a:r>
              <a:rPr sz="1300" b="0" i="0">
                <a:solidFill>
                  <a:srgbClr val="C678DD"/>
                </a:solidFill>
                <a:latin typeface="Consolas"/>
                <a:ea typeface="Consolas"/>
              </a:rPr>
              <a:t>typeof</a:t>
            </a:r>
            <a:r>
              <a:rPr sz="1300" b="0" i="0">
                <a:solidFill>
                  <a:srgbClr val="D7DDE6"/>
                </a:solidFill>
                <a:latin typeface="Consolas"/>
                <a:ea typeface="Consolas"/>
              </a:rPr>
              <a:t> </a:t>
            </a:r>
            <a:r>
              <a:rPr sz="1300" b="0" i="0">
                <a:solidFill>
                  <a:srgbClr val="C678DD"/>
                </a:solidFill>
                <a:latin typeface="Consolas"/>
                <a:ea typeface="Consolas"/>
              </a:rPr>
              <a:t>true</a:t>
            </a:r>
            <a:r>
              <a:rPr sz="1300" b="0" i="0">
                <a:solidFill>
                  <a:srgbClr val="7F8C98"/>
                </a:solidFill>
                <a:latin typeface="Consolas"/>
                <a:ea typeface="Consolas"/>
              </a:rPr>
              <a:t>      // "boolean"</a:t>
            </a:r>
          </a:p>
          <a:p>
            <a:pPr>
              <a:spcAft>
                <a:spcPts val="350"/>
              </a:spcAft>
            </a:pPr>
            <a:r>
              <a:rPr sz="1300" b="0" i="0">
                <a:solidFill>
                  <a:srgbClr val="C678DD"/>
                </a:solidFill>
                <a:latin typeface="Consolas"/>
                <a:ea typeface="Consolas"/>
              </a:rPr>
              <a:t>typeof</a:t>
            </a:r>
            <a:r>
              <a:rPr sz="1300" b="0" i="0">
                <a:solidFill>
                  <a:srgbClr val="D7DDE6"/>
                </a:solidFill>
                <a:latin typeface="Consolas"/>
                <a:ea typeface="Consolas"/>
              </a:rPr>
              <a:t> </a:t>
            </a:r>
            <a:r>
              <a:rPr sz="1300" b="0" i="0">
                <a:solidFill>
                  <a:srgbClr val="C678DD"/>
                </a:solidFill>
                <a:latin typeface="Consolas"/>
                <a:ea typeface="Consolas"/>
              </a:rPr>
              <a:t>undefined</a:t>
            </a:r>
            <a:r>
              <a:rPr sz="1300" b="0" i="0">
                <a:solidFill>
                  <a:srgbClr val="7F8C98"/>
                </a:solidFill>
                <a:latin typeface="Consolas"/>
                <a:ea typeface="Consolas"/>
              </a:rPr>
              <a:t> // "undefined"</a:t>
            </a:r>
          </a:p>
          <a:p>
            <a:pPr>
              <a:spcAft>
                <a:spcPts val="350"/>
              </a:spcAft>
            </a:pPr>
            <a:r>
              <a:rPr sz="1300" b="0" i="0">
                <a:solidFill>
                  <a:srgbClr val="C678DD"/>
                </a:solidFill>
                <a:latin typeface="Consolas"/>
                <a:ea typeface="Consolas"/>
              </a:rPr>
              <a:t>typeof</a:t>
            </a:r>
            <a:r>
              <a:rPr sz="1300" b="0" i="0">
                <a:solidFill>
                  <a:srgbClr val="D7DDE6"/>
                </a:solidFill>
                <a:latin typeface="Consolas"/>
                <a:ea typeface="Consolas"/>
              </a:rPr>
              <a:t> </a:t>
            </a:r>
            <a:r>
              <a:rPr sz="1300" b="0" i="0">
                <a:solidFill>
                  <a:srgbClr val="C678DD"/>
                </a:solidFill>
                <a:latin typeface="Consolas"/>
                <a:ea typeface="Consolas"/>
              </a:rPr>
              <a:t>null</a:t>
            </a:r>
            <a:r>
              <a:rPr sz="1300" b="0" i="0">
                <a:solidFill>
                  <a:srgbClr val="7F8C98"/>
                </a:solidFill>
                <a:latin typeface="Consolas"/>
                <a:ea typeface="Consolas"/>
              </a:rPr>
              <a:t>      // "object"  (a quirk)</a:t>
            </a:r>
          </a:p>
          <a:p>
            <a:pPr>
              <a:spcAft>
                <a:spcPts val="350"/>
              </a:spcAft>
            </a:pPr>
            <a:r>
              <a:rPr sz="1300" b="0" i="0">
                <a:solidFill>
                  <a:srgbClr val="C678DD"/>
                </a:solidFill>
                <a:latin typeface="Consolas"/>
                <a:ea typeface="Consolas"/>
              </a:rPr>
              <a:t>typeof</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E5C07B"/>
                </a:solidFill>
                <a:latin typeface="Consolas"/>
                <a:ea typeface="Consolas"/>
              </a:rPr>
              <a:t>1</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2</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3</a:t>
            </a:r>
            <a:r>
              <a:rPr sz="1300" b="0" i="0">
                <a:solidFill>
                  <a:srgbClr val="D7DDE6"/>
                </a:solidFill>
                <a:latin typeface="Consolas"/>
                <a:ea typeface="Consolas"/>
              </a:rPr>
              <a:t>]</a:t>
            </a:r>
            <a:r>
              <a:rPr sz="1300" b="0" i="0">
                <a:solidFill>
                  <a:srgbClr val="7F8C98"/>
                </a:solidFill>
                <a:latin typeface="Consolas"/>
                <a:ea typeface="Consolas"/>
              </a:rPr>
              <a:t> // "object"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Comments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Syntax</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Single line</a:t>
            </a:r>
            <a:br/>
            <a:r>
              <a:rPr sz="1600" b="0" i="0">
                <a:solidFill>
                  <a:srgbClr val="4A5568"/>
                </a:solidFill>
                <a:latin typeface="Calibri"/>
                <a:ea typeface="Calibri"/>
              </a:rPr>
              <a:t>// — everything to the end of that line is ignored.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Multi-line</a:t>
            </a:r>
            <a:br/>
            <a:r>
              <a:rPr sz="1600" b="0" i="0">
                <a:solidFill>
                  <a:srgbClr val="4A5568"/>
                </a:solidFill>
                <a:latin typeface="Calibri"/>
                <a:ea typeface="Calibri"/>
              </a:rPr>
              <a:t>/* … */ spans as many lines as you like.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Say why, not what</a:t>
            </a:r>
            <a:br/>
            <a:r>
              <a:rPr sz="1600" b="0" i="0">
                <a:solidFill>
                  <a:srgbClr val="4A5568"/>
                </a:solidFill>
                <a:latin typeface="Calibri"/>
                <a:ea typeface="Calibri"/>
              </a:rPr>
              <a:t>The code already says what happens; the comment should say why.</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Comment out to test</a:t>
            </a:r>
            <a:br/>
            <a:r>
              <a:rPr sz="1600" b="0" i="0">
                <a:solidFill>
                  <a:srgbClr val="4A5568"/>
                </a:solidFill>
                <a:latin typeface="Calibri"/>
                <a:ea typeface="Calibri"/>
              </a:rPr>
              <a:t>Disable a line while you hunt a bug — then delete it.</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Change the heading</a:t>
            </a:r>
          </a:p>
          <a:p>
            <a:pPr>
              <a:spcAft>
                <a:spcPts val="350"/>
              </a:spcAft>
            </a:pP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"myH"</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innerHTML</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"My First Page"</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7F8C98"/>
                </a:solidFill>
                <a:latin typeface="Consolas"/>
                <a:ea typeface="Consolas"/>
              </a:rPr>
              <a:t>/* The next line changes</a:t>
            </a:r>
          </a:p>
          <a:p>
            <a:pPr>
              <a:spcAft>
                <a:spcPts val="350"/>
              </a:spcAft>
            </a:pPr>
            <a:r>
              <a:rPr sz="1300" b="0" i="0">
                <a:solidFill>
                  <a:srgbClr val="7F8C98"/>
                </a:solidFill>
                <a:latin typeface="Consolas"/>
                <a:ea typeface="Consolas"/>
              </a:rPr>
              <a:t>   the paragraph as well */</a:t>
            </a:r>
          </a:p>
          <a:p>
            <a:pPr>
              <a:spcAft>
                <a:spcPts val="350"/>
              </a:spcAft>
            </a:pP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"myP"</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innerHTML</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"My first paragraph."</a:t>
            </a:r>
            <a:r>
              <a:rPr sz="1300" b="0" i="0">
                <a:solidFill>
                  <a:srgbClr val="D7DDE6"/>
                </a:solidFill>
                <a:latin typeface="Consolas"/>
                <a:ea typeface="Consolas"/>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03</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Data Types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JavaScript is dynamically typed — the data carries its own kind</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One numeric kind; strings, booleans, arrays, objects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undefined, the empty string and null are three different things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Data Types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Data Types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Dynamic typing</a:t>
            </a:r>
            <a:br/>
            <a:r>
              <a:rPr sz="1500" b="0" i="0">
                <a:solidFill>
                  <a:srgbClr val="4A5568"/>
                </a:solidFill>
                <a:latin typeface="Calibri"/>
                <a:ea typeface="Calibri"/>
              </a:rPr>
              <a:t>The same variable can hold a number now and a string later — the kind belongs to the data.</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string</a:t>
            </a:r>
            <a:br/>
            <a:r>
              <a:rPr sz="1500" b="0" i="0">
                <a:solidFill>
                  <a:srgbClr val="4A5568"/>
                </a:solidFill>
                <a:latin typeface="Calibri"/>
                <a:ea typeface="Calibri"/>
              </a:rPr>
              <a:t>Text in single or double quotes.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number</a:t>
            </a:r>
            <a:br/>
            <a:r>
              <a:rPr sz="1500" b="0" i="0">
                <a:solidFill>
                  <a:srgbClr val="4A5568"/>
                </a:solidFill>
                <a:latin typeface="Calibri"/>
                <a:ea typeface="Calibri"/>
              </a:rPr>
              <a:t>One </a:t>
            </a:r>
            <a:r>
              <a:rPr sz="1500" b="0" i="0">
                <a:solidFill>
                  <a:srgbClr val="B8860B"/>
                </a:solidFill>
                <a:latin typeface="Consolas"/>
                <a:ea typeface="Consolas"/>
              </a:rPr>
              <a:t>type</a:t>
            </a:r>
            <a:r>
              <a:rPr sz="1500" b="0" i="0">
                <a:solidFill>
                  <a:srgbClr val="4A5568"/>
                </a:solidFill>
                <a:latin typeface="Calibri"/>
                <a:ea typeface="Calibri"/>
              </a:rPr>
              <a:t> for integers and decimals alike.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boolean</a:t>
            </a:r>
            <a:br/>
            <a:r>
              <a:rPr sz="1500" b="0" i="0">
                <a:solidFill>
                  <a:srgbClr val="4A5568"/>
                </a:solidFill>
                <a:latin typeface="Calibri"/>
                <a:ea typeface="Calibri"/>
              </a:rPr>
              <a:t>true or false — what every comparison returns.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object</a:t>
            </a:r>
            <a:br/>
            <a:r>
              <a:rPr sz="1500" b="0" i="0">
                <a:solidFill>
                  <a:srgbClr val="4A5568"/>
                </a:solidFill>
                <a:latin typeface="Calibri"/>
                <a:ea typeface="Calibri"/>
              </a:rPr>
              <a:t>Plain objects, arrays and null all answer typeof "object".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undefined</a:t>
            </a:r>
            <a:br/>
            <a:r>
              <a:rPr sz="1500" b="0" i="0">
                <a:solidFill>
                  <a:srgbClr val="4A5568"/>
                </a:solidFill>
                <a:latin typeface="Calibri"/>
                <a:ea typeface="Calibri"/>
              </a:rPr>
              <a:t>A declared variable that was never given anything.</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typeof is how you ask</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C678DD"/>
                </a:solidFill>
                <a:latin typeface="Consolas"/>
                <a:ea typeface="Consolas"/>
              </a:rPr>
              <a:t>typeof</a:t>
            </a:r>
            <a:r>
              <a:rPr sz="1350" b="0" i="0">
                <a:solidFill>
                  <a:srgbClr val="D7DDE6"/>
                </a:solidFill>
                <a:latin typeface="Consolas"/>
                <a:ea typeface="Consolas"/>
              </a:rPr>
              <a:t> </a:t>
            </a:r>
            <a:r>
              <a:rPr sz="1350" b="0" i="0">
                <a:solidFill>
                  <a:srgbClr val="E5C07B"/>
                </a:solidFill>
                <a:latin typeface="Consolas"/>
                <a:ea typeface="Consolas"/>
              </a:rPr>
              <a:t>42</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98C379"/>
                </a:solidFill>
                <a:latin typeface="Consolas"/>
                <a:ea typeface="Consolas"/>
              </a:rPr>
              <a:t>"number"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Strings and Numbers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Data Types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Strings are text</a:t>
            </a:r>
            <a:br/>
            <a:r>
              <a:rPr sz="1600" b="0" i="0">
                <a:solidFill>
                  <a:srgbClr val="4A5568"/>
                </a:solidFill>
                <a:latin typeface="Calibri"/>
                <a:ea typeface="Calibri"/>
              </a:rPr>
              <a:t>Single or double quotes — either works, so pick one and stay consistent.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One number </a:t>
            </a:r>
            <a:r>
              <a:rPr sz="1800" b="1" i="0">
                <a:solidFill>
                  <a:srgbClr val="B8860B"/>
                </a:solidFill>
                <a:latin typeface="Consolas"/>
                <a:ea typeface="Consolas"/>
              </a:rPr>
              <a:t>type</a:t>
            </a:r>
            <a:br/>
            <a:r>
              <a:rPr sz="1600" b="0" i="0">
                <a:solidFill>
                  <a:srgbClr val="4A5568"/>
                </a:solidFill>
                <a:latin typeface="Calibri"/>
                <a:ea typeface="Calibri"/>
              </a:rPr>
              <a:t>34 and 34.00 are the same number.</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Strings know their length</a:t>
            </a:r>
            <a:br/>
            <a:r>
              <a:rPr sz="1600" b="0" i="0">
                <a:solidFill>
                  <a:srgbClr val="4A5568"/>
                </a:solidFill>
                <a:latin typeface="Calibri"/>
                <a:ea typeface="Calibri"/>
              </a:rPr>
              <a:t>length is a property, not a call.</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Floating point is approximate</a:t>
            </a:r>
            <a:br/>
            <a:r>
              <a:rPr sz="1600" b="0" i="0">
                <a:solidFill>
                  <a:srgbClr val="4A5568"/>
                </a:solidFill>
                <a:latin typeface="Calibri"/>
                <a:ea typeface="Calibri"/>
              </a:rPr>
              <a:t>0.1 + 0.2 is not exactly 0.3 — never compare decimals for equality.</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s1</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"John Doe"</a:t>
            </a:r>
            <a:r>
              <a:rPr sz="1300" b="0" i="0">
                <a:solidFill>
                  <a:srgbClr val="D7DDE6"/>
                </a:solidFill>
                <a:latin typeface="Consolas"/>
                <a:ea typeface="Consolas"/>
              </a:rPr>
              <a:t>;</a:t>
            </a:r>
          </a:p>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s2</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'John Doe'</a:t>
            </a:r>
            <a:r>
              <a:rPr sz="1300" b="0" i="0">
                <a:solidFill>
                  <a:srgbClr val="D7DDE6"/>
                </a:solidFill>
                <a:latin typeface="Consolas"/>
                <a:ea typeface="Consolas"/>
              </a:rPr>
              <a:t>;</a:t>
            </a:r>
            <a:r>
              <a:rPr sz="1300" b="0" i="0">
                <a:solidFill>
                  <a:srgbClr val="7F8C98"/>
                </a:solidFill>
                <a:latin typeface="Consolas"/>
                <a:ea typeface="Consolas"/>
              </a:rPr>
              <a:t>   // identical</a:t>
            </a:r>
          </a:p>
          <a:p>
            <a:pPr>
              <a:spcAft>
                <a:spcPts val="350"/>
              </a:spcAft>
            </a:pPr>
            <a:r>
              <a:rPr sz="1300" b="0" i="0">
                <a:solidFill>
                  <a:srgbClr val="D7DDE6"/>
                </a:solidFill>
                <a:latin typeface="Consolas"/>
                <a:ea typeface="Consolas"/>
              </a:rPr>
              <a:t/>
            </a:r>
          </a:p>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n1</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34.00</a:t>
            </a:r>
            <a:r>
              <a:rPr sz="1300" b="0" i="0">
                <a:solidFill>
                  <a:srgbClr val="D7DDE6"/>
                </a:solidFill>
                <a:latin typeface="Consolas"/>
                <a:ea typeface="Consolas"/>
              </a:rPr>
              <a:t>;</a:t>
            </a:r>
          </a:p>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n2</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34</a:t>
            </a:r>
            <a:r>
              <a:rPr sz="1300" b="0" i="0">
                <a:solidFill>
                  <a:srgbClr val="D7DDE6"/>
                </a:solidFill>
                <a:latin typeface="Consolas"/>
                <a:ea typeface="Consolas"/>
              </a:rPr>
              <a:t>;</a:t>
            </a:r>
            <a:r>
              <a:rPr sz="1300" b="0" i="0">
                <a:solidFill>
                  <a:srgbClr val="7F8C98"/>
                </a:solidFill>
                <a:latin typeface="Consolas"/>
                <a:ea typeface="Consolas"/>
              </a:rPr>
              <a:t>         // the same number</a:t>
            </a:r>
          </a:p>
          <a:p>
            <a:pPr>
              <a:spcAft>
                <a:spcPts val="350"/>
              </a:spcAft>
            </a:pPr>
            <a:r>
              <a:rPr sz="1300" b="0" i="0">
                <a:solidFill>
                  <a:srgbClr val="D7DDE6"/>
                </a:solidFill>
                <a:latin typeface="Consolas"/>
                <a:ea typeface="Consolas"/>
              </a:rPr>
              <a:t/>
            </a:r>
          </a:p>
          <a:p>
            <a:pPr>
              <a:spcAft>
                <a:spcPts val="350"/>
              </a:spcAft>
            </a:pPr>
            <a:r>
              <a:rPr sz="1300" b="0" i="0">
                <a:solidFill>
                  <a:srgbClr val="D7DDE6"/>
                </a:solidFill>
                <a:latin typeface="Consolas"/>
                <a:ea typeface="Consolas"/>
              </a:rPr>
              <a:t>s1</a:t>
            </a:r>
            <a:r>
              <a:rPr sz="1300" b="0" i="0">
                <a:solidFill>
                  <a:srgbClr val="D7DDE6"/>
                </a:solidFill>
                <a:latin typeface="Consolas"/>
                <a:ea typeface="Consolas"/>
              </a:rPr>
              <a:t>.</a:t>
            </a:r>
            <a:r>
              <a:rPr sz="1300" b="0" i="0">
                <a:solidFill>
                  <a:srgbClr val="D7DDE6"/>
                </a:solidFill>
                <a:latin typeface="Consolas"/>
                <a:ea typeface="Consolas"/>
              </a:rPr>
              <a:t>length</a:t>
            </a:r>
            <a:r>
              <a:rPr sz="1300" b="0" i="0">
                <a:solidFill>
                  <a:srgbClr val="7F8C98"/>
                </a:solidFill>
                <a:latin typeface="Consolas"/>
                <a:ea typeface="Consolas"/>
              </a:rPr>
              <a:t>            // 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Booleans and Arrays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Data Types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Two values only</a:t>
            </a:r>
            <a:br/>
            <a:r>
              <a:rPr sz="1600" b="0" i="0">
                <a:solidFill>
                  <a:srgbClr val="4A5568"/>
                </a:solidFill>
                <a:latin typeface="Calibri"/>
                <a:ea typeface="Calibri"/>
              </a:rPr>
              <a:t>true and false — the result of every comparison.</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Arrays hold ordered lists</a:t>
            </a:r>
            <a:br/>
            <a:r>
              <a:rPr sz="1600" b="0" i="0">
                <a:solidFill>
                  <a:srgbClr val="4A5568"/>
                </a:solidFill>
                <a:latin typeface="Calibri"/>
                <a:ea typeface="Calibri"/>
              </a:rPr>
              <a:t>Square brackets, items separated by commas.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Indexes start at zero</a:t>
            </a:r>
            <a:br/>
            <a:r>
              <a:rPr sz="1600" b="0" i="0">
                <a:solidFill>
                  <a:srgbClr val="4A5568"/>
                </a:solidFill>
                <a:latin typeface="Calibri"/>
                <a:ea typeface="Calibri"/>
              </a:rPr>
              <a:t>cars[0] is the first item; the last is cars[cars.length - 1].</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Arrays are objects</a:t>
            </a:r>
            <a:br/>
            <a:r>
              <a:rPr sz="1600" b="0" i="0">
                <a:solidFill>
                  <a:srgbClr val="4A5568"/>
                </a:solidFill>
                <a:latin typeface="Calibri"/>
                <a:ea typeface="Calibri"/>
              </a:rPr>
              <a:t>typeof says "object"; Array.isArray() is the honest test.</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isReady</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true</a:t>
            </a:r>
            <a:r>
              <a:rPr sz="1300" b="0" i="0">
                <a:solidFill>
                  <a:srgbClr val="D7DDE6"/>
                </a:solidFill>
                <a:latin typeface="Consolas"/>
                <a:ea typeface="Consolas"/>
              </a:rPr>
              <a:t>;</a:t>
            </a:r>
          </a:p>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cars</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98C379"/>
                </a:solidFill>
                <a:latin typeface="Consolas"/>
                <a:ea typeface="Consolas"/>
              </a:rPr>
              <a:t>"Saab"</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"Volvo"</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"BMW"</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D7DDE6"/>
                </a:solidFill>
                <a:latin typeface="Consolas"/>
                <a:ea typeface="Consolas"/>
              </a:rPr>
              <a:t>cars</a:t>
            </a:r>
            <a:r>
              <a:rPr sz="1300" b="0" i="0">
                <a:solidFill>
                  <a:srgbClr val="D7DDE6"/>
                </a:solidFill>
                <a:latin typeface="Consolas"/>
                <a:ea typeface="Consolas"/>
              </a:rPr>
              <a:t>[</a:t>
            </a:r>
            <a:r>
              <a:rPr sz="1300" b="0" i="0">
                <a:solidFill>
                  <a:srgbClr val="E5C07B"/>
                </a:solidFill>
                <a:latin typeface="Consolas"/>
                <a:ea typeface="Consolas"/>
              </a:rPr>
              <a:t>0</a:t>
            </a:r>
            <a:r>
              <a:rPr sz="1300" b="0" i="0">
                <a:solidFill>
                  <a:srgbClr val="D7DDE6"/>
                </a:solidFill>
                <a:latin typeface="Consolas"/>
                <a:ea typeface="Consolas"/>
              </a:rPr>
              <a:t>]</a:t>
            </a:r>
            <a:r>
              <a:rPr sz="1300" b="0" i="0">
                <a:solidFill>
                  <a:srgbClr val="7F8C98"/>
                </a:solidFill>
                <a:latin typeface="Consolas"/>
                <a:ea typeface="Consolas"/>
              </a:rPr>
              <a:t>            // "Saab"</a:t>
            </a:r>
          </a:p>
          <a:p>
            <a:pPr>
              <a:spcAft>
                <a:spcPts val="350"/>
              </a:spcAft>
            </a:pPr>
            <a:r>
              <a:rPr sz="1300" b="0" i="0">
                <a:solidFill>
                  <a:srgbClr val="D7DDE6"/>
                </a:solidFill>
                <a:latin typeface="Consolas"/>
                <a:ea typeface="Consolas"/>
              </a:rPr>
              <a:t>cars</a:t>
            </a:r>
            <a:r>
              <a:rPr sz="1300" b="0" i="0">
                <a:solidFill>
                  <a:srgbClr val="D7DDE6"/>
                </a:solidFill>
                <a:latin typeface="Consolas"/>
                <a:ea typeface="Consolas"/>
              </a:rPr>
              <a:t>.</a:t>
            </a:r>
            <a:r>
              <a:rPr sz="1300" b="0" i="0">
                <a:solidFill>
                  <a:srgbClr val="D7DDE6"/>
                </a:solidFill>
                <a:latin typeface="Consolas"/>
                <a:ea typeface="Consolas"/>
              </a:rPr>
              <a:t>length</a:t>
            </a:r>
            <a:r>
              <a:rPr sz="1300" b="0" i="0">
                <a:solidFill>
                  <a:srgbClr val="7F8C98"/>
                </a:solidFill>
                <a:latin typeface="Consolas"/>
                <a:ea typeface="Consolas"/>
              </a:rPr>
              <a:t>        // 3</a:t>
            </a:r>
          </a:p>
          <a:p>
            <a:pPr>
              <a:spcAft>
                <a:spcPts val="350"/>
              </a:spcAft>
            </a:pPr>
            <a:r>
              <a:rPr sz="1300" b="0" i="0">
                <a:solidFill>
                  <a:srgbClr val="C678DD"/>
                </a:solidFill>
                <a:latin typeface="Consolas"/>
                <a:ea typeface="Consolas"/>
              </a:rPr>
              <a:t>typeof</a:t>
            </a:r>
            <a:r>
              <a:rPr sz="1300" b="0" i="0">
                <a:solidFill>
                  <a:srgbClr val="D7DDE6"/>
                </a:solidFill>
                <a:latin typeface="Consolas"/>
                <a:ea typeface="Consolas"/>
              </a:rPr>
              <a:t> </a:t>
            </a:r>
            <a:r>
              <a:rPr sz="1300" b="0" i="0">
                <a:solidFill>
                  <a:srgbClr val="D7DDE6"/>
                </a:solidFill>
                <a:latin typeface="Consolas"/>
                <a:ea typeface="Consolas"/>
              </a:rPr>
              <a:t>cars</a:t>
            </a:r>
            <a:r>
              <a:rPr sz="1300" b="0" i="0">
                <a:solidFill>
                  <a:srgbClr val="7F8C98"/>
                </a:solidFill>
                <a:latin typeface="Consolas"/>
                <a:ea typeface="Consolas"/>
              </a:rPr>
              <a:t>        // "object"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undefined, Empty and null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Data Types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undefined</a:t>
            </a:r>
            <a:br/>
            <a:r>
              <a:rPr sz="1600" b="0" i="0">
                <a:solidFill>
                  <a:srgbClr val="4A5568"/>
                </a:solidFill>
                <a:latin typeface="Calibri"/>
                <a:ea typeface="Calibri"/>
              </a:rPr>
              <a:t>Declared but never assigned — the engine's "nothing yet".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An empty string is still text</a:t>
            </a:r>
            <a:br/>
            <a:r>
              <a:rPr sz="1600" b="0" i="0">
                <a:solidFill>
                  <a:srgbClr val="4A5568"/>
                </a:solidFill>
                <a:latin typeface="Calibri"/>
                <a:ea typeface="Calibri"/>
              </a:rPr>
              <a:t>"" has a </a:t>
            </a:r>
            <a:r>
              <a:rPr sz="1600" b="0" i="0">
                <a:solidFill>
                  <a:srgbClr val="B8860B"/>
                </a:solidFill>
                <a:latin typeface="Consolas"/>
                <a:ea typeface="Consolas"/>
              </a:rPr>
              <a:t>value</a:t>
            </a:r>
            <a:r>
              <a:rPr sz="1600" b="0" i="0">
                <a:solidFill>
                  <a:srgbClr val="4A5568"/>
                </a:solidFill>
                <a:latin typeface="Calibri"/>
                <a:ea typeface="Calibri"/>
              </a:rPr>
              <a:t> and a kind: typeof says "string".</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null is deliberate nothing</a:t>
            </a:r>
            <a:br/>
            <a:r>
              <a:rPr sz="1600" b="0" i="0">
                <a:solidFill>
                  <a:srgbClr val="4A5568"/>
                </a:solidFill>
                <a:latin typeface="Calibri"/>
                <a:ea typeface="Calibri"/>
              </a:rPr>
              <a:t>You set it; the engine never does it for you.</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typeof null is "object"</a:t>
            </a:r>
            <a:br/>
            <a:r>
              <a:rPr sz="1600" b="0" i="0">
                <a:solidFill>
                  <a:srgbClr val="4A5568"/>
                </a:solidFill>
                <a:latin typeface="Calibri"/>
                <a:ea typeface="Calibri"/>
              </a:rPr>
              <a:t>A leftover from the first version of the language, kept for compatibility.</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car</a:t>
            </a:r>
            <a:r>
              <a:rPr sz="1300" b="0" i="0">
                <a:solidFill>
                  <a:srgbClr val="D7DDE6"/>
                </a:solidFill>
                <a:latin typeface="Consolas"/>
                <a:ea typeface="Consolas"/>
              </a:rPr>
              <a:t>;</a:t>
            </a:r>
            <a:r>
              <a:rPr sz="1300" b="0" i="0">
                <a:solidFill>
                  <a:srgbClr val="7F8C98"/>
                </a:solidFill>
                <a:latin typeface="Consolas"/>
                <a:ea typeface="Consolas"/>
              </a:rPr>
              <a:t>             // undefined</a:t>
            </a:r>
          </a:p>
          <a:p>
            <a:pPr>
              <a:spcAft>
                <a:spcPts val="350"/>
              </a:spcAft>
            </a:pPr>
            <a:r>
              <a:rPr sz="1300" b="0" i="0">
                <a:solidFill>
                  <a:srgbClr val="D7DDE6"/>
                </a:solidFill>
                <a:latin typeface="Consolas"/>
                <a:ea typeface="Consolas"/>
              </a:rPr>
              <a:t>car</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a:t>
            </a:r>
            <a:r>
              <a:rPr sz="1300" b="0" i="0">
                <a:solidFill>
                  <a:srgbClr val="D7DDE6"/>
                </a:solidFill>
                <a:latin typeface="Consolas"/>
                <a:ea typeface="Consolas"/>
              </a:rPr>
              <a:t>;</a:t>
            </a:r>
            <a:r>
              <a:rPr sz="1300" b="0" i="0">
                <a:solidFill>
                  <a:srgbClr val="7F8C98"/>
                </a:solidFill>
                <a:latin typeface="Consolas"/>
                <a:ea typeface="Consolas"/>
              </a:rPr>
              <a:t>            // "", typeof "string"</a:t>
            </a:r>
          </a:p>
          <a:p>
            <a:pPr>
              <a:spcAft>
                <a:spcPts val="350"/>
              </a:spcAft>
            </a:pPr>
            <a:r>
              <a:rPr sz="1300" b="0" i="0">
                <a:solidFill>
                  <a:srgbClr val="D7DDE6"/>
                </a:solidFill>
                <a:latin typeface="Consolas"/>
                <a:ea typeface="Consolas"/>
              </a:rPr>
              <a:t/>
            </a:r>
          </a:p>
          <a:p>
            <a:pPr>
              <a:spcAft>
                <a:spcPts val="350"/>
              </a:spcAft>
            </a:pPr>
            <a:r>
              <a:rPr sz="1300" b="0" i="0">
                <a:solidFill>
                  <a:srgbClr val="C678DD"/>
                </a:solidFill>
                <a:latin typeface="Consolas"/>
                <a:ea typeface="Consolas"/>
              </a:rPr>
              <a:t>var</a:t>
            </a:r>
            <a:r>
              <a:rPr sz="1300" b="0" i="0">
                <a:solidFill>
                  <a:srgbClr val="D7DDE6"/>
                </a:solidFill>
                <a:latin typeface="Consolas"/>
                <a:ea typeface="Consolas"/>
              </a:rPr>
              <a:t> </a:t>
            </a:r>
            <a:r>
              <a:rPr sz="1300" b="0" i="0">
                <a:solidFill>
                  <a:srgbClr val="D7DDE6"/>
                </a:solidFill>
                <a:latin typeface="Consolas"/>
                <a:ea typeface="Consolas"/>
              </a:rPr>
              <a:t>person</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firstName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"John"</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person</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null</a:t>
            </a:r>
            <a:r>
              <a:rPr sz="1300" b="0" i="0">
                <a:solidFill>
                  <a:srgbClr val="D7DDE6"/>
                </a:solidFill>
                <a:latin typeface="Consolas"/>
                <a:ea typeface="Consolas"/>
              </a:rPr>
              <a:t>;</a:t>
            </a:r>
            <a:r>
              <a:rPr sz="1300" b="0" i="0">
                <a:solidFill>
                  <a:srgbClr val="7F8C98"/>
                </a:solidFill>
                <a:latin typeface="Consolas"/>
                <a:ea typeface="Consolas"/>
              </a:rPr>
              <a:t>       // null, typeof "object"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Primitive Types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Data Types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 primitive is a single thing</a:t>
            </a:r>
            <a:br/>
            <a:r>
              <a:rPr sz="1500" b="0" i="0">
                <a:solidFill>
                  <a:srgbClr val="4A5568"/>
                </a:solidFill>
                <a:latin typeface="Calibri"/>
                <a:ea typeface="Calibri"/>
              </a:rPr>
              <a:t>No properties and no methods of its own — just the data.</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The classic five</a:t>
            </a:r>
            <a:br/>
            <a:r>
              <a:rPr sz="1500" b="0" i="0">
                <a:solidFill>
                  <a:srgbClr val="4A5568"/>
                </a:solidFill>
                <a:latin typeface="Calibri"/>
                <a:ea typeface="Calibri"/>
              </a:rPr>
              <a:t>string, number, boolean, undefined and null; modern engines add symbol and bigint.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Primitives are immutable</a:t>
            </a:r>
            <a:br/>
            <a:r>
              <a:rPr sz="1500" b="0" i="0">
                <a:solidFill>
                  <a:srgbClr val="4A5568"/>
                </a:solidFill>
                <a:latin typeface="Calibri"/>
                <a:ea typeface="Calibri"/>
              </a:rPr>
              <a:t>You can replace it in a variable, never edit it in place.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Objects are everything else</a:t>
            </a:r>
            <a:br/>
            <a:r>
              <a:rPr sz="1500" b="0" i="0">
                <a:solidFill>
                  <a:srgbClr val="4A5568"/>
                </a:solidFill>
                <a:latin typeface="Calibri"/>
                <a:ea typeface="Calibri"/>
              </a:rPr>
              <a:t>Arrays, functions and plain objects are reference values.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typeof is the quick check</a:t>
            </a:r>
            <a:br/>
            <a:r>
              <a:rPr sz="1500" b="0" i="0">
                <a:solidFill>
                  <a:srgbClr val="4A5568"/>
                </a:solidFill>
                <a:latin typeface="Calibri"/>
                <a:ea typeface="Calibri"/>
              </a:rPr>
              <a:t>null answering "object" is the one exception worth memorising.</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Primitives are copied, objects are shared</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C678DD"/>
                </a:solidFill>
                <a:latin typeface="Consolas"/>
                <a:ea typeface="Consolas"/>
              </a:rPr>
              <a:t>let</a:t>
            </a:r>
            <a:r>
              <a:rPr sz="1350" b="0" i="0">
                <a:solidFill>
                  <a:srgbClr val="D7DDE6"/>
                </a:solidFill>
                <a:latin typeface="Consolas"/>
                <a:ea typeface="Consolas"/>
              </a:rPr>
              <a:t> </a:t>
            </a:r>
            <a:r>
              <a:rPr sz="1350" b="0" i="0">
                <a:solidFill>
                  <a:srgbClr val="D7DDE6"/>
                </a:solidFill>
                <a:latin typeface="Consolas"/>
                <a:ea typeface="Consolas"/>
              </a:rPr>
              <a:t>a</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E5C07B"/>
                </a:solidFill>
                <a:latin typeface="Consolas"/>
                <a:ea typeface="Consolas"/>
              </a:rPr>
              <a:t>1</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E5C07B"/>
                </a:solidFill>
                <a:latin typeface="Consolas"/>
                <a:ea typeface="Consolas"/>
              </a:rPr>
              <a:t>2</a:t>
            </a:r>
            <a:r>
              <a:rPr sz="1350" b="0" i="0">
                <a:solidFill>
                  <a:srgbClr val="D7DDE6"/>
                </a:solidFill>
                <a:latin typeface="Consolas"/>
                <a:ea typeface="Consolas"/>
              </a:rPr>
              <a:t>]</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C678DD"/>
                </a:solidFill>
                <a:latin typeface="Consolas"/>
                <a:ea typeface="Consolas"/>
              </a:rPr>
              <a:t>let</a:t>
            </a:r>
            <a:r>
              <a:rPr sz="1350" b="0" i="0">
                <a:solidFill>
                  <a:srgbClr val="D7DDE6"/>
                </a:solidFill>
                <a:latin typeface="Consolas"/>
                <a:ea typeface="Consolas"/>
              </a:rPr>
              <a:t> </a:t>
            </a:r>
            <a:r>
              <a:rPr sz="1350" b="0" i="0">
                <a:solidFill>
                  <a:srgbClr val="D7DDE6"/>
                </a:solidFill>
                <a:latin typeface="Consolas"/>
                <a:ea typeface="Consolas"/>
              </a:rPr>
              <a:t>b</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a</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7F8C98"/>
                </a:solidFill>
                <a:latin typeface="Consolas"/>
                <a:ea typeface="Consolas"/>
              </a:rPr>
              <a:t>// one array, two names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04</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Statements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if / else if / else and switch decide what runs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for, for...in, for...of, while and do...while repeat it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try, catch and finally keep the page alive when it breaks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Conditional Statements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Statements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if runs a block when a test is true</a:t>
            </a:r>
            <a:br/>
            <a:r>
              <a:rPr sz="1600" b="0" i="0">
                <a:solidFill>
                  <a:srgbClr val="4A5568"/>
                </a:solidFill>
                <a:latin typeface="Calibri"/>
                <a:ea typeface="Calibri"/>
              </a:rPr>
              <a:t>The condition is any expression; its truthiness decides.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else covers the other case</a:t>
            </a:r>
            <a:br/>
            <a:r>
              <a:rPr sz="1600" b="0" i="0">
                <a:solidFill>
                  <a:srgbClr val="4A5568"/>
                </a:solidFill>
                <a:latin typeface="Calibri"/>
                <a:ea typeface="Calibri"/>
              </a:rPr>
              <a:t>Without it, nothing happens when the test fails.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else if chains more tests</a:t>
            </a:r>
            <a:br/>
            <a:r>
              <a:rPr sz="1600" b="0" i="0">
                <a:solidFill>
                  <a:srgbClr val="4A5568"/>
                </a:solidFill>
                <a:latin typeface="Calibri"/>
                <a:ea typeface="Calibri"/>
              </a:rPr>
              <a:t>The first one that passes wins; the rest are skipped.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Always write the braces</a:t>
            </a:r>
            <a:br/>
            <a:r>
              <a:rPr sz="1600" b="0" i="0">
                <a:solidFill>
                  <a:srgbClr val="4A5568"/>
                </a:solidFill>
                <a:latin typeface="Calibri"/>
                <a:ea typeface="Calibri"/>
              </a:rPr>
              <a:t>Even for a single statement — it prevents the classic edit that silently changes meaning.</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time</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15</a:t>
            </a:r>
            <a:r>
              <a:rPr sz="1300" b="0" i="0">
                <a:solidFill>
                  <a:srgbClr val="D7DDE6"/>
                </a:solidFill>
                <a:latin typeface="Consolas"/>
                <a:ea typeface="Consolas"/>
              </a:rPr>
              <a:t>;</a:t>
            </a:r>
          </a:p>
          <a:p>
            <a:pPr>
              <a:spcAft>
                <a:spcPts val="350"/>
              </a:spcAft>
            </a:pP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greeting</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C678DD"/>
                </a:solidFill>
                <a:latin typeface="Consolas"/>
                <a:ea typeface="Consolas"/>
              </a:rPr>
              <a:t>if</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time</a:t>
            </a:r>
            <a:r>
              <a:rPr sz="1300" b="0" i="0">
                <a:solidFill>
                  <a:srgbClr val="D7DDE6"/>
                </a:solidFill>
                <a:latin typeface="Consolas"/>
                <a:ea typeface="Consolas"/>
              </a:rPr>
              <a:t> </a:t>
            </a:r>
            <a:r>
              <a:rPr sz="1300" b="0" i="0">
                <a:solidFill>
                  <a:srgbClr val="D7DDE6"/>
                </a:solidFill>
                <a:latin typeface="Consolas"/>
                <a:ea typeface="Consolas"/>
              </a:rPr>
              <a:t>&lt;</a:t>
            </a:r>
            <a:r>
              <a:rPr sz="1300" b="0" i="0">
                <a:solidFill>
                  <a:srgbClr val="D7DDE6"/>
                </a:solidFill>
                <a:latin typeface="Consolas"/>
                <a:ea typeface="Consolas"/>
              </a:rPr>
              <a:t> </a:t>
            </a:r>
            <a:r>
              <a:rPr sz="1300" b="0" i="0">
                <a:solidFill>
                  <a:srgbClr val="E5C07B"/>
                </a:solidFill>
                <a:latin typeface="Consolas"/>
                <a:ea typeface="Consolas"/>
              </a:rPr>
              <a:t>10</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greeting</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"Good morning"</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else</a:t>
            </a:r>
            <a:r>
              <a:rPr sz="1300" b="0" i="0">
                <a:solidFill>
                  <a:srgbClr val="D7DDE6"/>
                </a:solidFill>
                <a:latin typeface="Consolas"/>
                <a:ea typeface="Consolas"/>
              </a:rPr>
              <a:t> </a:t>
            </a:r>
            <a:r>
              <a:rPr sz="1300" b="0" i="0">
                <a:solidFill>
                  <a:srgbClr val="C678DD"/>
                </a:solidFill>
                <a:latin typeface="Consolas"/>
                <a:ea typeface="Consolas"/>
              </a:rPr>
              <a:t>if</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time</a:t>
            </a:r>
            <a:r>
              <a:rPr sz="1300" b="0" i="0">
                <a:solidFill>
                  <a:srgbClr val="D7DDE6"/>
                </a:solidFill>
                <a:latin typeface="Consolas"/>
                <a:ea typeface="Consolas"/>
              </a:rPr>
              <a:t> </a:t>
            </a:r>
            <a:r>
              <a:rPr sz="1300" b="0" i="0">
                <a:solidFill>
                  <a:srgbClr val="D7DDE6"/>
                </a:solidFill>
                <a:latin typeface="Consolas"/>
                <a:ea typeface="Consolas"/>
              </a:rPr>
              <a:t>&lt;</a:t>
            </a:r>
            <a:r>
              <a:rPr sz="1300" b="0" i="0">
                <a:solidFill>
                  <a:srgbClr val="D7DDE6"/>
                </a:solidFill>
                <a:latin typeface="Consolas"/>
                <a:ea typeface="Consolas"/>
              </a:rPr>
              <a:t> </a:t>
            </a:r>
            <a:r>
              <a:rPr sz="1300" b="0" i="0">
                <a:solidFill>
                  <a:srgbClr val="E5C07B"/>
                </a:solidFill>
                <a:latin typeface="Consolas"/>
                <a:ea typeface="Consolas"/>
              </a:rPr>
              <a:t>20</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greeting</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"Good day"</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else</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greeting</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"Good evening"</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switch Statement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Statements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One expression, many cases</a:t>
            </a:r>
            <a:br/>
            <a:r>
              <a:rPr sz="1600" b="0" i="0">
                <a:solidFill>
                  <a:srgbClr val="4A5568"/>
                </a:solidFill>
                <a:latin typeface="Calibri"/>
                <a:ea typeface="Calibri"/>
              </a:rPr>
              <a:t>The expression is compared with each case once, in order.</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break stops the fall-through</a:t>
            </a:r>
            <a:br/>
            <a:r>
              <a:rPr sz="1600" b="0" i="0">
                <a:solidFill>
                  <a:srgbClr val="4A5568"/>
                </a:solidFill>
                <a:latin typeface="Calibri"/>
                <a:ea typeface="Calibri"/>
              </a:rPr>
              <a:t>Without it, execution drops into the next case.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default catches the rest</a:t>
            </a:r>
            <a:br/>
            <a:r>
              <a:rPr sz="1600" b="0" i="0">
                <a:solidFill>
                  <a:srgbClr val="4A5568"/>
                </a:solidFill>
                <a:latin typeface="Calibri"/>
                <a:ea typeface="Calibri"/>
              </a:rPr>
              <a:t>It runs when nothing matched — always include one.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Use it for fixed values</a:t>
            </a:r>
            <a:br/>
            <a:r>
              <a:rPr sz="1600" b="0" i="0">
                <a:solidFill>
                  <a:srgbClr val="4A5568"/>
                </a:solidFill>
                <a:latin typeface="Calibri"/>
                <a:ea typeface="Calibri"/>
              </a:rPr>
              <a:t>Ranges and calculations read better as if / else if.</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switch</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C678DD"/>
                </a:solidFill>
                <a:latin typeface="Consolas"/>
                <a:ea typeface="Consolas"/>
              </a:rPr>
              <a:t>new</a:t>
            </a:r>
            <a:r>
              <a:rPr sz="1300" b="0" i="0">
                <a:solidFill>
                  <a:srgbClr val="D7DDE6"/>
                </a:solidFill>
                <a:latin typeface="Consolas"/>
                <a:ea typeface="Consolas"/>
              </a:rPr>
              <a:t> </a:t>
            </a:r>
            <a:r>
              <a:rPr sz="1300" b="0" i="0">
                <a:solidFill>
                  <a:srgbClr val="61AFEF"/>
                </a:solidFill>
                <a:latin typeface="Consolas"/>
                <a:ea typeface="Consolas"/>
              </a:rPr>
              <a:t>Date</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E5C07B"/>
                </a:solidFill>
                <a:latin typeface="Consolas"/>
                <a:ea typeface="Consolas"/>
              </a:rPr>
              <a:t>getDay</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case</a:t>
            </a:r>
            <a:r>
              <a:rPr sz="1300" b="0" i="0">
                <a:solidFill>
                  <a:srgbClr val="D7DDE6"/>
                </a:solidFill>
                <a:latin typeface="Consolas"/>
                <a:ea typeface="Consolas"/>
              </a:rPr>
              <a:t> </a:t>
            </a:r>
            <a:r>
              <a:rPr sz="1300" b="0" i="0">
                <a:solidFill>
                  <a:srgbClr val="E5C07B"/>
                </a:solidFill>
                <a:latin typeface="Consolas"/>
                <a:ea typeface="Consolas"/>
              </a:rPr>
              <a:t>6</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text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"Today is Saturday"</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break</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case</a:t>
            </a:r>
            <a:r>
              <a:rPr sz="1300" b="0" i="0">
                <a:solidFill>
                  <a:srgbClr val="D7DDE6"/>
                </a:solidFill>
                <a:latin typeface="Consolas"/>
                <a:ea typeface="Consolas"/>
              </a:rPr>
              <a:t> </a:t>
            </a:r>
            <a:r>
              <a:rPr sz="1300" b="0" i="0">
                <a:solidFill>
                  <a:srgbClr val="E5C07B"/>
                </a:solidFill>
                <a:latin typeface="Consolas"/>
                <a:ea typeface="Consolas"/>
              </a:rPr>
              <a:t>0</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text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"Today is Sunday"</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break</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default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text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"Looking forward to the weekend"</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for Loop</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Statements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Repeat a block</a:t>
            </a:r>
            <a:br/>
            <a:r>
              <a:rPr sz="1600" b="0" i="0">
                <a:solidFill>
                  <a:srgbClr val="4A5568"/>
                </a:solidFill>
                <a:latin typeface="Calibri"/>
                <a:ea typeface="Calibri"/>
              </a:rPr>
              <a:t>The same code runs again with a different item each time.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Three parts in the parentheses</a:t>
            </a:r>
            <a:br/>
            <a:r>
              <a:rPr sz="1600" b="0" i="0">
                <a:solidFill>
                  <a:srgbClr val="4A5568"/>
                </a:solidFill>
                <a:latin typeface="Calibri"/>
                <a:ea typeface="Calibri"/>
              </a:rPr>
              <a:t>initialise; condition; update — in that order, separated by semicolons.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Walk an array</a:t>
            </a:r>
            <a:br/>
            <a:r>
              <a:rPr sz="1600" b="0" i="0">
                <a:solidFill>
                  <a:srgbClr val="4A5568"/>
                </a:solidFill>
                <a:latin typeface="Calibri"/>
                <a:ea typeface="Calibri"/>
              </a:rPr>
              <a:t>i runs from 0 to cars.length - 1, so no item is missed.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i &lt; length, never i &lt;= length</a:t>
            </a:r>
            <a:br/>
            <a:r>
              <a:rPr sz="1600" b="0" i="0">
                <a:solidFill>
                  <a:srgbClr val="4A5568"/>
                </a:solidFill>
                <a:latin typeface="Calibri"/>
                <a:ea typeface="Calibri"/>
              </a:rPr>
              <a:t>The off-by-one that reads one item past the end.</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const</a:t>
            </a:r>
            <a:r>
              <a:rPr sz="1300" b="0" i="0">
                <a:solidFill>
                  <a:srgbClr val="D7DDE6"/>
                </a:solidFill>
                <a:latin typeface="Consolas"/>
                <a:ea typeface="Consolas"/>
              </a:rPr>
              <a:t> </a:t>
            </a:r>
            <a:r>
              <a:rPr sz="1300" b="0" i="0">
                <a:solidFill>
                  <a:srgbClr val="D7DDE6"/>
                </a:solidFill>
                <a:latin typeface="Consolas"/>
                <a:ea typeface="Consolas"/>
              </a:rPr>
              <a:t>cars</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98C379"/>
                </a:solidFill>
                <a:latin typeface="Consolas"/>
                <a:ea typeface="Consolas"/>
              </a:rPr>
              <a:t>"BMW"</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"Volvo"</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"Saab"</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text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C678DD"/>
                </a:solidFill>
                <a:latin typeface="Consolas"/>
                <a:ea typeface="Consolas"/>
              </a:rPr>
              <a:t>for</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i</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0</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i</a:t>
            </a:r>
            <a:r>
              <a:rPr sz="1300" b="0" i="0">
                <a:solidFill>
                  <a:srgbClr val="D7DDE6"/>
                </a:solidFill>
                <a:latin typeface="Consolas"/>
                <a:ea typeface="Consolas"/>
              </a:rPr>
              <a:t> </a:t>
            </a:r>
            <a:r>
              <a:rPr sz="1300" b="0" i="0">
                <a:solidFill>
                  <a:srgbClr val="D7DDE6"/>
                </a:solidFill>
                <a:latin typeface="Consolas"/>
                <a:ea typeface="Consolas"/>
              </a:rPr>
              <a:t>&lt;</a:t>
            </a:r>
            <a:r>
              <a:rPr sz="1300" b="0" i="0">
                <a:solidFill>
                  <a:srgbClr val="D7DDE6"/>
                </a:solidFill>
                <a:latin typeface="Consolas"/>
                <a:ea typeface="Consolas"/>
              </a:rPr>
              <a:t> </a:t>
            </a:r>
            <a:r>
              <a:rPr sz="1300" b="0" i="0">
                <a:solidFill>
                  <a:srgbClr val="D7DDE6"/>
                </a:solidFill>
                <a:latin typeface="Consolas"/>
                <a:ea typeface="Consolas"/>
              </a:rPr>
              <a:t>cars</a:t>
            </a:r>
            <a:r>
              <a:rPr sz="1300" b="0" i="0">
                <a:solidFill>
                  <a:srgbClr val="D7DDE6"/>
                </a:solidFill>
                <a:latin typeface="Consolas"/>
                <a:ea typeface="Consolas"/>
              </a:rPr>
              <a:t>.</a:t>
            </a:r>
            <a:r>
              <a:rPr sz="1300" b="0" i="0">
                <a:solidFill>
                  <a:srgbClr val="D7DDE6"/>
                </a:solidFill>
                <a:latin typeface="Consolas"/>
                <a:ea typeface="Consolas"/>
              </a:rPr>
              <a:t>length</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i</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text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cars</a:t>
            </a:r>
            <a:r>
              <a:rPr sz="1300" b="0" i="0">
                <a:solidFill>
                  <a:srgbClr val="D7DDE6"/>
                </a:solidFill>
                <a:latin typeface="Consolas"/>
                <a:ea typeface="Consolas"/>
              </a:rPr>
              <a:t>[</a:t>
            </a:r>
            <a:r>
              <a:rPr sz="1300" b="0" i="0">
                <a:solidFill>
                  <a:srgbClr val="D7DDE6"/>
                </a:solidFill>
                <a:latin typeface="Consolas"/>
                <a:ea typeface="Consolas"/>
              </a:rPr>
              <a:t>i</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"&lt;br&gt;"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p>
          <a:p>
            <a:pPr>
              <a:spcAft>
                <a:spcPts val="350"/>
              </a:spcAft>
            </a:pP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"demo"</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innerHTML</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text</a:t>
            </a:r>
            <a:r>
              <a:rPr sz="1300" b="0" i="0">
                <a:solidFill>
                  <a:srgbClr val="D7DDE6"/>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editor.html?example=js-basics/loop-for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for...in and for...of</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Statements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for...in walks the keys</a:t>
            </a:r>
            <a:br/>
            <a:r>
              <a:rPr sz="1600" b="0" i="0">
                <a:solidFill>
                  <a:srgbClr val="4A5568"/>
                </a:solidFill>
                <a:latin typeface="Calibri"/>
                <a:ea typeface="Calibri"/>
              </a:rPr>
              <a:t>Each pass hands you one key of the object.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for...of walks the values</a:t>
            </a:r>
            <a:br/>
            <a:r>
              <a:rPr sz="1600" b="0" i="0">
                <a:solidFill>
                  <a:srgbClr val="4A5568"/>
                </a:solidFill>
                <a:latin typeface="Calibri"/>
                <a:ea typeface="Calibri"/>
              </a:rPr>
              <a:t>Each pass hands you the item itself, from any iterable.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On an array, prefer for...of</a:t>
            </a:r>
            <a:br/>
            <a:r>
              <a:rPr sz="1600" b="0" i="0">
                <a:solidFill>
                  <a:srgbClr val="4A5568"/>
                </a:solidFill>
                <a:latin typeface="Calibri"/>
                <a:ea typeface="Calibri"/>
              </a:rPr>
              <a:t>for...in gives you the index as a string — rarely what you want.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Declare the counter with let</a:t>
            </a:r>
            <a:br/>
            <a:r>
              <a:rPr sz="1600" b="0" i="0">
                <a:solidFill>
                  <a:srgbClr val="4A5568"/>
                </a:solidFill>
                <a:latin typeface="Calibri"/>
                <a:ea typeface="Calibri"/>
              </a:rPr>
              <a:t>It is scoped to the body, which is what you want.</a:t>
            </a:r>
          </a:p>
        </p:txBody>
      </p:sp>
      <p:sp>
        <p:nvSpPr>
          <p:cNvPr id="6" name="Rounded Rectangle 5"/>
          <p:cNvSpPr/>
          <p:nvPr/>
        </p:nvSpPr>
        <p:spPr>
          <a:xfrm>
            <a:off x="5836615" y="978408"/>
            <a:ext cx="5806440" cy="4151375"/>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493007"/>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keys of an object</a:t>
            </a:r>
          </a:p>
          <a:p>
            <a:pPr>
              <a:spcAft>
                <a:spcPts val="350"/>
              </a:spcAft>
            </a:pPr>
            <a:r>
              <a:rPr sz="1300" b="0" i="0">
                <a:solidFill>
                  <a:srgbClr val="C678DD"/>
                </a:solidFill>
                <a:latin typeface="Consolas"/>
                <a:ea typeface="Consolas"/>
              </a:rPr>
              <a:t>const</a:t>
            </a:r>
            <a:r>
              <a:rPr sz="1300" b="0" i="0">
                <a:solidFill>
                  <a:srgbClr val="D7DDE6"/>
                </a:solidFill>
                <a:latin typeface="Consolas"/>
                <a:ea typeface="Consolas"/>
              </a:rPr>
              <a:t> </a:t>
            </a:r>
            <a:r>
              <a:rPr sz="1300" b="0" i="0">
                <a:solidFill>
                  <a:srgbClr val="D7DDE6"/>
                </a:solidFill>
                <a:latin typeface="Consolas"/>
                <a:ea typeface="Consolas"/>
              </a:rPr>
              <a:t>person</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fname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"John"</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age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25</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txt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C678DD"/>
                </a:solidFill>
                <a:latin typeface="Consolas"/>
                <a:ea typeface="Consolas"/>
              </a:rPr>
              <a:t>for</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key</a:t>
            </a:r>
            <a:r>
              <a:rPr sz="1300" b="0" i="0">
                <a:solidFill>
                  <a:srgbClr val="D7DDE6"/>
                </a:solidFill>
                <a:latin typeface="Consolas"/>
                <a:ea typeface="Consolas"/>
              </a:rPr>
              <a:t> </a:t>
            </a:r>
            <a:r>
              <a:rPr sz="1300" b="0" i="0">
                <a:solidFill>
                  <a:srgbClr val="C678DD"/>
                </a:solidFill>
                <a:latin typeface="Consolas"/>
                <a:ea typeface="Consolas"/>
              </a:rPr>
              <a:t>in</a:t>
            </a:r>
            <a:r>
              <a:rPr sz="1300" b="0" i="0">
                <a:solidFill>
                  <a:srgbClr val="D7DDE6"/>
                </a:solidFill>
                <a:latin typeface="Consolas"/>
                <a:ea typeface="Consolas"/>
              </a:rPr>
              <a:t> </a:t>
            </a:r>
            <a:r>
              <a:rPr sz="1300" b="0" i="0">
                <a:solidFill>
                  <a:srgbClr val="D7DDE6"/>
                </a:solidFill>
                <a:latin typeface="Consolas"/>
                <a:ea typeface="Consolas"/>
              </a:rPr>
              <a:t>person</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txt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person</a:t>
            </a:r>
            <a:r>
              <a:rPr sz="1300" b="0" i="0">
                <a:solidFill>
                  <a:srgbClr val="D7DDE6"/>
                </a:solidFill>
                <a:latin typeface="Consolas"/>
                <a:ea typeface="Consolas"/>
              </a:rPr>
              <a:t>[</a:t>
            </a:r>
            <a:r>
              <a:rPr sz="1300" b="0" i="0">
                <a:solidFill>
                  <a:srgbClr val="D7DDE6"/>
                </a:solidFill>
                <a:latin typeface="Consolas"/>
                <a:ea typeface="Consolas"/>
              </a:rPr>
              <a:t>key</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p>
        </p:txBody>
      </p:sp>
      <p:sp>
        <p:nvSpPr>
          <p:cNvPr id="9" name="Rounded Rectangle 8"/>
          <p:cNvSpPr/>
          <p:nvPr/>
        </p:nvSpPr>
        <p:spPr>
          <a:xfrm>
            <a:off x="5836615" y="5294375"/>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5413247"/>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editor.html?example=js-basics/loop-for-in</a:t>
            </a:r>
          </a:p>
        </p:txBody>
      </p:sp>
      <p:sp>
        <p:nvSpPr>
          <p:cNvPr id="11" name="Rounded Rectangle 10"/>
          <p:cNvSpPr/>
          <p:nvPr/>
        </p:nvSpPr>
        <p:spPr>
          <a:xfrm>
            <a:off x="5836615" y="5852159"/>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2647" y="5971031"/>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3"/>
                <a:extLst>
                  <a:ext uri="{A12FA001-AC4F-418D-AE19-62706E023703}">
                    <ahyp:hlinkClr xmlns:ahyp="http://schemas.microsoft.com/office/drawing/2018/hyperlinkcolor" val="tx"/>
                  </a:ext>
                </a:extLst>
              </a:rPr>
              <a:t>editor.html?example=js-basics/loop-for-of</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while and do...while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Statements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while tests before it runs</a:t>
            </a:r>
            <a:br/>
            <a:r>
              <a:rPr sz="1600" b="0" i="0">
                <a:solidFill>
                  <a:srgbClr val="4A5568"/>
                </a:solidFill>
                <a:latin typeface="Calibri"/>
                <a:ea typeface="Calibri"/>
              </a:rPr>
              <a:t>If the condition is false at the start, the block never runs.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do...while tests after</a:t>
            </a:r>
            <a:br/>
            <a:r>
              <a:rPr sz="1600" b="0" i="0">
                <a:solidFill>
                  <a:srgbClr val="4A5568"/>
                </a:solidFill>
                <a:latin typeface="Calibri"/>
                <a:ea typeface="Calibri"/>
              </a:rPr>
              <a:t>The block always runs at least once.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Forget the </a:t>
            </a:r>
            <a:r>
              <a:rPr sz="1800" b="1" i="0">
                <a:solidFill>
                  <a:srgbClr val="B8860B"/>
                </a:solidFill>
                <a:latin typeface="Consolas"/>
                <a:ea typeface="Consolas"/>
              </a:rPr>
              <a:t>step</a:t>
            </a:r>
            <a:r>
              <a:rPr sz="1800" b="1" i="0">
                <a:solidFill>
                  <a:srgbClr val="1A2230"/>
                </a:solidFill>
                <a:latin typeface="Calibri"/>
                <a:ea typeface="Calibri"/>
              </a:rPr>
              <a:t> and it never ends</a:t>
            </a:r>
            <a:br/>
            <a:r>
              <a:rPr sz="1600" b="0" i="0">
                <a:solidFill>
                  <a:srgbClr val="4A5568"/>
                </a:solidFill>
                <a:latin typeface="Calibri"/>
                <a:ea typeface="Calibri"/>
              </a:rPr>
              <a:t>i++ inside the block is not optional.</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for when you know the count</a:t>
            </a:r>
            <a:br/>
            <a:r>
              <a:rPr sz="1600" b="0" i="0">
                <a:solidFill>
                  <a:srgbClr val="4A5568"/>
                </a:solidFill>
                <a:latin typeface="Calibri"/>
                <a:ea typeface="Calibri"/>
              </a:rPr>
              <a:t>while when you only know the condition.</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i</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0</a:t>
            </a:r>
            <a:r>
              <a:rPr sz="1300" b="0" i="0">
                <a:solidFill>
                  <a:srgbClr val="D7DDE6"/>
                </a:solidFill>
                <a:latin typeface="Consolas"/>
                <a:ea typeface="Consolas"/>
              </a:rPr>
              <a:t>;</a:t>
            </a:r>
          </a:p>
          <a:p>
            <a:pPr>
              <a:spcAft>
                <a:spcPts val="350"/>
              </a:spcAft>
            </a:pPr>
            <a:r>
              <a:rPr sz="1300" b="0" i="0">
                <a:solidFill>
                  <a:srgbClr val="C678DD"/>
                </a:solidFill>
                <a:latin typeface="Consolas"/>
                <a:ea typeface="Consolas"/>
              </a:rPr>
              <a:t>while</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i</a:t>
            </a:r>
            <a:r>
              <a:rPr sz="1300" b="0" i="0">
                <a:solidFill>
                  <a:srgbClr val="D7DDE6"/>
                </a:solidFill>
                <a:latin typeface="Consolas"/>
                <a:ea typeface="Consolas"/>
              </a:rPr>
              <a:t> </a:t>
            </a:r>
            <a:r>
              <a:rPr sz="1300" b="0" i="0">
                <a:solidFill>
                  <a:srgbClr val="D7DDE6"/>
                </a:solidFill>
                <a:latin typeface="Consolas"/>
                <a:ea typeface="Consolas"/>
              </a:rPr>
              <a:t>&lt;</a:t>
            </a:r>
            <a:r>
              <a:rPr sz="1300" b="0" i="0">
                <a:solidFill>
                  <a:srgbClr val="D7DDE6"/>
                </a:solidFill>
                <a:latin typeface="Consolas"/>
                <a:ea typeface="Consolas"/>
              </a:rPr>
              <a:t> </a:t>
            </a:r>
            <a:r>
              <a:rPr sz="1300" b="0" i="0">
                <a:solidFill>
                  <a:srgbClr val="E5C07B"/>
                </a:solidFill>
                <a:latin typeface="Consolas"/>
                <a:ea typeface="Consolas"/>
              </a:rPr>
              <a:t>5</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text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"The number is "</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i</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"&lt;br&gt;"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i</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j</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0</a:t>
            </a:r>
            <a:r>
              <a:rPr sz="1300" b="0" i="0">
                <a:solidFill>
                  <a:srgbClr val="D7DDE6"/>
                </a:solidFill>
                <a:latin typeface="Consolas"/>
                <a:ea typeface="Consolas"/>
              </a:rPr>
              <a:t>;</a:t>
            </a:r>
          </a:p>
          <a:p>
            <a:pPr>
              <a:spcAft>
                <a:spcPts val="350"/>
              </a:spcAft>
            </a:pPr>
            <a:r>
              <a:rPr sz="1300" b="0" i="0">
                <a:solidFill>
                  <a:srgbClr val="C678DD"/>
                </a:solidFill>
                <a:latin typeface="Consolas"/>
                <a:ea typeface="Consolas"/>
              </a:rPr>
              <a:t>do</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text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"The number is "</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j</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"&lt;br&gt;"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j</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while</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j</a:t>
            </a:r>
            <a:r>
              <a:rPr sz="1300" b="0" i="0">
                <a:solidFill>
                  <a:srgbClr val="D7DDE6"/>
                </a:solidFill>
                <a:latin typeface="Consolas"/>
                <a:ea typeface="Consolas"/>
              </a:rPr>
              <a:t> </a:t>
            </a:r>
            <a:r>
              <a:rPr sz="1300" b="0" i="0">
                <a:solidFill>
                  <a:srgbClr val="D7DDE6"/>
                </a:solidFill>
                <a:latin typeface="Consolas"/>
                <a:ea typeface="Consolas"/>
              </a:rPr>
              <a:t>&lt;</a:t>
            </a:r>
            <a:r>
              <a:rPr sz="1300" b="0" i="0">
                <a:solidFill>
                  <a:srgbClr val="D7DDE6"/>
                </a:solidFill>
                <a:latin typeface="Consolas"/>
                <a:ea typeface="Consolas"/>
              </a:rPr>
              <a:t> </a:t>
            </a:r>
            <a:r>
              <a:rPr sz="1300" b="0" i="0">
                <a:solidFill>
                  <a:srgbClr val="E5C07B"/>
                </a:solidFill>
                <a:latin typeface="Consolas"/>
                <a:ea typeface="Consolas"/>
              </a:rPr>
              <a:t>5</a:t>
            </a:r>
            <a:r>
              <a:rPr sz="1300" b="0" i="0">
                <a:solidFill>
                  <a:srgbClr val="D7DDE6"/>
                </a:solidFill>
                <a:latin typeface="Consolas"/>
                <a:ea typeface="Consolas"/>
              </a:rPr>
              <a:t>)</a:t>
            </a:r>
            <a:r>
              <a:rPr sz="1300" b="0" i="0">
                <a:solidFill>
                  <a:srgbClr val="D7DDE6"/>
                </a:solidFill>
                <a:latin typeface="Consolas"/>
                <a:ea typeface="Consolas"/>
              </a:rPr>
              <a: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Bitwise Operators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Statements</a:t>
            </a:r>
          </a:p>
        </p:txBody>
      </p:sp>
      <p:sp>
        <p:nvSpPr>
          <p:cNvPr id="5" name="Rectangle 4"/>
          <p:cNvSpPr/>
          <p:nvPr/>
        </p:nvSpPr>
        <p:spPr>
          <a:xfrm>
            <a:off x="548640" y="932688"/>
            <a:ext cx="2200545"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1871361"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Operator</a:t>
            </a:r>
          </a:p>
        </p:txBody>
      </p:sp>
      <p:sp>
        <p:nvSpPr>
          <p:cNvPr id="7" name="Rectangle 6"/>
          <p:cNvSpPr/>
          <p:nvPr/>
        </p:nvSpPr>
        <p:spPr>
          <a:xfrm>
            <a:off x="2749185" y="932688"/>
            <a:ext cx="3300817"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13777" y="932688"/>
            <a:ext cx="2971633"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Name</a:t>
            </a:r>
          </a:p>
        </p:txBody>
      </p:sp>
      <p:sp>
        <p:nvSpPr>
          <p:cNvPr id="9" name="Rectangle 8"/>
          <p:cNvSpPr/>
          <p:nvPr/>
        </p:nvSpPr>
        <p:spPr>
          <a:xfrm>
            <a:off x="6050002" y="932688"/>
            <a:ext cx="5593052"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4594" y="932688"/>
            <a:ext cx="5263868"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What it does</a:t>
            </a:r>
          </a:p>
        </p:txBody>
      </p:sp>
      <p:sp>
        <p:nvSpPr>
          <p:cNvPr id="11" name="Rectangle 10"/>
          <p:cNvSpPr/>
          <p:nvPr/>
        </p:nvSpPr>
        <p:spPr>
          <a:xfrm>
            <a:off x="548640" y="1444752"/>
            <a:ext cx="220054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1871361"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&amp;</a:t>
            </a:r>
          </a:p>
        </p:txBody>
      </p:sp>
      <p:sp>
        <p:nvSpPr>
          <p:cNvPr id="13" name="Rectangle 12"/>
          <p:cNvSpPr/>
          <p:nvPr/>
        </p:nvSpPr>
        <p:spPr>
          <a:xfrm>
            <a:off x="2749185" y="1444752"/>
            <a:ext cx="330081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13777" y="1444752"/>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AND</a:t>
            </a:r>
          </a:p>
        </p:txBody>
      </p:sp>
      <p:sp>
        <p:nvSpPr>
          <p:cNvPr id="15" name="Rectangle 14"/>
          <p:cNvSpPr/>
          <p:nvPr/>
        </p:nvSpPr>
        <p:spPr>
          <a:xfrm>
            <a:off x="6050002" y="1444752"/>
            <a:ext cx="559305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4594" y="1444752"/>
            <a:ext cx="5263868"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1 where both bits are 1</a:t>
            </a:r>
          </a:p>
        </p:txBody>
      </p:sp>
      <p:sp>
        <p:nvSpPr>
          <p:cNvPr id="17" name="Rectangle 16"/>
          <p:cNvSpPr/>
          <p:nvPr/>
        </p:nvSpPr>
        <p:spPr>
          <a:xfrm>
            <a:off x="548640" y="2011680"/>
            <a:ext cx="220054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1871361"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19" name="Rectangle 18"/>
          <p:cNvSpPr/>
          <p:nvPr/>
        </p:nvSpPr>
        <p:spPr>
          <a:xfrm>
            <a:off x="2749185" y="2011680"/>
            <a:ext cx="330081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913777" y="2011680"/>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OR</a:t>
            </a:r>
          </a:p>
        </p:txBody>
      </p:sp>
      <p:sp>
        <p:nvSpPr>
          <p:cNvPr id="21" name="Rectangle 20"/>
          <p:cNvSpPr/>
          <p:nvPr/>
        </p:nvSpPr>
        <p:spPr>
          <a:xfrm>
            <a:off x="6050002" y="2011680"/>
            <a:ext cx="559305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4594" y="2011680"/>
            <a:ext cx="5263868"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1 where either bit is 1</a:t>
            </a:r>
          </a:p>
        </p:txBody>
      </p:sp>
      <p:sp>
        <p:nvSpPr>
          <p:cNvPr id="23" name="Rectangle 22"/>
          <p:cNvSpPr/>
          <p:nvPr/>
        </p:nvSpPr>
        <p:spPr>
          <a:xfrm>
            <a:off x="548640" y="2578608"/>
            <a:ext cx="220054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1871361"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25" name="Rectangle 24"/>
          <p:cNvSpPr/>
          <p:nvPr/>
        </p:nvSpPr>
        <p:spPr>
          <a:xfrm>
            <a:off x="2749185" y="2578608"/>
            <a:ext cx="330081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13777" y="2578608"/>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XOR</a:t>
            </a:r>
          </a:p>
        </p:txBody>
      </p:sp>
      <p:sp>
        <p:nvSpPr>
          <p:cNvPr id="27" name="Rectangle 26"/>
          <p:cNvSpPr/>
          <p:nvPr/>
        </p:nvSpPr>
        <p:spPr>
          <a:xfrm>
            <a:off x="6050002" y="2578608"/>
            <a:ext cx="559305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4594" y="2578608"/>
            <a:ext cx="5263868"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1 where exactly one bit is 1</a:t>
            </a:r>
          </a:p>
        </p:txBody>
      </p:sp>
      <p:sp>
        <p:nvSpPr>
          <p:cNvPr id="29" name="Rectangle 28"/>
          <p:cNvSpPr/>
          <p:nvPr/>
        </p:nvSpPr>
        <p:spPr>
          <a:xfrm>
            <a:off x="548640" y="3145536"/>
            <a:ext cx="220054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1871361"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a:t>
            </a:r>
          </a:p>
        </p:txBody>
      </p:sp>
      <p:sp>
        <p:nvSpPr>
          <p:cNvPr id="31" name="Rectangle 30"/>
          <p:cNvSpPr/>
          <p:nvPr/>
        </p:nvSpPr>
        <p:spPr>
          <a:xfrm>
            <a:off x="2749185" y="3145536"/>
            <a:ext cx="330081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13777" y="3145536"/>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NOT</a:t>
            </a:r>
          </a:p>
        </p:txBody>
      </p:sp>
      <p:sp>
        <p:nvSpPr>
          <p:cNvPr id="33" name="Rectangle 32"/>
          <p:cNvSpPr/>
          <p:nvPr/>
        </p:nvSpPr>
        <p:spPr>
          <a:xfrm>
            <a:off x="6050002" y="3145536"/>
            <a:ext cx="559305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14594" y="3145536"/>
            <a:ext cx="5263868"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inverts every bit</a:t>
            </a:r>
          </a:p>
        </p:txBody>
      </p:sp>
      <p:sp>
        <p:nvSpPr>
          <p:cNvPr id="35" name="Rectangle 34"/>
          <p:cNvSpPr/>
          <p:nvPr/>
        </p:nvSpPr>
        <p:spPr>
          <a:xfrm>
            <a:off x="548640" y="3712464"/>
            <a:ext cx="220054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1871361"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&lt;&lt;</a:t>
            </a:r>
          </a:p>
        </p:txBody>
      </p:sp>
      <p:sp>
        <p:nvSpPr>
          <p:cNvPr id="37" name="Rectangle 36"/>
          <p:cNvSpPr/>
          <p:nvPr/>
        </p:nvSpPr>
        <p:spPr>
          <a:xfrm>
            <a:off x="2749185" y="3712464"/>
            <a:ext cx="330081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13777" y="3712464"/>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left shift</a:t>
            </a:r>
          </a:p>
        </p:txBody>
      </p:sp>
      <p:sp>
        <p:nvSpPr>
          <p:cNvPr id="39" name="Rectangle 38"/>
          <p:cNvSpPr/>
          <p:nvPr/>
        </p:nvSpPr>
        <p:spPr>
          <a:xfrm>
            <a:off x="6050002" y="3712464"/>
            <a:ext cx="559305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4594" y="3712464"/>
            <a:ext cx="5263868"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shift left, fill with zeros</a:t>
            </a:r>
          </a:p>
        </p:txBody>
      </p:sp>
      <p:sp>
        <p:nvSpPr>
          <p:cNvPr id="41" name="Rectangle 40"/>
          <p:cNvSpPr/>
          <p:nvPr/>
        </p:nvSpPr>
        <p:spPr>
          <a:xfrm>
            <a:off x="548640" y="4279392"/>
            <a:ext cx="220054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 y="4279392"/>
            <a:ext cx="1871361"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&gt;&gt;</a:t>
            </a:r>
          </a:p>
        </p:txBody>
      </p:sp>
      <p:sp>
        <p:nvSpPr>
          <p:cNvPr id="43" name="Rectangle 42"/>
          <p:cNvSpPr/>
          <p:nvPr/>
        </p:nvSpPr>
        <p:spPr>
          <a:xfrm>
            <a:off x="2749185" y="4279392"/>
            <a:ext cx="3300817"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13777" y="4279392"/>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signed right shift</a:t>
            </a:r>
          </a:p>
        </p:txBody>
      </p:sp>
      <p:sp>
        <p:nvSpPr>
          <p:cNvPr id="45" name="Rectangle 44"/>
          <p:cNvSpPr/>
          <p:nvPr/>
        </p:nvSpPr>
        <p:spPr>
          <a:xfrm>
            <a:off x="6050002" y="4279392"/>
            <a:ext cx="5593052"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14594" y="4279392"/>
            <a:ext cx="5263868"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shift right, keep the sign bit</a:t>
            </a:r>
          </a:p>
        </p:txBody>
      </p:sp>
      <p:sp>
        <p:nvSpPr>
          <p:cNvPr id="47" name="Rectangle 46"/>
          <p:cNvSpPr/>
          <p:nvPr/>
        </p:nvSpPr>
        <p:spPr>
          <a:xfrm>
            <a:off x="548640" y="4846320"/>
            <a:ext cx="220054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3232" y="4846320"/>
            <a:ext cx="1871361"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&gt;&gt;&gt;</a:t>
            </a:r>
          </a:p>
        </p:txBody>
      </p:sp>
      <p:sp>
        <p:nvSpPr>
          <p:cNvPr id="49" name="Rectangle 48"/>
          <p:cNvSpPr/>
          <p:nvPr/>
        </p:nvSpPr>
        <p:spPr>
          <a:xfrm>
            <a:off x="2749185" y="4846320"/>
            <a:ext cx="3300817"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13777" y="4846320"/>
            <a:ext cx="2971633"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zero-fill right shift</a:t>
            </a:r>
          </a:p>
        </p:txBody>
      </p:sp>
      <p:sp>
        <p:nvSpPr>
          <p:cNvPr id="51" name="Rectangle 50"/>
          <p:cNvSpPr/>
          <p:nvPr/>
        </p:nvSpPr>
        <p:spPr>
          <a:xfrm>
            <a:off x="6050002" y="4846320"/>
            <a:ext cx="5593052"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14594" y="4846320"/>
            <a:ext cx="5263868"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shift right, fill with zeros</a:t>
            </a:r>
          </a:p>
        </p:txBody>
      </p:sp>
      <p:sp>
        <p:nvSpPr>
          <p:cNvPr id="53" name="Rounded Rectangle 52"/>
          <p:cNvSpPr/>
          <p:nvPr/>
        </p:nvSpPr>
        <p:spPr>
          <a:xfrm>
            <a:off x="548640" y="5596128"/>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80" y="5687568"/>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Rare in page code — you meet them in flags, hashes and colour arithmetic.</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Errors — try, catch, finally</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Statements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Errors happen at run time</a:t>
            </a:r>
            <a:br/>
            <a:r>
              <a:rPr sz="1600" b="0" i="0">
                <a:solidFill>
                  <a:srgbClr val="4A5568"/>
                </a:solidFill>
                <a:latin typeface="Calibri"/>
                <a:ea typeface="Calibri"/>
              </a:rPr>
              <a:t>Bad input, a missing element, a typo in an identifier.</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try marks the risky code</a:t>
            </a:r>
            <a:br/>
            <a:r>
              <a:rPr sz="1600" b="0" i="0">
                <a:solidFill>
                  <a:srgbClr val="4A5568"/>
                </a:solidFill>
                <a:latin typeface="Calibri"/>
                <a:ea typeface="Calibri"/>
              </a:rPr>
              <a:t>Everything in the block is watched.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catch handles the failure</a:t>
            </a:r>
            <a:br/>
            <a:r>
              <a:rPr sz="1600" b="0" i="0">
                <a:solidFill>
                  <a:srgbClr val="4A5568"/>
                </a:solidFill>
                <a:latin typeface="Calibri"/>
                <a:ea typeface="Calibri"/>
              </a:rPr>
              <a:t>Whatever was thrown arrives as the parameter.</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finally always runs</a:t>
            </a:r>
            <a:br/>
            <a:r>
              <a:rPr sz="1600" b="0" i="0">
                <a:solidFill>
                  <a:srgbClr val="4A5568"/>
                </a:solidFill>
                <a:latin typeface="Calibri"/>
                <a:ea typeface="Calibri"/>
              </a:rPr>
              <a:t>Put the clean-up here, whether or not something went wrong.</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throw your own</a:t>
            </a:r>
            <a:br/>
            <a:r>
              <a:rPr sz="1600" b="0" i="0">
                <a:solidFill>
                  <a:srgbClr val="4A5568"/>
                </a:solidFill>
                <a:latin typeface="Calibri"/>
                <a:ea typeface="Calibri"/>
              </a:rPr>
              <a:t>A string, an Error object — anything you can describe the problem with.</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function</a:t>
            </a:r>
            <a:r>
              <a:rPr sz="1300" b="0" i="0">
                <a:solidFill>
                  <a:srgbClr val="D7DDE6"/>
                </a:solidFill>
                <a:latin typeface="Consolas"/>
                <a:ea typeface="Consolas"/>
              </a:rPr>
              <a:t> </a:t>
            </a:r>
            <a:r>
              <a:rPr sz="1300" b="0" i="0">
                <a:solidFill>
                  <a:srgbClr val="E5C07B"/>
                </a:solidFill>
                <a:latin typeface="Consolas"/>
                <a:ea typeface="Consolas"/>
              </a:rPr>
              <a:t>check</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x</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"demo"</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value</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try</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if</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x</a:t>
            </a:r>
            <a:r>
              <a:rPr sz="1300" b="0" i="0">
                <a:solidFill>
                  <a:srgbClr val="D7DDE6"/>
                </a:solidFill>
                <a:latin typeface="Consolas"/>
                <a:ea typeface="Consolas"/>
              </a:rPr>
              <a:t>.</a:t>
            </a:r>
            <a:r>
              <a:rPr sz="1300" b="0" i="0">
                <a:solidFill>
                  <a:srgbClr val="E5C07B"/>
                </a:solidFill>
                <a:latin typeface="Consolas"/>
                <a:ea typeface="Consolas"/>
              </a:rPr>
              <a:t>trim</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throw</a:t>
            </a:r>
            <a:r>
              <a:rPr sz="1300" b="0" i="0">
                <a:solidFill>
                  <a:srgbClr val="D7DDE6"/>
                </a:solidFill>
                <a:latin typeface="Consolas"/>
                <a:ea typeface="Consolas"/>
              </a:rPr>
              <a:t> </a:t>
            </a:r>
            <a:r>
              <a:rPr sz="1300" b="0" i="0">
                <a:solidFill>
                  <a:srgbClr val="98C379"/>
                </a:solidFill>
                <a:latin typeface="Consolas"/>
                <a:ea typeface="Consolas"/>
              </a:rPr>
              <a:t>"empty"</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if</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61AFEF"/>
                </a:solidFill>
                <a:latin typeface="Consolas"/>
                <a:ea typeface="Consolas"/>
              </a:rPr>
              <a:t>isNaN</a:t>
            </a:r>
            <a:r>
              <a:rPr sz="1300" b="0" i="0">
                <a:solidFill>
                  <a:srgbClr val="D7DDE6"/>
                </a:solidFill>
                <a:latin typeface="Consolas"/>
                <a:ea typeface="Consolas"/>
              </a:rPr>
              <a:t>(</a:t>
            </a:r>
            <a:r>
              <a:rPr sz="1300" b="0" i="0">
                <a:solidFill>
                  <a:srgbClr val="D7DDE6"/>
                </a:solidFill>
                <a:latin typeface="Consolas"/>
                <a:ea typeface="Consolas"/>
              </a:rPr>
              <a:t>x</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throw</a:t>
            </a:r>
            <a:r>
              <a:rPr sz="1300" b="0" i="0">
                <a:solidFill>
                  <a:srgbClr val="D7DDE6"/>
                </a:solidFill>
                <a:latin typeface="Consolas"/>
                <a:ea typeface="Consolas"/>
              </a:rPr>
              <a:t> </a:t>
            </a:r>
            <a:r>
              <a:rPr sz="1300" b="0" i="0">
                <a:solidFill>
                  <a:srgbClr val="98C379"/>
                </a:solidFill>
                <a:latin typeface="Consolas"/>
                <a:ea typeface="Consolas"/>
              </a:rPr>
              <a:t>"not a number"</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x</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61AFEF"/>
                </a:solidFill>
                <a:latin typeface="Consolas"/>
                <a:ea typeface="Consolas"/>
              </a:rPr>
              <a:t>Number</a:t>
            </a:r>
            <a:r>
              <a:rPr sz="1300" b="0" i="0">
                <a:solidFill>
                  <a:srgbClr val="D7DDE6"/>
                </a:solidFill>
                <a:latin typeface="Consolas"/>
                <a:ea typeface="Consolas"/>
              </a:rPr>
              <a:t>(</a:t>
            </a:r>
            <a:r>
              <a:rPr sz="1300" b="0" i="0">
                <a:solidFill>
                  <a:srgbClr val="D7DDE6"/>
                </a:solidFill>
                <a:latin typeface="Consolas"/>
                <a:ea typeface="Consolas"/>
              </a:rPr>
              <a:t>x</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if</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x</a:t>
            </a:r>
            <a:r>
              <a:rPr sz="1300" b="0" i="0">
                <a:solidFill>
                  <a:srgbClr val="D7DDE6"/>
                </a:solidFill>
                <a:latin typeface="Consolas"/>
                <a:ea typeface="Consolas"/>
              </a:rPr>
              <a:t> </a:t>
            </a:r>
            <a:r>
              <a:rPr sz="1300" b="0" i="0">
                <a:solidFill>
                  <a:srgbClr val="D7DDE6"/>
                </a:solidFill>
                <a:latin typeface="Consolas"/>
                <a:ea typeface="Consolas"/>
              </a:rPr>
              <a:t>&lt;</a:t>
            </a:r>
            <a:r>
              <a:rPr sz="1300" b="0" i="0">
                <a:solidFill>
                  <a:srgbClr val="D7DDE6"/>
                </a:solidFill>
                <a:latin typeface="Consolas"/>
                <a:ea typeface="Consolas"/>
              </a:rPr>
              <a:t> </a:t>
            </a:r>
            <a:r>
              <a:rPr sz="1300" b="0" i="0">
                <a:solidFill>
                  <a:srgbClr val="E5C07B"/>
                </a:solidFill>
                <a:latin typeface="Consolas"/>
                <a:ea typeface="Consolas"/>
              </a:rPr>
              <a:t>5</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throw</a:t>
            </a:r>
            <a:r>
              <a:rPr sz="1300" b="0" i="0">
                <a:solidFill>
                  <a:srgbClr val="D7DDE6"/>
                </a:solidFill>
                <a:latin typeface="Consolas"/>
                <a:ea typeface="Consolas"/>
              </a:rPr>
              <a:t> </a:t>
            </a:r>
            <a:r>
              <a:rPr sz="1300" b="0" i="0">
                <a:solidFill>
                  <a:srgbClr val="98C379"/>
                </a:solidFill>
                <a:latin typeface="Consolas"/>
                <a:ea typeface="Consolas"/>
              </a:rPr>
              <a:t>"too low"</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if</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x</a:t>
            </a:r>
            <a:r>
              <a:rPr sz="1300" b="0" i="0">
                <a:solidFill>
                  <a:srgbClr val="D7DDE6"/>
                </a:solidFill>
                <a:latin typeface="Consolas"/>
                <a:ea typeface="Consolas"/>
              </a:rPr>
              <a:t> </a:t>
            </a:r>
            <a:r>
              <a:rPr sz="1300" b="0" i="0">
                <a:solidFill>
                  <a:srgbClr val="D7DDE6"/>
                </a:solidFill>
                <a:latin typeface="Consolas"/>
                <a:ea typeface="Consolas"/>
              </a:rPr>
              <a:t>&gt;</a:t>
            </a:r>
            <a:r>
              <a:rPr sz="1300" b="0" i="0">
                <a:solidFill>
                  <a:srgbClr val="D7DDE6"/>
                </a:solidFill>
                <a:latin typeface="Consolas"/>
                <a:ea typeface="Consolas"/>
              </a:rPr>
              <a:t> </a:t>
            </a:r>
            <a:r>
              <a:rPr sz="1300" b="0" i="0">
                <a:solidFill>
                  <a:srgbClr val="E5C07B"/>
                </a:solidFill>
                <a:latin typeface="Consolas"/>
                <a:ea typeface="Consolas"/>
              </a:rPr>
              <a:t>10</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throw</a:t>
            </a:r>
            <a:r>
              <a:rPr sz="1300" b="0" i="0">
                <a:solidFill>
                  <a:srgbClr val="D7DDE6"/>
                </a:solidFill>
                <a:latin typeface="Consolas"/>
                <a:ea typeface="Consolas"/>
              </a:rPr>
              <a:t> </a:t>
            </a:r>
            <a:r>
              <a:rPr sz="1300" b="0" i="0">
                <a:solidFill>
                  <a:srgbClr val="98C379"/>
                </a:solidFill>
                <a:latin typeface="Consolas"/>
                <a:ea typeface="Consolas"/>
              </a:rPr>
              <a:t>"too high"</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catch</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err</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message</a:t>
            </a:r>
            <a:r>
              <a:rPr sz="1300" b="0" i="0">
                <a:solidFill>
                  <a:srgbClr val="D7DDE6"/>
                </a:solidFill>
                <a:latin typeface="Consolas"/>
                <a:ea typeface="Consolas"/>
              </a:rPr>
              <a:t>.</a:t>
            </a:r>
            <a:r>
              <a:rPr sz="1300" b="0" i="0">
                <a:solidFill>
                  <a:srgbClr val="D7DDE6"/>
                </a:solidFill>
                <a:latin typeface="Consolas"/>
                <a:ea typeface="Consolas"/>
              </a:rPr>
              <a:t>innerHTML</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"Input is "</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err</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editor.html?example=js-basics/error-try-catch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05</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Functions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Define once, call as often as you like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Parameters in, results out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Scope decides who can see a variable — and strict mode catches the slips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Defining a Function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Functions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 named block of code</a:t>
            </a:r>
            <a:br/>
            <a:r>
              <a:rPr sz="1600" b="0" i="0">
                <a:solidFill>
                  <a:srgbClr val="4A5568"/>
                </a:solidFill>
                <a:latin typeface="Calibri"/>
                <a:ea typeface="Calibri"/>
              </a:rPr>
              <a:t>It runs when something calls it — not when it is defined.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Parameters are the names</a:t>
            </a:r>
            <a:br/>
            <a:r>
              <a:rPr sz="1600" b="0" i="0">
                <a:solidFill>
                  <a:srgbClr val="4A5568"/>
                </a:solidFill>
                <a:latin typeface="Calibri"/>
                <a:ea typeface="Calibri"/>
              </a:rPr>
              <a:t>They are listed in the parentheses of the definition.</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return hands a result back</a:t>
            </a:r>
            <a:br/>
            <a:r>
              <a:rPr sz="1600" b="0" i="0">
                <a:solidFill>
                  <a:srgbClr val="4A5568"/>
                </a:solidFill>
                <a:latin typeface="Calibri"/>
                <a:ea typeface="Calibri"/>
              </a:rPr>
              <a:t>Execution stops there and the caller receives it.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No return means undefined</a:t>
            </a:r>
            <a:br/>
            <a:r>
              <a:rPr sz="1600" b="0" i="0">
                <a:solidFill>
                  <a:srgbClr val="4A5568"/>
                </a:solidFill>
                <a:latin typeface="Calibri"/>
                <a:ea typeface="Calibri"/>
              </a:rPr>
              <a:t>The call still happens; it just evaluates to nothing.</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function</a:t>
            </a:r>
            <a:r>
              <a:rPr sz="1300" b="0" i="0">
                <a:solidFill>
                  <a:srgbClr val="D7DDE6"/>
                </a:solidFill>
                <a:latin typeface="Consolas"/>
                <a:ea typeface="Consolas"/>
              </a:rPr>
              <a:t> </a:t>
            </a:r>
            <a:r>
              <a:rPr sz="1300" b="0" i="0">
                <a:solidFill>
                  <a:srgbClr val="E5C07B"/>
                </a:solidFill>
                <a:latin typeface="Consolas"/>
                <a:ea typeface="Consolas"/>
              </a:rPr>
              <a:t>myFunction</a:t>
            </a:r>
            <a:r>
              <a:rPr sz="1300" b="0" i="0">
                <a:solidFill>
                  <a:srgbClr val="D7DDE6"/>
                </a:solidFill>
                <a:latin typeface="Consolas"/>
                <a:ea typeface="Consolas"/>
              </a:rPr>
              <a:t>(</a:t>
            </a:r>
            <a:r>
              <a:rPr sz="1300" b="0" i="0">
                <a:solidFill>
                  <a:srgbClr val="D7DDE6"/>
                </a:solidFill>
                <a:latin typeface="Consolas"/>
                <a:ea typeface="Consolas"/>
              </a:rPr>
              <a:t>p1</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p2</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return</a:t>
            </a:r>
            <a:r>
              <a:rPr sz="1300" b="0" i="0">
                <a:solidFill>
                  <a:srgbClr val="D7DDE6"/>
                </a:solidFill>
                <a:latin typeface="Consolas"/>
                <a:ea typeface="Consolas"/>
              </a:rPr>
              <a:t> </a:t>
            </a:r>
            <a:r>
              <a:rPr sz="1300" b="0" i="0">
                <a:solidFill>
                  <a:srgbClr val="D7DDE6"/>
                </a:solidFill>
                <a:latin typeface="Consolas"/>
                <a:ea typeface="Consolas"/>
              </a:rPr>
              <a:t>p1</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p2</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result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myFunction</a:t>
            </a:r>
            <a:r>
              <a:rPr sz="1300" b="0" i="0">
                <a:solidFill>
                  <a:srgbClr val="D7DDE6"/>
                </a:solidFill>
                <a:latin typeface="Consolas"/>
                <a:ea typeface="Consolas"/>
              </a:rPr>
              <a:t>(</a:t>
            </a:r>
            <a:r>
              <a:rPr sz="1300" b="0" i="0">
                <a:solidFill>
                  <a:srgbClr val="E5C07B"/>
                </a:solidFill>
                <a:latin typeface="Consolas"/>
                <a:ea typeface="Consolas"/>
              </a:rPr>
              <a:t>4</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3</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"demo"</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innerHTML</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98C379"/>
                </a:solidFill>
                <a:latin typeface="Consolas"/>
                <a:ea typeface="Consolas"/>
              </a:rPr>
              <a:t>"The result is: "</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result</a:t>
            </a:r>
            <a:r>
              <a:rPr sz="1300" b="0" i="0">
                <a:solidFill>
                  <a:srgbClr val="D7DDE6"/>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editor.html?example=js-basics/function-return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Parameters, Arguments and Defaults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Functions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Parameters vs arguments</a:t>
            </a:r>
            <a:br/>
            <a:r>
              <a:rPr sz="1500" b="0" i="0">
                <a:solidFill>
                  <a:srgbClr val="4A5568"/>
                </a:solidFill>
                <a:latin typeface="Calibri"/>
                <a:ea typeface="Calibri"/>
              </a:rPr>
              <a:t>Parameters are the names in the definition; arguments are the values you actually pass.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No types are declared</a:t>
            </a:r>
            <a:br/>
            <a:r>
              <a:rPr sz="1500" b="0" i="0">
                <a:solidFill>
                  <a:srgbClr val="4A5568"/>
                </a:solidFill>
                <a:latin typeface="Calibri"/>
                <a:ea typeface="Calibri"/>
              </a:rPr>
              <a:t>The definition never says string or number — the caller decides.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No count check either</a:t>
            </a:r>
            <a:br/>
            <a:r>
              <a:rPr sz="1500" b="0" i="0">
                <a:solidFill>
                  <a:srgbClr val="4A5568"/>
                </a:solidFill>
                <a:latin typeface="Calibri"/>
                <a:ea typeface="Calibri"/>
              </a:rPr>
              <a:t>Extra arguments are ignored; missing ones arrive as undefined.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Defaults fill the gap</a:t>
            </a:r>
            <a:br/>
            <a:r>
              <a:rPr sz="1500" b="0" i="0">
                <a:solidFill>
                  <a:srgbClr val="4A5568"/>
                </a:solidFill>
                <a:latin typeface="Calibri"/>
                <a:ea typeface="Calibri"/>
              </a:rPr>
              <a:t>function greet(who = "guest") uses the default when nothing is passed.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Defaults go last</a:t>
            </a:r>
            <a:br/>
            <a:r>
              <a:rPr sz="1500" b="0" i="0">
                <a:solidFill>
                  <a:srgbClr val="4A5568"/>
                </a:solidFill>
                <a:latin typeface="Calibri"/>
                <a:ea typeface="Calibri"/>
              </a:rPr>
              <a:t>A defaulted parameter must come after the plain ones.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arguments is legacy</a:t>
            </a:r>
            <a:br/>
            <a:r>
              <a:rPr sz="1500" b="0" i="0">
                <a:solidFill>
                  <a:srgbClr val="4A5568"/>
                </a:solidFill>
                <a:latin typeface="Calibri"/>
                <a:ea typeface="Calibri"/>
              </a:rPr>
              <a:t>Every function has one, but rest parameters …args are clearer.</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A missing argument is undefined</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C678DD"/>
                </a:solidFill>
                <a:latin typeface="Consolas"/>
                <a:ea typeface="Consolas"/>
              </a:rPr>
              <a:t>function</a:t>
            </a:r>
            <a:r>
              <a:rPr sz="1350" b="0" i="0">
                <a:solidFill>
                  <a:srgbClr val="D7DDE6"/>
                </a:solidFill>
                <a:latin typeface="Consolas"/>
                <a:ea typeface="Consolas"/>
              </a:rPr>
              <a:t> </a:t>
            </a:r>
            <a:r>
              <a:rPr sz="1350" b="0" i="0">
                <a:solidFill>
                  <a:srgbClr val="E5C07B"/>
                </a:solidFill>
                <a:latin typeface="Consolas"/>
                <a:ea typeface="Consolas"/>
              </a:rPr>
              <a:t>f</a:t>
            </a:r>
            <a:r>
              <a:rPr sz="1350" b="0" i="0">
                <a:solidFill>
                  <a:srgbClr val="D7DDE6"/>
                </a:solidFill>
                <a:latin typeface="Consolas"/>
                <a:ea typeface="Consolas"/>
              </a:rPr>
              <a:t>(</a:t>
            </a:r>
            <a:r>
              <a:rPr sz="1350" b="0" i="0">
                <a:solidFill>
                  <a:srgbClr val="D7DDE6"/>
                </a:solidFill>
                <a:latin typeface="Consolas"/>
                <a:ea typeface="Consolas"/>
              </a:rPr>
              <a:t>x</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y</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E5C07B"/>
                </a:solidFill>
                <a:latin typeface="Consolas"/>
                <a:ea typeface="Consolas"/>
              </a:rPr>
              <a:t>2</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E5C07B"/>
                </a:solidFill>
                <a:latin typeface="Consolas"/>
                <a:ea typeface="Consolas"/>
              </a:rPr>
              <a:t>f</a:t>
            </a:r>
            <a:r>
              <a:rPr sz="1350" b="0" i="0">
                <a:solidFill>
                  <a:srgbClr val="D7DDE6"/>
                </a:solidFill>
                <a:latin typeface="Consolas"/>
                <a:ea typeface="Consolas"/>
              </a:rPr>
              <a:t>(</a:t>
            </a:r>
            <a:r>
              <a:rPr sz="1350" b="0" i="0">
                <a:solidFill>
                  <a:srgbClr val="E5C07B"/>
                </a:solidFill>
                <a:latin typeface="Consolas"/>
                <a:ea typeface="Consolas"/>
              </a:rPr>
              <a:t>3</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x</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E5C07B"/>
                </a:solidFill>
                <a:latin typeface="Consolas"/>
                <a:ea typeface="Consolas"/>
              </a:rPr>
              <a:t>3</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y</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E5C07B"/>
                </a:solidFill>
                <a:latin typeface="Consolas"/>
                <a:ea typeface="Consolas"/>
              </a:rPr>
              <a:t>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Invocation and Return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Functions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Three ways to run a function</a:t>
            </a:r>
            <a:br/>
            <a:r>
              <a:rPr sz="1600" b="0" i="0">
                <a:solidFill>
                  <a:srgbClr val="4A5568"/>
                </a:solidFill>
                <a:latin typeface="Calibri"/>
                <a:ea typeface="Calibri"/>
              </a:rPr>
              <a:t>An event, a call from your own code, or self-invocation.</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 means call it now</a:t>
            </a:r>
            <a:br/>
            <a:r>
              <a:rPr sz="1600" b="0" i="0">
                <a:solidFill>
                  <a:srgbClr val="4A5568"/>
                </a:solidFill>
                <a:latin typeface="Calibri"/>
                <a:ea typeface="Calibri"/>
              </a:rPr>
              <a:t>toCelsius(77) runs the function and gives you the result.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Without () you have the function</a:t>
            </a:r>
            <a:br/>
            <a:r>
              <a:rPr sz="1600" b="0" i="0">
                <a:solidFill>
                  <a:srgbClr val="4A5568"/>
                </a:solidFill>
                <a:latin typeface="Calibri"/>
                <a:ea typeface="Calibri"/>
              </a:rPr>
              <a:t>The bare identifier is the function itself.</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 call is an expression</a:t>
            </a:r>
            <a:br/>
            <a:r>
              <a:rPr sz="1600" b="0" i="0">
                <a:solidFill>
                  <a:srgbClr val="4A5568"/>
                </a:solidFill>
                <a:latin typeface="Calibri"/>
                <a:ea typeface="Calibri"/>
              </a:rPr>
              <a:t>You can use it inside any calculation or assignment.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function</a:t>
            </a:r>
            <a:r>
              <a:rPr sz="1300" b="0" i="0">
                <a:solidFill>
                  <a:srgbClr val="D7DDE6"/>
                </a:solidFill>
                <a:latin typeface="Consolas"/>
                <a:ea typeface="Consolas"/>
              </a:rPr>
              <a:t> </a:t>
            </a:r>
            <a:r>
              <a:rPr sz="1300" b="0" i="0">
                <a:solidFill>
                  <a:srgbClr val="E5C07B"/>
                </a:solidFill>
                <a:latin typeface="Consolas"/>
                <a:ea typeface="Consolas"/>
              </a:rPr>
              <a:t>toCelsius</a:t>
            </a:r>
            <a:r>
              <a:rPr sz="1300" b="0" i="0">
                <a:solidFill>
                  <a:srgbClr val="D7DDE6"/>
                </a:solidFill>
                <a:latin typeface="Consolas"/>
                <a:ea typeface="Consolas"/>
              </a:rPr>
              <a:t>(</a:t>
            </a:r>
            <a:r>
              <a:rPr sz="1300" b="0" i="0">
                <a:solidFill>
                  <a:srgbClr val="D7DDE6"/>
                </a:solidFill>
                <a:latin typeface="Consolas"/>
                <a:ea typeface="Consolas"/>
              </a:rPr>
              <a:t>f</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return</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f</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32</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1.8</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E5C07B"/>
                </a:solidFill>
                <a:latin typeface="Consolas"/>
                <a:ea typeface="Consolas"/>
              </a:rPr>
              <a:t>toCelsius</a:t>
            </a:r>
            <a:r>
              <a:rPr sz="1300" b="0" i="0">
                <a:solidFill>
                  <a:srgbClr val="D7DDE6"/>
                </a:solidFill>
                <a:latin typeface="Consolas"/>
                <a:ea typeface="Consolas"/>
              </a:rPr>
              <a:t>(</a:t>
            </a:r>
            <a:r>
              <a:rPr sz="1300" b="0" i="0">
                <a:solidFill>
                  <a:srgbClr val="E5C07B"/>
                </a:solidFill>
                <a:latin typeface="Consolas"/>
                <a:ea typeface="Consolas"/>
              </a:rPr>
              <a:t>77</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7F8C98"/>
                </a:solidFill>
                <a:latin typeface="Consolas"/>
                <a:ea typeface="Consolas"/>
              </a:rPr>
              <a:t>      // 25 — the result</a:t>
            </a:r>
          </a:p>
          <a:p>
            <a:pPr>
              <a:spcAft>
                <a:spcPts val="350"/>
              </a:spcAft>
            </a:pPr>
            <a:r>
              <a:rPr sz="1300" b="0" i="0">
                <a:solidFill>
                  <a:srgbClr val="D7DDE6"/>
                </a:solidFill>
                <a:latin typeface="Consolas"/>
                <a:ea typeface="Consolas"/>
              </a:rPr>
              <a:t>toCelsius</a:t>
            </a:r>
            <a:r>
              <a:rPr sz="1300" b="0" i="0">
                <a:solidFill>
                  <a:srgbClr val="D7DDE6"/>
                </a:solidFill>
                <a:latin typeface="Consolas"/>
                <a:ea typeface="Consolas"/>
              </a:rPr>
              <a:t>;</a:t>
            </a:r>
            <a:r>
              <a:rPr sz="1300" b="0" i="0">
                <a:solidFill>
                  <a:srgbClr val="7F8C98"/>
                </a:solidFill>
                <a:latin typeface="Consolas"/>
                <a:ea typeface="Consolas"/>
              </a:rPr>
              <a:t>         // the function itself</a:t>
            </a:r>
          </a:p>
          <a:p>
            <a:pPr>
              <a:spcAft>
                <a:spcPts val="350"/>
              </a:spcAft>
            </a:pP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"It is "</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toCelsius</a:t>
            </a:r>
            <a:r>
              <a:rPr sz="1300" b="0" i="0">
                <a:solidFill>
                  <a:srgbClr val="D7DDE6"/>
                </a:solidFill>
                <a:latin typeface="Consolas"/>
                <a:ea typeface="Consolas"/>
              </a:rPr>
              <a:t>(</a:t>
            </a:r>
            <a:r>
              <a:rPr sz="1300" b="0" i="0">
                <a:solidFill>
                  <a:srgbClr val="E5C07B"/>
                </a:solidFill>
                <a:latin typeface="Consolas"/>
                <a:ea typeface="Consolas"/>
              </a:rPr>
              <a:t>77</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 C"</a:t>
            </a:r>
            <a:r>
              <a:rPr sz="1300" b="0" i="0">
                <a:solidFill>
                  <a:srgbClr val="D7DDE6"/>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editor.html?example=js-basics/function-name-vs-call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Function Expressions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Functions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 function is a thing you can hold</a:t>
            </a:r>
            <a:br/>
            <a:r>
              <a:rPr sz="1600" b="0" i="0">
                <a:solidFill>
                  <a:srgbClr val="4A5568"/>
                </a:solidFill>
                <a:latin typeface="Calibri"/>
                <a:ea typeface="Calibri"/>
              </a:rPr>
              <a:t>It can be stored in a variable, passed around and returned.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Anonymous is normal</a:t>
            </a:r>
            <a:br/>
            <a:r>
              <a:rPr sz="1600" b="0" i="0">
                <a:solidFill>
                  <a:srgbClr val="4A5568"/>
                </a:solidFill>
                <a:latin typeface="Calibri"/>
                <a:ea typeface="Calibri"/>
              </a:rPr>
              <a:t>The expression usually has no identifier of its own.</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Call it by the variable</a:t>
            </a:r>
            <a:br/>
            <a:r>
              <a:rPr sz="1600" b="0" i="0">
                <a:solidFill>
                  <a:srgbClr val="4A5568"/>
                </a:solidFill>
                <a:latin typeface="Calibri"/>
                <a:ea typeface="Calibri"/>
              </a:rPr>
              <a:t>The variable becomes the handle you use.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Hoisting differs</a:t>
            </a:r>
            <a:br/>
            <a:r>
              <a:rPr sz="1600" b="0" i="0">
                <a:solidFill>
                  <a:srgbClr val="4A5568"/>
                </a:solidFill>
                <a:latin typeface="Calibri"/>
                <a:ea typeface="Calibri"/>
              </a:rPr>
              <a:t>A declaration is hoisted; a function expression is not ready before its line.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const</a:t>
            </a:r>
            <a:r>
              <a:rPr sz="1300" b="0" i="0">
                <a:solidFill>
                  <a:srgbClr val="D7DDE6"/>
                </a:solidFill>
                <a:latin typeface="Consolas"/>
                <a:ea typeface="Consolas"/>
              </a:rPr>
              <a:t> </a:t>
            </a:r>
            <a:r>
              <a:rPr sz="1300" b="0" i="0">
                <a:solidFill>
                  <a:srgbClr val="D7DDE6"/>
                </a:solidFill>
                <a:latin typeface="Consolas"/>
                <a:ea typeface="Consolas"/>
              </a:rPr>
              <a:t>multiply</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function</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a</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b</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return</a:t>
            </a:r>
            <a:r>
              <a:rPr sz="1300" b="0" i="0">
                <a:solidFill>
                  <a:srgbClr val="D7DDE6"/>
                </a:solidFill>
                <a:latin typeface="Consolas"/>
                <a:ea typeface="Consolas"/>
              </a:rPr>
              <a:t> </a:t>
            </a:r>
            <a:r>
              <a:rPr sz="1300" b="0" i="0">
                <a:solidFill>
                  <a:srgbClr val="D7DDE6"/>
                </a:solidFill>
                <a:latin typeface="Consolas"/>
                <a:ea typeface="Consolas"/>
              </a:rPr>
              <a:t>a</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b</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z</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multiply</a:t>
            </a:r>
            <a:r>
              <a:rPr sz="1300" b="0" i="0">
                <a:solidFill>
                  <a:srgbClr val="D7DDE6"/>
                </a:solidFill>
                <a:latin typeface="Consolas"/>
                <a:ea typeface="Consolas"/>
              </a:rPr>
              <a:t>(</a:t>
            </a:r>
            <a:r>
              <a:rPr sz="1300" b="0" i="0">
                <a:solidFill>
                  <a:srgbClr val="E5C07B"/>
                </a:solidFill>
                <a:latin typeface="Consolas"/>
                <a:ea typeface="Consolas"/>
              </a:rPr>
              <a:t>4</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3</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7F8C98"/>
                </a:solidFill>
                <a:latin typeface="Consolas"/>
                <a:ea typeface="Consolas"/>
              </a:rPr>
              <a:t>   // 12</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editor.html?example=js-basics/function-expression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Self-Invoking Functions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Functions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It runs the moment it is defined</a:t>
            </a:r>
            <a:br/>
            <a:r>
              <a:rPr sz="1600" b="0" i="0">
                <a:solidFill>
                  <a:srgbClr val="4A5568"/>
                </a:solidFill>
                <a:latin typeface="Calibri"/>
                <a:ea typeface="Calibri"/>
              </a:rPr>
              <a:t>No identifier, no call — just an expression followed by ().</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Wrap it in parentheses first</a:t>
            </a:r>
            <a:br/>
            <a:r>
              <a:rPr sz="1600" b="0" i="0">
                <a:solidFill>
                  <a:srgbClr val="4A5568"/>
                </a:solidFill>
                <a:latin typeface="Calibri"/>
                <a:ea typeface="Calibri"/>
              </a:rPr>
              <a:t>That is what turns a definition into an expression.</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Everything inside stays inside</a:t>
            </a:r>
            <a:br/>
            <a:r>
              <a:rPr sz="1600" b="0" i="0">
                <a:solidFill>
                  <a:srgbClr val="4A5568"/>
                </a:solidFill>
                <a:latin typeface="Calibri"/>
                <a:ea typeface="Calibri"/>
              </a:rPr>
              <a:t>A tidy way to keep helper variables off the global scope.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Not a declaration</a:t>
            </a:r>
            <a:br/>
            <a:r>
              <a:rPr sz="1600" b="0" i="0">
                <a:solidFill>
                  <a:srgbClr val="4A5568"/>
                </a:solidFill>
                <a:latin typeface="Calibri"/>
                <a:ea typeface="Calibri"/>
              </a:rPr>
              <a:t>function f(){}() is a syntax error — the outer parentheses are needed.</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D7DDE6"/>
                </a:solidFill>
                <a:latin typeface="Consolas"/>
                <a:ea typeface="Consolas"/>
              </a:rPr>
              <a:t>(</a:t>
            </a:r>
            <a:r>
              <a:rPr sz="1300" b="0" i="0">
                <a:solidFill>
                  <a:srgbClr val="C678DD"/>
                </a:solidFill>
                <a:latin typeface="Consolas"/>
                <a:ea typeface="Consolas"/>
              </a:rPr>
              <a:t>function</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x</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"Hello!!"</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"demo"</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innerHTML</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x</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editor.html?example=js-basics/function-iife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Functions as Parameters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Functions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Functions are values</a:t>
            </a:r>
            <a:br/>
            <a:r>
              <a:rPr sz="1500" b="0" i="0">
                <a:solidFill>
                  <a:srgbClr val="4A5568"/>
                </a:solidFill>
                <a:latin typeface="Calibri"/>
                <a:ea typeface="Calibri"/>
              </a:rPr>
              <a:t>So a function can be an argument to another function.</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That argument is a callback</a:t>
            </a:r>
            <a:br/>
            <a:r>
              <a:rPr sz="1500" b="0" i="0">
                <a:solidFill>
                  <a:srgbClr val="4A5568"/>
                </a:solidFill>
                <a:latin typeface="Calibri"/>
                <a:ea typeface="Calibri"/>
              </a:rPr>
              <a:t>The function you hand over, to be called later by the receiver.</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It is how the page reacts</a:t>
            </a:r>
            <a:br/>
            <a:r>
              <a:rPr sz="1500" b="0" i="0">
                <a:solidFill>
                  <a:srgbClr val="4A5568"/>
                </a:solidFill>
                <a:latin typeface="Calibri"/>
                <a:ea typeface="Calibri"/>
              </a:rPr>
              <a:t>addEventListener("click", handler) is exactly this idea.</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Timers work the same way</a:t>
            </a:r>
            <a:br/>
            <a:r>
              <a:rPr sz="1500" b="0" i="0">
                <a:solidFill>
                  <a:srgbClr val="4A5568"/>
                </a:solidFill>
                <a:latin typeface="Calibri"/>
                <a:ea typeface="Calibri"/>
              </a:rPr>
              <a:t>setTimeout(handler, 1000) calls your function after a second.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Arrow form is shorter</a:t>
            </a:r>
            <a:br/>
            <a:r>
              <a:rPr sz="1500" b="0" i="0">
                <a:solidFill>
                  <a:srgbClr val="4A5568"/>
                </a:solidFill>
                <a:latin typeface="Calibri"/>
                <a:ea typeface="Calibri"/>
              </a:rPr>
              <a:t>() =&gt; console.log("done") — and it does not create its own this.</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A function you can pass around</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61AFEF"/>
                </a:solidFill>
                <a:latin typeface="Consolas"/>
                <a:ea typeface="Consolas"/>
              </a:rPr>
              <a:t>setTimeout</a:t>
            </a:r>
            <a:r>
              <a:rPr sz="1350" b="0" i="0">
                <a:solidFill>
                  <a:srgbClr val="D7DDE6"/>
                </a:solidFill>
                <a:latin typeface="Consolas"/>
                <a:ea typeface="Consolas"/>
              </a:rPr>
              <a:t>(</a:t>
            </a:r>
            <a:r>
              <a:rPr sz="1350" b="0" i="0">
                <a:solidFill>
                  <a:srgbClr val="D7DDE6"/>
                </a:solidFill>
                <a:latin typeface="Consolas"/>
                <a:ea typeface="Consolas"/>
              </a:rPr>
              <a:t>(</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a:t>
            </a:r>
            <a:r>
              <a:rPr sz="1350" b="0" i="0">
                <a:solidFill>
                  <a:srgbClr val="D7DDE6"/>
                </a:solidFill>
                <a:latin typeface="Consolas"/>
                <a:ea typeface="Consolas"/>
              </a:rPr>
              <a:t>&gt;</a:t>
            </a:r>
            <a:r>
              <a:rPr sz="1350" b="0" i="0">
                <a:solidFill>
                  <a:srgbClr val="D7DDE6"/>
                </a:solidFill>
                <a:latin typeface="Consolas"/>
                <a:ea typeface="Consolas"/>
              </a:rPr>
              <a:t> </a:t>
            </a:r>
            <a:r>
              <a:rPr sz="1350" b="0" i="0">
                <a:solidFill>
                  <a:srgbClr val="E5C07B"/>
                </a:solidFill>
                <a:latin typeface="Consolas"/>
                <a:ea typeface="Consolas"/>
              </a:rPr>
              <a:t>sayHi</a:t>
            </a:r>
            <a:r>
              <a:rPr sz="1350" b="0" i="0">
                <a:solidFill>
                  <a:srgbClr val="D7DDE6"/>
                </a:solidFill>
                <a:latin typeface="Consolas"/>
                <a:ea typeface="Consolas"/>
              </a:rPr>
              <a:t>(</a:t>
            </a:r>
            <a:r>
              <a:rPr sz="1350" b="0" i="0">
                <a:solidFill>
                  <a:srgbClr val="D7DDE6"/>
                </a:solidFill>
                <a:latin typeface="Consolas"/>
                <a:ea typeface="Consolas"/>
              </a:rPr>
              <a:t>)</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E5C07B"/>
                </a:solidFill>
                <a:latin typeface="Consolas"/>
                <a:ea typeface="Consolas"/>
              </a:rPr>
              <a:t>1000</a:t>
            </a:r>
            <a:r>
              <a:rPr sz="1350" b="0" i="0">
                <a:solidFill>
                  <a:srgbClr val="D7DDE6"/>
                </a:solidFill>
                <a:latin typeface="Consolas"/>
                <a:ea typeface="Consolas"/>
              </a:rPr>
              <a: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Variable Scope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Functions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Global scope</a:t>
            </a:r>
            <a:br/>
            <a:r>
              <a:rPr sz="1600" b="0" i="0">
                <a:solidFill>
                  <a:srgbClr val="4A5568"/>
                </a:solidFill>
                <a:latin typeface="Calibri"/>
                <a:ea typeface="Calibri"/>
              </a:rPr>
              <a:t>Declared outside every function — visible to the whole page.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Function scope</a:t>
            </a:r>
            <a:br/>
            <a:r>
              <a:rPr sz="1600" b="0" i="0">
                <a:solidFill>
                  <a:srgbClr val="4A5568"/>
                </a:solidFill>
                <a:latin typeface="Calibri"/>
                <a:ea typeface="Calibri"/>
              </a:rPr>
              <a:t>Declared inside a function — gone when that function returns.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Block scope</a:t>
            </a:r>
            <a:br/>
            <a:r>
              <a:rPr sz="1600" b="0" i="0">
                <a:solidFill>
                  <a:srgbClr val="4A5568"/>
                </a:solidFill>
                <a:latin typeface="Calibri"/>
                <a:ea typeface="Calibri"/>
              </a:rPr>
              <a:t>let and const inside { } stay inside; var does not.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An undeclared assignment is a bug</a:t>
            </a:r>
            <a:br/>
            <a:r>
              <a:rPr sz="1600" b="0" i="0">
                <a:solidFill>
                  <a:srgbClr val="4A5568"/>
                </a:solidFill>
                <a:latin typeface="Calibri"/>
                <a:ea typeface="Calibri"/>
              </a:rPr>
              <a:t>Writing carName = "Volvo" with no declaration creates a global by accident.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carName</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"Volvo"</a:t>
            </a:r>
            <a:r>
              <a:rPr sz="1300" b="0" i="0">
                <a:solidFill>
                  <a:srgbClr val="D7DDE6"/>
                </a:solidFill>
                <a:latin typeface="Consolas"/>
                <a:ea typeface="Consolas"/>
              </a:rPr>
              <a:t>;</a:t>
            </a:r>
            <a:r>
              <a:rPr sz="1300" b="0" i="0">
                <a:solidFill>
                  <a:srgbClr val="7F8C98"/>
                </a:solidFill>
                <a:latin typeface="Consolas"/>
                <a:ea typeface="Consolas"/>
              </a:rPr>
              <a:t>     // global</a:t>
            </a:r>
          </a:p>
          <a:p>
            <a:pPr>
              <a:spcAft>
                <a:spcPts val="350"/>
              </a:spcAft>
            </a:pPr>
            <a:r>
              <a:rPr sz="1300" b="0" i="0">
                <a:solidFill>
                  <a:srgbClr val="C678DD"/>
                </a:solidFill>
                <a:latin typeface="Consolas"/>
                <a:ea typeface="Consolas"/>
              </a:rPr>
              <a:t>function</a:t>
            </a:r>
            <a:r>
              <a:rPr sz="1300" b="0" i="0">
                <a:solidFill>
                  <a:srgbClr val="D7DDE6"/>
                </a:solidFill>
                <a:latin typeface="Consolas"/>
                <a:ea typeface="Consolas"/>
              </a:rPr>
              <a:t> </a:t>
            </a:r>
            <a:r>
              <a:rPr sz="1300" b="0" i="0">
                <a:solidFill>
                  <a:srgbClr val="E5C07B"/>
                </a:solidFill>
                <a:latin typeface="Consolas"/>
                <a:ea typeface="Consolas"/>
              </a:rPr>
              <a:t>myFunction</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let</a:t>
            </a:r>
            <a:r>
              <a:rPr sz="1300" b="0" i="0">
                <a:solidFill>
                  <a:srgbClr val="D7DDE6"/>
                </a:solidFill>
                <a:latin typeface="Consolas"/>
                <a:ea typeface="Consolas"/>
              </a:rPr>
              <a:t> </a:t>
            </a:r>
            <a:r>
              <a:rPr sz="1300" b="0" i="0">
                <a:solidFill>
                  <a:srgbClr val="D7DDE6"/>
                </a:solidFill>
                <a:latin typeface="Consolas"/>
                <a:ea typeface="Consolas"/>
              </a:rPr>
              <a:t>local</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"Saab"</a:t>
            </a:r>
            <a:r>
              <a:rPr sz="1300" b="0" i="0">
                <a:solidFill>
                  <a:srgbClr val="D7DDE6"/>
                </a:solidFill>
                <a:latin typeface="Consolas"/>
                <a:ea typeface="Consolas"/>
              </a:rPr>
              <a:t>;</a:t>
            </a:r>
            <a:r>
              <a:rPr sz="1300" b="0" i="0">
                <a:solidFill>
                  <a:srgbClr val="7F8C98"/>
                </a:solidFill>
                <a:latin typeface="Consolas"/>
                <a:ea typeface="Consolas"/>
              </a:rPr>
              <a:t>       // local</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carName</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"Fiat"</a:t>
            </a:r>
            <a:r>
              <a:rPr sz="1300" b="0" i="0">
                <a:solidFill>
                  <a:srgbClr val="D7DDE6"/>
                </a:solidFill>
                <a:latin typeface="Consolas"/>
                <a:ea typeface="Consolas"/>
              </a:rPr>
              <a:t>;</a:t>
            </a:r>
            <a:r>
              <a:rPr sz="1300" b="0" i="0">
                <a:solidFill>
                  <a:srgbClr val="7F8C98"/>
                </a:solidFill>
                <a:latin typeface="Consolas"/>
                <a:ea typeface="Consolas"/>
              </a:rPr>
              <a:t>        // changes the global</a:t>
            </a:r>
          </a:p>
          <a:p>
            <a:pPr>
              <a:spcAft>
                <a:spcPts val="350"/>
              </a:spcAft>
            </a:pPr>
            <a:r>
              <a:rPr sz="1300" b="0" i="0">
                <a:solidFill>
                  <a:srgbClr val="D7DDE6"/>
                </a:solidFill>
                <a:latin typeface="Consolas"/>
                <a:ea typeface="Consolas"/>
              </a:rPr>
              <a:t>}</a:t>
            </a:r>
          </a:p>
          <a:p>
            <a:pPr>
              <a:spcAft>
                <a:spcPts val="350"/>
              </a:spcAft>
            </a:pPr>
            <a:r>
              <a:rPr sz="1300" b="0" i="0">
                <a:solidFill>
                  <a:srgbClr val="E5C07B"/>
                </a:solidFill>
                <a:latin typeface="Consolas"/>
                <a:ea typeface="Consolas"/>
              </a:rPr>
              <a:t>myFunction</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61AFEF"/>
                </a:solidFill>
                <a:latin typeface="Consolas"/>
                <a:ea typeface="Consolas"/>
              </a:rPr>
              <a:t>console</a:t>
            </a:r>
            <a:r>
              <a:rPr sz="1300" b="0" i="0">
                <a:solidFill>
                  <a:srgbClr val="D7DDE6"/>
                </a:solidFill>
                <a:latin typeface="Consolas"/>
                <a:ea typeface="Consolas"/>
              </a:rPr>
              <a:t>.</a:t>
            </a:r>
            <a:r>
              <a:rPr sz="1300" b="0" i="0">
                <a:solidFill>
                  <a:srgbClr val="E5C07B"/>
                </a:solidFill>
                <a:latin typeface="Consolas"/>
                <a:ea typeface="Consolas"/>
              </a:rPr>
              <a:t>log</a:t>
            </a:r>
            <a:r>
              <a:rPr sz="1300" b="0" i="0">
                <a:solidFill>
                  <a:srgbClr val="D7DDE6"/>
                </a:solidFill>
                <a:latin typeface="Consolas"/>
                <a:ea typeface="Consolas"/>
              </a:rPr>
              <a:t>(</a:t>
            </a:r>
            <a:r>
              <a:rPr sz="1300" b="0" i="0">
                <a:solidFill>
                  <a:srgbClr val="D7DDE6"/>
                </a:solidFill>
                <a:latin typeface="Consolas"/>
                <a:ea typeface="Consolas"/>
              </a:rPr>
              <a:t>local</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7F8C98"/>
                </a:solidFill>
                <a:latin typeface="Consolas"/>
                <a:ea typeface="Consolas"/>
              </a:rPr>
              <a:t>       // ReferenceError</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editor.html?example=js-basics/scope-global-leak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Strict Mode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Functions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 directive, not a statement</a:t>
            </a:r>
            <a:br/>
            <a:r>
              <a:rPr sz="1600" b="0" i="0">
                <a:solidFill>
                  <a:srgbClr val="4A5568"/>
                </a:solidFill>
                <a:latin typeface="Calibri"/>
                <a:ea typeface="Calibri"/>
              </a:rPr>
              <a:t>"use strict"; at the top of a script or a function.</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It turns silent mistakes into errors</a:t>
            </a:r>
            <a:br/>
            <a:r>
              <a:rPr sz="1600" b="0" i="0">
                <a:solidFill>
                  <a:srgbClr val="4A5568"/>
                </a:solidFill>
                <a:latin typeface="Calibri"/>
                <a:ea typeface="Calibri"/>
              </a:rPr>
              <a:t>An undeclared assignment throws instead of creating a global.</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Local or global</a:t>
            </a:r>
            <a:br/>
            <a:r>
              <a:rPr sz="1600" b="0" i="0">
                <a:solidFill>
                  <a:srgbClr val="4A5568"/>
                </a:solidFill>
                <a:latin typeface="Calibri"/>
                <a:ea typeface="Calibri"/>
              </a:rPr>
              <a:t>Inside a function it applies to that function only.</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Modern code is strict already</a:t>
            </a:r>
            <a:br/>
            <a:r>
              <a:rPr sz="1600" b="0" i="0">
                <a:solidFill>
                  <a:srgbClr val="4A5568"/>
                </a:solidFill>
                <a:latin typeface="Calibri"/>
                <a:ea typeface="Calibri"/>
              </a:rPr>
              <a:t>Modules and classes are strict by default; the directive matters for plain scripts.</a:t>
            </a:r>
          </a:p>
        </p:txBody>
      </p:sp>
      <p:sp>
        <p:nvSpPr>
          <p:cNvPr id="6" name="Rounded Rectangle 5"/>
          <p:cNvSpPr/>
          <p:nvPr/>
        </p:nvSpPr>
        <p:spPr>
          <a:xfrm>
            <a:off x="5836615" y="978408"/>
            <a:ext cx="5806440" cy="3593591"/>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2935223"/>
          </a:xfrm>
          <a:prstGeom prst="rect">
            <a:avLst/>
          </a:prstGeom>
          <a:noFill/>
        </p:spPr>
        <p:txBody>
          <a:bodyPr wrap="none" lIns="0" rIns="0" tIns="0" bIns="0">
            <a:spAutoFit/>
          </a:bodyPr>
          <a:lstStyle/>
          <a:p>
            <a:pPr>
              <a:spcAft>
                <a:spcPts val="350"/>
              </a:spcAft>
            </a:pPr>
            <a:r>
              <a:rPr sz="1300" b="0" i="0">
                <a:solidFill>
                  <a:srgbClr val="98C379"/>
                </a:solidFill>
                <a:latin typeface="Consolas"/>
                <a:ea typeface="Consolas"/>
              </a:rPr>
              <a:t>"use strict"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x</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3.14</a:t>
            </a:r>
            <a:r>
              <a:rPr sz="1300" b="0" i="0">
                <a:solidFill>
                  <a:srgbClr val="D7DDE6"/>
                </a:solidFill>
                <a:latin typeface="Consolas"/>
                <a:ea typeface="Consolas"/>
              </a:rPr>
              <a:t>;</a:t>
            </a:r>
            <a:r>
              <a:rPr sz="1300" b="0" i="0">
                <a:solidFill>
                  <a:srgbClr val="7F8C98"/>
                </a:solidFill>
                <a:latin typeface="Consolas"/>
                <a:ea typeface="Consolas"/>
              </a:rPr>
              <a:t>        // ReferenceError</a:t>
            </a:r>
          </a:p>
          <a:p>
            <a:pPr>
              <a:spcAft>
                <a:spcPts val="350"/>
              </a:spcAft>
            </a:pPr>
            <a:r>
              <a:rPr sz="1300" b="0" i="0">
                <a:solidFill>
                  <a:srgbClr val="D7DDE6"/>
                </a:solidFill>
                <a:latin typeface="Consolas"/>
                <a:ea typeface="Consolas"/>
              </a:rPr>
              <a:t/>
            </a:r>
          </a:p>
          <a:p>
            <a:pPr>
              <a:spcAft>
                <a:spcPts val="350"/>
              </a:spcAft>
            </a:pPr>
            <a:r>
              <a:rPr sz="1300" b="0" i="0">
                <a:solidFill>
                  <a:srgbClr val="C678DD"/>
                </a:solidFill>
                <a:latin typeface="Consolas"/>
                <a:ea typeface="Consolas"/>
              </a:rPr>
              <a:t>function</a:t>
            </a:r>
            <a:r>
              <a:rPr sz="1300" b="0" i="0">
                <a:solidFill>
                  <a:srgbClr val="D7DDE6"/>
                </a:solidFill>
                <a:latin typeface="Consolas"/>
                <a:ea typeface="Consolas"/>
              </a:rPr>
              <a:t> </a:t>
            </a:r>
            <a:r>
              <a:rPr sz="1300" b="0" i="0">
                <a:solidFill>
                  <a:srgbClr val="E5C07B"/>
                </a:solidFill>
                <a:latin typeface="Consolas"/>
                <a:ea typeface="Consolas"/>
              </a:rPr>
              <a:t>myFunction</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98C379"/>
                </a:solidFill>
                <a:latin typeface="Consolas"/>
                <a:ea typeface="Consolas"/>
              </a:rPr>
              <a:t>"use strict"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y</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3.14</a:t>
            </a:r>
            <a:r>
              <a:rPr sz="1300" b="0" i="0">
                <a:solidFill>
                  <a:srgbClr val="D7DDE6"/>
                </a:solidFill>
                <a:latin typeface="Consolas"/>
                <a:ea typeface="Consolas"/>
              </a:rPr>
              <a:t>;</a:t>
            </a:r>
            <a:r>
              <a:rPr sz="1300" b="0" i="0">
                <a:solidFill>
                  <a:srgbClr val="7F8C98"/>
                </a:solidFill>
                <a:latin typeface="Consolas"/>
                <a:ea typeface="Consolas"/>
              </a:rPr>
              <a:t>      // throws here too</a:t>
            </a:r>
          </a:p>
          <a:p>
            <a:pPr>
              <a:spcAft>
                <a:spcPts val="350"/>
              </a:spcAft>
            </a:pPr>
            <a:r>
              <a:rPr sz="1300" b="0" i="0">
                <a:solidFill>
                  <a:srgbClr val="D7DDE6"/>
                </a:solidFill>
                <a:latin typeface="Consolas"/>
                <a:ea typeface="Consolas"/>
              </a:rPr>
              <a:t>}</a:t>
            </a:r>
          </a:p>
        </p:txBody>
      </p:sp>
      <p:sp>
        <p:nvSpPr>
          <p:cNvPr id="9" name="Rounded Rectangle 8"/>
          <p:cNvSpPr/>
          <p:nvPr/>
        </p:nvSpPr>
        <p:spPr>
          <a:xfrm>
            <a:off x="5836615" y="4736591"/>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855463"/>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editor.html?example=js-basics/strict-variable</a:t>
            </a:r>
          </a:p>
        </p:txBody>
      </p:sp>
      <p:sp>
        <p:nvSpPr>
          <p:cNvPr id="11" name="Rounded Rectangle 10"/>
          <p:cNvSpPr/>
          <p:nvPr/>
        </p:nvSpPr>
        <p:spPr>
          <a:xfrm>
            <a:off x="5836615" y="5294375"/>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2647" y="5413247"/>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3"/>
                <a:extLst>
                  <a:ext uri="{A12FA001-AC4F-418D-AE19-62706E023703}">
                    <ahyp:hlinkClr xmlns:ahyp="http://schemas.microsoft.com/office/drawing/2018/hyperlinkcolor" val="tx"/>
                  </a:ext>
                </a:extLst>
              </a:rPr>
              <a:t>editor.html?example=js-basics/strict-global</a:t>
            </a:r>
          </a:p>
        </p:txBody>
      </p:sp>
      <p:sp>
        <p:nvSpPr>
          <p:cNvPr id="13" name="Rounded Rectangle 12"/>
          <p:cNvSpPr/>
          <p:nvPr/>
        </p:nvSpPr>
        <p:spPr>
          <a:xfrm>
            <a:off x="5836615" y="5852159"/>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2647" y="5971031"/>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4"/>
                <a:extLst>
                  <a:ext uri="{A12FA001-AC4F-418D-AE19-62706E023703}">
                    <ahyp:hlinkClr xmlns:ahyp="http://schemas.microsoft.com/office/drawing/2018/hyperlinkcolor" val="tx"/>
                  </a:ext>
                </a:extLst>
              </a:rPr>
              <a:t>editor.html?example=js-basics/strict-local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06</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Objects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An object is a bag of named values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Methods are functions stored as properties, and this is the owner</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Properties can be added, deleted and computed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Objects — Properties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Objects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 bag of named values</a:t>
            </a:r>
            <a:br/>
            <a:r>
              <a:rPr sz="1600" b="0" i="0">
                <a:solidFill>
                  <a:srgbClr val="4A5568"/>
                </a:solidFill>
                <a:latin typeface="Calibri"/>
                <a:ea typeface="Calibri"/>
              </a:rPr>
              <a:t>Pairs of key and data inside curly braces.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Two ways to read</a:t>
            </a:r>
            <a:br/>
            <a:r>
              <a:rPr sz="1600" b="0" i="0">
                <a:solidFill>
                  <a:srgbClr val="4A5568"/>
                </a:solidFill>
                <a:latin typeface="Calibri"/>
                <a:ea typeface="Calibri"/>
              </a:rPr>
              <a:t>person.firstname, or person["firstname"] when the key is computed.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Any </a:t>
            </a:r>
            <a:r>
              <a:rPr sz="1800" b="1" i="0">
                <a:solidFill>
                  <a:srgbClr val="B8860B"/>
                </a:solidFill>
                <a:latin typeface="Consolas"/>
                <a:ea typeface="Consolas"/>
              </a:rPr>
              <a:t>value</a:t>
            </a:r>
            <a:r>
              <a:rPr sz="1800" b="1" i="0">
                <a:solidFill>
                  <a:srgbClr val="1A2230"/>
                </a:solidFill>
                <a:latin typeface="Calibri"/>
                <a:ea typeface="Calibri"/>
              </a:rPr>
              <a:t> can be a property</a:t>
            </a:r>
            <a:br/>
            <a:r>
              <a:rPr sz="1600" b="0" i="0">
                <a:solidFill>
                  <a:srgbClr val="4A5568"/>
                </a:solidFill>
                <a:latin typeface="Calibri"/>
                <a:ea typeface="Calibri"/>
              </a:rPr>
              <a:t>Strings, numbers, arrays — even functions.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An object is a reference</a:t>
            </a:r>
            <a:br/>
            <a:r>
              <a:rPr sz="1600" b="0" i="0">
                <a:solidFill>
                  <a:srgbClr val="4A5568"/>
                </a:solidFill>
                <a:latin typeface="Calibri"/>
                <a:ea typeface="Calibri"/>
              </a:rPr>
              <a:t>Two names can point at the same object, and both see a change.</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const</a:t>
            </a:r>
            <a:r>
              <a:rPr sz="1300" b="0" i="0">
                <a:solidFill>
                  <a:srgbClr val="D7DDE6"/>
                </a:solidFill>
                <a:latin typeface="Consolas"/>
                <a:ea typeface="Consolas"/>
              </a:rPr>
              <a:t> </a:t>
            </a:r>
            <a:r>
              <a:rPr sz="1300" b="0" i="0">
                <a:solidFill>
                  <a:srgbClr val="D7DDE6"/>
                </a:solidFill>
                <a:latin typeface="Consolas"/>
                <a:ea typeface="Consolas"/>
              </a:rPr>
              <a:t>person</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firstname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"John"</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lastname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"Doe"</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age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50</a:t>
            </a:r>
          </a:p>
          <a:p>
            <a:pPr>
              <a:spcAft>
                <a:spcPts val="350"/>
              </a:spcAft>
            </a:pP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D7DDE6"/>
                </a:solidFill>
                <a:latin typeface="Consolas"/>
                <a:ea typeface="Consolas"/>
              </a:rPr>
              <a:t>person</a:t>
            </a:r>
            <a:r>
              <a:rPr sz="1300" b="0" i="0">
                <a:solidFill>
                  <a:srgbClr val="D7DDE6"/>
                </a:solidFill>
                <a:latin typeface="Consolas"/>
                <a:ea typeface="Consolas"/>
              </a:rPr>
              <a:t>.</a:t>
            </a:r>
            <a:r>
              <a:rPr sz="1300" b="0" i="0">
                <a:solidFill>
                  <a:srgbClr val="D7DDE6"/>
                </a:solidFill>
                <a:latin typeface="Consolas"/>
                <a:ea typeface="Consolas"/>
              </a:rPr>
              <a:t>firstname</a:t>
            </a:r>
            <a:r>
              <a:rPr sz="1300" b="0" i="0">
                <a:solidFill>
                  <a:srgbClr val="D7DDE6"/>
                </a:solidFill>
                <a:latin typeface="Consolas"/>
                <a:ea typeface="Consolas"/>
              </a:rPr>
              <a:t>;</a:t>
            </a:r>
            <a:r>
              <a:rPr sz="1300" b="0" i="0">
                <a:solidFill>
                  <a:srgbClr val="7F8C98"/>
                </a:solidFill>
                <a:latin typeface="Consolas"/>
                <a:ea typeface="Consolas"/>
              </a:rPr>
              <a:t>     // "John"</a:t>
            </a:r>
          </a:p>
          <a:p>
            <a:pPr>
              <a:spcAft>
                <a:spcPts val="350"/>
              </a:spcAft>
            </a:pPr>
            <a:r>
              <a:rPr sz="1300" b="0" i="0">
                <a:solidFill>
                  <a:srgbClr val="D7DDE6"/>
                </a:solidFill>
                <a:latin typeface="Consolas"/>
                <a:ea typeface="Consolas"/>
              </a:rPr>
              <a:t>person</a:t>
            </a:r>
            <a:r>
              <a:rPr sz="1300" b="0" i="0">
                <a:solidFill>
                  <a:srgbClr val="D7DDE6"/>
                </a:solidFill>
                <a:latin typeface="Consolas"/>
                <a:ea typeface="Consolas"/>
              </a:rPr>
              <a:t>[</a:t>
            </a:r>
            <a:r>
              <a:rPr sz="1300" b="0" i="0">
                <a:solidFill>
                  <a:srgbClr val="98C379"/>
                </a:solidFill>
                <a:latin typeface="Consolas"/>
                <a:ea typeface="Consolas"/>
              </a:rPr>
              <a:t>"lastname"</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7F8C98"/>
                </a:solidFill>
                <a:latin typeface="Consolas"/>
                <a:ea typeface="Consolas"/>
              </a:rPr>
              <a:t>   // "Doe"</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editor.html?example=js-basics/object-brackets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Object Methods and this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Objects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 </a:t>
            </a:r>
            <a:r>
              <a:rPr sz="1800" b="1" i="0">
                <a:solidFill>
                  <a:srgbClr val="B8860B"/>
                </a:solidFill>
                <a:latin typeface="Consolas"/>
                <a:ea typeface="Consolas"/>
              </a:rPr>
              <a:t>method</a:t>
            </a:r>
            <a:r>
              <a:rPr sz="1800" b="1" i="0">
                <a:solidFill>
                  <a:srgbClr val="1A2230"/>
                </a:solidFill>
                <a:latin typeface="Calibri"/>
                <a:ea typeface="Calibri"/>
              </a:rPr>
              <a:t> is a function in a property</a:t>
            </a:r>
            <a:br/>
            <a:r>
              <a:rPr sz="1600" b="0" i="0">
                <a:solidFill>
                  <a:srgbClr val="4A5568"/>
                </a:solidFill>
                <a:latin typeface="Calibri"/>
                <a:ea typeface="Calibri"/>
              </a:rPr>
              <a:t>What is stored there is a function definition.</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this is the owner</a:t>
            </a:r>
            <a:br/>
            <a:r>
              <a:rPr sz="1600" b="0" i="0">
                <a:solidFill>
                  <a:srgbClr val="4A5568"/>
                </a:solidFill>
                <a:latin typeface="Calibri"/>
                <a:ea typeface="Calibri"/>
              </a:rPr>
              <a:t>Inside the </a:t>
            </a:r>
            <a:r>
              <a:rPr sz="1600" b="0" i="0">
                <a:solidFill>
                  <a:srgbClr val="B8860B"/>
                </a:solidFill>
                <a:latin typeface="Consolas"/>
                <a:ea typeface="Consolas"/>
              </a:rPr>
              <a:t>method</a:t>
            </a:r>
            <a:r>
              <a:rPr sz="1600" b="0" i="0">
                <a:solidFill>
                  <a:srgbClr val="4A5568"/>
                </a:solidFill>
                <a:latin typeface="Calibri"/>
                <a:ea typeface="Calibri"/>
              </a:rPr>
              <a:t>, this is the object the call was made on.</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Call it with the dot</a:t>
            </a:r>
            <a:br/>
            <a:r>
              <a:rPr sz="1600" b="0" i="0">
                <a:solidFill>
                  <a:srgbClr val="4A5568"/>
                </a:solidFill>
                <a:latin typeface="Calibri"/>
                <a:ea typeface="Calibri"/>
              </a:rPr>
              <a:t>person.fullName() — the call is what fixes this.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Arrow functions do not bind this</a:t>
            </a:r>
            <a:br/>
            <a:r>
              <a:rPr sz="1600" b="0" i="0">
                <a:solidFill>
                  <a:srgbClr val="4A5568"/>
                </a:solidFill>
                <a:latin typeface="Calibri"/>
                <a:ea typeface="Calibri"/>
              </a:rPr>
              <a:t>They take it from the surrounding code, so use the function form for a </a:t>
            </a:r>
            <a:r>
              <a:rPr sz="1600" b="0" i="0">
                <a:solidFill>
                  <a:srgbClr val="B8860B"/>
                </a:solidFill>
                <a:latin typeface="Consolas"/>
                <a:ea typeface="Consolas"/>
              </a:rPr>
              <a:t>method</a:t>
            </a:r>
            <a:r>
              <a:rPr sz="1600" b="0" i="0">
                <a:solidFill>
                  <a:srgbClr val="4A5568"/>
                </a:solidFill>
                <a:latin typeface="Calibri"/>
                <a:ea typeface="Calibri"/>
              </a:rPr>
              <a: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const</a:t>
            </a:r>
            <a:r>
              <a:rPr sz="1300" b="0" i="0">
                <a:solidFill>
                  <a:srgbClr val="D7DDE6"/>
                </a:solidFill>
                <a:latin typeface="Consolas"/>
                <a:ea typeface="Consolas"/>
              </a:rPr>
              <a:t> </a:t>
            </a:r>
            <a:r>
              <a:rPr sz="1300" b="0" i="0">
                <a:solidFill>
                  <a:srgbClr val="D7DDE6"/>
                </a:solidFill>
                <a:latin typeface="Consolas"/>
                <a:ea typeface="Consolas"/>
              </a:rPr>
              <a:t>person</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firstName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"John"</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lastName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"Doe"</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fullName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function</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return</a:t>
            </a:r>
            <a:r>
              <a:rPr sz="1300" b="0" i="0">
                <a:solidFill>
                  <a:srgbClr val="D7DDE6"/>
                </a:solidFill>
                <a:latin typeface="Consolas"/>
                <a:ea typeface="Consolas"/>
              </a:rPr>
              <a:t> </a:t>
            </a:r>
            <a:r>
              <a:rPr sz="1300" b="0" i="0">
                <a:solidFill>
                  <a:srgbClr val="C678DD"/>
                </a:solidFill>
                <a:latin typeface="Consolas"/>
                <a:ea typeface="Consolas"/>
              </a:rPr>
              <a:t>this</a:t>
            </a:r>
            <a:r>
              <a:rPr sz="1300" b="0" i="0">
                <a:solidFill>
                  <a:srgbClr val="D7DDE6"/>
                </a:solidFill>
                <a:latin typeface="Consolas"/>
                <a:ea typeface="Consolas"/>
              </a:rPr>
              <a:t>.</a:t>
            </a:r>
            <a:r>
              <a:rPr sz="1300" b="0" i="0">
                <a:solidFill>
                  <a:srgbClr val="D7DDE6"/>
                </a:solidFill>
                <a:latin typeface="Consolas"/>
                <a:ea typeface="Consolas"/>
              </a:rPr>
              <a:t>firstName</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 "</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C678DD"/>
                </a:solidFill>
                <a:latin typeface="Consolas"/>
                <a:ea typeface="Consolas"/>
              </a:rPr>
              <a:t>this</a:t>
            </a:r>
            <a:r>
              <a:rPr sz="1300" b="0" i="0">
                <a:solidFill>
                  <a:srgbClr val="D7DDE6"/>
                </a:solidFill>
                <a:latin typeface="Consolas"/>
                <a:ea typeface="Consolas"/>
              </a:rPr>
              <a:t>.</a:t>
            </a:r>
            <a:r>
              <a:rPr sz="1300" b="0" i="0">
                <a:solidFill>
                  <a:srgbClr val="D7DDE6"/>
                </a:solidFill>
                <a:latin typeface="Consolas"/>
                <a:ea typeface="Consolas"/>
              </a:rPr>
              <a:t>lastName</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D7DDE6"/>
                </a:solidFill>
                <a:latin typeface="Consolas"/>
                <a:ea typeface="Consolas"/>
              </a:rPr>
              <a:t>person</a:t>
            </a:r>
            <a:r>
              <a:rPr sz="1300" b="0" i="0">
                <a:solidFill>
                  <a:srgbClr val="D7DDE6"/>
                </a:solidFill>
                <a:latin typeface="Consolas"/>
                <a:ea typeface="Consolas"/>
              </a:rPr>
              <a:t>.</a:t>
            </a:r>
            <a:r>
              <a:rPr sz="1300" b="0" i="0">
                <a:solidFill>
                  <a:srgbClr val="E5C07B"/>
                </a:solidFill>
                <a:latin typeface="Consolas"/>
                <a:ea typeface="Consolas"/>
              </a:rPr>
              <a:t>fullName</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7F8C98"/>
                </a:solidFill>
                <a:latin typeface="Consolas"/>
                <a:ea typeface="Consolas"/>
              </a:rPr>
              <a:t>   // "John Doe"</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editor.html?example=js-basics/object-method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Adding and Deleting Properties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Objects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Add by assigning</a:t>
            </a:r>
            <a:br/>
            <a:r>
              <a:rPr sz="1600" b="0" i="0">
                <a:solidFill>
                  <a:srgbClr val="4A5568"/>
                </a:solidFill>
                <a:latin typeface="Calibri"/>
                <a:ea typeface="Calibri"/>
              </a:rPr>
              <a:t>person.nationality = "English" creates the property on the spot.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Read it back the same way</a:t>
            </a:r>
            <a:br/>
            <a:r>
              <a:rPr sz="1600" b="0" i="0">
                <a:solidFill>
                  <a:srgbClr val="4A5568"/>
                </a:solidFill>
                <a:latin typeface="Calibri"/>
                <a:ea typeface="Calibri"/>
              </a:rPr>
              <a:t>Dot or brackets, either works.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delete removes it</a:t>
            </a:r>
            <a:br/>
            <a:r>
              <a:rPr sz="1600" b="0" i="0">
                <a:solidFill>
                  <a:srgbClr val="4A5568"/>
                </a:solidFill>
                <a:latin typeface="Calibri"/>
                <a:ea typeface="Calibri"/>
              </a:rPr>
              <a:t>Both the data and the property itself disappear.</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delete is for properties</a:t>
            </a:r>
            <a:br/>
            <a:r>
              <a:rPr sz="1600" b="0" i="0">
                <a:solidFill>
                  <a:srgbClr val="4A5568"/>
                </a:solidFill>
                <a:latin typeface="Calibri"/>
                <a:ea typeface="Calibri"/>
              </a:rPr>
              <a:t>It does nothing to variables or to functions.</a:t>
            </a:r>
          </a:p>
        </p:txBody>
      </p:sp>
      <p:sp>
        <p:nvSpPr>
          <p:cNvPr id="6" name="Rounded Rectangle 5"/>
          <p:cNvSpPr/>
          <p:nvPr/>
        </p:nvSpPr>
        <p:spPr>
          <a:xfrm>
            <a:off x="5836615" y="978408"/>
            <a:ext cx="5806440" cy="4151375"/>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493007"/>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const</a:t>
            </a:r>
            <a:r>
              <a:rPr sz="1300" b="0" i="0">
                <a:solidFill>
                  <a:srgbClr val="D7DDE6"/>
                </a:solidFill>
                <a:latin typeface="Consolas"/>
                <a:ea typeface="Consolas"/>
              </a:rPr>
              <a:t> </a:t>
            </a:r>
            <a:r>
              <a:rPr sz="1300" b="0" i="0">
                <a:solidFill>
                  <a:srgbClr val="D7DDE6"/>
                </a:solidFill>
                <a:latin typeface="Consolas"/>
                <a:ea typeface="Consolas"/>
              </a:rPr>
              <a:t>person</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firstname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"John"</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age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50</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D7DDE6"/>
                </a:solidFill>
                <a:latin typeface="Consolas"/>
                <a:ea typeface="Consolas"/>
              </a:rPr>
              <a:t>person</a:t>
            </a:r>
            <a:r>
              <a:rPr sz="1300" b="0" i="0">
                <a:solidFill>
                  <a:srgbClr val="D7DDE6"/>
                </a:solidFill>
                <a:latin typeface="Consolas"/>
                <a:ea typeface="Consolas"/>
              </a:rPr>
              <a:t>.</a:t>
            </a:r>
            <a:r>
              <a:rPr sz="1300" b="0" i="0">
                <a:solidFill>
                  <a:srgbClr val="D7DDE6"/>
                </a:solidFill>
                <a:latin typeface="Consolas"/>
                <a:ea typeface="Consolas"/>
              </a:rPr>
              <a:t>nationality</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"English"</a:t>
            </a:r>
            <a:r>
              <a:rPr sz="1300" b="0" i="0">
                <a:solidFill>
                  <a:srgbClr val="D7DDE6"/>
                </a:solidFill>
                <a:latin typeface="Consolas"/>
                <a:ea typeface="Consolas"/>
              </a:rPr>
              <a:t>;</a:t>
            </a:r>
            <a:r>
              <a:rPr sz="1300" b="0" i="0">
                <a:solidFill>
                  <a:srgbClr val="7F8C98"/>
                </a:solidFill>
                <a:latin typeface="Consolas"/>
                <a:ea typeface="Consolas"/>
              </a:rPr>
              <a:t>  // added</a:t>
            </a:r>
          </a:p>
          <a:p>
            <a:pPr>
              <a:spcAft>
                <a:spcPts val="350"/>
              </a:spcAft>
            </a:pPr>
            <a:r>
              <a:rPr sz="1300" b="0" i="0">
                <a:solidFill>
                  <a:srgbClr val="C678DD"/>
                </a:solidFill>
                <a:latin typeface="Consolas"/>
                <a:ea typeface="Consolas"/>
              </a:rPr>
              <a:t>delete</a:t>
            </a:r>
            <a:r>
              <a:rPr sz="1300" b="0" i="0">
                <a:solidFill>
                  <a:srgbClr val="D7DDE6"/>
                </a:solidFill>
                <a:latin typeface="Consolas"/>
                <a:ea typeface="Consolas"/>
              </a:rPr>
              <a:t> </a:t>
            </a:r>
            <a:r>
              <a:rPr sz="1300" b="0" i="0">
                <a:solidFill>
                  <a:srgbClr val="D7DDE6"/>
                </a:solidFill>
                <a:latin typeface="Consolas"/>
                <a:ea typeface="Consolas"/>
              </a:rPr>
              <a:t>person</a:t>
            </a:r>
            <a:r>
              <a:rPr sz="1300" b="0" i="0">
                <a:solidFill>
                  <a:srgbClr val="D7DDE6"/>
                </a:solidFill>
                <a:latin typeface="Consolas"/>
                <a:ea typeface="Consolas"/>
              </a:rPr>
              <a:t>.</a:t>
            </a:r>
            <a:r>
              <a:rPr sz="1300" b="0" i="0">
                <a:solidFill>
                  <a:srgbClr val="D7DDE6"/>
                </a:solidFill>
                <a:latin typeface="Consolas"/>
                <a:ea typeface="Consolas"/>
              </a:rPr>
              <a:t>age</a:t>
            </a:r>
            <a:r>
              <a:rPr sz="1300" b="0" i="0">
                <a:solidFill>
                  <a:srgbClr val="D7DDE6"/>
                </a:solidFill>
                <a:latin typeface="Consolas"/>
                <a:ea typeface="Consolas"/>
              </a:rPr>
              <a:t>;</a:t>
            </a:r>
            <a:r>
              <a:rPr sz="1300" b="0" i="0">
                <a:solidFill>
                  <a:srgbClr val="7F8C98"/>
                </a:solidFill>
                <a:latin typeface="Consolas"/>
                <a:ea typeface="Consolas"/>
              </a:rPr>
              <a:t>               // removed</a:t>
            </a:r>
          </a:p>
          <a:p>
            <a:pPr>
              <a:spcAft>
                <a:spcPts val="350"/>
              </a:spcAft>
            </a:pPr>
            <a:r>
              <a:rPr sz="1300" b="0" i="0">
                <a:solidFill>
                  <a:srgbClr val="D7DDE6"/>
                </a:solidFill>
                <a:latin typeface="Consolas"/>
                <a:ea typeface="Consolas"/>
              </a:rPr>
              <a:t>person</a:t>
            </a:r>
            <a:r>
              <a:rPr sz="1300" b="0" i="0">
                <a:solidFill>
                  <a:srgbClr val="D7DDE6"/>
                </a:solidFill>
                <a:latin typeface="Consolas"/>
                <a:ea typeface="Consolas"/>
              </a:rPr>
              <a:t>.</a:t>
            </a:r>
            <a:r>
              <a:rPr sz="1300" b="0" i="0">
                <a:solidFill>
                  <a:srgbClr val="D7DDE6"/>
                </a:solidFill>
                <a:latin typeface="Consolas"/>
                <a:ea typeface="Consolas"/>
              </a:rPr>
              <a:t>age</a:t>
            </a:r>
            <a:r>
              <a:rPr sz="1300" b="0" i="0">
                <a:solidFill>
                  <a:srgbClr val="D7DDE6"/>
                </a:solidFill>
                <a:latin typeface="Consolas"/>
                <a:ea typeface="Consolas"/>
              </a:rPr>
              <a:t>;</a:t>
            </a:r>
            <a:r>
              <a:rPr sz="1300" b="0" i="0">
                <a:solidFill>
                  <a:srgbClr val="7F8C98"/>
                </a:solidFill>
                <a:latin typeface="Consolas"/>
                <a:ea typeface="Consolas"/>
              </a:rPr>
              <a:t>                     // undefined</a:t>
            </a:r>
          </a:p>
        </p:txBody>
      </p:sp>
      <p:sp>
        <p:nvSpPr>
          <p:cNvPr id="9" name="Rounded Rectangle 8"/>
          <p:cNvSpPr/>
          <p:nvPr/>
        </p:nvSpPr>
        <p:spPr>
          <a:xfrm>
            <a:off x="5836615" y="5294375"/>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5413247"/>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editor.html?example=js-basics/object-add-property</a:t>
            </a:r>
          </a:p>
        </p:txBody>
      </p:sp>
      <p:sp>
        <p:nvSpPr>
          <p:cNvPr id="11" name="Rounded Rectangle 10"/>
          <p:cNvSpPr/>
          <p:nvPr/>
        </p:nvSpPr>
        <p:spPr>
          <a:xfrm>
            <a:off x="5836615" y="5852159"/>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2647" y="5971031"/>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3"/>
                <a:extLst>
                  <a:ext uri="{A12FA001-AC4F-418D-AE19-62706E023703}">
                    <ahyp:hlinkClr xmlns:ahyp="http://schemas.microsoft.com/office/drawing/2018/hyperlinkcolor" val="tx"/>
                  </a:ext>
                </a:extLst>
              </a:rPr>
              <a:t>editor.html?example=js-basics/object-delete-property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Getters and Setters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Objects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Computed properties</a:t>
            </a:r>
            <a:br/>
            <a:r>
              <a:rPr sz="1600" b="0" i="0">
                <a:solidFill>
                  <a:srgbClr val="4A5568"/>
                </a:solidFill>
                <a:latin typeface="Calibri"/>
                <a:ea typeface="Calibri"/>
              </a:rPr>
              <a:t>A property that is worked out by a function when you read it.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get</a:t>
            </a:r>
            <a:br/>
            <a:r>
              <a:rPr sz="1600" b="0" i="0">
                <a:solidFill>
                  <a:srgbClr val="4A5568"/>
                </a:solidFill>
                <a:latin typeface="Calibri"/>
                <a:ea typeface="Calibri"/>
              </a:rPr>
              <a:t>Runs when the property is read.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set</a:t>
            </a:r>
            <a:br/>
            <a:r>
              <a:rPr sz="1600" b="0" i="0">
                <a:solidFill>
                  <a:srgbClr val="4A5568"/>
                </a:solidFill>
                <a:latin typeface="Calibri"/>
                <a:ea typeface="Calibri"/>
              </a:rPr>
              <a:t>Runs when the property is assigned — the place to validate.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It looks like a field</a:t>
            </a:r>
            <a:br/>
            <a:r>
              <a:rPr sz="1600" b="0" i="0">
                <a:solidFill>
                  <a:srgbClr val="4A5568"/>
                </a:solidFill>
                <a:latin typeface="Calibri"/>
                <a:ea typeface="Calibri"/>
              </a:rPr>
              <a:t>It reads with no parentheses, yet code runs.</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const</a:t>
            </a:r>
            <a:r>
              <a:rPr sz="1300" b="0" i="0">
                <a:solidFill>
                  <a:srgbClr val="D7DDE6"/>
                </a:solidFill>
                <a:latin typeface="Consolas"/>
                <a:ea typeface="Consolas"/>
              </a:rPr>
              <a:t> </a:t>
            </a:r>
            <a:r>
              <a:rPr sz="1300" b="0" i="0">
                <a:solidFill>
                  <a:srgbClr val="D7DDE6"/>
                </a:solidFill>
                <a:latin typeface="Consolas"/>
                <a:ea typeface="Consolas"/>
              </a:rPr>
              <a:t>person</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firstName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"John"</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language</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"en"</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get</a:t>
            </a:r>
            <a:r>
              <a:rPr sz="1300" b="0" i="0">
                <a:solidFill>
                  <a:srgbClr val="D7DDE6"/>
                </a:solidFill>
                <a:latin typeface="Consolas"/>
                <a:ea typeface="Consolas"/>
              </a:rPr>
              <a:t> </a:t>
            </a:r>
            <a:r>
              <a:rPr sz="1300" b="0" i="0">
                <a:solidFill>
                  <a:srgbClr val="E5C07B"/>
                </a:solidFill>
                <a:latin typeface="Consolas"/>
                <a:ea typeface="Consolas"/>
              </a:rPr>
              <a:t>lang</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C678DD"/>
                </a:solidFill>
                <a:latin typeface="Consolas"/>
                <a:ea typeface="Consolas"/>
              </a:rPr>
              <a:t>return</a:t>
            </a:r>
            <a:r>
              <a:rPr sz="1300" b="0" i="0">
                <a:solidFill>
                  <a:srgbClr val="D7DDE6"/>
                </a:solidFill>
                <a:latin typeface="Consolas"/>
                <a:ea typeface="Consolas"/>
              </a:rPr>
              <a:t> </a:t>
            </a:r>
            <a:r>
              <a:rPr sz="1300" b="0" i="0">
                <a:solidFill>
                  <a:srgbClr val="C678DD"/>
                </a:solidFill>
                <a:latin typeface="Consolas"/>
                <a:ea typeface="Consolas"/>
              </a:rPr>
              <a:t>this</a:t>
            </a:r>
            <a:r>
              <a:rPr sz="1300" b="0" i="0">
                <a:solidFill>
                  <a:srgbClr val="D7DDE6"/>
                </a:solidFill>
                <a:latin typeface="Consolas"/>
                <a:ea typeface="Consolas"/>
              </a:rPr>
              <a:t>.</a:t>
            </a:r>
            <a:r>
              <a:rPr sz="1300" b="0" i="0">
                <a:solidFill>
                  <a:srgbClr val="D7DDE6"/>
                </a:solidFill>
                <a:latin typeface="Consolas"/>
                <a:ea typeface="Consolas"/>
              </a:rPr>
              <a:t>language</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D7DDE6"/>
                </a:solidFill>
                <a:latin typeface="Consolas"/>
                <a:ea typeface="Consolas"/>
              </a:rPr>
              <a:t>person</a:t>
            </a:r>
            <a:r>
              <a:rPr sz="1300" b="0" i="0">
                <a:solidFill>
                  <a:srgbClr val="D7DDE6"/>
                </a:solidFill>
                <a:latin typeface="Consolas"/>
                <a:ea typeface="Consolas"/>
              </a:rPr>
              <a:t>.</a:t>
            </a:r>
            <a:r>
              <a:rPr sz="1300" b="0" i="0">
                <a:solidFill>
                  <a:srgbClr val="D7DDE6"/>
                </a:solidFill>
                <a:latin typeface="Consolas"/>
                <a:ea typeface="Consolas"/>
              </a:rPr>
              <a:t>lang</a:t>
            </a:r>
            <a:r>
              <a:rPr sz="1300" b="0" i="0">
                <a:solidFill>
                  <a:srgbClr val="D7DDE6"/>
                </a:solidFill>
                <a:latin typeface="Consolas"/>
                <a:ea typeface="Consolas"/>
              </a:rPr>
              <a:t>;</a:t>
            </a:r>
            <a:r>
              <a:rPr sz="1300" b="0" i="0">
                <a:solidFill>
                  <a:srgbClr val="7F8C98"/>
                </a:solidFill>
                <a:latin typeface="Consolas"/>
                <a:ea typeface="Consolas"/>
              </a:rPr>
              <a:t>   // runs the getter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Primitives and Objects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Objects</a:t>
            </a:r>
          </a:p>
        </p:txBody>
      </p:sp>
      <p:sp>
        <p:nvSpPr>
          <p:cNvPr id="5" name="TextBox 4"/>
          <p:cNvSpPr txBox="1"/>
          <p:nvPr/>
        </p:nvSpPr>
        <p:spPr>
          <a:xfrm>
            <a:off x="548640" y="932688"/>
            <a:ext cx="10820095" cy="5394960"/>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 primitive is a single thing</a:t>
            </a:r>
            <a:br/>
            <a:r>
              <a:rPr sz="1500" b="0" i="0">
                <a:solidFill>
                  <a:srgbClr val="4A5568"/>
                </a:solidFill>
                <a:latin typeface="Calibri"/>
                <a:ea typeface="Calibri"/>
              </a:rPr>
              <a:t>A string, a number, a boolean, undefined or null — nothing attached.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An object is a collection</a:t>
            </a:r>
            <a:br/>
            <a:r>
              <a:rPr sz="1500" b="0" i="0">
                <a:solidFill>
                  <a:srgbClr val="4A5568"/>
                </a:solidFill>
                <a:latin typeface="Calibri"/>
                <a:ea typeface="Calibri"/>
              </a:rPr>
              <a:t>Named values, with methods available on them.</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Primitives are immutable</a:t>
            </a:r>
            <a:br/>
            <a:r>
              <a:rPr sz="1500" b="0" i="0">
                <a:solidFill>
                  <a:srgbClr val="4A5568"/>
                </a:solidFill>
                <a:latin typeface="Calibri"/>
                <a:ea typeface="Calibri"/>
              </a:rPr>
              <a:t>You can replace it in a variable, never edit it in place.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Objects are mutable and shared</a:t>
            </a:r>
            <a:br/>
            <a:r>
              <a:rPr sz="1500" b="0" i="0">
                <a:solidFill>
                  <a:srgbClr val="4A5568"/>
                </a:solidFill>
                <a:latin typeface="Calibri"/>
                <a:ea typeface="Calibri"/>
              </a:rPr>
              <a:t>Change one and everything pointing at it sees the change.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typeof tells them apart</a:t>
            </a:r>
            <a:br/>
            <a:r>
              <a:rPr sz="1500" b="0" i="0">
                <a:solidFill>
                  <a:srgbClr val="4A5568"/>
                </a:solidFill>
                <a:latin typeface="Calibri"/>
                <a:ea typeface="Calibri"/>
              </a:rPr>
              <a:t>Except null, which answers "object" — the one exception.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07</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The DOM &amp; the BOM</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The page as a tree of objects, rooted at document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Find, change, add and remove — and restyle from JavaScript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Then the browser itself: window, screen, location, history, navigator, timers, cookies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Document Object Model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DOM</a:t>
            </a:r>
          </a:p>
        </p:txBody>
      </p:sp>
      <p:sp>
        <p:nvSpPr>
          <p:cNvPr id="5" name="TextBox 4"/>
          <p:cNvSpPr txBox="1"/>
          <p:nvPr/>
        </p:nvSpPr>
        <p:spPr>
          <a:xfrm>
            <a:off x="548640" y="932688"/>
            <a:ext cx="10820095" cy="5394960"/>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The browser builds a tree</a:t>
            </a:r>
            <a:br/>
            <a:r>
              <a:rPr sz="1500" b="0" i="0">
                <a:solidFill>
                  <a:srgbClr val="4A5568"/>
                </a:solidFill>
                <a:latin typeface="Calibri"/>
                <a:ea typeface="Calibri"/>
              </a:rPr>
              <a:t>Every tag becomes a node; nesting becomes the branches.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document is the root</a:t>
            </a:r>
            <a:br/>
            <a:r>
              <a:rPr sz="1500" b="0" i="0">
                <a:solidFill>
                  <a:srgbClr val="4A5568"/>
                </a:solidFill>
                <a:latin typeface="Calibri"/>
                <a:ea typeface="Calibri"/>
              </a:rPr>
              <a:t>Your way in to everything on the page.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Every node is an object</a:t>
            </a:r>
            <a:br/>
            <a:r>
              <a:rPr sz="1500" b="0" i="0">
                <a:solidFill>
                  <a:srgbClr val="4A5568"/>
                </a:solidFill>
                <a:latin typeface="Calibri"/>
                <a:ea typeface="Calibri"/>
              </a:rPr>
              <a:t>It has properties to read and methods to call.</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Live and mutable</a:t>
            </a:r>
            <a:br/>
            <a:r>
              <a:rPr sz="1500" b="0" i="0">
                <a:solidFill>
                  <a:srgbClr val="4A5568"/>
                </a:solidFill>
                <a:latin typeface="Calibri"/>
                <a:ea typeface="Calibri"/>
              </a:rPr>
              <a:t>Change a node and the browser repaints — no reload.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HTML, CSS and JavaScript meet here</a:t>
            </a:r>
            <a:br/>
            <a:r>
              <a:rPr sz="1500" b="0" i="0">
                <a:solidFill>
                  <a:srgbClr val="4A5568"/>
                </a:solidFill>
                <a:latin typeface="Calibri"/>
                <a:ea typeface="Calibri"/>
              </a:rPr>
              <a:t>The same tree is what CSS selects and what your script edits.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Finding Elements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DOM</a:t>
            </a:r>
          </a:p>
        </p:txBody>
      </p:sp>
      <p:sp>
        <p:nvSpPr>
          <p:cNvPr id="5" name="Rectangle 4"/>
          <p:cNvSpPr/>
          <p:nvPr/>
        </p:nvSpPr>
        <p:spPr>
          <a:xfrm>
            <a:off x="548640" y="932688"/>
            <a:ext cx="5134605"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4805421"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Method</a:t>
            </a:r>
          </a:p>
        </p:txBody>
      </p:sp>
      <p:sp>
        <p:nvSpPr>
          <p:cNvPr id="7" name="Rectangle 6"/>
          <p:cNvSpPr/>
          <p:nvPr/>
        </p:nvSpPr>
        <p:spPr>
          <a:xfrm>
            <a:off x="5683245" y="932688"/>
            <a:ext cx="4217711"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47837" y="932688"/>
            <a:ext cx="3888527"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What you get</a:t>
            </a:r>
          </a:p>
        </p:txBody>
      </p:sp>
      <p:sp>
        <p:nvSpPr>
          <p:cNvPr id="9" name="Rectangle 8"/>
          <p:cNvSpPr/>
          <p:nvPr/>
        </p:nvSpPr>
        <p:spPr>
          <a:xfrm>
            <a:off x="9900956" y="932688"/>
            <a:ext cx="1742098"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65548" y="932688"/>
            <a:ext cx="1412914" cy="512064"/>
          </a:xfrm>
          <a:prstGeom prst="rect">
            <a:avLst/>
          </a:prstGeom>
          <a:noFill/>
        </p:spPr>
        <p:txBody>
          <a:bodyPr wrap="square" anchor="ctr" lIns="0" rIns="0" tIns="0" bIns="0">
            <a:spAutoFit/>
          </a:bodyPr>
          <a:lstStyle/>
          <a:p>
            <a:pPr algn="l">
              <a:lnSpc>
                <a:spcPct val="110000"/>
              </a:lnSpc>
              <a:spcAft>
                <a:spcPts val="0"/>
              </a:spcAft>
            </a:pPr>
            <a:r>
              <a:rPr sz="1250" b="1" i="0">
                <a:solidFill>
                  <a:srgbClr val="FFFFFF"/>
                </a:solidFill>
                <a:latin typeface="Calibri"/>
                <a:ea typeface="Calibri"/>
              </a:rPr>
              <a:t>Style</a:t>
            </a:r>
          </a:p>
        </p:txBody>
      </p:sp>
      <p:sp>
        <p:nvSpPr>
          <p:cNvPr id="11" name="Rectangle 10"/>
          <p:cNvSpPr/>
          <p:nvPr/>
        </p:nvSpPr>
        <p:spPr>
          <a:xfrm>
            <a:off x="548640" y="1444752"/>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4805421"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document.getElementById("x")</a:t>
            </a:r>
          </a:p>
        </p:txBody>
      </p:sp>
      <p:sp>
        <p:nvSpPr>
          <p:cNvPr id="13" name="Rectangle 12"/>
          <p:cNvSpPr/>
          <p:nvPr/>
        </p:nvSpPr>
        <p:spPr>
          <a:xfrm>
            <a:off x="5683245" y="1444752"/>
            <a:ext cx="421771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47837" y="1444752"/>
            <a:ext cx="3888527"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the one element with that id</a:t>
            </a:r>
          </a:p>
        </p:txBody>
      </p:sp>
      <p:sp>
        <p:nvSpPr>
          <p:cNvPr id="15" name="Rectangle 14"/>
          <p:cNvSpPr/>
          <p:nvPr/>
        </p:nvSpPr>
        <p:spPr>
          <a:xfrm>
            <a:off x="9900956" y="1444752"/>
            <a:ext cx="174209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65548" y="1444752"/>
            <a:ext cx="1412914"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classic</a:t>
            </a:r>
          </a:p>
        </p:txBody>
      </p:sp>
      <p:sp>
        <p:nvSpPr>
          <p:cNvPr id="17" name="Rectangle 16"/>
          <p:cNvSpPr/>
          <p:nvPr/>
        </p:nvSpPr>
        <p:spPr>
          <a:xfrm>
            <a:off x="548640" y="2011680"/>
            <a:ext cx="513460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4805421"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document.getElementsByTagName("p")</a:t>
            </a:r>
          </a:p>
        </p:txBody>
      </p:sp>
      <p:sp>
        <p:nvSpPr>
          <p:cNvPr id="19" name="Rectangle 18"/>
          <p:cNvSpPr/>
          <p:nvPr/>
        </p:nvSpPr>
        <p:spPr>
          <a:xfrm>
            <a:off x="5683245" y="2011680"/>
            <a:ext cx="421771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7837" y="2011680"/>
            <a:ext cx="3888527"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a live collection of tags</a:t>
            </a:r>
          </a:p>
        </p:txBody>
      </p:sp>
      <p:sp>
        <p:nvSpPr>
          <p:cNvPr id="21" name="Rectangle 20"/>
          <p:cNvSpPr/>
          <p:nvPr/>
        </p:nvSpPr>
        <p:spPr>
          <a:xfrm>
            <a:off x="9900956" y="2011680"/>
            <a:ext cx="174209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65548" y="2011680"/>
            <a:ext cx="1412914"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classic</a:t>
            </a:r>
          </a:p>
        </p:txBody>
      </p:sp>
      <p:sp>
        <p:nvSpPr>
          <p:cNvPr id="23" name="Rectangle 22"/>
          <p:cNvSpPr/>
          <p:nvPr/>
        </p:nvSpPr>
        <p:spPr>
          <a:xfrm>
            <a:off x="548640" y="2578608"/>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4805421"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document.getElementsByClassName("c")</a:t>
            </a:r>
          </a:p>
        </p:txBody>
      </p:sp>
      <p:sp>
        <p:nvSpPr>
          <p:cNvPr id="25" name="Rectangle 24"/>
          <p:cNvSpPr/>
          <p:nvPr/>
        </p:nvSpPr>
        <p:spPr>
          <a:xfrm>
            <a:off x="5683245" y="2578608"/>
            <a:ext cx="421771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847837" y="2578608"/>
            <a:ext cx="3888527"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a live collection by class</a:t>
            </a:r>
          </a:p>
        </p:txBody>
      </p:sp>
      <p:sp>
        <p:nvSpPr>
          <p:cNvPr id="27" name="Rectangle 26"/>
          <p:cNvSpPr/>
          <p:nvPr/>
        </p:nvSpPr>
        <p:spPr>
          <a:xfrm>
            <a:off x="9900956" y="2578608"/>
            <a:ext cx="174209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65548" y="2578608"/>
            <a:ext cx="1412914"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classic</a:t>
            </a:r>
          </a:p>
        </p:txBody>
      </p:sp>
      <p:sp>
        <p:nvSpPr>
          <p:cNvPr id="29" name="Rectangle 28"/>
          <p:cNvSpPr/>
          <p:nvPr/>
        </p:nvSpPr>
        <p:spPr>
          <a:xfrm>
            <a:off x="548640" y="3145536"/>
            <a:ext cx="513460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4805421"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document.querySelector("sel")</a:t>
            </a:r>
          </a:p>
        </p:txBody>
      </p:sp>
      <p:sp>
        <p:nvSpPr>
          <p:cNvPr id="31" name="Rectangle 30"/>
          <p:cNvSpPr/>
          <p:nvPr/>
        </p:nvSpPr>
        <p:spPr>
          <a:xfrm>
            <a:off x="5683245" y="3145536"/>
            <a:ext cx="4217711"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47837" y="3145536"/>
            <a:ext cx="3888527"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the first match of any selector</a:t>
            </a:r>
          </a:p>
        </p:txBody>
      </p:sp>
      <p:sp>
        <p:nvSpPr>
          <p:cNvPr id="33" name="Rectangle 32"/>
          <p:cNvSpPr/>
          <p:nvPr/>
        </p:nvSpPr>
        <p:spPr>
          <a:xfrm>
            <a:off x="9900956" y="3145536"/>
            <a:ext cx="1742098"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65548" y="3145536"/>
            <a:ext cx="1412914"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modern</a:t>
            </a:r>
          </a:p>
        </p:txBody>
      </p:sp>
      <p:sp>
        <p:nvSpPr>
          <p:cNvPr id="35" name="Rectangle 34"/>
          <p:cNvSpPr/>
          <p:nvPr/>
        </p:nvSpPr>
        <p:spPr>
          <a:xfrm>
            <a:off x="548640" y="3712464"/>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4805421" cy="566928"/>
          </a:xfrm>
          <a:prstGeom prst="rect">
            <a:avLst/>
          </a:prstGeom>
          <a:noFill/>
        </p:spPr>
        <p:txBody>
          <a:bodyPr wrap="square" anchor="ctr" lIns="0" rIns="0" tIns="0" bIns="0">
            <a:spAutoFit/>
          </a:bodyPr>
          <a:lstStyle/>
          <a:p>
            <a:pPr algn="l">
              <a:lnSpc>
                <a:spcPct val="110000"/>
              </a:lnSpc>
              <a:spcAft>
                <a:spcPts val="0"/>
              </a:spcAft>
            </a:pPr>
            <a:r>
              <a:rPr sz="1250" b="1" i="0">
                <a:solidFill>
                  <a:srgbClr val="1A2230"/>
                </a:solidFill>
                <a:latin typeface="Calibri"/>
                <a:ea typeface="Calibri"/>
              </a:rPr>
              <a:t>document.querySelectorAll("sel")</a:t>
            </a:r>
          </a:p>
        </p:txBody>
      </p:sp>
      <p:sp>
        <p:nvSpPr>
          <p:cNvPr id="37" name="Rectangle 36"/>
          <p:cNvSpPr/>
          <p:nvPr/>
        </p:nvSpPr>
        <p:spPr>
          <a:xfrm>
            <a:off x="5683245" y="3712464"/>
            <a:ext cx="4217711"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847837" y="3712464"/>
            <a:ext cx="3888527"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a static list of every match</a:t>
            </a:r>
          </a:p>
        </p:txBody>
      </p:sp>
      <p:sp>
        <p:nvSpPr>
          <p:cNvPr id="39" name="Rectangle 38"/>
          <p:cNvSpPr/>
          <p:nvPr/>
        </p:nvSpPr>
        <p:spPr>
          <a:xfrm>
            <a:off x="9900956" y="3712464"/>
            <a:ext cx="1742098"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65548" y="3712464"/>
            <a:ext cx="1412914" cy="566928"/>
          </a:xfrm>
          <a:prstGeom prst="rect">
            <a:avLst/>
          </a:prstGeom>
          <a:noFill/>
        </p:spPr>
        <p:txBody>
          <a:bodyPr wrap="square" anchor="ctr" lIns="0" rIns="0" tIns="0" bIns="0">
            <a:spAutoFit/>
          </a:bodyPr>
          <a:lstStyle/>
          <a:p>
            <a:pPr algn="l">
              <a:lnSpc>
                <a:spcPct val="110000"/>
              </a:lnSpc>
              <a:spcAft>
                <a:spcPts val="0"/>
              </a:spcAft>
            </a:pPr>
            <a:r>
              <a:rPr sz="1250" b="0" i="0">
                <a:solidFill>
                  <a:srgbClr val="1A2230"/>
                </a:solidFill>
                <a:latin typeface="Calibri"/>
                <a:ea typeface="Calibri"/>
              </a:rPr>
              <a:t>modern</a:t>
            </a:r>
          </a:p>
        </p:txBody>
      </p:sp>
      <p:sp>
        <p:nvSpPr>
          <p:cNvPr id="41" name="Rounded Rectangle 40"/>
          <p:cNvSpPr/>
          <p:nvPr/>
        </p:nvSpPr>
        <p:spPr>
          <a:xfrm>
            <a:off x="548640" y="4462272"/>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68680" y="4553712"/>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querySelectorAll is static: the list is taken once and does not grow with the page.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Changing Elements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DOM</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Change the content</a:t>
            </a:r>
            <a:br/>
            <a:r>
              <a:rPr sz="1600" b="0" i="0">
                <a:solidFill>
                  <a:srgbClr val="4A5568"/>
                </a:solidFill>
                <a:latin typeface="Calibri"/>
                <a:ea typeface="Calibri"/>
              </a:rPr>
              <a:t>innerHTML parses markup; textContent is plain text and safer.</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Change an attribute</a:t>
            </a:r>
            <a:br/>
            <a:r>
              <a:rPr sz="1600" b="0" i="0">
                <a:solidFill>
                  <a:srgbClr val="4A5568"/>
                </a:solidFill>
                <a:latin typeface="Calibri"/>
                <a:ea typeface="Calibri"/>
              </a:rPr>
              <a:t>element.setAttribute(</a:t>
            </a:r>
            <a:r>
              <a:rPr sz="1600" b="0" i="0">
                <a:solidFill>
                  <a:srgbClr val="B8860B"/>
                </a:solidFill>
                <a:latin typeface="Consolas"/>
                <a:ea typeface="Consolas"/>
              </a:rPr>
              <a:t>name</a:t>
            </a:r>
            <a:r>
              <a:rPr sz="1600" b="0" i="0">
                <a:solidFill>
                  <a:srgbClr val="4A5568"/>
                </a:solidFill>
                <a:latin typeface="Calibri"/>
                <a:ea typeface="Calibri"/>
              </a:rPr>
              <a:t>, </a:t>
            </a:r>
            <a:r>
              <a:rPr sz="1600" b="0" i="0">
                <a:solidFill>
                  <a:srgbClr val="B8860B"/>
                </a:solidFill>
                <a:latin typeface="Consolas"/>
                <a:ea typeface="Consolas"/>
              </a:rPr>
              <a:t>value</a:t>
            </a:r>
            <a:r>
              <a:rPr sz="1600" b="0" i="0">
                <a:solidFill>
                  <a:srgbClr val="4A5568"/>
                </a:solidFill>
                <a:latin typeface="Calibri"/>
                <a:ea typeface="Calibri"/>
              </a:rPr>
              <a:t>) — or set the property directly.</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Change the look</a:t>
            </a:r>
            <a:br/>
            <a:r>
              <a:rPr sz="1600" b="0" i="0">
                <a:solidFill>
                  <a:srgbClr val="4A5568"/>
                </a:solidFill>
                <a:latin typeface="Calibri"/>
                <a:ea typeface="Calibri"/>
              </a:rPr>
              <a:t>Assigning to element.</a:t>
            </a:r>
            <a:r>
              <a:rPr sz="1600" b="0" i="0">
                <a:solidFill>
                  <a:srgbClr val="B8860B"/>
                </a:solidFill>
                <a:latin typeface="Consolas"/>
                <a:ea typeface="Consolas"/>
              </a:rPr>
              <a:t>style</a:t>
            </a:r>
            <a:r>
              <a:rPr sz="1600" b="0" i="0">
                <a:solidFill>
                  <a:srgbClr val="4A5568"/>
                </a:solidFill>
                <a:latin typeface="Calibri"/>
                <a:ea typeface="Calibri"/>
              </a:rPr>
              <a:t> writes an inline declaration.</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Read before you write</a:t>
            </a:r>
            <a:br/>
            <a:r>
              <a:rPr sz="1600" b="0" i="0">
                <a:solidFill>
                  <a:srgbClr val="4A5568"/>
                </a:solidFill>
                <a:latin typeface="Calibri"/>
                <a:ea typeface="Calibri"/>
              </a:rPr>
              <a:t>Check the element was found: null has no properties, and that error is silent until it is not.</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const</a:t>
            </a:r>
            <a:r>
              <a:rPr sz="1300" b="0" i="0">
                <a:solidFill>
                  <a:srgbClr val="D7DDE6"/>
                </a:solidFill>
                <a:latin typeface="Consolas"/>
                <a:ea typeface="Consolas"/>
              </a:rPr>
              <a:t> </a:t>
            </a:r>
            <a:r>
              <a:rPr sz="1300" b="0" i="0">
                <a:solidFill>
                  <a:srgbClr val="D7DDE6"/>
                </a:solidFill>
                <a:latin typeface="Consolas"/>
                <a:ea typeface="Consolas"/>
              </a:rPr>
              <a:t>el</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querySelector</a:t>
            </a:r>
            <a:r>
              <a:rPr sz="1300" b="0" i="0">
                <a:solidFill>
                  <a:srgbClr val="D7DDE6"/>
                </a:solidFill>
                <a:latin typeface="Consolas"/>
                <a:ea typeface="Consolas"/>
              </a:rPr>
              <a:t>(</a:t>
            </a:r>
            <a:r>
              <a:rPr sz="1300" b="0" i="0">
                <a:solidFill>
                  <a:srgbClr val="98C379"/>
                </a:solidFill>
                <a:latin typeface="Consolas"/>
                <a:ea typeface="Consolas"/>
              </a:rPr>
              <a:t>"#demo"</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D7DDE6"/>
                </a:solidFill>
                <a:latin typeface="Consolas"/>
                <a:ea typeface="Consolas"/>
              </a:rPr>
              <a:t>el</a:t>
            </a:r>
            <a:r>
              <a:rPr sz="1300" b="0" i="0">
                <a:solidFill>
                  <a:srgbClr val="D7DDE6"/>
                </a:solidFill>
                <a:latin typeface="Consolas"/>
                <a:ea typeface="Consolas"/>
              </a:rPr>
              <a:t>.</a:t>
            </a:r>
            <a:r>
              <a:rPr sz="1300" b="0" i="0">
                <a:solidFill>
                  <a:srgbClr val="D7DDE6"/>
                </a:solidFill>
                <a:latin typeface="Consolas"/>
                <a:ea typeface="Consolas"/>
              </a:rPr>
              <a:t>innerHTML</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"&lt;b&gt;Hello&lt;/b&gt;"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el</a:t>
            </a:r>
            <a:r>
              <a:rPr sz="1300" b="0" i="0">
                <a:solidFill>
                  <a:srgbClr val="D7DDE6"/>
                </a:solidFill>
                <a:latin typeface="Consolas"/>
                <a:ea typeface="Consolas"/>
              </a:rPr>
              <a:t>.</a:t>
            </a:r>
            <a:r>
              <a:rPr sz="1300" b="0" i="0">
                <a:solidFill>
                  <a:srgbClr val="D7DDE6"/>
                </a:solidFill>
                <a:latin typeface="Consolas"/>
                <a:ea typeface="Consolas"/>
              </a:rPr>
              <a:t>textContent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"Hello"</a:t>
            </a:r>
            <a:r>
              <a:rPr sz="1300" b="0" i="0">
                <a:solidFill>
                  <a:srgbClr val="D7DDE6"/>
                </a:solidFill>
                <a:latin typeface="Consolas"/>
                <a:ea typeface="Consolas"/>
              </a:rPr>
              <a:t>;</a:t>
            </a:r>
            <a:r>
              <a:rPr sz="1300" b="0" i="0">
                <a:solidFill>
                  <a:srgbClr val="7F8C98"/>
                </a:solidFill>
                <a:latin typeface="Consolas"/>
                <a:ea typeface="Consolas"/>
              </a:rPr>
              <a:t>    // no HTML parsing</a:t>
            </a:r>
          </a:p>
          <a:p>
            <a:pPr>
              <a:spcAft>
                <a:spcPts val="350"/>
              </a:spcAft>
            </a:pPr>
            <a:r>
              <a:rPr sz="1300" b="0" i="0">
                <a:solidFill>
                  <a:srgbClr val="D7DDE6"/>
                </a:solidFill>
                <a:latin typeface="Consolas"/>
                <a:ea typeface="Consolas"/>
              </a:rPr>
              <a:t>el</a:t>
            </a:r>
            <a:r>
              <a:rPr sz="1300" b="0" i="0">
                <a:solidFill>
                  <a:srgbClr val="D7DDE6"/>
                </a:solidFill>
                <a:latin typeface="Consolas"/>
                <a:ea typeface="Consolas"/>
              </a:rPr>
              <a:t>.</a:t>
            </a:r>
            <a:r>
              <a:rPr sz="1300" b="0" i="0">
                <a:solidFill>
                  <a:srgbClr val="E5C07B"/>
                </a:solidFill>
                <a:latin typeface="Consolas"/>
                <a:ea typeface="Consolas"/>
              </a:rPr>
              <a:t>setAttribute</a:t>
            </a:r>
            <a:r>
              <a:rPr sz="1300" b="0" i="0">
                <a:solidFill>
                  <a:srgbClr val="D7DDE6"/>
                </a:solidFill>
                <a:latin typeface="Consolas"/>
                <a:ea typeface="Consolas"/>
              </a:rPr>
              <a:t>(</a:t>
            </a:r>
            <a:r>
              <a:rPr sz="1300" b="0" i="0">
                <a:solidFill>
                  <a:srgbClr val="98C379"/>
                </a:solidFill>
                <a:latin typeface="Consolas"/>
                <a:ea typeface="Consolas"/>
              </a:rPr>
              <a:t>"class"</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"urgent"</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el</a:t>
            </a:r>
            <a:r>
              <a:rPr sz="1300" b="0" i="0">
                <a:solidFill>
                  <a:srgbClr val="D7DDE6"/>
                </a:solidFill>
                <a:latin typeface="Consolas"/>
                <a:ea typeface="Consolas"/>
              </a:rPr>
              <a:t>.</a:t>
            </a:r>
            <a:r>
              <a:rPr sz="1300" b="0" i="0">
                <a:solidFill>
                  <a:srgbClr val="D7DDE6"/>
                </a:solidFill>
                <a:latin typeface="Consolas"/>
                <a:ea typeface="Consolas"/>
              </a:rPr>
              <a:t>style</a:t>
            </a:r>
            <a:r>
              <a:rPr sz="1300" b="0" i="0">
                <a:solidFill>
                  <a:srgbClr val="D7DDE6"/>
                </a:solidFill>
                <a:latin typeface="Consolas"/>
                <a:ea typeface="Consolas"/>
              </a:rPr>
              <a:t>.</a:t>
            </a:r>
            <a:r>
              <a:rPr sz="1300" b="0" i="0">
                <a:solidFill>
                  <a:srgbClr val="D7DDE6"/>
                </a:solidFill>
                <a:latin typeface="Consolas"/>
                <a:ea typeface="Consolas"/>
              </a:rPr>
              <a:t>color</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"red"</a:t>
            </a:r>
            <a:r>
              <a:rPr sz="1300" b="0" i="0">
                <a:solidFill>
                  <a:srgbClr val="D7DDE6"/>
                </a:solidFill>
                <a:latin typeface="Consolas"/>
                <a:ea typeface="Consolas"/>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Adding and Removing Elements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DOM</a:t>
            </a:r>
          </a:p>
        </p:txBody>
      </p:sp>
      <p:sp>
        <p:nvSpPr>
          <p:cNvPr id="5" name="Rectangle 4"/>
          <p:cNvSpPr/>
          <p:nvPr/>
        </p:nvSpPr>
        <p:spPr>
          <a:xfrm>
            <a:off x="548640" y="932688"/>
            <a:ext cx="5134605"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4805421"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Method</a:t>
            </a:r>
          </a:p>
        </p:txBody>
      </p:sp>
      <p:sp>
        <p:nvSpPr>
          <p:cNvPr id="7" name="Rectangle 6"/>
          <p:cNvSpPr/>
          <p:nvPr/>
        </p:nvSpPr>
        <p:spPr>
          <a:xfrm>
            <a:off x="5683245" y="932688"/>
            <a:ext cx="5959809"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847837" y="932688"/>
            <a:ext cx="5630625"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What it does</a:t>
            </a:r>
          </a:p>
        </p:txBody>
      </p:sp>
      <p:sp>
        <p:nvSpPr>
          <p:cNvPr id="9" name="Rectangle 8"/>
          <p:cNvSpPr/>
          <p:nvPr/>
        </p:nvSpPr>
        <p:spPr>
          <a:xfrm>
            <a:off x="548640" y="1444752"/>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4805421"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document.createElement("li")</a:t>
            </a:r>
          </a:p>
        </p:txBody>
      </p:sp>
      <p:sp>
        <p:nvSpPr>
          <p:cNvPr id="11" name="Rectangle 10"/>
          <p:cNvSpPr/>
          <p:nvPr/>
        </p:nvSpPr>
        <p:spPr>
          <a:xfrm>
            <a:off x="5683245" y="1444752"/>
            <a:ext cx="595980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847837" y="1444752"/>
            <a:ext cx="5630625"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builds a new element in memory</a:t>
            </a:r>
          </a:p>
        </p:txBody>
      </p:sp>
      <p:sp>
        <p:nvSpPr>
          <p:cNvPr id="13" name="Rectangle 12"/>
          <p:cNvSpPr/>
          <p:nvPr/>
        </p:nvSpPr>
        <p:spPr>
          <a:xfrm>
            <a:off x="548640" y="2011680"/>
            <a:ext cx="513460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011680"/>
            <a:ext cx="4805421"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parent.appendChild(node)</a:t>
            </a:r>
          </a:p>
        </p:txBody>
      </p:sp>
      <p:sp>
        <p:nvSpPr>
          <p:cNvPr id="15" name="Rectangle 14"/>
          <p:cNvSpPr/>
          <p:nvPr/>
        </p:nvSpPr>
        <p:spPr>
          <a:xfrm>
            <a:off x="5683245" y="2011680"/>
            <a:ext cx="595980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47837" y="2011680"/>
            <a:ext cx="5630625"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attaches it — now it is on the page</a:t>
            </a:r>
          </a:p>
        </p:txBody>
      </p:sp>
      <p:sp>
        <p:nvSpPr>
          <p:cNvPr id="17" name="Rectangle 16"/>
          <p:cNvSpPr/>
          <p:nvPr/>
        </p:nvSpPr>
        <p:spPr>
          <a:xfrm>
            <a:off x="548640" y="2578608"/>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578608"/>
            <a:ext cx="4805421"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parent.removeChild(node)</a:t>
            </a:r>
          </a:p>
        </p:txBody>
      </p:sp>
      <p:sp>
        <p:nvSpPr>
          <p:cNvPr id="19" name="Rectangle 18"/>
          <p:cNvSpPr/>
          <p:nvPr/>
        </p:nvSpPr>
        <p:spPr>
          <a:xfrm>
            <a:off x="5683245" y="2578608"/>
            <a:ext cx="595980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47837" y="2578608"/>
            <a:ext cx="5630625"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detaches one child node</a:t>
            </a:r>
          </a:p>
        </p:txBody>
      </p:sp>
      <p:sp>
        <p:nvSpPr>
          <p:cNvPr id="21" name="Rectangle 20"/>
          <p:cNvSpPr/>
          <p:nvPr/>
        </p:nvSpPr>
        <p:spPr>
          <a:xfrm>
            <a:off x="548640" y="3145536"/>
            <a:ext cx="513460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145536"/>
            <a:ext cx="4805421"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parent.replaceChild(new, old)</a:t>
            </a:r>
          </a:p>
        </p:txBody>
      </p:sp>
      <p:sp>
        <p:nvSpPr>
          <p:cNvPr id="23" name="Rectangle 22"/>
          <p:cNvSpPr/>
          <p:nvPr/>
        </p:nvSpPr>
        <p:spPr>
          <a:xfrm>
            <a:off x="5683245" y="3145536"/>
            <a:ext cx="5959809"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47837" y="3145536"/>
            <a:ext cx="5630625"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swaps one child for another</a:t>
            </a:r>
          </a:p>
        </p:txBody>
      </p:sp>
      <p:sp>
        <p:nvSpPr>
          <p:cNvPr id="25" name="Rectangle 24"/>
          <p:cNvSpPr/>
          <p:nvPr/>
        </p:nvSpPr>
        <p:spPr>
          <a:xfrm>
            <a:off x="548640" y="3712464"/>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3712464"/>
            <a:ext cx="4805421"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node.remove()</a:t>
            </a:r>
          </a:p>
        </p:txBody>
      </p:sp>
      <p:sp>
        <p:nvSpPr>
          <p:cNvPr id="27" name="Rectangle 26"/>
          <p:cNvSpPr/>
          <p:nvPr/>
        </p:nvSpPr>
        <p:spPr>
          <a:xfrm>
            <a:off x="5683245" y="3712464"/>
            <a:ext cx="5959809"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847837" y="3712464"/>
            <a:ext cx="5630625"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removes the node itself</a:t>
            </a:r>
          </a:p>
        </p:txBody>
      </p:sp>
      <p:sp>
        <p:nvSpPr>
          <p:cNvPr id="29" name="Rounded Rectangle 28"/>
          <p:cNvSpPr/>
          <p:nvPr/>
        </p:nvSpPr>
        <p:spPr>
          <a:xfrm>
            <a:off x="548640" y="4462272"/>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553712"/>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A new element is invisible until it is attached to something already in the tree.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Changing Styles from JavaScript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DOM</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Inline, per element</a:t>
            </a:r>
            <a:br/>
            <a:r>
              <a:rPr sz="1600" b="0" i="0">
                <a:solidFill>
                  <a:srgbClr val="4A5568"/>
                </a:solidFill>
                <a:latin typeface="Calibri"/>
                <a:ea typeface="Calibri"/>
              </a:rPr>
              <a:t>Assign to a camel-cased property of element.</a:t>
            </a:r>
            <a:r>
              <a:rPr sz="1600" b="0" i="0">
                <a:solidFill>
                  <a:srgbClr val="B8860B"/>
                </a:solidFill>
                <a:latin typeface="Consolas"/>
                <a:ea typeface="Consolas"/>
              </a:rPr>
              <a:t>style</a:t>
            </a:r>
            <a:r>
              <a:rPr sz="160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Reaching for a classList is usually better</a:t>
            </a:r>
            <a:br/>
            <a:r>
              <a:rPr sz="1600" b="0" i="0">
                <a:solidFill>
                  <a:srgbClr val="4A5568"/>
                </a:solidFill>
                <a:latin typeface="Calibri"/>
                <a:ea typeface="Calibri"/>
              </a:rPr>
              <a:t>add, remove and toggle keep the styling where it belongs — in CSS.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Camel case in JavaScript</a:t>
            </a:r>
            <a:br/>
            <a:r>
              <a:rPr sz="1600" b="0" i="0">
                <a:solidFill>
                  <a:srgbClr val="4A5568"/>
                </a:solidFill>
                <a:latin typeface="Calibri"/>
                <a:ea typeface="Calibri"/>
              </a:rPr>
              <a:t>font-size becomes fontSize; background-color becomes backgroundColor.</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Read the computed </a:t>
            </a:r>
            <a:r>
              <a:rPr sz="1800" b="1" i="0">
                <a:solidFill>
                  <a:srgbClr val="B8860B"/>
                </a:solidFill>
                <a:latin typeface="Consolas"/>
                <a:ea typeface="Consolas"/>
              </a:rPr>
              <a:t>value</a:t>
            </a:r>
            <a:br/>
            <a:r>
              <a:rPr sz="1600" b="0" i="0">
                <a:solidFill>
                  <a:srgbClr val="4A5568"/>
                </a:solidFill>
                <a:latin typeface="Calibri"/>
                <a:ea typeface="Calibri"/>
              </a:rPr>
              <a:t>getComputedStyle(el) gives what the browser actually applied.</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const</a:t>
            </a:r>
            <a:r>
              <a:rPr sz="1300" b="0" i="0">
                <a:solidFill>
                  <a:srgbClr val="D7DDE6"/>
                </a:solidFill>
                <a:latin typeface="Consolas"/>
                <a:ea typeface="Consolas"/>
              </a:rPr>
              <a:t> </a:t>
            </a:r>
            <a:r>
              <a:rPr sz="1300" b="0" i="0">
                <a:solidFill>
                  <a:srgbClr val="D7DDE6"/>
                </a:solidFill>
                <a:latin typeface="Consolas"/>
                <a:ea typeface="Consolas"/>
              </a:rPr>
              <a:t>box</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querySelector</a:t>
            </a:r>
            <a:r>
              <a:rPr sz="1300" b="0" i="0">
                <a:solidFill>
                  <a:srgbClr val="D7DDE6"/>
                </a:solidFill>
                <a:latin typeface="Consolas"/>
                <a:ea typeface="Consolas"/>
              </a:rPr>
              <a:t>(</a:t>
            </a:r>
            <a:r>
              <a:rPr sz="1300" b="0" i="0">
                <a:solidFill>
                  <a:srgbClr val="98C379"/>
                </a:solidFill>
                <a:latin typeface="Consolas"/>
                <a:ea typeface="Consolas"/>
              </a:rPr>
              <a:t>"#box"</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D7DDE6"/>
                </a:solidFill>
                <a:latin typeface="Consolas"/>
                <a:ea typeface="Consolas"/>
              </a:rPr>
              <a:t>box</a:t>
            </a:r>
            <a:r>
              <a:rPr sz="1300" b="0" i="0">
                <a:solidFill>
                  <a:srgbClr val="D7DDE6"/>
                </a:solidFill>
                <a:latin typeface="Consolas"/>
                <a:ea typeface="Consolas"/>
              </a:rPr>
              <a:t>.</a:t>
            </a:r>
            <a:r>
              <a:rPr sz="1300" b="0" i="0">
                <a:solidFill>
                  <a:srgbClr val="D7DDE6"/>
                </a:solidFill>
                <a:latin typeface="Consolas"/>
                <a:ea typeface="Consolas"/>
              </a:rPr>
              <a:t>style</a:t>
            </a:r>
            <a:r>
              <a:rPr sz="1300" b="0" i="0">
                <a:solidFill>
                  <a:srgbClr val="D7DDE6"/>
                </a:solidFill>
                <a:latin typeface="Consolas"/>
                <a:ea typeface="Consolas"/>
              </a:rPr>
              <a:t>.</a:t>
            </a:r>
            <a:r>
              <a:rPr sz="1300" b="0" i="0">
                <a:solidFill>
                  <a:srgbClr val="D7DDE6"/>
                </a:solidFill>
                <a:latin typeface="Consolas"/>
                <a:ea typeface="Consolas"/>
              </a:rPr>
              <a:t>fontSize</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"20px"</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box</a:t>
            </a:r>
            <a:r>
              <a:rPr sz="1300" b="0" i="0">
                <a:solidFill>
                  <a:srgbClr val="D7DDE6"/>
                </a:solidFill>
                <a:latin typeface="Consolas"/>
                <a:ea typeface="Consolas"/>
              </a:rPr>
              <a:t>.</a:t>
            </a:r>
            <a:r>
              <a:rPr sz="1300" b="0" i="0">
                <a:solidFill>
                  <a:srgbClr val="D7DDE6"/>
                </a:solidFill>
                <a:latin typeface="Consolas"/>
                <a:ea typeface="Consolas"/>
              </a:rPr>
              <a:t>classList</a:t>
            </a:r>
            <a:r>
              <a:rPr sz="1300" b="0" i="0">
                <a:solidFill>
                  <a:srgbClr val="D7DDE6"/>
                </a:solidFill>
                <a:latin typeface="Consolas"/>
                <a:ea typeface="Consolas"/>
              </a:rPr>
              <a:t>.</a:t>
            </a:r>
            <a:r>
              <a:rPr sz="1300" b="0" i="0">
                <a:solidFill>
                  <a:srgbClr val="E5C07B"/>
                </a:solidFill>
                <a:latin typeface="Consolas"/>
                <a:ea typeface="Consolas"/>
              </a:rPr>
              <a:t>add</a:t>
            </a:r>
            <a:r>
              <a:rPr sz="1300" b="0" i="0">
                <a:solidFill>
                  <a:srgbClr val="D7DDE6"/>
                </a:solidFill>
                <a:latin typeface="Consolas"/>
                <a:ea typeface="Consolas"/>
              </a:rPr>
              <a:t>(</a:t>
            </a:r>
            <a:r>
              <a:rPr sz="1300" b="0" i="0">
                <a:solidFill>
                  <a:srgbClr val="98C379"/>
                </a:solidFill>
                <a:latin typeface="Consolas"/>
                <a:ea typeface="Consolas"/>
              </a:rPr>
              <a:t>"highlight"</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box</a:t>
            </a:r>
            <a:r>
              <a:rPr sz="1300" b="0" i="0">
                <a:solidFill>
                  <a:srgbClr val="D7DDE6"/>
                </a:solidFill>
                <a:latin typeface="Consolas"/>
                <a:ea typeface="Consolas"/>
              </a:rPr>
              <a:t>.</a:t>
            </a:r>
            <a:r>
              <a:rPr sz="1300" b="0" i="0">
                <a:solidFill>
                  <a:srgbClr val="D7DDE6"/>
                </a:solidFill>
                <a:latin typeface="Consolas"/>
                <a:ea typeface="Consolas"/>
              </a:rPr>
              <a:t>classList</a:t>
            </a:r>
            <a:r>
              <a:rPr sz="1300" b="0" i="0">
                <a:solidFill>
                  <a:srgbClr val="D7DDE6"/>
                </a:solidFill>
                <a:latin typeface="Consolas"/>
                <a:ea typeface="Consolas"/>
              </a:rPr>
              <a:t>.</a:t>
            </a:r>
            <a:r>
              <a:rPr sz="1300" b="0" i="0">
                <a:solidFill>
                  <a:srgbClr val="E5C07B"/>
                </a:solidFill>
                <a:latin typeface="Consolas"/>
                <a:ea typeface="Consolas"/>
              </a:rPr>
              <a:t>remove</a:t>
            </a:r>
            <a:r>
              <a:rPr sz="1300" b="0" i="0">
                <a:solidFill>
                  <a:srgbClr val="D7DDE6"/>
                </a:solidFill>
                <a:latin typeface="Consolas"/>
                <a:ea typeface="Consolas"/>
              </a:rPr>
              <a:t>(</a:t>
            </a:r>
            <a:r>
              <a:rPr sz="1300" b="0" i="0">
                <a:solidFill>
                  <a:srgbClr val="98C379"/>
                </a:solidFill>
                <a:latin typeface="Consolas"/>
                <a:ea typeface="Consolas"/>
              </a:rPr>
              <a:t>"old"</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61AFEF"/>
                </a:solidFill>
                <a:latin typeface="Consolas"/>
                <a:ea typeface="Consolas"/>
              </a:rPr>
              <a:t>getComputedStyle</a:t>
            </a:r>
            <a:r>
              <a:rPr sz="1300" b="0" i="0">
                <a:solidFill>
                  <a:srgbClr val="D7DDE6"/>
                </a:solidFill>
                <a:latin typeface="Consolas"/>
                <a:ea typeface="Consolas"/>
              </a:rPr>
              <a:t>(</a:t>
            </a:r>
            <a:r>
              <a:rPr sz="1300" b="0" i="0">
                <a:solidFill>
                  <a:srgbClr val="D7DDE6"/>
                </a:solidFill>
                <a:latin typeface="Consolas"/>
                <a:ea typeface="Consolas"/>
              </a:rPr>
              <a:t>box</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color</a:t>
            </a:r>
            <a:r>
              <a:rPr sz="1300" b="0" i="0">
                <a:solidFill>
                  <a:srgbClr val="D7DDE6"/>
                </a:solidFill>
                <a:latin typeface="Consolas"/>
                <a:ea typeface="Consolas"/>
              </a:rPr>
              <a: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Browser Object Model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BOM</a:t>
            </a:r>
          </a:p>
        </p:txBody>
      </p:sp>
      <p:sp>
        <p:nvSpPr>
          <p:cNvPr id="5" name="TextBox 4"/>
          <p:cNvSpPr txBox="1"/>
          <p:nvPr/>
        </p:nvSpPr>
        <p:spPr>
          <a:xfrm>
            <a:off x="548640" y="932688"/>
            <a:ext cx="10820095" cy="5394960"/>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No standard, but universal</a:t>
            </a:r>
            <a:br/>
            <a:r>
              <a:rPr sz="1500" b="0" i="0">
                <a:solidFill>
                  <a:srgbClr val="4A5568"/>
                </a:solidFill>
                <a:latin typeface="Calibri"/>
                <a:ea typeface="Calibri"/>
              </a:rPr>
              <a:t>Every browser implements almost the same members, so it is called the BOM anyway.</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window is the top</a:t>
            </a:r>
            <a:br/>
            <a:r>
              <a:rPr sz="1500" b="0" i="0">
                <a:solidFill>
                  <a:srgbClr val="4A5568"/>
                </a:solidFill>
                <a:latin typeface="Calibri"/>
                <a:ea typeface="Calibri"/>
              </a:rPr>
              <a:t>Global variables become its properties, global functions its methods.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Where the page is</a:t>
            </a:r>
            <a:br/>
            <a:r>
              <a:rPr sz="1500" b="0" i="0">
                <a:solidFill>
                  <a:srgbClr val="4A5568"/>
                </a:solidFill>
                <a:latin typeface="Calibri"/>
                <a:ea typeface="Calibri"/>
              </a:rPr>
              <a:t>location for the address, history for where the user has been.</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What the machine is</a:t>
            </a:r>
            <a:br/>
            <a:r>
              <a:rPr sz="1500" b="0" i="0">
                <a:solidFill>
                  <a:srgbClr val="4A5568"/>
                </a:solidFill>
                <a:latin typeface="Calibri"/>
                <a:ea typeface="Calibri"/>
              </a:rPr>
              <a:t>screen for the display, navigator for the browser itself.</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Time and storage</a:t>
            </a:r>
            <a:br/>
            <a:r>
              <a:rPr sz="1500" b="0" i="0">
                <a:solidFill>
                  <a:srgbClr val="4A5568"/>
                </a:solidFill>
                <a:latin typeface="Calibri"/>
                <a:ea typeface="Calibri"/>
              </a:rPr>
              <a:t>setTimeout and setInterval; alert and confirm; document.cookie.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window Object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DOM &amp; the BOM</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The global object</a:t>
            </a:r>
            <a:br/>
            <a:r>
              <a:rPr sz="1600" b="0" i="0">
                <a:solidFill>
                  <a:srgbClr val="4A5568"/>
                </a:solidFill>
                <a:latin typeface="Calibri"/>
                <a:ea typeface="Calibri"/>
              </a:rPr>
              <a:t>A global variable is a property of window; document is one too.</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No window prefix needed</a:t>
            </a:r>
            <a:br/>
            <a:r>
              <a:rPr sz="1600" b="0" i="0">
                <a:solidFill>
                  <a:srgbClr val="4A5568"/>
                </a:solidFill>
                <a:latin typeface="Calibri"/>
                <a:ea typeface="Calibri"/>
              </a:rPr>
              <a:t>Global members can be written bare — window. is optional.</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The viewport size</a:t>
            </a:r>
            <a:br/>
            <a:r>
              <a:rPr sz="1600" b="0" i="0">
                <a:solidFill>
                  <a:srgbClr val="4A5568"/>
                </a:solidFill>
                <a:latin typeface="Calibri"/>
                <a:ea typeface="Calibri"/>
              </a:rPr>
              <a:t>innerWidth and innerHeight, in pixels, and they change as the window is resized.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Careful with the </a:t>
            </a:r>
            <a:r>
              <a:rPr sz="1800" b="1" i="0">
                <a:solidFill>
                  <a:srgbClr val="B8860B"/>
                </a:solidFill>
                <a:latin typeface="Consolas"/>
                <a:ea typeface="Consolas"/>
              </a:rPr>
              <a:t>name</a:t>
            </a:r>
            <a:br/>
            <a:r>
              <a:rPr sz="1600" b="0" i="0">
                <a:solidFill>
                  <a:srgbClr val="4A5568"/>
                </a:solidFill>
                <a:latin typeface="Calibri"/>
                <a:ea typeface="Calibri"/>
              </a:rPr>
              <a:t>A global of your own called window would shadow it — do not.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window</a:t>
            </a:r>
            <a:r>
              <a:rPr sz="1300" b="0" i="0">
                <a:solidFill>
                  <a:srgbClr val="D7DDE6"/>
                </a:solidFill>
                <a:latin typeface="Consolas"/>
                <a:ea typeface="Consolas"/>
              </a:rPr>
              <a:t>.</a:t>
            </a: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E5C07B"/>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"header"</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61AFEF"/>
                </a:solidFill>
                <a:latin typeface="Consolas"/>
                <a:ea typeface="Consolas"/>
              </a:rPr>
              <a:t>window</a:t>
            </a:r>
            <a:r>
              <a:rPr sz="1300" b="0" i="0">
                <a:solidFill>
                  <a:srgbClr val="D7DDE6"/>
                </a:solidFill>
                <a:latin typeface="Consolas"/>
                <a:ea typeface="Consolas"/>
              </a:rPr>
              <a:t>.</a:t>
            </a:r>
            <a:r>
              <a:rPr sz="1300" b="0" i="0">
                <a:solidFill>
                  <a:srgbClr val="D7DDE6"/>
                </a:solidFill>
                <a:latin typeface="Consolas"/>
                <a:ea typeface="Consolas"/>
              </a:rPr>
              <a:t>innerWidth</a:t>
            </a:r>
            <a:r>
              <a:rPr sz="1300" b="0" i="0">
                <a:solidFill>
                  <a:srgbClr val="D7DDE6"/>
                </a:solidFill>
                <a:latin typeface="Consolas"/>
                <a:ea typeface="Consolas"/>
              </a:rPr>
              <a:t>;</a:t>
            </a:r>
            <a:r>
              <a:rPr sz="1300" b="0" i="0">
                <a:solidFill>
                  <a:srgbClr val="7F8C98"/>
                </a:solidFill>
                <a:latin typeface="Consolas"/>
                <a:ea typeface="Consolas"/>
              </a:rPr>
              <a:t>        // viewport width</a:t>
            </a:r>
          </a:p>
          <a:p>
            <a:pPr>
              <a:spcAft>
                <a:spcPts val="350"/>
              </a:spcAft>
            </a:pPr>
            <a:r>
              <a:rPr sz="1300" b="0" i="0">
                <a:solidFill>
                  <a:srgbClr val="61AFEF"/>
                </a:solidFill>
                <a:latin typeface="Consolas"/>
                <a:ea typeface="Consolas"/>
              </a:rPr>
              <a:t>window</a:t>
            </a:r>
            <a:r>
              <a:rPr sz="1300" b="0" i="0">
                <a:solidFill>
                  <a:srgbClr val="D7DDE6"/>
                </a:solidFill>
                <a:latin typeface="Consolas"/>
                <a:ea typeface="Consolas"/>
              </a:rPr>
              <a:t>.</a:t>
            </a:r>
            <a:r>
              <a:rPr sz="1300" b="0" i="0">
                <a:solidFill>
                  <a:srgbClr val="D7DDE6"/>
                </a:solidFill>
                <a:latin typeface="Consolas"/>
                <a:ea typeface="Consolas"/>
              </a:rPr>
              <a:t>innerHeight</a:t>
            </a:r>
            <a:r>
              <a:rPr sz="1300" b="0" i="0">
                <a:solidFill>
                  <a:srgbClr val="D7DDE6"/>
                </a:solidFill>
                <a:latin typeface="Consolas"/>
                <a:ea typeface="Consolas"/>
              </a:rPr>
              <a:t>;</a:t>
            </a:r>
            <a:r>
              <a:rPr sz="1300" b="0" i="0">
                <a:solidFill>
                  <a:srgbClr val="7F8C98"/>
                </a:solidFill>
                <a:latin typeface="Consolas"/>
                <a:ea typeface="Consolas"/>
              </a:rPr>
              <a:t>       // viewport height</a:t>
            </a:r>
          </a:p>
          <a:p>
            <a:pPr>
              <a:spcAft>
                <a:spcPts val="350"/>
              </a:spcAft>
            </a:pPr>
            <a:r>
              <a:rPr sz="1300" b="0" i="0">
                <a:solidFill>
                  <a:srgbClr val="D7DDE6"/>
                </a:solidFill>
                <a:latin typeface="Consolas"/>
                <a:ea typeface="Consolas"/>
              </a:rPr>
              <a:t/>
            </a:r>
          </a:p>
          <a:p>
            <a:pPr>
              <a:spcAft>
                <a:spcPts val="350"/>
              </a:spcAft>
            </a:pPr>
            <a:r>
              <a:rPr sz="1300" b="0" i="0">
                <a:solidFill>
                  <a:srgbClr val="61AFEF"/>
                </a:solidFill>
                <a:latin typeface="Consolas"/>
                <a:ea typeface="Consolas"/>
              </a:rPr>
              <a:t>document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61AFEF"/>
                </a:solidFill>
                <a:latin typeface="Consolas"/>
                <a:ea typeface="Consolas"/>
              </a:rPr>
              <a:t>window</a:t>
            </a:r>
            <a:r>
              <a:rPr sz="1300" b="0" i="0">
                <a:solidFill>
                  <a:srgbClr val="D7DDE6"/>
                </a:solidFill>
                <a:latin typeface="Consolas"/>
                <a:ea typeface="Consolas"/>
              </a:rPr>
              <a:t>.</a:t>
            </a: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7F8C98"/>
                </a:solidFill>
                <a:latin typeface="Consolas"/>
                <a:ea typeface="Consolas"/>
              </a:rPr>
              <a:t>  // true</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open in editor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editor.html?example=js-basics/window-size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screen, location, history, navigator</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BOM</a:t>
            </a:r>
          </a:p>
        </p:txBody>
      </p:sp>
      <p:sp>
        <p:nvSpPr>
          <p:cNvPr id="5" name="Rectangle 4"/>
          <p:cNvSpPr/>
          <p:nvPr/>
        </p:nvSpPr>
        <p:spPr>
          <a:xfrm>
            <a:off x="548640" y="932688"/>
            <a:ext cx="2934060"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2604876" cy="512064"/>
          </a:xfrm>
          <a:prstGeom prst="rect">
            <a:avLst/>
          </a:prstGeom>
          <a:noFill/>
        </p:spPr>
        <p:txBody>
          <a:bodyPr wrap="square" anchor="ctr" lIns="0" rIns="0" tIns="0" bIns="0">
            <a:spAutoFit/>
          </a:bodyPr>
          <a:lstStyle/>
          <a:p>
            <a:pPr algn="l">
              <a:lnSpc>
                <a:spcPct val="110000"/>
              </a:lnSpc>
              <a:spcAft>
                <a:spcPts val="0"/>
              </a:spcAft>
            </a:pPr>
            <a:r>
              <a:rPr sz="1350" b="1" i="0">
                <a:solidFill>
                  <a:srgbClr val="FFFFFF"/>
                </a:solidFill>
                <a:latin typeface="Calibri"/>
                <a:ea typeface="Calibri"/>
              </a:rPr>
              <a:t>Object</a:t>
            </a:r>
          </a:p>
        </p:txBody>
      </p:sp>
      <p:sp>
        <p:nvSpPr>
          <p:cNvPr id="7" name="Rectangle 6"/>
          <p:cNvSpPr/>
          <p:nvPr/>
        </p:nvSpPr>
        <p:spPr>
          <a:xfrm>
            <a:off x="3482700" y="932688"/>
            <a:ext cx="8160354"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47292" y="932688"/>
            <a:ext cx="7831170" cy="512064"/>
          </a:xfrm>
          <a:prstGeom prst="rect">
            <a:avLst/>
          </a:prstGeom>
          <a:noFill/>
        </p:spPr>
        <p:txBody>
          <a:bodyPr wrap="square" anchor="ctr" lIns="0" rIns="0" tIns="0" bIns="0">
            <a:spAutoFit/>
          </a:bodyPr>
          <a:lstStyle/>
          <a:p>
            <a:pPr algn="l">
              <a:lnSpc>
                <a:spcPct val="110000"/>
              </a:lnSpc>
              <a:spcAft>
                <a:spcPts val="0"/>
              </a:spcAft>
            </a:pPr>
            <a:r>
              <a:rPr sz="1350" b="1" i="0">
                <a:solidFill>
                  <a:srgbClr val="FFFFFF"/>
                </a:solidFill>
                <a:latin typeface="Calibri"/>
                <a:ea typeface="Calibri"/>
              </a:rPr>
              <a:t>Useful members</a:t>
            </a:r>
          </a:p>
        </p:txBody>
      </p:sp>
      <p:sp>
        <p:nvSpPr>
          <p:cNvPr id="9" name="Rectangle 8"/>
          <p:cNvSpPr/>
          <p:nvPr/>
        </p:nvSpPr>
        <p:spPr>
          <a:xfrm>
            <a:off x="548640" y="1444752"/>
            <a:ext cx="293406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1444752"/>
            <a:ext cx="2604876"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screen</a:t>
            </a:r>
          </a:p>
        </p:txBody>
      </p:sp>
      <p:sp>
        <p:nvSpPr>
          <p:cNvPr id="11" name="Rectangle 10"/>
          <p:cNvSpPr/>
          <p:nvPr/>
        </p:nvSpPr>
        <p:spPr>
          <a:xfrm>
            <a:off x="3482700" y="1444752"/>
            <a:ext cx="816035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47292" y="1444752"/>
            <a:ext cx="7831170"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width, height, availWidth, availHeight, colorDepth</a:t>
            </a:r>
          </a:p>
        </p:txBody>
      </p:sp>
      <p:sp>
        <p:nvSpPr>
          <p:cNvPr id="13" name="Rectangle 12"/>
          <p:cNvSpPr/>
          <p:nvPr/>
        </p:nvSpPr>
        <p:spPr>
          <a:xfrm>
            <a:off x="548640" y="2011680"/>
            <a:ext cx="293406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011680"/>
            <a:ext cx="2604876"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location</a:t>
            </a:r>
          </a:p>
        </p:txBody>
      </p:sp>
      <p:sp>
        <p:nvSpPr>
          <p:cNvPr id="15" name="Rectangle 14"/>
          <p:cNvSpPr/>
          <p:nvPr/>
        </p:nvSpPr>
        <p:spPr>
          <a:xfrm>
            <a:off x="3482700" y="2011680"/>
            <a:ext cx="816035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47292" y="2011680"/>
            <a:ext cx="7831170"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href, hostname, pathname, protocol, assign()</a:t>
            </a:r>
          </a:p>
        </p:txBody>
      </p:sp>
      <p:sp>
        <p:nvSpPr>
          <p:cNvPr id="17" name="Rectangle 16"/>
          <p:cNvSpPr/>
          <p:nvPr/>
        </p:nvSpPr>
        <p:spPr>
          <a:xfrm>
            <a:off x="548640" y="2578608"/>
            <a:ext cx="2934060"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578608"/>
            <a:ext cx="2604876"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history</a:t>
            </a:r>
          </a:p>
        </p:txBody>
      </p:sp>
      <p:sp>
        <p:nvSpPr>
          <p:cNvPr id="19" name="Rectangle 18"/>
          <p:cNvSpPr/>
          <p:nvPr/>
        </p:nvSpPr>
        <p:spPr>
          <a:xfrm>
            <a:off x="3482700" y="2578608"/>
            <a:ext cx="8160354"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47292" y="2578608"/>
            <a:ext cx="7831170"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back(), forward(), length</a:t>
            </a:r>
          </a:p>
        </p:txBody>
      </p:sp>
      <p:sp>
        <p:nvSpPr>
          <p:cNvPr id="21" name="Rectangle 20"/>
          <p:cNvSpPr/>
          <p:nvPr/>
        </p:nvSpPr>
        <p:spPr>
          <a:xfrm>
            <a:off x="548640" y="3145536"/>
            <a:ext cx="2934060"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145536"/>
            <a:ext cx="2604876" cy="566928"/>
          </a:xfrm>
          <a:prstGeom prst="rect">
            <a:avLst/>
          </a:prstGeom>
          <a:noFill/>
        </p:spPr>
        <p:txBody>
          <a:bodyPr wrap="square" anchor="ctr" lIns="0" rIns="0" tIns="0" bIns="0">
            <a:spAutoFit/>
          </a:bodyPr>
          <a:lstStyle/>
          <a:p>
            <a:pPr algn="l">
              <a:lnSpc>
                <a:spcPct val="110000"/>
              </a:lnSpc>
              <a:spcAft>
                <a:spcPts val="0"/>
              </a:spcAft>
            </a:pPr>
            <a:r>
              <a:rPr sz="1350" b="1" i="0">
                <a:solidFill>
                  <a:srgbClr val="1A2230"/>
                </a:solidFill>
                <a:latin typeface="Calibri"/>
                <a:ea typeface="Calibri"/>
              </a:rPr>
              <a:t>navigator</a:t>
            </a:r>
          </a:p>
        </p:txBody>
      </p:sp>
      <p:sp>
        <p:nvSpPr>
          <p:cNvPr id="23" name="Rectangle 22"/>
          <p:cNvSpPr/>
          <p:nvPr/>
        </p:nvSpPr>
        <p:spPr>
          <a:xfrm>
            <a:off x="3482700" y="3145536"/>
            <a:ext cx="8160354"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47292" y="3145536"/>
            <a:ext cx="7831170" cy="566928"/>
          </a:xfrm>
          <a:prstGeom prst="rect">
            <a:avLst/>
          </a:prstGeom>
          <a:noFill/>
        </p:spPr>
        <p:txBody>
          <a:bodyPr wrap="square" anchor="ctr" lIns="0" rIns="0" tIns="0" bIns="0">
            <a:spAutoFit/>
          </a:bodyPr>
          <a:lstStyle/>
          <a:p>
            <a:pPr algn="l">
              <a:lnSpc>
                <a:spcPct val="110000"/>
              </a:lnSpc>
              <a:spcAft>
                <a:spcPts val="0"/>
              </a:spcAft>
            </a:pPr>
            <a:r>
              <a:rPr sz="1350" b="0" i="0">
                <a:solidFill>
                  <a:srgbClr val="1A2230"/>
                </a:solidFill>
                <a:latin typeface="Calibri"/>
                <a:ea typeface="Calibri"/>
              </a:rPr>
              <a:t>userAgent, platform, language, geolocation</a:t>
            </a:r>
          </a:p>
        </p:txBody>
      </p:sp>
      <p:sp>
        <p:nvSpPr>
          <p:cNvPr id="25" name="Rounded Rectangle 24"/>
          <p:cNvSpPr/>
          <p:nvPr/>
        </p:nvSpPr>
        <p:spPr>
          <a:xfrm>
            <a:off x="548640" y="3895344"/>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3986784"/>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Reading them is safe. Navigating the user with location.assign() needs a reason.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Timing Events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BOM</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setTimeout runs once</a:t>
            </a:r>
            <a:br/>
            <a:r>
              <a:rPr sz="1600" b="0" i="0">
                <a:solidFill>
                  <a:srgbClr val="4A5568"/>
                </a:solidFill>
                <a:latin typeface="Calibri"/>
                <a:ea typeface="Calibri"/>
              </a:rPr>
              <a:t>After the given number of milliseconds.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setInterval repeats</a:t>
            </a:r>
            <a:br/>
            <a:r>
              <a:rPr sz="1600" b="0" i="0">
                <a:solidFill>
                  <a:srgbClr val="4A5568"/>
                </a:solidFill>
                <a:latin typeface="Calibri"/>
                <a:ea typeface="Calibri"/>
              </a:rPr>
              <a:t>Until you clear it — always keep the handle it returns.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clearTimeout and clearInterval</a:t>
            </a:r>
            <a:br/>
            <a:r>
              <a:rPr sz="1600" b="0" i="0">
                <a:solidFill>
                  <a:srgbClr val="4A5568"/>
                </a:solidFill>
                <a:latin typeface="Calibri"/>
                <a:ea typeface="Calibri"/>
              </a:rPr>
              <a:t>Stop a timer you started.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Timers do not block</a:t>
            </a:r>
            <a:br/>
            <a:r>
              <a:rPr sz="1600" b="0" i="0">
                <a:solidFill>
                  <a:srgbClr val="4A5568"/>
                </a:solidFill>
                <a:latin typeface="Calibri"/>
                <a:ea typeface="Calibri"/>
              </a:rPr>
              <a:t>The rest of the page keeps running while they wait.</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C678DD"/>
                </a:solidFill>
                <a:latin typeface="Consolas"/>
                <a:ea typeface="Consolas"/>
              </a:rPr>
              <a:t>const</a:t>
            </a:r>
            <a:r>
              <a:rPr sz="1300" b="0" i="0">
                <a:solidFill>
                  <a:srgbClr val="D7DDE6"/>
                </a:solidFill>
                <a:latin typeface="Consolas"/>
                <a:ea typeface="Consolas"/>
              </a:rPr>
              <a:t> </a:t>
            </a:r>
            <a:r>
              <a:rPr sz="1300" b="0" i="0">
                <a:solidFill>
                  <a:srgbClr val="D7DDE6"/>
                </a:solidFill>
                <a:latin typeface="Consolas"/>
                <a:ea typeface="Consolas"/>
              </a:rPr>
              <a:t>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61AFEF"/>
                </a:solidFill>
                <a:latin typeface="Consolas"/>
                <a:ea typeface="Consolas"/>
              </a:rPr>
              <a:t>setTimeout</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&gt;</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61AFEF"/>
                </a:solidFill>
                <a:latin typeface="Consolas"/>
                <a:ea typeface="Consolas"/>
              </a:rPr>
              <a:t>console</a:t>
            </a:r>
            <a:r>
              <a:rPr sz="1300" b="0" i="0">
                <a:solidFill>
                  <a:srgbClr val="D7DDE6"/>
                </a:solidFill>
                <a:latin typeface="Consolas"/>
                <a:ea typeface="Consolas"/>
              </a:rPr>
              <a:t>.</a:t>
            </a:r>
            <a:r>
              <a:rPr sz="1300" b="0" i="0">
                <a:solidFill>
                  <a:srgbClr val="E5C07B"/>
                </a:solidFill>
                <a:latin typeface="Consolas"/>
                <a:ea typeface="Consolas"/>
              </a:rPr>
              <a:t>log</a:t>
            </a:r>
            <a:r>
              <a:rPr sz="1300" b="0" i="0">
                <a:solidFill>
                  <a:srgbClr val="D7DDE6"/>
                </a:solidFill>
                <a:latin typeface="Consolas"/>
                <a:ea typeface="Consolas"/>
              </a:rPr>
              <a:t>(</a:t>
            </a:r>
            <a:r>
              <a:rPr sz="1300" b="0" i="0">
                <a:solidFill>
                  <a:srgbClr val="98C379"/>
                </a:solidFill>
                <a:latin typeface="Consolas"/>
                <a:ea typeface="Consolas"/>
              </a:rPr>
              <a:t>"one second later"</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1000</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C678DD"/>
                </a:solidFill>
                <a:latin typeface="Consolas"/>
                <a:ea typeface="Consolas"/>
              </a:rPr>
              <a:t>const</a:t>
            </a:r>
            <a:r>
              <a:rPr sz="1300" b="0" i="0">
                <a:solidFill>
                  <a:srgbClr val="D7DDE6"/>
                </a:solidFill>
                <a:latin typeface="Consolas"/>
                <a:ea typeface="Consolas"/>
              </a:rPr>
              <a:t> </a:t>
            </a:r>
            <a:r>
              <a:rPr sz="1300" b="0" i="0">
                <a:solidFill>
                  <a:srgbClr val="D7DDE6"/>
                </a:solidFill>
                <a:latin typeface="Consolas"/>
                <a:ea typeface="Consolas"/>
              </a:rPr>
              <a:t>id</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61AFEF"/>
                </a:solidFill>
                <a:latin typeface="Consolas"/>
                <a:ea typeface="Consolas"/>
              </a:rPr>
              <a:t>setInterval</a:t>
            </a:r>
            <a:r>
              <a:rPr sz="1300" b="0" i="0">
                <a:solidFill>
                  <a:srgbClr val="D7DDE6"/>
                </a:solidFill>
                <a:latin typeface="Consolas"/>
                <a:ea typeface="Consolas"/>
              </a:rPr>
              <a:t>(</a:t>
            </a:r>
            <a:r>
              <a:rPr sz="1300" b="0" i="0">
                <a:solidFill>
                  <a:srgbClr val="D7DDE6"/>
                </a:solidFill>
                <a:latin typeface="Consolas"/>
                <a:ea typeface="Consolas"/>
              </a:rPr>
              <a:t>tick</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E5C07B"/>
                </a:solidFill>
                <a:latin typeface="Consolas"/>
                <a:ea typeface="Consolas"/>
              </a:rPr>
              <a:t>1000</a:t>
            </a:r>
            <a:r>
              <a:rPr sz="1300" b="0" i="0">
                <a:solidFill>
                  <a:srgbClr val="D7DDE6"/>
                </a:solidFill>
                <a:latin typeface="Consolas"/>
                <a:ea typeface="Consolas"/>
              </a:rPr>
              <a:t>)</a:t>
            </a:r>
            <a:r>
              <a:rPr sz="1300" b="0" i="0">
                <a:solidFill>
                  <a:srgbClr val="D7DDE6"/>
                </a:solidFill>
                <a:latin typeface="Consolas"/>
                <a:ea typeface="Consolas"/>
              </a:rPr>
              <a:t>;</a:t>
            </a:r>
          </a:p>
          <a:p>
            <a:pPr>
              <a:spcAft>
                <a:spcPts val="350"/>
              </a:spcAft>
            </a:pPr>
            <a:r>
              <a:rPr sz="1300" b="0" i="0">
                <a:solidFill>
                  <a:srgbClr val="61AFEF"/>
                </a:solidFill>
                <a:latin typeface="Consolas"/>
                <a:ea typeface="Consolas"/>
              </a:rPr>
              <a:t>clearInterval</a:t>
            </a:r>
            <a:r>
              <a:rPr sz="1300" b="0" i="0">
                <a:solidFill>
                  <a:srgbClr val="D7DDE6"/>
                </a:solidFill>
                <a:latin typeface="Consolas"/>
                <a:ea typeface="Consolas"/>
              </a:rPr>
              <a:t>(</a:t>
            </a:r>
            <a:r>
              <a:rPr sz="1300" b="0" i="0">
                <a:solidFill>
                  <a:srgbClr val="D7DDE6"/>
                </a:solidFill>
                <a:latin typeface="Consolas"/>
                <a:ea typeface="Consolas"/>
              </a:rPr>
              <a:t>id</a:t>
            </a:r>
            <a:r>
              <a:rPr sz="1300" b="0" i="0">
                <a:solidFill>
                  <a:srgbClr val="D7DDE6"/>
                </a:solidFill>
                <a:latin typeface="Consolas"/>
                <a:ea typeface="Consolas"/>
              </a:rPr>
              <a:t>)</a:t>
            </a:r>
            <a:r>
              <a:rPr sz="1300" b="0" i="0">
                <a:solidFill>
                  <a:srgbClr val="D7DDE6"/>
                </a:solidFill>
                <a:latin typeface="Consolas"/>
                <a:ea typeface="Consolas"/>
              </a:rPr>
              <a: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Cookies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BOM</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Small pieces of text</a:t>
            </a:r>
            <a:br/>
            <a:r>
              <a:rPr sz="1600" b="0" i="0">
                <a:solidFill>
                  <a:srgbClr val="4A5568"/>
                </a:solidFill>
                <a:latin typeface="Calibri"/>
                <a:ea typeface="Calibri"/>
              </a:rPr>
              <a:t>The browser stores them for your site and sends them back.</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One property does it all</a:t>
            </a:r>
            <a:br/>
            <a:r>
              <a:rPr sz="1600" b="0" i="0">
                <a:solidFill>
                  <a:srgbClr val="4A5568"/>
                </a:solidFill>
                <a:latin typeface="Calibri"/>
                <a:ea typeface="Calibri"/>
              </a:rPr>
              <a:t>document.cookie reads, writes and appends.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 </a:t>
            </a:r>
            <a:r>
              <a:rPr sz="1800" b="1" i="0">
                <a:solidFill>
                  <a:srgbClr val="B8860B"/>
                </a:solidFill>
                <a:latin typeface="Consolas"/>
                <a:ea typeface="Consolas"/>
              </a:rPr>
              <a:t>name</a:t>
            </a:r>
            <a:r>
              <a:rPr sz="1800" b="1" i="0">
                <a:solidFill>
                  <a:srgbClr val="1A2230"/>
                </a:solidFill>
                <a:latin typeface="Calibri"/>
                <a:ea typeface="Calibri"/>
              </a:rPr>
              <a:t>, a </a:t>
            </a:r>
            <a:r>
              <a:rPr sz="1800" b="1" i="0">
                <a:solidFill>
                  <a:srgbClr val="B8860B"/>
                </a:solidFill>
                <a:latin typeface="Consolas"/>
                <a:ea typeface="Consolas"/>
              </a:rPr>
              <a:t>value</a:t>
            </a:r>
            <a:r>
              <a:rPr sz="1800" b="1" i="0">
                <a:solidFill>
                  <a:srgbClr val="1A2230"/>
                </a:solidFill>
                <a:latin typeface="Calibri"/>
                <a:ea typeface="Calibri"/>
              </a:rPr>
              <a:t>, and options</a:t>
            </a:r>
            <a:br/>
            <a:r>
              <a:rPr sz="1600" b="0" i="0">
                <a:solidFill>
                  <a:srgbClr val="4A5568"/>
                </a:solidFill>
                <a:latin typeface="Calibri"/>
                <a:ea typeface="Calibri"/>
              </a:rPr>
              <a:t>expires, path and the security flags come after semicolons.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Every request carries them</a:t>
            </a:r>
            <a:br/>
            <a:r>
              <a:rPr sz="1600" b="0" i="0">
                <a:solidFill>
                  <a:srgbClr val="4A5568"/>
                </a:solidFill>
                <a:latin typeface="Calibri"/>
                <a:ea typeface="Calibri"/>
              </a:rPr>
              <a:t>That is why they became the classic session mechanism — and why they are regulated.</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D7DDE6"/>
                </a:solidFill>
                <a:latin typeface="Consolas"/>
                <a:ea typeface="Consolas"/>
              </a:rPr>
              <a:t>cookie</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98C379"/>
                </a:solidFill>
                <a:latin typeface="Consolas"/>
                <a:ea typeface="Consolas"/>
              </a:rPr>
              <a:t>"username=John Doe"</a:t>
            </a:r>
            <a:r>
              <a:rPr sz="1300" b="0" i="0">
                <a:solidFill>
                  <a:srgbClr val="D7DDE6"/>
                </a:solidFill>
                <a:latin typeface="Consolas"/>
                <a:ea typeface="Consolas"/>
              </a:rPr>
              <a:t>;</a:t>
            </a:r>
          </a:p>
          <a:p>
            <a:pPr>
              <a:spcAft>
                <a:spcPts val="350"/>
              </a:spcAft>
            </a:pP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D7DDE6"/>
                </a:solidFill>
                <a:latin typeface="Consolas"/>
                <a:ea typeface="Consolas"/>
              </a:rPr>
              <a:t>cookie</a:t>
            </a:r>
            <a:r>
              <a:rPr sz="1300" b="0" i="0">
                <a:solidFill>
                  <a:srgbClr val="D7DDE6"/>
                </a:solidFill>
                <a:latin typeface="Consolas"/>
                <a:ea typeface="Consolas"/>
              </a:rPr>
              <a:t> </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98C379"/>
                </a:solidFill>
                <a:latin typeface="Consolas"/>
                <a:ea typeface="Consolas"/>
              </a:rPr>
              <a:t>"theme=dark; expires=Thu, 18 Dec 2026; path=/"</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r>
          </a:p>
          <a:p>
            <a:pPr>
              <a:spcAft>
                <a:spcPts val="350"/>
              </a:spcAft>
            </a:pPr>
            <a:r>
              <a:rPr sz="1300" b="0" i="0">
                <a:solidFill>
                  <a:srgbClr val="61AFEF"/>
                </a:solidFill>
                <a:latin typeface="Consolas"/>
                <a:ea typeface="Consolas"/>
              </a:rPr>
              <a:t>document</a:t>
            </a:r>
            <a:r>
              <a:rPr sz="1300" b="0" i="0">
                <a:solidFill>
                  <a:srgbClr val="D7DDE6"/>
                </a:solidFill>
                <a:latin typeface="Consolas"/>
                <a:ea typeface="Consolas"/>
              </a:rPr>
              <a:t>.</a:t>
            </a:r>
            <a:r>
              <a:rPr sz="1300" b="0" i="0">
                <a:solidFill>
                  <a:srgbClr val="D7DDE6"/>
                </a:solidFill>
                <a:latin typeface="Consolas"/>
                <a:ea typeface="Consolas"/>
              </a:rPr>
              <a:t>cookie</a:t>
            </a:r>
            <a:r>
              <a:rPr sz="1300" b="0" i="0">
                <a:solidFill>
                  <a:srgbClr val="D7DDE6"/>
                </a:solidFill>
                <a:latin typeface="Consolas"/>
                <a:ea typeface="Consolas"/>
              </a:rPr>
              <a:t>;</a:t>
            </a:r>
            <a:r>
              <a:rPr sz="1300" b="0" i="0">
                <a:solidFill>
                  <a:srgbClr val="7F8C98"/>
                </a:solidFill>
                <a:latin typeface="Consolas"/>
                <a:ea typeface="Consolas"/>
              </a:rPr>
              <a:t>   // both pairs, one string</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08</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Events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An event is something that happens to the page</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A handler is the code that answers it</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Attributes for one-offs, addEventListener for real pages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What Is an Event?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Events</a:t>
            </a:r>
          </a:p>
        </p:txBody>
      </p:sp>
      <p:sp>
        <p:nvSpPr>
          <p:cNvPr id="5" name="TextBox 4"/>
          <p:cNvSpPr txBox="1"/>
          <p:nvPr/>
        </p:nvSpPr>
        <p:spPr>
          <a:xfrm>
            <a:off x="548640" y="932688"/>
            <a:ext cx="10820095" cy="5394960"/>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Something happens</a:t>
            </a:r>
            <a:br/>
            <a:r>
              <a:rPr sz="1500" b="0" i="0">
                <a:solidFill>
                  <a:srgbClr val="4A5568"/>
                </a:solidFill>
                <a:latin typeface="Calibri"/>
                <a:ea typeface="Calibri"/>
              </a:rPr>
              <a:t>A click, a key press, the page finishing, a form being submitted.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The browser tells your code</a:t>
            </a:r>
            <a:br/>
            <a:r>
              <a:rPr sz="1500" b="0" i="0">
                <a:solidFill>
                  <a:srgbClr val="4A5568"/>
                </a:solidFill>
                <a:latin typeface="Calibri"/>
                <a:ea typeface="Calibri"/>
              </a:rPr>
              <a:t>It hands over an event object describing what happened.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You decide what to do</a:t>
            </a:r>
            <a:br/>
            <a:r>
              <a:rPr sz="1500" b="0" i="0">
                <a:solidFill>
                  <a:srgbClr val="4A5568"/>
                </a:solidFill>
                <a:latin typeface="Calibri"/>
                <a:ea typeface="Calibri"/>
              </a:rPr>
              <a:t>Change the page, validate input, send a request.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Two ways to listen</a:t>
            </a:r>
            <a:br/>
            <a:r>
              <a:rPr sz="1500" b="0" i="0">
                <a:solidFill>
                  <a:srgbClr val="4A5568"/>
                </a:solidFill>
                <a:latin typeface="Calibri"/>
                <a:ea typeface="Calibri"/>
              </a:rPr>
              <a:t>An attribute in the tag, or addEventListener from a script.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Events bubble</a:t>
            </a:r>
            <a:br/>
            <a:r>
              <a:rPr sz="1500" b="0" i="0">
                <a:solidFill>
                  <a:srgbClr val="4A5568"/>
                </a:solidFill>
                <a:latin typeface="Calibri"/>
                <a:ea typeface="Calibri"/>
              </a:rPr>
              <a:t>From the element that was hit upwards to its ancestors.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Event Handlers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Events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Inline attribute</a:t>
            </a:r>
            <a:br/>
            <a:r>
              <a:rPr sz="1600" b="0" i="0">
                <a:solidFill>
                  <a:srgbClr val="4A5568"/>
                </a:solidFill>
                <a:latin typeface="Calibri"/>
                <a:ea typeface="Calibri"/>
              </a:rPr>
              <a:t>onclick="…" puts the code in the tag — quick, but it mixes behaviour into markup.</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Call a function instead</a:t>
            </a:r>
            <a:br/>
            <a:r>
              <a:rPr sz="1600" b="0" i="0">
                <a:solidFill>
                  <a:srgbClr val="4A5568"/>
                </a:solidFill>
                <a:latin typeface="Calibri"/>
                <a:ea typeface="Calibri"/>
              </a:rPr>
              <a:t>onclick="myFunction()" keeps the code where code belongs.</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Assign a handler from script</a:t>
            </a:r>
            <a:br/>
            <a:r>
              <a:rPr sz="1600" b="0" i="0">
                <a:solidFill>
                  <a:srgbClr val="4A5568"/>
                </a:solidFill>
                <a:latin typeface="Calibri"/>
                <a:ea typeface="Calibri"/>
              </a:rPr>
              <a:t>element.onclick = handler — but it replaces whatever was there.</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That is the limit of the property form</a:t>
            </a:r>
            <a:br/>
            <a:r>
              <a:rPr sz="1600" b="0" i="0">
                <a:solidFill>
                  <a:srgbClr val="4A5568"/>
                </a:solidFill>
                <a:latin typeface="Calibri"/>
                <a:ea typeface="Calibri"/>
              </a:rPr>
              <a:t>One handler per event. addEventListener is the answer when you need more.</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CODE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E06C75"/>
                </a:solidFill>
                <a:latin typeface="Consolas"/>
                <a:ea typeface="Consolas"/>
              </a:rPr>
              <a:t>&lt;button</a:t>
            </a:r>
            <a:r>
              <a:rPr sz="1300" b="0" i="0">
                <a:solidFill>
                  <a:srgbClr val="D7DDE6"/>
                </a:solidFill>
                <a:latin typeface="Consolas"/>
                <a:ea typeface="Consolas"/>
              </a:rPr>
              <a:t> </a:t>
            </a:r>
            <a:r>
              <a:rPr sz="1300" b="0" i="0">
                <a:solidFill>
                  <a:srgbClr val="E5C07B"/>
                </a:solidFill>
                <a:latin typeface="Consolas"/>
                <a:ea typeface="Consolas"/>
              </a:rPr>
              <a:t>onclick</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document</a:t>
            </a:r>
            <a:r>
              <a:rPr sz="1300" b="0" i="0">
                <a:solidFill>
                  <a:srgbClr val="D7DDE6"/>
                </a:solidFill>
                <a:latin typeface="Consolas"/>
                <a:ea typeface="Consolas"/>
              </a:rPr>
              <a:t>.</a:t>
            </a:r>
            <a:r>
              <a:rPr sz="1300" b="0" i="0">
                <a:solidFill>
                  <a:srgbClr val="D7DDE6"/>
                </a:solidFill>
                <a:latin typeface="Consolas"/>
                <a:ea typeface="Consolas"/>
              </a:rPr>
              <a:t>getElementById</a:t>
            </a:r>
            <a:r>
              <a:rPr sz="1300" b="0" i="0">
                <a:solidFill>
                  <a:srgbClr val="D7DDE6"/>
                </a:solidFill>
                <a:latin typeface="Consolas"/>
                <a:ea typeface="Consolas"/>
              </a:rPr>
              <a:t>(</a:t>
            </a:r>
            <a:r>
              <a:rPr sz="1300" b="0" i="0">
                <a:solidFill>
                  <a:srgbClr val="98C379"/>
                </a:solidFill>
                <a:latin typeface="Consolas"/>
                <a:ea typeface="Consolas"/>
              </a:rPr>
              <a:t>'demo'</a:t>
            </a:r>
            <a:r>
              <a:rPr sz="1300" b="0" i="0">
                <a:solidFill>
                  <a:srgbClr val="D7DDE6"/>
                </a:solidFill>
                <a:latin typeface="Consolas"/>
                <a:ea typeface="Consolas"/>
              </a:rPr>
              <a: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innerHTML</a:t>
            </a:r>
            <a:r>
              <a:rPr sz="1300" b="0" i="0">
                <a:solidFill>
                  <a:srgbClr val="D7DDE6"/>
                </a:solidFill>
                <a:latin typeface="Consolas"/>
                <a:ea typeface="Consolas"/>
              </a:rPr>
              <a:t> </a:t>
            </a:r>
            <a:r>
              <a:rPr sz="1300" b="0" i="0">
                <a:solidFill>
                  <a:srgbClr val="D7DDE6"/>
                </a:solidFill>
                <a:latin typeface="Consolas"/>
                <a:ea typeface="Consolas"/>
              </a:rPr>
              <a:t>=</a:t>
            </a:r>
            <a:r>
              <a:rPr sz="1300" b="0" i="0">
                <a:solidFill>
                  <a:srgbClr val="D7DDE6"/>
                </a:solidFill>
                <a:latin typeface="Consolas"/>
                <a:ea typeface="Consolas"/>
              </a:rPr>
              <a:t> </a:t>
            </a:r>
            <a:r>
              <a:rPr sz="1300" b="0" i="0">
                <a:solidFill>
                  <a:srgbClr val="61AFEF"/>
                </a:solidFill>
                <a:latin typeface="Consolas"/>
                <a:ea typeface="Consolas"/>
              </a:rPr>
              <a:t>Date</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a:t>
            </a:r>
            <a:r>
              <a:rPr sz="1300" b="0" i="0">
                <a:solidFill>
                  <a:srgbClr val="D7DDE6"/>
                </a:solidFill>
                <a:latin typeface="Consolas"/>
                <a:ea typeface="Consolas"/>
              </a:rPr>
              <a:t>&gt;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What</a:t>
            </a:r>
            <a:r>
              <a:rPr sz="1300" b="0" i="0">
                <a:solidFill>
                  <a:srgbClr val="D7DDE6"/>
                </a:solidFill>
                <a:latin typeface="Consolas"/>
                <a:ea typeface="Consolas"/>
              </a:rPr>
              <a:t> </a:t>
            </a:r>
            <a:r>
              <a:rPr sz="1300" b="0" i="0">
                <a:solidFill>
                  <a:srgbClr val="D7DDE6"/>
                </a:solidFill>
                <a:latin typeface="Consolas"/>
                <a:ea typeface="Consolas"/>
              </a:rPr>
              <a:t>time</a:t>
            </a:r>
            <a:r>
              <a:rPr sz="1300" b="0" i="0">
                <a:solidFill>
                  <a:srgbClr val="D7DDE6"/>
                </a:solidFill>
                <a:latin typeface="Consolas"/>
                <a:ea typeface="Consolas"/>
              </a:rPr>
              <a:t> </a:t>
            </a:r>
            <a:r>
              <a:rPr sz="1300" b="0" i="0">
                <a:solidFill>
                  <a:srgbClr val="D7DDE6"/>
                </a:solidFill>
                <a:latin typeface="Consolas"/>
                <a:ea typeface="Consolas"/>
              </a:rPr>
              <a:t>is</a:t>
            </a:r>
            <a:r>
              <a:rPr sz="1300" b="0" i="0">
                <a:solidFill>
                  <a:srgbClr val="D7DDE6"/>
                </a:solidFill>
                <a:latin typeface="Consolas"/>
                <a:ea typeface="Consolas"/>
              </a:rPr>
              <a:t> </a:t>
            </a:r>
            <a:r>
              <a:rPr sz="1300" b="0" i="0">
                <a:solidFill>
                  <a:srgbClr val="D7DDE6"/>
                </a:solidFill>
                <a:latin typeface="Consolas"/>
                <a:ea typeface="Consolas"/>
              </a:rPr>
              <a:t>it</a:t>
            </a:r>
            <a:r>
              <a:rPr sz="1300" b="0" i="0">
                <a:solidFill>
                  <a:srgbClr val="D7DDE6"/>
                </a:solidFill>
                <a:latin typeface="Consolas"/>
                <a:ea typeface="Consolas"/>
              </a:rPr>
              <a:t>?</a:t>
            </a:r>
          </a:p>
          <a:p>
            <a:pPr>
              <a:spcAft>
                <a:spcPts val="350"/>
              </a:spcAft>
            </a:pPr>
            <a:r>
              <a:rPr sz="1300" b="0" i="0">
                <a:solidFill>
                  <a:srgbClr val="E06C75"/>
                </a:solidFill>
                <a:latin typeface="Consolas"/>
                <a:ea typeface="Consolas"/>
              </a:rPr>
              <a:t>&lt;/button</a:t>
            </a:r>
            <a:r>
              <a:rPr sz="1300" b="0" i="0">
                <a:solidFill>
                  <a:srgbClr val="D7DDE6"/>
                </a:solidFill>
                <a:latin typeface="Consolas"/>
                <a:ea typeface="Consolas"/>
              </a:rPr>
              <a:t>&gt;</a:t>
            </a:r>
          </a:p>
          <a:p>
            <a:pPr>
              <a:spcAft>
                <a:spcPts val="350"/>
              </a:spcAft>
            </a:pPr>
            <a:r>
              <a:rPr sz="1300" b="0" i="0">
                <a:solidFill>
                  <a:srgbClr val="D7DDE6"/>
                </a:solidFill>
                <a:latin typeface="Consolas"/>
                <a:ea typeface="Consolas"/>
              </a:rPr>
              <a:t/>
            </a:r>
          </a:p>
          <a:p>
            <a:pPr>
              <a:spcAft>
                <a:spcPts val="350"/>
              </a:spcAft>
            </a:pPr>
            <a:r>
              <a:rPr sz="1300" b="0" i="0">
                <a:solidFill>
                  <a:srgbClr val="E06C75"/>
                </a:solidFill>
                <a:latin typeface="Consolas"/>
                <a:ea typeface="Consolas"/>
              </a:rPr>
              <a:t>&lt;button</a:t>
            </a:r>
            <a:r>
              <a:rPr sz="1300" b="0" i="0">
                <a:solidFill>
                  <a:srgbClr val="D7DDE6"/>
                </a:solidFill>
                <a:latin typeface="Consolas"/>
                <a:ea typeface="Consolas"/>
              </a:rPr>
              <a:t> </a:t>
            </a:r>
            <a:r>
              <a:rPr sz="1300" b="0" i="0">
                <a:solidFill>
                  <a:srgbClr val="E5C07B"/>
                </a:solidFill>
                <a:latin typeface="Consolas"/>
                <a:ea typeface="Consolas"/>
              </a:rPr>
              <a:t>onclick</a:t>
            </a:r>
            <a:r>
              <a:rPr sz="1300" b="0" i="0">
                <a:solidFill>
                  <a:srgbClr val="D7DDE6"/>
                </a:solidFill>
                <a:latin typeface="Consolas"/>
                <a:ea typeface="Consolas"/>
              </a:rPr>
              <a:t>=</a:t>
            </a:r>
            <a:r>
              <a:rPr sz="1300" b="0" i="0">
                <a:solidFill>
                  <a:srgbClr val="98C379"/>
                </a:solidFill>
                <a:latin typeface="Consolas"/>
                <a:ea typeface="Consolas"/>
              </a:rPr>
              <a:t>"myFunction()"</a:t>
            </a:r>
            <a:r>
              <a:rPr sz="1300" b="0" i="0">
                <a:solidFill>
                  <a:srgbClr val="D7DDE6"/>
                </a:solidFill>
                <a:latin typeface="Consolas"/>
                <a:ea typeface="Consolas"/>
              </a:rPr>
              <a:t>&gt;</a:t>
            </a:r>
          </a:p>
          <a:p>
            <a:pPr>
              <a:spcAft>
                <a:spcPts val="350"/>
              </a:spcAft>
            </a:pPr>
            <a:r>
              <a:rPr sz="1300" b="0" i="0">
                <a:solidFill>
                  <a:srgbClr val="D7DDE6"/>
                </a:solidFill>
                <a:latin typeface="Consolas"/>
                <a:ea typeface="Consolas"/>
              </a:rPr>
              <a:t>  </a:t>
            </a:r>
            <a:r>
              <a:rPr sz="1300" b="0" i="0">
                <a:solidFill>
                  <a:srgbClr val="D7DDE6"/>
                </a:solidFill>
                <a:latin typeface="Consolas"/>
                <a:ea typeface="Consolas"/>
              </a:rPr>
              <a:t>Call</a:t>
            </a:r>
            <a:r>
              <a:rPr sz="1300" b="0" i="0">
                <a:solidFill>
                  <a:srgbClr val="D7DDE6"/>
                </a:solidFill>
                <a:latin typeface="Consolas"/>
                <a:ea typeface="Consolas"/>
              </a:rPr>
              <a:t> </a:t>
            </a:r>
            <a:r>
              <a:rPr sz="1300" b="0" i="0">
                <a:solidFill>
                  <a:srgbClr val="D7DDE6"/>
                </a:solidFill>
                <a:latin typeface="Consolas"/>
                <a:ea typeface="Consolas"/>
              </a:rPr>
              <a:t>a</a:t>
            </a:r>
            <a:r>
              <a:rPr sz="1300" b="0" i="0">
                <a:solidFill>
                  <a:srgbClr val="D7DDE6"/>
                </a:solidFill>
                <a:latin typeface="Consolas"/>
                <a:ea typeface="Consolas"/>
              </a:rPr>
              <a:t> </a:t>
            </a:r>
            <a:r>
              <a:rPr sz="1300" b="0" i="0">
                <a:solidFill>
                  <a:srgbClr val="C678DD"/>
                </a:solidFill>
                <a:latin typeface="Consolas"/>
                <a:ea typeface="Consolas"/>
              </a:rPr>
              <a:t>function</a:t>
            </a:r>
          </a:p>
          <a:p>
            <a:pPr>
              <a:spcAft>
                <a:spcPts val="350"/>
              </a:spcAft>
            </a:pPr>
            <a:r>
              <a:rPr sz="1300" b="0" i="0">
                <a:solidFill>
                  <a:srgbClr val="E06C75"/>
                </a:solidFill>
                <a:latin typeface="Consolas"/>
                <a:ea typeface="Consolas"/>
              </a:rPr>
              <a:t>&lt;/button</a:t>
            </a:r>
            <a:r>
              <a:rPr sz="1300" b="0" i="0">
                <a:solidFill>
                  <a:srgbClr val="D7DDE6"/>
                </a:solidFill>
                <a:latin typeface="Consolas"/>
                <a:ea typeface="Consolas"/>
              </a:rPr>
              <a:t>&gt;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Common Events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Events</a:t>
            </a:r>
          </a:p>
        </p:txBody>
      </p:sp>
      <p:sp>
        <p:nvSpPr>
          <p:cNvPr id="5" name="Rectangle 4"/>
          <p:cNvSpPr/>
          <p:nvPr/>
        </p:nvSpPr>
        <p:spPr>
          <a:xfrm>
            <a:off x="548640" y="932688"/>
            <a:ext cx="2383923"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932688"/>
            <a:ext cx="2054739"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Event</a:t>
            </a:r>
          </a:p>
        </p:txBody>
      </p:sp>
      <p:sp>
        <p:nvSpPr>
          <p:cNvPr id="7" name="Rectangle 6"/>
          <p:cNvSpPr/>
          <p:nvPr/>
        </p:nvSpPr>
        <p:spPr>
          <a:xfrm>
            <a:off x="2932563" y="932688"/>
            <a:ext cx="5134605"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097155" y="932688"/>
            <a:ext cx="4805421"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Fires when</a:t>
            </a:r>
          </a:p>
        </p:txBody>
      </p:sp>
      <p:sp>
        <p:nvSpPr>
          <p:cNvPr id="9" name="Rectangle 8"/>
          <p:cNvSpPr/>
          <p:nvPr/>
        </p:nvSpPr>
        <p:spPr>
          <a:xfrm>
            <a:off x="8067169" y="932688"/>
            <a:ext cx="3575885" cy="512064"/>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31761" y="932688"/>
            <a:ext cx="3246701" cy="512064"/>
          </a:xfrm>
          <a:prstGeom prst="rect">
            <a:avLst/>
          </a:prstGeom>
          <a:noFill/>
        </p:spPr>
        <p:txBody>
          <a:bodyPr wrap="square" anchor="ctr" lIns="0" rIns="0" tIns="0" bIns="0">
            <a:spAutoFit/>
          </a:bodyPr>
          <a:lstStyle/>
          <a:p>
            <a:pPr algn="l">
              <a:lnSpc>
                <a:spcPct val="110000"/>
              </a:lnSpc>
              <a:spcAft>
                <a:spcPts val="0"/>
              </a:spcAft>
            </a:pPr>
            <a:r>
              <a:rPr sz="1300" b="1" i="0">
                <a:solidFill>
                  <a:srgbClr val="FFFFFF"/>
                </a:solidFill>
                <a:latin typeface="Calibri"/>
                <a:ea typeface="Calibri"/>
              </a:rPr>
              <a:t>Typical use</a:t>
            </a:r>
          </a:p>
        </p:txBody>
      </p:sp>
      <p:sp>
        <p:nvSpPr>
          <p:cNvPr id="11" name="Rectangle 10"/>
          <p:cNvSpPr/>
          <p:nvPr/>
        </p:nvSpPr>
        <p:spPr>
          <a:xfrm>
            <a:off x="548640" y="1444752"/>
            <a:ext cx="238392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444752"/>
            <a:ext cx="205473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onclick</a:t>
            </a:r>
          </a:p>
        </p:txBody>
      </p:sp>
      <p:sp>
        <p:nvSpPr>
          <p:cNvPr id="13" name="Rectangle 12"/>
          <p:cNvSpPr/>
          <p:nvPr/>
        </p:nvSpPr>
        <p:spPr>
          <a:xfrm>
            <a:off x="2932563" y="1444752"/>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97155" y="1444752"/>
            <a:ext cx="480542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the user clicks</a:t>
            </a:r>
          </a:p>
        </p:txBody>
      </p:sp>
      <p:sp>
        <p:nvSpPr>
          <p:cNvPr id="15" name="Rectangle 14"/>
          <p:cNvSpPr/>
          <p:nvPr/>
        </p:nvSpPr>
        <p:spPr>
          <a:xfrm>
            <a:off x="8067169" y="1444752"/>
            <a:ext cx="357588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1761" y="1444752"/>
            <a:ext cx="324670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buttons, links</a:t>
            </a:r>
          </a:p>
        </p:txBody>
      </p:sp>
      <p:sp>
        <p:nvSpPr>
          <p:cNvPr id="17" name="Rectangle 16"/>
          <p:cNvSpPr/>
          <p:nvPr/>
        </p:nvSpPr>
        <p:spPr>
          <a:xfrm>
            <a:off x="548640" y="2011680"/>
            <a:ext cx="238392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2011680"/>
            <a:ext cx="205473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onchange</a:t>
            </a:r>
          </a:p>
        </p:txBody>
      </p:sp>
      <p:sp>
        <p:nvSpPr>
          <p:cNvPr id="19" name="Rectangle 18"/>
          <p:cNvSpPr/>
          <p:nvPr/>
        </p:nvSpPr>
        <p:spPr>
          <a:xfrm>
            <a:off x="2932563" y="2011680"/>
            <a:ext cx="513460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097155" y="2011680"/>
            <a:ext cx="480542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 field changes and loses focus</a:t>
            </a:r>
          </a:p>
        </p:txBody>
      </p:sp>
      <p:sp>
        <p:nvSpPr>
          <p:cNvPr id="21" name="Rectangle 20"/>
          <p:cNvSpPr/>
          <p:nvPr/>
        </p:nvSpPr>
        <p:spPr>
          <a:xfrm>
            <a:off x="8067169" y="2011680"/>
            <a:ext cx="357588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1761" y="2011680"/>
            <a:ext cx="324670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validation</a:t>
            </a:r>
          </a:p>
        </p:txBody>
      </p:sp>
      <p:sp>
        <p:nvSpPr>
          <p:cNvPr id="23" name="Rectangle 22"/>
          <p:cNvSpPr/>
          <p:nvPr/>
        </p:nvSpPr>
        <p:spPr>
          <a:xfrm>
            <a:off x="548640" y="2578608"/>
            <a:ext cx="238392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2578608"/>
            <a:ext cx="205473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oninput</a:t>
            </a:r>
          </a:p>
        </p:txBody>
      </p:sp>
      <p:sp>
        <p:nvSpPr>
          <p:cNvPr id="25" name="Rectangle 24"/>
          <p:cNvSpPr/>
          <p:nvPr/>
        </p:nvSpPr>
        <p:spPr>
          <a:xfrm>
            <a:off x="2932563" y="2578608"/>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97155" y="2578608"/>
            <a:ext cx="480542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 field changes as you type</a:t>
            </a:r>
          </a:p>
        </p:txBody>
      </p:sp>
      <p:sp>
        <p:nvSpPr>
          <p:cNvPr id="27" name="Rectangle 26"/>
          <p:cNvSpPr/>
          <p:nvPr/>
        </p:nvSpPr>
        <p:spPr>
          <a:xfrm>
            <a:off x="8067169" y="2578608"/>
            <a:ext cx="357588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1761" y="2578608"/>
            <a:ext cx="324670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live search</a:t>
            </a:r>
          </a:p>
        </p:txBody>
      </p:sp>
      <p:sp>
        <p:nvSpPr>
          <p:cNvPr id="29" name="Rectangle 28"/>
          <p:cNvSpPr/>
          <p:nvPr/>
        </p:nvSpPr>
        <p:spPr>
          <a:xfrm>
            <a:off x="548640" y="3145536"/>
            <a:ext cx="238392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13232" y="3145536"/>
            <a:ext cx="205473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onkeydown</a:t>
            </a:r>
          </a:p>
        </p:txBody>
      </p:sp>
      <p:sp>
        <p:nvSpPr>
          <p:cNvPr id="31" name="Rectangle 30"/>
          <p:cNvSpPr/>
          <p:nvPr/>
        </p:nvSpPr>
        <p:spPr>
          <a:xfrm>
            <a:off x="2932563" y="3145536"/>
            <a:ext cx="513460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097155" y="3145536"/>
            <a:ext cx="480542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 key goes down</a:t>
            </a:r>
          </a:p>
        </p:txBody>
      </p:sp>
      <p:sp>
        <p:nvSpPr>
          <p:cNvPr id="33" name="Rectangle 32"/>
          <p:cNvSpPr/>
          <p:nvPr/>
        </p:nvSpPr>
        <p:spPr>
          <a:xfrm>
            <a:off x="8067169" y="3145536"/>
            <a:ext cx="357588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31761" y="3145536"/>
            <a:ext cx="324670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shortcuts, games</a:t>
            </a:r>
          </a:p>
        </p:txBody>
      </p:sp>
      <p:sp>
        <p:nvSpPr>
          <p:cNvPr id="35" name="Rectangle 34"/>
          <p:cNvSpPr/>
          <p:nvPr/>
        </p:nvSpPr>
        <p:spPr>
          <a:xfrm>
            <a:off x="548640" y="3712464"/>
            <a:ext cx="238392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3232" y="3712464"/>
            <a:ext cx="205473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onmouseover</a:t>
            </a:r>
          </a:p>
        </p:txBody>
      </p:sp>
      <p:sp>
        <p:nvSpPr>
          <p:cNvPr id="37" name="Rectangle 36"/>
          <p:cNvSpPr/>
          <p:nvPr/>
        </p:nvSpPr>
        <p:spPr>
          <a:xfrm>
            <a:off x="2932563" y="3712464"/>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097155" y="3712464"/>
            <a:ext cx="480542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the pointer enters</a:t>
            </a:r>
          </a:p>
        </p:txBody>
      </p:sp>
      <p:sp>
        <p:nvSpPr>
          <p:cNvPr id="39" name="Rectangle 38"/>
          <p:cNvSpPr/>
          <p:nvPr/>
        </p:nvSpPr>
        <p:spPr>
          <a:xfrm>
            <a:off x="8067169" y="3712464"/>
            <a:ext cx="357588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31761" y="3712464"/>
            <a:ext cx="324670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hover effects, tooltips</a:t>
            </a:r>
          </a:p>
        </p:txBody>
      </p:sp>
      <p:sp>
        <p:nvSpPr>
          <p:cNvPr id="41" name="Rectangle 40"/>
          <p:cNvSpPr/>
          <p:nvPr/>
        </p:nvSpPr>
        <p:spPr>
          <a:xfrm>
            <a:off x="548640" y="4279392"/>
            <a:ext cx="2383923"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3232" y="4279392"/>
            <a:ext cx="205473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onsubmit</a:t>
            </a:r>
          </a:p>
        </p:txBody>
      </p:sp>
      <p:sp>
        <p:nvSpPr>
          <p:cNvPr id="43" name="Rectangle 42"/>
          <p:cNvSpPr/>
          <p:nvPr/>
        </p:nvSpPr>
        <p:spPr>
          <a:xfrm>
            <a:off x="2932563" y="4279392"/>
            <a:ext cx="513460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97155" y="4279392"/>
            <a:ext cx="480542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a form is submitted</a:t>
            </a:r>
          </a:p>
        </p:txBody>
      </p:sp>
      <p:sp>
        <p:nvSpPr>
          <p:cNvPr id="45" name="Rectangle 44"/>
          <p:cNvSpPr/>
          <p:nvPr/>
        </p:nvSpPr>
        <p:spPr>
          <a:xfrm>
            <a:off x="8067169" y="4279392"/>
            <a:ext cx="3575885" cy="566928"/>
          </a:xfrm>
          <a:prstGeom prst="rect">
            <a:avLst/>
          </a:prstGeom>
          <a:solidFill>
            <a:srgbClr val="FFFFFF"/>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31761" y="4279392"/>
            <a:ext cx="324670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validate before sending</a:t>
            </a:r>
          </a:p>
        </p:txBody>
      </p:sp>
      <p:sp>
        <p:nvSpPr>
          <p:cNvPr id="47" name="Rectangle 46"/>
          <p:cNvSpPr/>
          <p:nvPr/>
        </p:nvSpPr>
        <p:spPr>
          <a:xfrm>
            <a:off x="548640" y="4846320"/>
            <a:ext cx="2383923"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13232" y="4846320"/>
            <a:ext cx="2054739" cy="566928"/>
          </a:xfrm>
          <a:prstGeom prst="rect">
            <a:avLst/>
          </a:prstGeom>
          <a:noFill/>
        </p:spPr>
        <p:txBody>
          <a:bodyPr wrap="square" anchor="ctr" lIns="0" rIns="0" tIns="0" bIns="0">
            <a:spAutoFit/>
          </a:bodyPr>
          <a:lstStyle/>
          <a:p>
            <a:pPr algn="l">
              <a:lnSpc>
                <a:spcPct val="110000"/>
              </a:lnSpc>
              <a:spcAft>
                <a:spcPts val="0"/>
              </a:spcAft>
            </a:pPr>
            <a:r>
              <a:rPr sz="1300" b="1" i="0">
                <a:solidFill>
                  <a:srgbClr val="1A2230"/>
                </a:solidFill>
                <a:latin typeface="Calibri"/>
                <a:ea typeface="Calibri"/>
              </a:rPr>
              <a:t>onload</a:t>
            </a:r>
          </a:p>
        </p:txBody>
      </p:sp>
      <p:sp>
        <p:nvSpPr>
          <p:cNvPr id="49" name="Rectangle 48"/>
          <p:cNvSpPr/>
          <p:nvPr/>
        </p:nvSpPr>
        <p:spPr>
          <a:xfrm>
            <a:off x="2932563" y="4846320"/>
            <a:ext cx="513460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097155" y="4846320"/>
            <a:ext cx="480542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the page and its resources finish</a:t>
            </a:r>
          </a:p>
        </p:txBody>
      </p:sp>
      <p:sp>
        <p:nvSpPr>
          <p:cNvPr id="51" name="Rectangle 50"/>
          <p:cNvSpPr/>
          <p:nvPr/>
        </p:nvSpPr>
        <p:spPr>
          <a:xfrm>
            <a:off x="8067169" y="4846320"/>
            <a:ext cx="3575885" cy="566928"/>
          </a:xfrm>
          <a:prstGeom prst="rect">
            <a:avLst/>
          </a:prstGeom>
          <a:solidFill>
            <a:srgbClr val="F0F5FC"/>
          </a:solidFill>
          <a:ln w="12700">
            <a:solidFill>
              <a:srgbClr val="DDE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31761" y="4846320"/>
            <a:ext cx="3246701" cy="566928"/>
          </a:xfrm>
          <a:prstGeom prst="rect">
            <a:avLst/>
          </a:prstGeom>
          <a:noFill/>
        </p:spPr>
        <p:txBody>
          <a:bodyPr wrap="square" anchor="ctr" lIns="0" rIns="0" tIns="0" bIns="0">
            <a:spAutoFit/>
          </a:bodyPr>
          <a:lstStyle/>
          <a:p>
            <a:pPr algn="l">
              <a:lnSpc>
                <a:spcPct val="110000"/>
              </a:lnSpc>
              <a:spcAft>
                <a:spcPts val="0"/>
              </a:spcAft>
            </a:pPr>
            <a:r>
              <a:rPr sz="1300" b="0" i="0">
                <a:solidFill>
                  <a:srgbClr val="1A2230"/>
                </a:solidFill>
                <a:latin typeface="Calibri"/>
                <a:ea typeface="Calibri"/>
              </a:rPr>
              <a:t>start-up code</a:t>
            </a:r>
          </a:p>
        </p:txBody>
      </p:sp>
      <p:sp>
        <p:nvSpPr>
          <p:cNvPr id="53" name="Rounded Rectangle 52"/>
          <p:cNvSpPr/>
          <p:nvPr/>
        </p:nvSpPr>
        <p:spPr>
          <a:xfrm>
            <a:off x="548640" y="5596128"/>
            <a:ext cx="11094415" cy="68580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80" y="5687568"/>
            <a:ext cx="10454335" cy="365760"/>
          </a:xfrm>
          <a:prstGeom prst="rect">
            <a:avLst/>
          </a:prstGeom>
          <a:noFill/>
        </p:spPr>
        <p:txBody>
          <a:bodyPr wrap="square" anchor="t" lIns="0" rIns="0" tIns="0" bIns="0">
            <a:spAutoFit/>
          </a:bodyPr>
          <a:lstStyle/>
          <a:p>
            <a:pPr algn="l">
              <a:lnSpc>
                <a:spcPct val="110000"/>
              </a:lnSpc>
              <a:spcAft>
                <a:spcPts val="400"/>
              </a:spcAft>
            </a:pPr>
            <a:r>
              <a:rPr sz="1450" b="1" i="0">
                <a:solidFill>
                  <a:srgbClr val="0E3F8C"/>
                </a:solidFill>
                <a:latin typeface="Calibri"/>
                <a:ea typeface="Calibri"/>
              </a:rPr>
              <a:t>The full list is long; these seven cover most page code you will write.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Event Listeners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Events</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addEventListener</a:t>
            </a:r>
            <a:br/>
            <a:r>
              <a:rPr sz="1500" b="0" i="0">
                <a:solidFill>
                  <a:srgbClr val="4A5568"/>
                </a:solidFill>
                <a:latin typeface="Calibri"/>
                <a:ea typeface="Calibri"/>
              </a:rPr>
              <a:t>element.addEventListener("click", handler) — the modern, general way.</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Handlers stack</a:t>
            </a:r>
            <a:br/>
            <a:r>
              <a:rPr sz="1500" b="0" i="0">
                <a:solidFill>
                  <a:srgbClr val="4A5568"/>
                </a:solidFill>
                <a:latin typeface="Calibri"/>
                <a:ea typeface="Calibri"/>
              </a:rPr>
              <a:t>Adding a second listener does not replace the first.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removeEventListener</a:t>
            </a:r>
            <a:br/>
            <a:r>
              <a:rPr sz="1500" b="0" i="0">
                <a:solidFill>
                  <a:srgbClr val="4A5568"/>
                </a:solidFill>
                <a:latin typeface="Calibri"/>
                <a:ea typeface="Calibri"/>
              </a:rPr>
              <a:t>Pass the same function reference to detach a listener again.</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The handler receives the event</a:t>
            </a:r>
            <a:br/>
            <a:r>
              <a:rPr sz="1500" b="0" i="0">
                <a:solidFill>
                  <a:srgbClr val="4A5568"/>
                </a:solidFill>
                <a:latin typeface="Calibri"/>
                <a:ea typeface="Calibri"/>
              </a:rPr>
              <a:t>event.</a:t>
            </a:r>
            <a:r>
              <a:rPr sz="1500" b="0" i="0">
                <a:solidFill>
                  <a:srgbClr val="B8860B"/>
                </a:solidFill>
                <a:latin typeface="Consolas"/>
                <a:ea typeface="Consolas"/>
              </a:rPr>
              <a:t>target</a:t>
            </a:r>
            <a:r>
              <a:rPr sz="1500" b="0" i="0">
                <a:solidFill>
                  <a:srgbClr val="4A5568"/>
                </a:solidFill>
                <a:latin typeface="Calibri"/>
                <a:ea typeface="Calibri"/>
              </a:rPr>
              <a:t> is the element that was hit; key, clientX and the field's text come along.</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Delegate for lists</a:t>
            </a:r>
            <a:br/>
            <a:r>
              <a:rPr sz="1500" b="0" i="0">
                <a:solidFill>
                  <a:srgbClr val="4A5568"/>
                </a:solidFill>
                <a:latin typeface="Calibri"/>
                <a:ea typeface="Calibri"/>
              </a:rPr>
              <a:t>One listener on the parent covers every child — including children added later.</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One element, many listeners</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D7DDE6"/>
                </a:solidFill>
                <a:latin typeface="Consolas"/>
                <a:ea typeface="Consolas"/>
              </a:rPr>
              <a:t>btn</a:t>
            </a:r>
            <a:r>
              <a:rPr sz="1350" b="0" i="0">
                <a:solidFill>
                  <a:srgbClr val="D7DDE6"/>
                </a:solidFill>
                <a:latin typeface="Consolas"/>
                <a:ea typeface="Consolas"/>
              </a:rPr>
              <a:t>.</a:t>
            </a:r>
            <a:r>
              <a:rPr sz="1350" b="0" i="0">
                <a:solidFill>
                  <a:srgbClr val="E5C07B"/>
                </a:solidFill>
                <a:latin typeface="Consolas"/>
                <a:ea typeface="Consolas"/>
              </a:rPr>
              <a:t>addEventListener</a:t>
            </a:r>
            <a:r>
              <a:rPr sz="1350" b="0" i="0">
                <a:solidFill>
                  <a:srgbClr val="D7DDE6"/>
                </a:solidFill>
                <a:latin typeface="Consolas"/>
                <a:ea typeface="Consolas"/>
              </a:rPr>
              <a:t>(</a:t>
            </a:r>
            <a:r>
              <a:rPr sz="1350" b="0" i="0">
                <a:solidFill>
                  <a:srgbClr val="98C379"/>
                </a:solidFill>
                <a:latin typeface="Consolas"/>
                <a:ea typeface="Consolas"/>
              </a:rPr>
              <a:t>"click"</a:t>
            </a:r>
            <a:r>
              <a:rPr sz="1350" b="0" i="0">
                <a:solidFill>
                  <a:srgbClr val="D7DDE6"/>
                </a:solidFill>
                <a:latin typeface="Consolas"/>
                <a:ea typeface="Consolas"/>
              </a:rPr>
              <a:t>,</a:t>
            </a:r>
            <a:r>
              <a:rPr sz="1350" b="0" i="0">
                <a:solidFill>
                  <a:srgbClr val="D7DDE6"/>
                </a:solidFill>
                <a:latin typeface="Consolas"/>
                <a:ea typeface="Consolas"/>
              </a:rPr>
              <a:t> </a:t>
            </a:r>
            <a:r>
              <a:rPr sz="1350" b="0" i="0">
                <a:solidFill>
                  <a:srgbClr val="D7DDE6"/>
                </a:solidFill>
                <a:latin typeface="Consolas"/>
                <a:ea typeface="Consolas"/>
              </a:rPr>
              <a:t>handler</a:t>
            </a:r>
            <a:r>
              <a:rPr sz="1350" b="0" i="0">
                <a:solidFill>
                  <a:srgbClr val="D7DDE6"/>
                </a:solidFill>
                <a:latin typeface="Consolas"/>
                <a:ea typeface="Consolas"/>
              </a:rPr>
              <a:t>)</a:t>
            </a:r>
            <a:r>
              <a:rPr sz="1350" b="0" i="0">
                <a:solidFill>
                  <a:srgbClr val="D7DDE6"/>
                </a:solidFill>
                <a:latin typeface="Consolas"/>
                <a:ea typeface="Consolas"/>
              </a:rPr>
              <a: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Practice — Work the Examples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Lecture 6</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01 · First scripts</a:t>
            </a:r>
            <a:br/>
            <a:r>
              <a:rPr sz="1500" b="0" i="0">
                <a:solidFill>
                  <a:srgbClr val="4A5568"/>
                </a:solidFill>
                <a:latin typeface="Calibri"/>
                <a:ea typeface="Calibri"/>
              </a:rPr>
              <a:t>change-style · change-attribute · script-placement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04 · Loops and errors</a:t>
            </a:r>
            <a:br/>
            <a:r>
              <a:rPr sz="1500" b="0" i="0">
                <a:solidFill>
                  <a:srgbClr val="4A5568"/>
                </a:solidFill>
                <a:latin typeface="Calibri"/>
                <a:ea typeface="Calibri"/>
              </a:rPr>
              <a:t>loop-for · loop-for-in · loop-for-of · error-try-catch</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05 · Functions</a:t>
            </a:r>
            <a:br/>
            <a:r>
              <a:rPr sz="1500" b="0" i="0">
                <a:solidFill>
                  <a:srgbClr val="4A5568"/>
                </a:solidFill>
                <a:latin typeface="Calibri"/>
                <a:ea typeface="Calibri"/>
              </a:rPr>
              <a:t>function-return · function-name-vs-call · function-expression · function-iife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05 · Scope and strict mode</a:t>
            </a:r>
            <a:br/>
            <a:r>
              <a:rPr sz="1500" b="0" i="0">
                <a:solidFill>
                  <a:srgbClr val="4A5568"/>
                </a:solidFill>
                <a:latin typeface="Calibri"/>
                <a:ea typeface="Calibri"/>
              </a:rPr>
              <a:t>scope-global-leak · strict-variable · strict-global · strict-local</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06 · Objects</a:t>
            </a:r>
            <a:br/>
            <a:r>
              <a:rPr sz="1500" b="0" i="0">
                <a:solidFill>
                  <a:srgbClr val="4A5568"/>
                </a:solidFill>
                <a:latin typeface="Calibri"/>
                <a:ea typeface="Calibri"/>
              </a:rPr>
              <a:t>object-brackets · object-method · object-add-property · object-delete-property</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07 · The window</a:t>
            </a:r>
            <a:br/>
            <a:r>
              <a:rPr sz="1500" b="0" i="0">
                <a:solidFill>
                  <a:srgbClr val="4A5568"/>
                </a:solidFill>
                <a:latin typeface="Calibri"/>
                <a:ea typeface="Calibri"/>
              </a:rPr>
              <a:t>window-size</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Open them from the code site — edit on the left, run on the right</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tagsysx.github.io/comp3421/  →  JavaScript Basics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Common Mistakes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Lecture 6</a:t>
            </a:r>
          </a:p>
        </p:txBody>
      </p:sp>
      <p:sp>
        <p:nvSpPr>
          <p:cNvPr id="5" name="TextBox 4"/>
          <p:cNvSpPr txBox="1"/>
          <p:nvPr/>
        </p:nvSpPr>
        <p:spPr>
          <a:xfrm>
            <a:off x="548640" y="932688"/>
            <a:ext cx="10820095" cy="4553712"/>
          </a:xfrm>
          <a:prstGeom prst="rect">
            <a:avLst/>
          </a:prstGeom>
          <a:noFill/>
        </p:spPr>
        <p:txBody>
          <a:bodyPr wrap="square" lIns="0" rIns="0" tIns="0" bIns="0">
            <a:normAutofit/>
          </a:bodyPr>
          <a:lstStyle/>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Assigning instead of comparing</a:t>
            </a:r>
            <a:br/>
            <a:r>
              <a:rPr sz="1500" b="0" i="0">
                <a:solidFill>
                  <a:srgbClr val="4A5568"/>
                </a:solidFill>
                <a:latin typeface="Calibri"/>
                <a:ea typeface="Calibri"/>
              </a:rPr>
              <a:t>= inside a condition is a bug; use ===.</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Using == rather than ===</a:t>
            </a:r>
            <a:br/>
            <a:r>
              <a:rPr sz="1500" b="0" i="0">
                <a:solidFill>
                  <a:srgbClr val="4A5568"/>
                </a:solidFill>
                <a:latin typeface="Calibri"/>
                <a:ea typeface="Calibri"/>
              </a:rPr>
              <a:t>Loose equality converts types first — "5" == 5 is true.</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Running the script too early</a:t>
            </a:r>
            <a:br/>
            <a:r>
              <a:rPr sz="1500" b="0" i="0">
                <a:solidFill>
                  <a:srgbClr val="4A5568"/>
                </a:solidFill>
                <a:latin typeface="Calibri"/>
                <a:ea typeface="Calibri"/>
              </a:rPr>
              <a:t>querySelector returns null if the element is not parsed yet: put the script last, or defer it.</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Undeclared variables</a:t>
            </a:r>
            <a:br/>
            <a:r>
              <a:rPr sz="1500" b="0" i="0">
                <a:solidFill>
                  <a:srgbClr val="4A5568"/>
                </a:solidFill>
                <a:latin typeface="Calibri"/>
                <a:ea typeface="Calibri"/>
              </a:rPr>
              <a:t>Declare everything; under strict mode an undeclared assignment throws.</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Off-by-one in a </a:t>
            </a:r>
            <a:r>
              <a:rPr sz="1700" b="1" i="0">
                <a:solidFill>
                  <a:srgbClr val="B8860B"/>
                </a:solidFill>
                <a:latin typeface="Consolas"/>
                <a:ea typeface="Consolas"/>
              </a:rPr>
              <a:t>loop</a:t>
            </a:r>
            <a:br/>
            <a:r>
              <a:rPr sz="1500" b="0" i="0">
                <a:solidFill>
                  <a:srgbClr val="4A5568"/>
                </a:solidFill>
                <a:latin typeface="Calibri"/>
                <a:ea typeface="Calibri"/>
              </a:rPr>
              <a:t>i &lt;= arr.length reads one item past the end.</a:t>
            </a:r>
          </a:p>
          <a:p>
            <a:pPr marL="256032" indent="-237744">
              <a:lnSpc>
                <a:spcPct val="112000"/>
              </a:lnSpc>
              <a:spcAft>
                <a:spcPts val="700"/>
              </a:spcAft>
              <a:buClr>
                <a:srgbClr val="1E4FA8"/>
              </a:buClr>
              <a:buSzPct val="90000"/>
              <a:buFont typeface="Arial"/>
              <a:buChar char="▪"/>
            </a:pPr>
            <a:r>
              <a:rPr sz="1700" b="1" i="0">
                <a:solidFill>
                  <a:srgbClr val="1A2230"/>
                </a:solidFill>
                <a:latin typeface="Calibri"/>
                <a:ea typeface="Calibri"/>
              </a:rPr>
              <a:t>Trusting text as a number</a:t>
            </a:r>
            <a:br/>
            <a:r>
              <a:rPr sz="1500" b="0" i="0">
                <a:solidFill>
                  <a:srgbClr val="4A5568"/>
                </a:solidFill>
                <a:latin typeface="Calibri"/>
                <a:ea typeface="Calibri"/>
              </a:rPr>
              <a:t>"5" + 1 is "51"; convert with Number() first.</a:t>
            </a:r>
          </a:p>
        </p:txBody>
      </p:sp>
      <p:sp>
        <p:nvSpPr>
          <p:cNvPr id="6" name="Rounded Rectangle 5"/>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Six ways a working page stops working</a:t>
            </a:r>
          </a:p>
        </p:txBody>
      </p:sp>
      <p:sp>
        <p:nvSpPr>
          <p:cNvPr id="8" name="TextBox 7"/>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   ·   const   ·   declare first   ·   i &lt; length</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Key Takeaways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Lecture 6</a:t>
            </a:r>
          </a:p>
        </p:txBody>
      </p:sp>
      <p:sp>
        <p:nvSpPr>
          <p:cNvPr id="5" name="TextBox 4"/>
          <p:cNvSpPr txBox="1"/>
          <p:nvPr/>
        </p:nvSpPr>
        <p:spPr>
          <a:xfrm>
            <a:off x="822959" y="1252728"/>
            <a:ext cx="10545775" cy="658368"/>
          </a:xfrm>
          <a:prstGeom prst="rect">
            <a:avLst/>
          </a:prstGeom>
          <a:noFill/>
        </p:spPr>
        <p:txBody>
          <a:bodyPr wrap="square" anchor="t" lIns="0" rIns="0" tIns="0" bIns="0">
            <a:spAutoFit/>
          </a:bodyPr>
          <a:lstStyle/>
          <a:p>
            <a:pPr algn="l">
              <a:lnSpc>
                <a:spcPct val="120000"/>
              </a:lnSpc>
              <a:spcAft>
                <a:spcPts val="400"/>
              </a:spcAft>
            </a:pPr>
            <a:r>
              <a:rPr sz="1850" b="0" i="0">
                <a:solidFill>
                  <a:srgbClr val="1A2230"/>
                </a:solidFill>
                <a:latin typeface="Calibri"/>
                <a:ea typeface="Calibri"/>
              </a:rPr>
              <a:t>JavaScript </a:t>
            </a:r>
            <a:r>
              <a:rPr sz="1850" b="1" i="0">
                <a:solidFill>
                  <a:srgbClr val="1E4FA8"/>
                </a:solidFill>
                <a:latin typeface="Calibri"/>
                <a:ea typeface="Calibri"/>
              </a:rPr>
              <a:t>is the behaviour layer</a:t>
            </a:r>
            <a:r>
              <a:rPr sz="1850" b="0" i="0">
                <a:solidFill>
                  <a:srgbClr val="1A2230"/>
                </a:solidFill>
                <a:latin typeface="Calibri"/>
                <a:ea typeface="Calibri"/>
              </a:rPr>
              <a:t> — HTML is content, CSS is look.</a:t>
            </a:r>
          </a:p>
        </p:txBody>
      </p:sp>
      <p:sp>
        <p:nvSpPr>
          <p:cNvPr id="6" name="TextBox 5"/>
          <p:cNvSpPr txBox="1"/>
          <p:nvPr/>
        </p:nvSpPr>
        <p:spPr>
          <a:xfrm>
            <a:off x="822959" y="1984248"/>
            <a:ext cx="10545775" cy="658368"/>
          </a:xfrm>
          <a:prstGeom prst="rect">
            <a:avLst/>
          </a:prstGeom>
          <a:noFill/>
        </p:spPr>
        <p:txBody>
          <a:bodyPr wrap="square" anchor="t" lIns="0" rIns="0" tIns="0" bIns="0">
            <a:spAutoFit/>
          </a:bodyPr>
          <a:lstStyle/>
          <a:p>
            <a:pPr algn="l">
              <a:lnSpc>
                <a:spcPct val="120000"/>
              </a:lnSpc>
              <a:spcAft>
                <a:spcPts val="400"/>
              </a:spcAft>
            </a:pPr>
            <a:r>
              <a:rPr sz="1850" b="0" i="0">
                <a:solidFill>
                  <a:srgbClr val="1A2230"/>
                </a:solidFill>
                <a:latin typeface="Calibri"/>
                <a:ea typeface="Calibri"/>
              </a:rPr>
              <a:t>Statements, </a:t>
            </a:r>
            <a:r>
              <a:rPr sz="1850" b="1" i="0">
                <a:solidFill>
                  <a:srgbClr val="1E4FA8"/>
                </a:solidFill>
                <a:latin typeface="Calibri"/>
                <a:ea typeface="Calibri"/>
              </a:rPr>
              <a:t>blocks and operators</a:t>
            </a:r>
            <a:r>
              <a:rPr sz="1850" b="0" i="0">
                <a:solidFill>
                  <a:srgbClr val="1A2230"/>
                </a:solidFill>
                <a:latin typeface="Calibri"/>
                <a:ea typeface="Calibri"/>
              </a:rPr>
              <a:t> are the whole grammar of the language.</a:t>
            </a:r>
          </a:p>
        </p:txBody>
      </p:sp>
      <p:sp>
        <p:nvSpPr>
          <p:cNvPr id="7" name="TextBox 6"/>
          <p:cNvSpPr txBox="1"/>
          <p:nvPr/>
        </p:nvSpPr>
        <p:spPr>
          <a:xfrm>
            <a:off x="822959" y="2715768"/>
            <a:ext cx="10545775" cy="658368"/>
          </a:xfrm>
          <a:prstGeom prst="rect">
            <a:avLst/>
          </a:prstGeom>
          <a:noFill/>
        </p:spPr>
        <p:txBody>
          <a:bodyPr wrap="square" anchor="t" lIns="0" rIns="0" tIns="0" bIns="0">
            <a:spAutoFit/>
          </a:bodyPr>
          <a:lstStyle/>
          <a:p>
            <a:pPr algn="l">
              <a:lnSpc>
                <a:spcPct val="120000"/>
              </a:lnSpc>
              <a:spcAft>
                <a:spcPts val="400"/>
              </a:spcAft>
            </a:pPr>
            <a:r>
              <a:rPr sz="1850" b="0" i="0">
                <a:solidFill>
                  <a:srgbClr val="1A2230"/>
                </a:solidFill>
                <a:latin typeface="Calibri"/>
                <a:ea typeface="Calibri"/>
              </a:rPr>
              <a:t>One dynamic type system</a:t>
            </a:r>
            <a:r>
              <a:rPr sz="1850" b="1" i="0">
                <a:solidFill>
                  <a:srgbClr val="1E4FA8"/>
                </a:solidFill>
                <a:latin typeface="Calibri"/>
                <a:ea typeface="Calibri"/>
              </a:rPr>
              <a:t> — but === and const</a:t>
            </a:r>
            <a:r>
              <a:rPr sz="1850" b="0" i="0">
                <a:solidFill>
                  <a:srgbClr val="1A2230"/>
                </a:solidFill>
                <a:latin typeface="Calibri"/>
                <a:ea typeface="Calibri"/>
              </a:rPr>
              <a:t> keep it predictable.</a:t>
            </a:r>
          </a:p>
        </p:txBody>
      </p:sp>
      <p:sp>
        <p:nvSpPr>
          <p:cNvPr id="8" name="TextBox 7"/>
          <p:cNvSpPr txBox="1"/>
          <p:nvPr/>
        </p:nvSpPr>
        <p:spPr>
          <a:xfrm>
            <a:off x="822959" y="3447287"/>
            <a:ext cx="10545775" cy="658368"/>
          </a:xfrm>
          <a:prstGeom prst="rect">
            <a:avLst/>
          </a:prstGeom>
          <a:noFill/>
        </p:spPr>
        <p:txBody>
          <a:bodyPr wrap="square" anchor="t" lIns="0" rIns="0" tIns="0" bIns="0">
            <a:spAutoFit/>
          </a:bodyPr>
          <a:lstStyle/>
          <a:p>
            <a:pPr algn="l">
              <a:lnSpc>
                <a:spcPct val="120000"/>
              </a:lnSpc>
              <a:spcAft>
                <a:spcPts val="400"/>
              </a:spcAft>
            </a:pPr>
            <a:r>
              <a:rPr sz="1850" b="0" i="0">
                <a:solidFill>
                  <a:srgbClr val="1A2230"/>
                </a:solidFill>
                <a:latin typeface="Calibri"/>
                <a:ea typeface="Calibri"/>
              </a:rPr>
              <a:t>Functions are values</a:t>
            </a:r>
            <a:r>
              <a:rPr sz="1850" b="1" i="0">
                <a:solidFill>
                  <a:srgbClr val="1E4FA8"/>
                </a:solidFill>
                <a:latin typeface="Calibri"/>
                <a:ea typeface="Calibri"/>
              </a:rPr>
              <a:t> — pass them, return them</a:t>
            </a:r>
            <a:r>
              <a:rPr sz="1850" b="0" i="0">
                <a:solidFill>
                  <a:srgbClr val="1A2230"/>
                </a:solidFill>
                <a:latin typeface="Calibri"/>
                <a:ea typeface="Calibri"/>
              </a:rPr>
              <a:t>, and scope decides what they can see.</a:t>
            </a:r>
          </a:p>
        </p:txBody>
      </p:sp>
      <p:sp>
        <p:nvSpPr>
          <p:cNvPr id="9" name="TextBox 8"/>
          <p:cNvSpPr txBox="1"/>
          <p:nvPr/>
        </p:nvSpPr>
        <p:spPr>
          <a:xfrm>
            <a:off x="822959" y="4178807"/>
            <a:ext cx="10545775" cy="658368"/>
          </a:xfrm>
          <a:prstGeom prst="rect">
            <a:avLst/>
          </a:prstGeom>
          <a:noFill/>
        </p:spPr>
        <p:txBody>
          <a:bodyPr wrap="square" anchor="t" lIns="0" rIns="0" tIns="0" bIns="0">
            <a:spAutoFit/>
          </a:bodyPr>
          <a:lstStyle/>
          <a:p>
            <a:pPr algn="l">
              <a:lnSpc>
                <a:spcPct val="120000"/>
              </a:lnSpc>
              <a:spcAft>
                <a:spcPts val="400"/>
              </a:spcAft>
            </a:pPr>
            <a:r>
              <a:rPr sz="1850" b="0" i="0">
                <a:solidFill>
                  <a:srgbClr val="1A2230"/>
                </a:solidFill>
                <a:latin typeface="Calibri"/>
                <a:ea typeface="Calibri"/>
              </a:rPr>
              <a:t>Objects hold named values</a:t>
            </a:r>
            <a:r>
              <a:rPr sz="1850" b="0" i="0">
                <a:solidFill>
                  <a:srgbClr val="1A2230"/>
                </a:solidFill>
                <a:latin typeface="Calibri"/>
                <a:ea typeface="Calibri"/>
              </a:rPr>
              <a:t>, and this is the object the call was made on.</a:t>
            </a:r>
          </a:p>
        </p:txBody>
      </p:sp>
      <p:sp>
        <p:nvSpPr>
          <p:cNvPr id="10" name="TextBox 9"/>
          <p:cNvSpPr txBox="1"/>
          <p:nvPr/>
        </p:nvSpPr>
        <p:spPr>
          <a:xfrm>
            <a:off x="822959" y="4910327"/>
            <a:ext cx="10545775" cy="658368"/>
          </a:xfrm>
          <a:prstGeom prst="rect">
            <a:avLst/>
          </a:prstGeom>
          <a:noFill/>
        </p:spPr>
        <p:txBody>
          <a:bodyPr wrap="square" anchor="t" lIns="0" rIns="0" tIns="0" bIns="0">
            <a:spAutoFit/>
          </a:bodyPr>
          <a:lstStyle/>
          <a:p>
            <a:pPr algn="l">
              <a:lnSpc>
                <a:spcPct val="120000"/>
              </a:lnSpc>
              <a:spcAft>
                <a:spcPts val="400"/>
              </a:spcAft>
            </a:pPr>
            <a:r>
              <a:rPr sz="1850" b="0" i="0">
                <a:solidFill>
                  <a:srgbClr val="1A2230"/>
                </a:solidFill>
                <a:latin typeface="Calibri"/>
                <a:ea typeface="Calibri"/>
              </a:rPr>
              <a:t>The DOM is a live tree</a:t>
            </a:r>
            <a:r>
              <a:rPr sz="1850" b="1" i="0">
                <a:solidFill>
                  <a:srgbClr val="1E4FA8"/>
                </a:solidFill>
                <a:latin typeface="Calibri"/>
                <a:ea typeface="Calibri"/>
              </a:rPr>
              <a:t> and the BOM is the browser</a:t>
            </a:r>
            <a:r>
              <a:rPr sz="1850" b="0" i="0">
                <a:solidFill>
                  <a:srgbClr val="1A2230"/>
                </a:solidFill>
                <a:latin typeface="Calibri"/>
                <a:ea typeface="Calibri"/>
              </a:rPr>
              <a:t> — events connect the two.</a:t>
            </a:r>
          </a:p>
        </p:txBody>
      </p:sp>
      <p:sp>
        <p:nvSpPr>
          <p:cNvPr id="11" name="Rounded Rectangle 10"/>
          <p:cNvSpPr/>
          <p:nvPr/>
        </p:nvSpPr>
        <p:spPr>
          <a:xfrm>
            <a:off x="548640" y="5760720"/>
            <a:ext cx="11094415" cy="502920"/>
          </a:xfrm>
          <a:prstGeom prst="roundRect">
            <a:avLst>
              <a:gd name="adj" fmla="val 12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870448"/>
            <a:ext cx="10362895" cy="329184"/>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Next week: JavaScript II — this, prototypes, classes and closures.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554480"/>
            <a:ext cx="9966960" cy="365760"/>
          </a:xfrm>
          <a:prstGeom prst="rect">
            <a:avLst/>
          </a:prstGeom>
          <a:noFill/>
        </p:spPr>
        <p:txBody>
          <a:bodyPr wrap="square" anchor="t" lIns="0" rIns="0" tIns="0" bIns="0">
            <a:spAutoFit/>
          </a:bodyPr>
          <a:lstStyle/>
          <a:p>
            <a:pPr algn="ctr">
              <a:lnSpc>
                <a:spcPct val="110000"/>
              </a:lnSpc>
              <a:spcAft>
                <a:spcPts val="400"/>
              </a:spcAft>
            </a:pPr>
            <a:r>
              <a:rPr sz="1400" b="1" i="0">
                <a:solidFill>
                  <a:srgbClr val="B9CDEE"/>
                </a:solidFill>
                <a:latin typeface="Calibri"/>
                <a:ea typeface="Calibri"/>
              </a:rPr>
              <a:t>COMP3421 · LECTURE 06 · WEEK 6</a:t>
            </a:r>
          </a:p>
        </p:txBody>
      </p:sp>
      <p:sp>
        <p:nvSpPr>
          <p:cNvPr id="4" name="TextBox 3"/>
          <p:cNvSpPr txBox="1"/>
          <p:nvPr/>
        </p:nvSpPr>
        <p:spPr>
          <a:xfrm>
            <a:off x="1097280" y="2103120"/>
            <a:ext cx="9966960" cy="1005840"/>
          </a:xfrm>
          <a:prstGeom prst="rect">
            <a:avLst/>
          </a:prstGeom>
          <a:noFill/>
        </p:spPr>
        <p:txBody>
          <a:bodyPr wrap="square" anchor="t" lIns="0" rIns="0" tIns="0" bIns="0">
            <a:spAutoFit/>
          </a:bodyPr>
          <a:lstStyle/>
          <a:p>
            <a:pPr algn="ctr">
              <a:lnSpc>
                <a:spcPct val="110000"/>
              </a:lnSpc>
              <a:spcAft>
                <a:spcPts val="400"/>
              </a:spcAft>
            </a:pPr>
            <a:r>
              <a:rPr sz="5800" b="1" i="0">
                <a:solidFill>
                  <a:srgbClr val="FFFFFF"/>
                </a:solidFill>
                <a:latin typeface="Calibri"/>
                <a:ea typeface="Calibri"/>
              </a:rPr>
              <a:t>Thank You</a:t>
            </a:r>
          </a:p>
        </p:txBody>
      </p:sp>
      <p:sp>
        <p:nvSpPr>
          <p:cNvPr id="5" name="Rectangle 4"/>
          <p:cNvSpPr/>
          <p:nvPr/>
        </p:nvSpPr>
        <p:spPr>
          <a:xfrm>
            <a:off x="5410047" y="3383280"/>
            <a:ext cx="1371600" cy="6400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78527" y="3794760"/>
            <a:ext cx="2834640" cy="566928"/>
          </a:xfrm>
          <a:prstGeom prst="roundRect">
            <a:avLst>
              <a:gd name="adj" fmla="val 50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78527" y="3913632"/>
            <a:ext cx="2834640" cy="347472"/>
          </a:xfrm>
          <a:prstGeom prst="rect">
            <a:avLst/>
          </a:prstGeom>
          <a:noFill/>
        </p:spPr>
        <p:txBody>
          <a:bodyPr wrap="square" anchor="t" lIns="0" rIns="0" tIns="0" bIns="0">
            <a:spAutoFit/>
          </a:bodyPr>
          <a:lstStyle/>
          <a:p>
            <a:pPr algn="ctr">
              <a:lnSpc>
                <a:spcPct val="110000"/>
              </a:lnSpc>
              <a:spcAft>
                <a:spcPts val="400"/>
              </a:spcAft>
            </a:pPr>
            <a:r>
              <a:rPr sz="1600" b="1" i="0">
                <a:solidFill>
                  <a:srgbClr val="0E3F8C"/>
                </a:solidFill>
                <a:latin typeface="Calibri"/>
                <a:ea typeface="Calibri"/>
              </a:rPr>
              <a:t>Questions &amp; Discussion</a:t>
            </a:r>
          </a:p>
        </p:txBody>
      </p:sp>
      <p:sp>
        <p:nvSpPr>
          <p:cNvPr id="8" name="TextBox 7"/>
          <p:cNvSpPr txBox="1"/>
          <p:nvPr/>
        </p:nvSpPr>
        <p:spPr>
          <a:xfrm>
            <a:off x="1097280" y="4892040"/>
            <a:ext cx="9966960" cy="365760"/>
          </a:xfrm>
          <a:prstGeom prst="rect">
            <a:avLst/>
          </a:prstGeom>
          <a:noFill/>
        </p:spPr>
        <p:txBody>
          <a:bodyPr wrap="square" anchor="t" lIns="0" rIns="0" tIns="0" bIns="0">
            <a:spAutoFit/>
          </a:bodyPr>
          <a:lstStyle/>
          <a:p>
            <a:pPr algn="ctr">
              <a:lnSpc>
                <a:spcPct val="110000"/>
              </a:lnSpc>
              <a:spcAft>
                <a:spcPts val="400"/>
              </a:spcAft>
            </a:pPr>
            <a:r>
              <a:rPr sz="1450" b="0" i="0">
                <a:solidFill>
                  <a:srgbClr val="B9CDEE"/>
                </a:solidFill>
                <a:latin typeface="Calibri"/>
                <a:ea typeface="Calibri"/>
              </a:rPr>
              <a:t>Prof. Lei Yang · ray.yang@polyu.edu.hk</a:t>
            </a:r>
          </a:p>
        </p:txBody>
      </p:sp>
      <p:sp>
        <p:nvSpPr>
          <p:cNvPr id="9" name="TextBox 8"/>
          <p:cNvSpPr txBox="1"/>
          <p:nvPr/>
        </p:nvSpPr>
        <p:spPr>
          <a:xfrm>
            <a:off x="1097280" y="5303520"/>
            <a:ext cx="9966960" cy="365760"/>
          </a:xfrm>
          <a:prstGeom prst="rect">
            <a:avLst/>
          </a:prstGeom>
          <a:noFill/>
        </p:spPr>
        <p:txBody>
          <a:bodyPr wrap="square" anchor="t" lIns="0" rIns="0" tIns="0" bIns="0">
            <a:spAutoFit/>
          </a:bodyPr>
          <a:lstStyle/>
          <a:p>
            <a:pPr algn="ctr">
              <a:lnSpc>
                <a:spcPct val="110000"/>
              </a:lnSpc>
              <a:spcAft>
                <a:spcPts val="400"/>
              </a:spcAft>
            </a:pPr>
            <a:r>
              <a:rPr sz="1450" b="0" i="0">
                <a:solidFill>
                  <a:srgbClr val="B9CDEE"/>
                </a:solidFill>
                <a:latin typeface="Calibri"/>
                <a:ea typeface="Calibri"/>
              </a:rPr>
              <a:t>Next: Week 7 — JavaScript II: this, prototypes, classes &amp; closures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B9BD5"/>
      </a:hlink>
      <a:folHlink>
        <a:srgbClr val="5B9BD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