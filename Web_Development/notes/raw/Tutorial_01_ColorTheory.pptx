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the band, not on a prism. The single idea is that a colour is a frequency; ask the class what white has to be, and the answer is all of them at once. Only then does it follow that a green leaf is not green because green was added 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which model a monitor uses, then which their home printer uses. The mismatch is the reason a printed photo never quite matches the screen, and it is worth one sentence of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say here that CSS 'has' hue, saturation and value: hsl() is hue, saturation, LIGHTNESS, and CSS has no hsv() function at all. The next few pages draw that distinction properly.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page the flat wheel cannot replace: two of the three axes live in a plane, and value is the axis perpendicular to it, so a wheel shown on its own can never display the model. Point at the rim on the cap and follow it straight down: that line is value falling from vivid to black, with the hue never changing and saturation staying at 100%. Then rotate to the axis in the middle: that is saturation at 0, which is why the centre is grey and why nothing there has a hue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students trip over: hsl()'s third channel is lightness, which runs black -&gt; pure colour at 50% -&gt; white. HSV's value runs black -&gt; vivid and stops there, so raising it can never produce a tint. Analogy that works: saturation is 'how much grey is mixed in', value is 'how much black'; hsl()'s lightness mixes black at one end AND white at the other. If asked for the exact hwb() bridge to HSV, it is whiteness = value x (1 - saturation) and blackness = 1 - value, not simply 1 - saturation.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notation is alpha — rgba(..., 0.5) or #RRGGBBAA — which is a separate idea from picking the hue.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90CF6FF4-5AD5-4C18-8F24-5A503FA076C4}" type="slidenum">
              <a:rPr lang="en-US" sz="1050" b="1">
                <a:solidFill>
                  <a:srgbClr val="1E4FA8"/>
                </a:solidFill>
              </a:rPr>
              <a:t>1</a:t>
            </a:fld>
            <a:r>
              <a:rPr lang="en-US" sz="950">
                <a:solidFill>
                  <a:srgbClr val="8B97A8"/>
                </a:solidFill>
              </a:rPr>
              <a:t> / 37</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tagsysx.github.io/comp3421/editor.html?example=css-styling/colors" TargetMode="External"/><Relationship Id="rId4"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variable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color-schem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color-schem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tmos.style/glossary/contrast-ratio"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w3.org/WAI/standards-guidelines/wca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color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or.adobe.com" TargetMode="External"/><Relationship Id="rId3" Type="http://schemas.openxmlformats.org/officeDocument/2006/relationships/hyperlink" Target="https://coolors.co" TargetMode="External"/><Relationship Id="rId4" Type="http://schemas.openxmlformats.org/officeDocument/2006/relationships/hyperlink" Target="https://developer.chrome.com/docs/devtools/css/color" TargetMode="External"/><Relationship Id="rId5" Type="http://schemas.openxmlformats.org/officeDocument/2006/relationships/hyperlink" Target="https://webaim.org/resources/contrastchecker/"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77240"/>
            <a:ext cx="10972800" cy="731520"/>
          </a:xfrm>
          <a:prstGeom prst="rect">
            <a:avLst/>
          </a:prstGeom>
          <a:noFill/>
        </p:spPr>
        <p:txBody>
          <a:bodyPr wrap="square" anchor="t" lIns="0" rIns="0" tIns="0" bIns="0">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691640" cy="329184"/>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anchor="t" lIns="0" rIns="0" tIns="0" bIns="0">
            <a:spAutoFit/>
          </a:bodyPr>
          <a:lstStyle/>
          <a:p>
            <a:pPr algn="l">
              <a:lnSpc>
                <a:spcPct val="105000"/>
              </a:lnSpc>
              <a:spcAft>
                <a:spcPts val="400"/>
              </a:spcAft>
            </a:pPr>
            <a:r>
              <a:rPr sz="4400" b="1" i="0">
                <a:solidFill>
                  <a:srgbClr val="FFFFFF"/>
                </a:solidFill>
                <a:latin typeface="Calibri"/>
                <a:ea typeface="Calibri"/>
              </a:rPr>
              <a:t>Colour Theory</a:t>
            </a:r>
          </a:p>
        </p:txBody>
      </p:sp>
      <p:sp>
        <p:nvSpPr>
          <p:cNvPr id="8" name="TextBox 7"/>
          <p:cNvSpPr txBox="1"/>
          <p:nvPr/>
        </p:nvSpPr>
        <p:spPr>
          <a:xfrm>
            <a:off x="548640" y="3794760"/>
            <a:ext cx="11064240" cy="822960"/>
          </a:xfrm>
          <a:prstGeom prst="rect">
            <a:avLst/>
          </a:prstGeom>
          <a:noFill/>
        </p:spPr>
        <p:txBody>
          <a:bodyPr wrap="square" anchor="t" lIns="0" rIns="0" tIns="0" bIns="0">
            <a:spAutoFit/>
          </a:bodyPr>
          <a:lstStyle/>
          <a:p>
            <a:pPr algn="l">
              <a:lnSpc>
                <a:spcPct val="125000"/>
              </a:lnSpc>
              <a:spcAft>
                <a:spcPts val="400"/>
              </a:spcAft>
            </a:pPr>
            <a:r>
              <a:rPr sz="1900" b="0" i="0">
                <a:solidFill>
                  <a:srgbClr val="B9CDEE"/>
                </a:solidFill>
                <a:latin typeface="Calibri"/>
                <a:ea typeface="Calibri"/>
              </a:rPr>
              <a:t>How colour is made, how we describe it, and how to combine it into a palette that works.</a:t>
            </a:r>
          </a:p>
        </p:txBody>
      </p:sp>
      <p:sp>
        <p:nvSpPr>
          <p:cNvPr id="9" name="TextBox 8"/>
          <p:cNvSpPr txBox="1"/>
          <p:nvPr/>
        </p:nvSpPr>
        <p:spPr>
          <a:xfrm>
            <a:off x="548640" y="4846320"/>
            <a:ext cx="11064240"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COMP3421 · TUTORIAL 01</a:t>
            </a:r>
          </a:p>
        </p:txBody>
      </p:sp>
      <p:sp>
        <p:nvSpPr>
          <p:cNvPr id="10" name="TextBox 9"/>
          <p:cNvSpPr txBox="1"/>
          <p:nvPr/>
        </p:nvSpPr>
        <p:spPr>
          <a:xfrm>
            <a:off x="548640" y="5257800"/>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Tutorial 1 · Companions: Lecture 3 (CSS I) · Lab 2</a:t>
            </a:r>
          </a:p>
        </p:txBody>
      </p:sp>
      <p:sp>
        <p:nvSpPr>
          <p:cNvPr id="11" name="TextBox 10"/>
          <p:cNvSpPr txBox="1"/>
          <p:nvPr/>
        </p:nvSpPr>
        <p:spPr>
          <a:xfrm>
            <a:off x="548640" y="5605272"/>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anchor="t" lIns="0" rIns="0" tIns="0" bIns="0">
            <a:spAutoFit/>
          </a:bodyPr>
          <a:lstStyle/>
          <a:p>
            <a:pPr algn="l">
              <a:lnSpc>
                <a:spcPct val="110000"/>
              </a:lnSpc>
              <a:spcAft>
                <a:spcPts val="400"/>
              </a:spcAft>
            </a:pPr>
            <a:r>
              <a:rPr sz="1300" b="1" i="0">
                <a:solidFill>
                  <a:srgbClr val="FFFFFF"/>
                </a:solidFill>
                <a:latin typeface="Calibri"/>
                <a:ea typeface="Calibri"/>
              </a:rPr>
              <a:t>Prof. Lei Yang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anchor="t" lIns="0" rIns="0" tIns="0" bIns="0">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880360"/>
            <a:ext cx="9448495" cy="1463040"/>
          </a:xfrm>
          <a:prstGeom prst="rect">
            <a:avLst/>
          </a:prstGeom>
          <a:noFill/>
        </p:spPr>
        <p:txBody>
          <a:bodyPr wrap="square" anchor="t" lIns="0" rIns="0" tIns="0" bIns="0">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92040"/>
            <a:ext cx="10362895" cy="777240"/>
          </a:xfrm>
          <a:prstGeom prst="rect">
            <a:avLst/>
          </a:prstGeom>
          <a:noFill/>
        </p:spPr>
        <p:txBody>
          <a:bodyPr wrap="square" anchor="ctr" lIns="0" rIns="0" tIns="0" bIns="0">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 · TUTORIAL 01</a:t>
            </a:r>
          </a:p>
        </p:txBody>
      </p:sp>
      <p:sp>
        <p:nvSpPr>
          <p:cNvPr id="3" name="TextBox 2"/>
          <p:cNvSpPr txBox="1"/>
          <p:nvPr/>
        </p:nvSpPr>
        <p:spPr>
          <a:xfrm>
            <a:off x="548640" y="1024128"/>
            <a:ext cx="10972800" cy="731520"/>
          </a:xfrm>
          <a:prstGeom prst="rect">
            <a:avLst/>
          </a:prstGeom>
          <a:noFill/>
        </p:spPr>
        <p:txBody>
          <a:bodyPr wrap="square" anchor="t" lIns="0" rIns="0" tIns="0" bIns="0">
            <a:spAutoFit/>
          </a:bodyPr>
          <a:lstStyle/>
          <a:p>
            <a:pPr algn="l">
              <a:lnSpc>
                <a:spcPct val="110000"/>
              </a:lnSpc>
              <a:spcAft>
                <a:spcPts val="400"/>
              </a:spcAft>
            </a:pPr>
            <a:r>
              <a:rPr sz="4000" b="1" i="0">
                <a:solidFill>
                  <a:srgbClr val="1A2230"/>
                </a:solidFill>
                <a:latin typeface="Calibri"/>
                <a:ea typeface="Calibri"/>
              </a:rPr>
              <a:t>Agenda</a:t>
            </a:r>
          </a:p>
        </p:txBody>
      </p:sp>
      <p:sp>
        <p:nvSpPr>
          <p:cNvPr id="4" name="TextBox 3"/>
          <p:cNvSpPr txBox="1"/>
          <p:nvPr/>
        </p:nvSpPr>
        <p:spPr>
          <a:xfrm>
            <a:off x="594360" y="1874519"/>
            <a:ext cx="10820095" cy="4343400"/>
          </a:xfrm>
          <a:prstGeom prst="rect">
            <a:avLst/>
          </a:prstGeom>
          <a:noFill/>
        </p:spPr>
        <p:txBody>
          <a:bodyPr wrap="square" lIns="0" rIns="0" tIns="0" bIns="0">
            <a:normAutofit/>
          </a:bodyPr>
          <a:lstStyle/>
          <a:p>
            <a:pPr>
              <a:lnSpc>
                <a:spcPct val="110000"/>
              </a:lnSpc>
              <a:spcAft>
                <a:spcPts val="800"/>
              </a:spcAft>
            </a:pPr>
            <a:r>
              <a:rPr sz="2000" b="1" i="0">
                <a:solidFill>
                  <a:srgbClr val="1A2230"/>
                </a:solidFill>
                <a:latin typeface="Calibri"/>
                <a:ea typeface="Calibri"/>
              </a:rPr>
              <a:t>01. Why we see colour</a:t>
            </a:r>
            <a:br/>
            <a:r>
              <a:rPr sz="1350" b="0" i="0">
                <a:solidFill>
                  <a:srgbClr val="4A5568"/>
                </a:solidFill>
                <a:latin typeface="Calibri"/>
                <a:ea typeface="Calibri"/>
              </a:rPr>
              <a:t>Subtractive and additive colour — pigment versus light.</a:t>
            </a:r>
          </a:p>
          <a:p>
            <a:pPr>
              <a:lnSpc>
                <a:spcPct val="110000"/>
              </a:lnSpc>
              <a:spcAft>
                <a:spcPts val="800"/>
              </a:spcAft>
            </a:pPr>
            <a:r>
              <a:rPr sz="2000" b="1" i="0">
                <a:solidFill>
                  <a:srgbClr val="1A2230"/>
                </a:solidFill>
                <a:latin typeface="Calibri"/>
                <a:ea typeface="Calibri"/>
              </a:rPr>
              <a:t>02. The colour wheel</a:t>
            </a:r>
            <a:br/>
            <a:r>
              <a:rPr sz="1350" b="0" i="0">
                <a:solidFill>
                  <a:srgbClr val="4A5568"/>
                </a:solidFill>
                <a:latin typeface="Calibri"/>
                <a:ea typeface="Calibri"/>
              </a:rPr>
              <a:t>Hue, saturation and </a:t>
            </a:r>
            <a:r>
              <a:rPr sz="1350" b="0" i="0">
                <a:solidFill>
                  <a:srgbClr val="B8860B"/>
                </a:solidFill>
                <a:latin typeface="Consolas"/>
                <a:ea typeface="Consolas"/>
              </a:rPr>
              <a:t>value</a:t>
            </a:r>
            <a:r>
              <a:rPr sz="1350" b="0" i="0">
                <a:solidFill>
                  <a:srgbClr val="4A5568"/>
                </a:solidFill>
                <a:latin typeface="Calibri"/>
                <a:ea typeface="Calibri"/>
              </a:rPr>
              <a:t> — the three parameters.</a:t>
            </a:r>
          </a:p>
          <a:p>
            <a:pPr>
              <a:lnSpc>
                <a:spcPct val="110000"/>
              </a:lnSpc>
              <a:spcAft>
                <a:spcPts val="800"/>
              </a:spcAft>
            </a:pPr>
            <a:r>
              <a:rPr sz="2000" b="1" i="0">
                <a:solidFill>
                  <a:srgbClr val="1A2230"/>
                </a:solidFill>
                <a:latin typeface="Calibri"/>
                <a:ea typeface="Calibri"/>
              </a:rPr>
              <a:t>03. Writing colour in CSS</a:t>
            </a:r>
            <a:br/>
            <a:r>
              <a:rPr sz="1350" b="0" i="0">
                <a:solidFill>
                  <a:srgbClr val="4A5568"/>
                </a:solidFill>
                <a:latin typeface="Calibri"/>
                <a:ea typeface="Calibri"/>
              </a:rPr>
              <a:t>Names, hex, rgb(), hsl() — and what each is good for.</a:t>
            </a:r>
          </a:p>
          <a:p>
            <a:pPr>
              <a:lnSpc>
                <a:spcPct val="110000"/>
              </a:lnSpc>
              <a:spcAft>
                <a:spcPts val="800"/>
              </a:spcAft>
            </a:pPr>
            <a:r>
              <a:rPr sz="2000" b="1" i="0">
                <a:solidFill>
                  <a:srgbClr val="1A2230"/>
                </a:solidFill>
                <a:latin typeface="Calibri"/>
                <a:ea typeface="Calibri"/>
              </a:rPr>
              <a:t>04. Building a palette</a:t>
            </a:r>
            <a:br/>
            <a:r>
              <a:rPr sz="1350" b="0" i="0">
                <a:solidFill>
                  <a:srgbClr val="4A5568"/>
                </a:solidFill>
                <a:latin typeface="Calibri"/>
                <a:ea typeface="Calibri"/>
              </a:rPr>
              <a:t>Seven ways to combine hues on the wheel.</a:t>
            </a:r>
          </a:p>
          <a:p>
            <a:pPr>
              <a:lnSpc>
                <a:spcPct val="110000"/>
              </a:lnSpc>
              <a:spcAft>
                <a:spcPts val="800"/>
              </a:spcAft>
            </a:pPr>
            <a:r>
              <a:rPr sz="2000" b="1" i="0">
                <a:solidFill>
                  <a:srgbClr val="1A2230"/>
                </a:solidFill>
                <a:latin typeface="Calibri"/>
                <a:ea typeface="Calibri"/>
              </a:rPr>
              <a:t>05. Using colour well</a:t>
            </a:r>
            <a:br/>
            <a:r>
              <a:rPr sz="1350" b="0" i="0">
                <a:solidFill>
                  <a:srgbClr val="4A5568"/>
                </a:solidFill>
                <a:latin typeface="Calibri"/>
                <a:ea typeface="Calibri"/>
              </a:rPr>
              <a:t>Contrast, readability and the mistakes that hurt.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Why We See Colour</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Two theories — pigment and light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Why a screen and a printer disagree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Which one the browser actually uses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Is Colour?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4858207" cy="4828032"/>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Colour is a wavelength</a:t>
            </a:r>
            <a:br/>
            <a:r>
              <a:rPr sz="1350" b="0" i="0">
                <a:solidFill>
                  <a:srgbClr val="4A5568"/>
                </a:solidFill>
                <a:latin typeface="Calibri"/>
                <a:ea typeface="Calibri"/>
              </a:rPr>
              <a:t>Visible light is an electromagnetic wave. Change its wavelength and you change the colour: about 380 nm is violet, about 750 nm is red.</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Frequency is the same fact</a:t>
            </a:r>
            <a:br/>
            <a:r>
              <a:rPr sz="1350" b="0" i="0">
                <a:solidFill>
                  <a:srgbClr val="4A5568"/>
                </a:solidFill>
                <a:latin typeface="Calibri"/>
                <a:ea typeface="Calibri"/>
              </a:rPr>
              <a:t>A shorter wavelength is a higher frequency, and the eye sorts light by frequency — that sorting is the whole of colour.</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The eye adds, it cannot separate</a:t>
            </a:r>
            <a:br/>
            <a:r>
              <a:rPr sz="1350" b="0" i="0">
                <a:solidFill>
                  <a:srgbClr val="4A5568"/>
                </a:solidFill>
                <a:latin typeface="Calibri"/>
                <a:ea typeface="Calibri"/>
              </a:rPr>
              <a:t>Two wavelengths arriving together are not seen as two colours. The eye sums them and reports a single result.</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All of them at once is white</a:t>
            </a:r>
            <a:br/>
            <a:r>
              <a:rPr sz="1350" b="0" i="0">
                <a:solidFill>
                  <a:srgbClr val="4A5568"/>
                </a:solidFill>
                <a:latin typeface="Calibri"/>
                <a:ea typeface="Calibri"/>
              </a:rPr>
              <a:t>Send every visible wavelength together and the sum is white light — which is exactly what sunlight is.</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So white is not a wavelength</a:t>
            </a:r>
            <a:br/>
            <a:r>
              <a:rPr sz="1350" b="0" i="0">
                <a:solidFill>
                  <a:srgbClr val="4A5568"/>
                </a:solidFill>
                <a:latin typeface="Calibri"/>
                <a:ea typeface="Calibri"/>
              </a:rPr>
              <a:t>There is no white in the spectrum and no single wavelength produces it. White is what the eye reports when nothing is missing.</a:t>
            </a:r>
          </a:p>
        </p:txBody>
      </p:sp>
      <p:pic>
        <p:nvPicPr>
          <p:cNvPr id="6" name="Picture 5" descr="img_ct_light_freq.png"/>
          <p:cNvPicPr>
            <a:picLocks noChangeAspect="1"/>
          </p:cNvPicPr>
          <p:nvPr/>
        </p:nvPicPr>
        <p:blipFill>
          <a:blip r:embed="rId2"/>
          <a:stretch>
            <a:fillRect/>
          </a:stretch>
        </p:blipFill>
        <p:spPr>
          <a:xfrm>
            <a:off x="5790895" y="2022267"/>
            <a:ext cx="5852159" cy="2648872"/>
          </a:xfrm>
          <a:prstGeom prst="rect">
            <a:avLst/>
          </a:prstGeom>
        </p:spPr>
      </p:pic>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Nothing on this page is pigment — this is light itself, and light adds 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Two Theories of Colour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10820095" cy="482803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Subtractive — pigment</a:t>
            </a:r>
            <a:br/>
            <a:r>
              <a:rPr sz="1500" b="0" i="0">
                <a:solidFill>
                  <a:srgbClr val="4A5568"/>
                </a:solidFill>
                <a:latin typeface="Calibri"/>
                <a:ea typeface="Calibri"/>
              </a:rPr>
              <a:t>White light falls on a surface; the surface absorbs some wavelengths and reflects the rest. What you see is what was left over. Mixing pigments removes light, so the more you mix, the darker it gets.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Subtractive primaries: cyan, magenta, yellow</a:t>
            </a:r>
            <a:br/>
            <a:r>
              <a:rPr sz="1500" b="0" i="0">
                <a:solidFill>
                  <a:srgbClr val="4A5568"/>
                </a:solidFill>
                <a:latin typeface="Calibri"/>
                <a:ea typeface="Calibri"/>
              </a:rPr>
              <a:t>Cyan + magenta + yellow absorbs everything and approaches black. This is why printers use CMYK — the K is added because mixed CMY ink gives a muddy dark brown, not a true black.</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Additive — light</a:t>
            </a:r>
            <a:br/>
            <a:r>
              <a:rPr sz="1500" b="0" i="0">
                <a:solidFill>
                  <a:srgbClr val="4A5568"/>
                </a:solidFill>
                <a:latin typeface="Calibri"/>
                <a:ea typeface="Calibri"/>
              </a:rPr>
              <a:t>Light is emitted, not reflected. Adding wavelengths together makes the result brighter. Fully saturated red, green and blue light together give white.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Additive primaries: red, green, blue</a:t>
            </a:r>
            <a:br/>
            <a:r>
              <a:rPr sz="1500" b="0" i="0">
                <a:solidFill>
                  <a:srgbClr val="4A5568"/>
                </a:solidFill>
                <a:latin typeface="Calibri"/>
                <a:ea typeface="Calibri"/>
              </a:rPr>
              <a:t>Every screen you own mixes these three. A pixel is three tiny lights; the colour is the sum.</a:t>
            </a:r>
          </a:p>
        </p:txBody>
      </p:sp>
      <p:sp>
        <p:nvSpPr>
          <p:cNvPr id="6" name="Rounded Rectangle 5"/>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Pigment takes light away. Light adds up. Every colour question in CSS starts 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Pigment and Light — Two Sets of Primaries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sub_add.png"/>
          <p:cNvPicPr>
            <a:picLocks noChangeAspect="1"/>
          </p:cNvPicPr>
          <p:nvPr/>
        </p:nvPicPr>
        <p:blipFill>
          <a:blip r:embed="rId2"/>
          <a:stretch>
            <a:fillRect/>
          </a:stretch>
        </p:blipFill>
        <p:spPr>
          <a:xfrm>
            <a:off x="769759" y="987552"/>
            <a:ext cx="10652176" cy="4242816"/>
          </a:xfrm>
          <a:prstGeom prst="rect">
            <a:avLst/>
          </a:prstGeom>
        </p:spPr>
      </p:pic>
      <p:sp>
        <p:nvSpPr>
          <p:cNvPr id="6" name="TextBox 5"/>
          <p:cNvSpPr txBox="1"/>
          <p:nvPr/>
        </p:nvSpPr>
        <p:spPr>
          <a:xfrm>
            <a:off x="548640" y="5358384"/>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Left: red, green and blue light add up to white. Right: cyan, magenta and yellow pigment multiply down to black.</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 screen and a printer cannot reproduce the same colours — they build them the opposite way round.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02</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The Colour Wheel</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Bend the spectrum into a circle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Hue, saturation and </a:t>
            </a:r>
            <a:r>
              <a:rPr sz="1600" b="0" i="0">
                <a:solidFill>
                  <a:srgbClr val="B8860B"/>
                </a:solidFill>
                <a:latin typeface="Consolas"/>
                <a:ea typeface="Consolas"/>
              </a:rPr>
              <a:t>value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Primary, secondary and tertiary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From Spectrum to Wheel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spectrum_to_wheel.png"/>
          <p:cNvPicPr>
            <a:picLocks noChangeAspect="1"/>
          </p:cNvPicPr>
          <p:nvPr/>
        </p:nvPicPr>
        <p:blipFill>
          <a:blip r:embed="rId2"/>
          <a:stretch>
            <a:fillRect/>
          </a:stretch>
        </p:blipFill>
        <p:spPr>
          <a:xfrm>
            <a:off x="1739384" y="987552"/>
            <a:ext cx="8712925" cy="4242816"/>
          </a:xfrm>
          <a:prstGeom prst="rect">
            <a:avLst/>
          </a:prstGeom>
        </p:spPr>
      </p:pic>
      <p:sp>
        <p:nvSpPr>
          <p:cNvPr id="6" name="TextBox 5"/>
          <p:cNvSpPr txBox="1"/>
          <p:nvPr/>
        </p:nvSpPr>
        <p:spPr>
          <a:xfrm>
            <a:off x="548640" y="5358384"/>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The visible spectrum has two ends. Bend it round until they meet and you get the colour wheel.</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wheel is a convenience, not physics — but it is the right tool for choosing colours.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Three Parameters Describe Any Colour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hsv.png"/>
          <p:cNvPicPr>
            <a:picLocks noChangeAspect="1"/>
          </p:cNvPicPr>
          <p:nvPr/>
        </p:nvPicPr>
        <p:blipFill>
          <a:blip r:embed="rId2"/>
          <a:stretch>
            <a:fillRect/>
          </a:stretch>
        </p:blipFill>
        <p:spPr>
          <a:xfrm>
            <a:off x="1363475" y="987552"/>
            <a:ext cx="9464743" cy="4242816"/>
          </a:xfrm>
          <a:prstGeom prst="rect">
            <a:avLst/>
          </a:prstGeom>
        </p:spPr>
      </p:pic>
      <p:sp>
        <p:nvSpPr>
          <p:cNvPr id="6" name="TextBox 5"/>
          <p:cNvSpPr txBox="1"/>
          <p:nvPr/>
        </p:nvSpPr>
        <p:spPr>
          <a:xfrm>
            <a:off x="548640" y="5358384"/>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Hue is the angle, saturation is the distance from the axis, value is the height. A colour wheel is a horizontal slice through that solid.</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This trio is the HSV model — and its third channel, value, is not the one CSS writes.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Same Model in Three Dimensions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hsv_3d.png"/>
          <p:cNvPicPr>
            <a:picLocks noChangeAspect="1"/>
          </p:cNvPicPr>
          <p:nvPr/>
        </p:nvPicPr>
        <p:blipFill>
          <a:blip r:embed="rId2"/>
          <a:stretch>
            <a:fillRect/>
          </a:stretch>
        </p:blipFill>
        <p:spPr>
          <a:xfrm>
            <a:off x="548639" y="987552"/>
            <a:ext cx="11094415" cy="4663415"/>
          </a:xfrm>
          <a:prstGeom prst="rect">
            <a:avLst/>
          </a:prstGeom>
        </p:spPr>
      </p:pic>
      <p:sp>
        <p:nvSpPr>
          <p:cNvPr id="6" name="TextBox 5"/>
          <p:cNvSpPr txBox="1"/>
          <p:nvPr/>
        </p:nvSpPr>
        <p:spPr>
          <a:xfrm>
            <a:off x="548640" y="5778983"/>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Hue is the angle, saturation is the radius, value is the height. The flat wheel on the previous page is the shaded top cap — one slice, taken at value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Hue — Position on the Wheel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6138367" cy="4828032"/>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Hue is an angle</a:t>
            </a:r>
            <a:br/>
            <a:r>
              <a:rPr sz="1350" b="0" i="0">
                <a:solidFill>
                  <a:srgbClr val="4A5568"/>
                </a:solidFill>
                <a:latin typeface="Calibri"/>
                <a:ea typeface="Calibri"/>
              </a:rPr>
              <a:t>0° to 360°, measured around the wheel.</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Primary colours</a:t>
            </a:r>
            <a:br/>
            <a:r>
              <a:rPr sz="1350" b="0" i="0">
                <a:solidFill>
                  <a:srgbClr val="4A5568"/>
                </a:solidFill>
                <a:latin typeface="Calibri"/>
                <a:ea typeface="Calibri"/>
              </a:rPr>
              <a:t>Red 0°, green 120°, blue 240° — they mix to white light.</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Secondary colours</a:t>
            </a:r>
            <a:br/>
            <a:r>
              <a:rPr sz="1350" b="0" i="0">
                <a:solidFill>
                  <a:srgbClr val="4A5568"/>
                </a:solidFill>
                <a:latin typeface="Calibri"/>
                <a:ea typeface="Calibri"/>
              </a:rPr>
              <a:t>Yellow 60°, cyan 180°, magenta 300° — each mixes two primaries.</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Tertiary colours</a:t>
            </a:r>
            <a:br/>
            <a:r>
              <a:rPr sz="1350" b="0" i="0">
                <a:solidFill>
                  <a:srgbClr val="4A5568"/>
                </a:solidFill>
                <a:latin typeface="Calibri"/>
                <a:ea typeface="Calibri"/>
              </a:rPr>
              <a:t>The six hues in between — red-orange, yellow-green and so on.</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Same wheel, different names</a:t>
            </a:r>
            <a:br/>
            <a:r>
              <a:rPr sz="1350" b="0" i="0">
                <a:solidFill>
                  <a:srgbClr val="4A5568"/>
                </a:solidFill>
                <a:latin typeface="Calibri"/>
                <a:ea typeface="Calibri"/>
              </a:rPr>
              <a:t>Red, yellow, blue is the artist's pigment wheel; CSS and your screen use red, green, blue.</a:t>
            </a:r>
          </a:p>
        </p:txBody>
      </p:sp>
      <p:pic>
        <p:nvPicPr>
          <p:cNvPr id="6" name="Picture 5" descr="img_ct_hue_angles.png"/>
          <p:cNvPicPr>
            <a:picLocks noChangeAspect="1"/>
          </p:cNvPicPr>
          <p:nvPr/>
        </p:nvPicPr>
        <p:blipFill>
          <a:blip r:embed="rId2"/>
          <a:stretch>
            <a:fillRect/>
          </a:stretch>
        </p:blipFill>
        <p:spPr>
          <a:xfrm>
            <a:off x="7071055" y="1060704"/>
            <a:ext cx="4572000" cy="4572000"/>
          </a:xfrm>
          <a:prstGeom prst="rect">
            <a:avLst/>
          </a:prstGeom>
        </p:spPr>
      </p:pic>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Hue answers “which colour”. It says nothing about how bright or how vivid.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Saturation — How Vivid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saturation.png"/>
          <p:cNvPicPr>
            <a:picLocks noChangeAspect="1"/>
          </p:cNvPicPr>
          <p:nvPr/>
        </p:nvPicPr>
        <p:blipFill>
          <a:blip r:embed="rId2"/>
          <a:stretch>
            <a:fillRect/>
          </a:stretch>
        </p:blipFill>
        <p:spPr>
          <a:xfrm>
            <a:off x="548639" y="932688"/>
            <a:ext cx="11094415" cy="2444532"/>
          </a:xfrm>
          <a:prstGeom prst="rect">
            <a:avLst/>
          </a:prstGeom>
        </p:spPr>
      </p:pic>
      <p:sp>
        <p:nvSpPr>
          <p:cNvPr id="6" name="TextBox 5"/>
          <p:cNvSpPr txBox="1"/>
          <p:nvPr/>
        </p:nvSpPr>
        <p:spPr>
          <a:xfrm>
            <a:off x="548640" y="3578388"/>
            <a:ext cx="10820095" cy="2218907"/>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Saturation is intensity</a:t>
            </a:r>
            <a:br/>
            <a:r>
              <a:rPr sz="1350" b="0" i="0">
                <a:solidFill>
                  <a:srgbClr val="4A5568"/>
                </a:solidFill>
                <a:latin typeface="Calibri"/>
                <a:ea typeface="Calibri"/>
              </a:rPr>
              <a:t>Also called chroma. It is the distance from the grey axis.</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High saturation</a:t>
            </a:r>
            <a:br/>
            <a:r>
              <a:rPr sz="1350" b="0" i="0">
                <a:solidFill>
                  <a:srgbClr val="4A5568"/>
                </a:solidFill>
                <a:latin typeface="Calibri"/>
                <a:ea typeface="Calibri"/>
              </a:rPr>
              <a:t>Vivid, and it sits near the rim of the wheel.</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Low saturation</a:t>
            </a:r>
            <a:br/>
            <a:r>
              <a:rPr sz="1350" b="0" i="0">
                <a:solidFill>
                  <a:srgbClr val="4A5568"/>
                </a:solidFill>
                <a:latin typeface="Calibri"/>
                <a:ea typeface="Calibri"/>
              </a:rPr>
              <a:t>Dull and </a:t>
            </a:r>
            <a:r>
              <a:rPr sz="1350" b="0" i="0">
                <a:solidFill>
                  <a:srgbClr val="B8860B"/>
                </a:solidFill>
                <a:latin typeface="Consolas"/>
                <a:ea typeface="Consolas"/>
              </a:rPr>
              <a:t>muted</a:t>
            </a:r>
            <a:r>
              <a:rPr sz="1350" b="0" i="0">
                <a:solidFill>
                  <a:srgbClr val="4A5568"/>
                </a:solidFill>
                <a:latin typeface="Calibri"/>
                <a:ea typeface="Calibri"/>
              </a:rPr>
              <a:t> — closer to grey.</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Zero saturation</a:t>
            </a:r>
            <a:br/>
            <a:r>
              <a:rPr sz="1350" b="0" i="0">
                <a:solidFill>
                  <a:srgbClr val="4A5568"/>
                </a:solidFill>
                <a:latin typeface="Calibri"/>
                <a:ea typeface="Calibri"/>
              </a:rPr>
              <a:t>Achromatic: pure grey scale, no hue at all.</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Saturation is the dial that takes a colour from shouting to whispering.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Value — How Light or Dark</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value.png"/>
          <p:cNvPicPr>
            <a:picLocks noChangeAspect="1"/>
          </p:cNvPicPr>
          <p:nvPr/>
        </p:nvPicPr>
        <p:blipFill>
          <a:blip r:embed="rId2"/>
          <a:stretch>
            <a:fillRect/>
          </a:stretch>
        </p:blipFill>
        <p:spPr>
          <a:xfrm>
            <a:off x="548639" y="932688"/>
            <a:ext cx="11094415" cy="2820614"/>
          </a:xfrm>
          <a:prstGeom prst="rect">
            <a:avLst/>
          </a:prstGeom>
        </p:spPr>
      </p:pic>
      <p:sp>
        <p:nvSpPr>
          <p:cNvPr id="6" name="TextBox 5"/>
          <p:cNvSpPr txBox="1"/>
          <p:nvPr/>
        </p:nvSpPr>
        <p:spPr>
          <a:xfrm>
            <a:off x="548640" y="3954470"/>
            <a:ext cx="10820095" cy="1842825"/>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Value is brightness</a:t>
            </a:r>
            <a:br/>
            <a:r>
              <a:rPr sz="1350" b="0" i="0">
                <a:solidFill>
                  <a:srgbClr val="4A5568"/>
                </a:solidFill>
                <a:latin typeface="Calibri"/>
                <a:ea typeface="Calibri"/>
              </a:rPr>
              <a:t>The axis runs from black up to the vivid form of that hue. Raising </a:t>
            </a:r>
            <a:r>
              <a:rPr sz="1350" b="0" i="0">
                <a:solidFill>
                  <a:srgbClr val="B8860B"/>
                </a:solidFill>
                <a:latin typeface="Consolas"/>
                <a:ea typeface="Consolas"/>
              </a:rPr>
              <a:t>value</a:t>
            </a:r>
            <a:r>
              <a:rPr sz="1350" b="0" i="0">
                <a:solidFill>
                  <a:srgbClr val="4A5568"/>
                </a:solidFill>
                <a:latin typeface="Calibri"/>
                <a:ea typeface="Calibri"/>
              </a:rPr>
              <a:t> never brings white in.</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Lower </a:t>
            </a:r>
            <a:r>
              <a:rPr sz="1600" b="1" i="0">
                <a:solidFill>
                  <a:srgbClr val="B8860B"/>
                </a:solidFill>
                <a:latin typeface="Consolas"/>
                <a:ea typeface="Consolas"/>
              </a:rPr>
              <a:t>value</a:t>
            </a:r>
            <a:r>
              <a:rPr sz="1600" b="1" i="0">
                <a:solidFill>
                  <a:srgbClr val="1A2230"/>
                </a:solidFill>
                <a:latin typeface="Calibri"/>
                <a:ea typeface="Calibri"/>
              </a:rPr>
              <a:t> gives a shade</a:t>
            </a:r>
            <a:br/>
            <a:r>
              <a:rPr sz="1350" b="0" i="0">
                <a:solidFill>
                  <a:srgbClr val="4A5568"/>
                </a:solidFill>
                <a:latin typeface="Calibri"/>
                <a:ea typeface="Calibri"/>
              </a:rPr>
              <a:t>The colour moves towards black. Those are the only two ends: black, and the full-strength colour.</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Why it matters most</a:t>
            </a:r>
            <a:br/>
            <a:r>
              <a:rPr sz="1350" b="0" i="0">
                <a:solidFill>
                  <a:srgbClr val="4A5568"/>
                </a:solidFill>
                <a:latin typeface="Calibri"/>
                <a:ea typeface="Calibri"/>
              </a:rPr>
              <a:t>Value carries the contrast. Two hues at the same </a:t>
            </a:r>
            <a:r>
              <a:rPr sz="1350" b="0" i="0">
                <a:solidFill>
                  <a:srgbClr val="B8860B"/>
                </a:solidFill>
                <a:latin typeface="Consolas"/>
                <a:ea typeface="Consolas"/>
              </a:rPr>
              <a:t>value</a:t>
            </a:r>
            <a:r>
              <a:rPr sz="1350" b="0" i="0">
                <a:solidFill>
                  <a:srgbClr val="4A5568"/>
                </a:solidFill>
                <a:latin typeface="Calibri"/>
                <a:ea typeface="Calibri"/>
              </a:rPr>
              <a:t> are hard to tell apart, so a page can only be as readable as its values allow.</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Squint, or desaturate the screenshot: if the page still reads, the values are doing their job.</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1800" b="1" i="0">
                <a:solidFill>
                  <a:srgbClr val="FFFFFF"/>
                </a:solidFill>
                <a:latin typeface="Calibri"/>
                <a:ea typeface="Calibri"/>
              </a:rPr>
              <a:t>HSV, HSL and HWB — Which Third Channel Does CSS Use?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hsl_hwb.png"/>
          <p:cNvPicPr>
            <a:picLocks noChangeAspect="1"/>
          </p:cNvPicPr>
          <p:nvPr/>
        </p:nvPicPr>
        <p:blipFill>
          <a:blip r:embed="rId2"/>
          <a:stretch>
            <a:fillRect/>
          </a:stretch>
        </p:blipFill>
        <p:spPr>
          <a:xfrm>
            <a:off x="548639" y="987552"/>
            <a:ext cx="11094415" cy="4212116"/>
          </a:xfrm>
          <a:prstGeom prst="rect">
            <a:avLst/>
          </a:prstGeom>
        </p:spPr>
      </p:pic>
      <p:sp>
        <p:nvSpPr>
          <p:cNvPr id="6" name="TextBox 5"/>
          <p:cNvSpPr txBox="1"/>
          <p:nvPr/>
        </p:nvSpPr>
        <p:spPr>
          <a:xfrm>
            <a:off x="548640" y="5327684"/>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The same hue three times. Value and lightness are different axes, and hwb() keeps white and black apart as two dials.</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In a stylesheet you write hsl() or hwb(). There is no hsv() in CSS — that S × V square is the picker's, not the language's.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Three Wheels, Three Primaries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wheels3.png"/>
          <p:cNvPicPr>
            <a:picLocks noChangeAspect="1"/>
          </p:cNvPicPr>
          <p:nvPr/>
        </p:nvPicPr>
        <p:blipFill>
          <a:blip r:embed="rId2"/>
          <a:stretch>
            <a:fillRect/>
          </a:stretch>
        </p:blipFill>
        <p:spPr>
          <a:xfrm>
            <a:off x="769759" y="987552"/>
            <a:ext cx="10652176" cy="4242816"/>
          </a:xfrm>
          <a:prstGeom prst="rect">
            <a:avLst/>
          </a:prstGeom>
        </p:spPr>
      </p:pic>
      <p:sp>
        <p:nvSpPr>
          <p:cNvPr id="6" name="TextBox 5"/>
          <p:cNvSpPr txBox="1"/>
          <p:nvPr/>
        </p:nvSpPr>
        <p:spPr>
          <a:xfrm>
            <a:off x="548640" y="5358384"/>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Same idea, different primaries. RGB for screens, CMY for print, RBY for mixing paint by hand.</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Your CSS works in RGB. Knowing the others stops “why does the print look different?”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03</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Writing Colour in CSS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Names, hex, rgb() and hsl()</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same colour, four notations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Which notation to reach for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One Colour, Four Notations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hex.png"/>
          <p:cNvPicPr>
            <a:picLocks noChangeAspect="1"/>
          </p:cNvPicPr>
          <p:nvPr/>
        </p:nvPicPr>
        <p:blipFill>
          <a:blip r:embed="rId2"/>
          <a:stretch>
            <a:fillRect/>
          </a:stretch>
        </p:blipFill>
        <p:spPr>
          <a:xfrm>
            <a:off x="548639" y="932688"/>
            <a:ext cx="11094415" cy="2820614"/>
          </a:xfrm>
          <a:prstGeom prst="rect">
            <a:avLst/>
          </a:prstGeom>
        </p:spPr>
      </p:pic>
      <p:sp>
        <p:nvSpPr>
          <p:cNvPr id="6" name="TextBox 5"/>
          <p:cNvSpPr txBox="1"/>
          <p:nvPr/>
        </p:nvSpPr>
        <p:spPr>
          <a:xfrm>
            <a:off x="548640" y="3954470"/>
            <a:ext cx="10820095" cy="1568505"/>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Hex and rgb() are the same number</a:t>
            </a:r>
            <a:br/>
            <a:r>
              <a:rPr sz="1350" b="0" i="0">
                <a:solidFill>
                  <a:srgbClr val="4A5568"/>
                </a:solidFill>
                <a:latin typeface="Calibri"/>
                <a:ea typeface="Calibri"/>
              </a:rPr>
              <a:t>Two hex digits per channel, 00–FF — or the same </a:t>
            </a:r>
            <a:r>
              <a:rPr sz="1350" b="0" i="0">
                <a:solidFill>
                  <a:srgbClr val="B8860B"/>
                </a:solidFill>
                <a:latin typeface="Consolas"/>
                <a:ea typeface="Consolas"/>
              </a:rPr>
              <a:t>value</a:t>
            </a:r>
            <a:r>
              <a:rPr sz="1350" b="0" i="0">
                <a:solidFill>
                  <a:srgbClr val="4A5568"/>
                </a:solidFill>
                <a:latin typeface="Calibri"/>
                <a:ea typeface="Calibri"/>
              </a:rPr>
              <a:t> in decimal, 0–255.</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hsl() is the one for designing</a:t>
            </a:r>
            <a:br/>
            <a:r>
              <a:rPr sz="1350" b="0" i="0">
                <a:solidFill>
                  <a:srgbClr val="4A5568"/>
                </a:solidFill>
                <a:latin typeface="Calibri"/>
                <a:ea typeface="Calibri"/>
              </a:rPr>
              <a:t>Hue, saturation and lightness, so a tint or a shade is a single edit instead of a recalculation.</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Named colours are for prototypes</a:t>
            </a:r>
            <a:br/>
            <a:r>
              <a:rPr sz="1350" b="0" i="0">
                <a:solidFill>
                  <a:srgbClr val="4A5568"/>
                </a:solidFill>
                <a:latin typeface="Calibri"/>
                <a:ea typeface="Calibri"/>
              </a:rPr>
              <a:t>The list is short and fixed, and several names share a </a:t>
            </a:r>
            <a:r>
              <a:rPr sz="1350" b="0" i="0">
                <a:solidFill>
                  <a:srgbClr val="B8860B"/>
                </a:solidFill>
                <a:latin typeface="Consolas"/>
                <a:ea typeface="Consolas"/>
              </a:rPr>
              <a:t>value</a:t>
            </a:r>
            <a:r>
              <a:rPr sz="1350" b="0" i="0">
                <a:solidFill>
                  <a:srgbClr val="4A5568"/>
                </a:solidFill>
                <a:latin typeface="Calibri"/>
                <a:ea typeface="Calibri"/>
              </a:rPr>
              <a:t> — most colours you want have no </a:t>
            </a:r>
            <a:r>
              <a:rPr sz="1350" b="0" i="0">
                <a:solidFill>
                  <a:srgbClr val="B8860B"/>
                </a:solidFill>
                <a:latin typeface="Consolas"/>
                <a:ea typeface="Consolas"/>
              </a:rPr>
              <a:t>name</a:t>
            </a:r>
            <a:r>
              <a:rPr sz="1350" b="0" i="0">
                <a:solidFill>
                  <a:srgbClr val="4A5568"/>
                </a:solidFill>
                <a:latin typeface="Calibri"/>
                <a:ea typeface="Calibri"/>
              </a:rPr>
              <a:t>.</a:t>
            </a:r>
          </a:p>
        </p:txBody>
      </p:sp>
      <p:sp>
        <p:nvSpPr>
          <p:cNvPr id="7" name="Rounded Rectangle 6"/>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follow along  →   </a:t>
            </a:r>
            <a:r>
              <a:rPr sz="1100" b="1" i="0">
                <a:solidFill>
                  <a:srgbClr val="61AFEF"/>
                </a:solidFill>
                <a:latin typeface="Calibri"/>
                <a:ea typeface="Calibri"/>
                <a:hlinkClick r:id="rId3"/>
                <a:extLst>
                  <a:ext uri="{A12FA001-AC4F-418D-AE19-62706E023703}">
                    <ahyp:hlinkClr xmlns:ahyp="http://schemas.microsoft.com/office/drawing/2018/hyperlinkcolor" val="tx"/>
                  </a:ext>
                </a:extLst>
              </a:rPr>
              <a:t>↗ editor.html?example=css-styling/colors</a:t>
            </a:r>
          </a:p>
        </p:txBody>
      </p:sp>
      <p:sp>
        <p:nvSpPr>
          <p:cNvPr id="9" name="TextBox 8"/>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#1E4FA8 · rgb() · hsl() · rgba()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 Colour Picker Is Just These Three Sliders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pic>
        <p:nvPicPr>
          <p:cNvPr id="5" name="Picture 4" descr="img_ct_hsl_ui.png"/>
          <p:cNvPicPr>
            <a:picLocks noChangeAspect="1"/>
          </p:cNvPicPr>
          <p:nvPr/>
        </p:nvPicPr>
        <p:blipFill>
          <a:blip r:embed="rId2"/>
          <a:stretch>
            <a:fillRect/>
          </a:stretch>
        </p:blipFill>
        <p:spPr>
          <a:xfrm>
            <a:off x="548639" y="987552"/>
            <a:ext cx="11094415" cy="4042880"/>
          </a:xfrm>
          <a:prstGeom prst="rect">
            <a:avLst/>
          </a:prstGeom>
        </p:spPr>
      </p:pic>
      <p:sp>
        <p:nvSpPr>
          <p:cNvPr id="6" name="TextBox 5"/>
          <p:cNvSpPr txBox="1"/>
          <p:nvPr/>
        </p:nvSpPr>
        <p:spPr>
          <a:xfrm>
            <a:off x="548640" y="5158448"/>
            <a:ext cx="11094415" cy="420624"/>
          </a:xfrm>
          <a:prstGeom prst="rect">
            <a:avLst/>
          </a:prstGeom>
          <a:noFill/>
        </p:spPr>
        <p:txBody>
          <a:bodyPr wrap="square" anchor="t" lIns="0" rIns="0" tIns="0" bIns="0">
            <a:spAutoFit/>
          </a:bodyPr>
          <a:lstStyle/>
          <a:p>
            <a:pPr algn="ctr">
              <a:lnSpc>
                <a:spcPct val="110000"/>
              </a:lnSpc>
              <a:spcAft>
                <a:spcPts val="400"/>
              </a:spcAft>
            </a:pPr>
            <a:r>
              <a:rPr sz="1400" b="0" i="0">
                <a:solidFill>
                  <a:srgbClr val="4A5568"/>
                </a:solidFill>
                <a:latin typeface="Calibri"/>
                <a:ea typeface="Calibri"/>
              </a:rPr>
              <a:t>Hue along one axis, saturation and value across the other. Whatever the picker shows, the browser is storing an RGB triplet.</a:t>
            </a:r>
          </a:p>
        </p:txBody>
      </p:sp>
      <p:sp>
        <p:nvSpPr>
          <p:cNvPr id="7" name="Rounded Rectangle 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Open DevTools, inspect any coloured element and click the swatch — the same picker appears.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Rules Worth Remembering</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Reach for hsl() when you are designing</a:t>
            </a:r>
            <a:br/>
            <a:r>
              <a:rPr sz="1500" b="0" i="0">
                <a:solidFill>
                  <a:srgbClr val="4A5568"/>
                </a:solidFill>
                <a:latin typeface="Calibri"/>
                <a:ea typeface="Calibri"/>
              </a:rPr>
              <a:t>Changing lightness is one number, so a tint or shade is a single edit. Reach for hex when copying from a design tool.</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Named colours are for prototypes</a:t>
            </a:r>
            <a:br/>
            <a:r>
              <a:rPr sz="1500" b="0" i="0">
                <a:solidFill>
                  <a:srgbClr val="4A5568"/>
                </a:solidFill>
                <a:latin typeface="Calibri"/>
                <a:ea typeface="Calibri"/>
              </a:rPr>
              <a:t>They read clearly in a quick test, but the palette is arbitrary — several names share a </a:t>
            </a:r>
            <a:r>
              <a:rPr sz="1500" b="0" i="0">
                <a:solidFill>
                  <a:srgbClr val="B8860B"/>
                </a:solidFill>
                <a:latin typeface="Consolas"/>
                <a:ea typeface="Consolas"/>
              </a:rPr>
              <a:t>value</a:t>
            </a:r>
            <a:r>
              <a:rPr sz="1500" b="0" i="0">
                <a:solidFill>
                  <a:srgbClr val="4A5568"/>
                </a:solidFill>
                <a:latin typeface="Calibri"/>
                <a:ea typeface="Calibri"/>
              </a:rPr>
              <a:t>, and half of them fail contrast on white.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Do not write colour twice</a:t>
            </a:r>
            <a:br/>
            <a:r>
              <a:rPr sz="1500" b="0" i="0">
                <a:solidFill>
                  <a:srgbClr val="4A5568"/>
                </a:solidFill>
                <a:latin typeface="Calibri"/>
                <a:ea typeface="Calibri"/>
              </a:rPr>
              <a:t>The same hex pasted into twenty rules drifts apart the moment you rebrand. Define it once as a CSS variable, then use the variable.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Alpha is not a colour</a:t>
            </a:r>
            <a:br/>
            <a:r>
              <a:rPr sz="1500" b="0" i="0">
                <a:solidFill>
                  <a:srgbClr val="4A5568"/>
                </a:solidFill>
                <a:latin typeface="Calibri"/>
                <a:ea typeface="Calibri"/>
              </a:rPr>
              <a:t>rgba() lets the background show through, which is how overlays and scrims work — it is a separate idea from picking the hue.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variables  →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editor.html?example=css-layout/variables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--brand: #1E4FA8;  color: var(--brand);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04</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Building a Palette</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Seven schemes, one wheel</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What each one is good for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And when each one goes wrong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Seven Ways to Combine Hues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10820095" cy="3986784"/>
          </a:xfrm>
          <a:prstGeom prst="rect">
            <a:avLst/>
          </a:prstGeom>
          <a:noFill/>
        </p:spPr>
        <p:txBody>
          <a:bodyPr wrap="square" lIns="0" rIns="0" tIns="0" bIns="0">
            <a:normAutofit/>
          </a:bodyPr>
          <a:lstStyle/>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1 · Monochromatic</a:t>
            </a:r>
            <a:br/>
            <a:r>
              <a:rPr sz="1450" b="0" i="0">
                <a:solidFill>
                  <a:srgbClr val="4A5568"/>
                </a:solidFill>
                <a:latin typeface="Calibri"/>
                <a:ea typeface="Calibri"/>
              </a:rPr>
              <a:t>One hue, varied by lightness and saturation. Nothing can clash.</a:t>
            </a:r>
          </a:p>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2 · Complementary</a:t>
            </a:r>
            <a:br/>
            <a:r>
              <a:rPr sz="1450" b="0" i="0">
                <a:solidFill>
                  <a:srgbClr val="4A5568"/>
                </a:solidFill>
                <a:latin typeface="Calibri"/>
                <a:ea typeface="Calibri"/>
              </a:rPr>
              <a:t>Two hues opposite each other. Maximum contrast and impact.</a:t>
            </a:r>
          </a:p>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3 · Analogous</a:t>
            </a:r>
            <a:br/>
            <a:r>
              <a:rPr sz="1450" b="0" i="0">
                <a:solidFill>
                  <a:srgbClr val="4A5568"/>
                </a:solidFill>
                <a:latin typeface="Calibri"/>
                <a:ea typeface="Calibri"/>
              </a:rPr>
              <a:t>Neighbours on the wheel. Harmonious, and easy to make look flat.</a:t>
            </a:r>
          </a:p>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4 · Triadic</a:t>
            </a:r>
            <a:br/>
            <a:r>
              <a:rPr sz="1450" b="0" i="0">
                <a:solidFill>
                  <a:srgbClr val="4A5568"/>
                </a:solidFill>
                <a:latin typeface="Calibri"/>
                <a:ea typeface="Calibri"/>
              </a:rPr>
              <a:t>Three hues, evenly spaced. Bold, but better balanced than complementary.</a:t>
            </a:r>
          </a:p>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5 · Split-complementary</a:t>
            </a:r>
            <a:br/>
            <a:r>
              <a:rPr sz="1450" b="0" i="0">
                <a:solidFill>
                  <a:srgbClr val="4A5568"/>
                </a:solidFill>
                <a:latin typeface="Calibri"/>
                <a:ea typeface="Calibri"/>
              </a:rPr>
              <a:t>One hue plus the neighbours of its opposite. Strong, yet easier to balance.</a:t>
            </a:r>
          </a:p>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6 · Tetradic</a:t>
            </a:r>
            <a:br/>
            <a:r>
              <a:rPr sz="1450" b="0" i="0">
                <a:solidFill>
                  <a:srgbClr val="4A5568"/>
                </a:solidFill>
                <a:latin typeface="Calibri"/>
                <a:ea typeface="Calibri"/>
              </a:rPr>
              <a:t>Two complementary pairs — four hues. Rich and easy to get wrong.</a:t>
            </a:r>
          </a:p>
          <a:p>
            <a:pPr marL="256032"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7 · Warm / Cool</a:t>
            </a:r>
            <a:br/>
            <a:r>
              <a:rPr sz="1450" b="0" i="0">
                <a:solidFill>
                  <a:srgbClr val="4A5568"/>
                </a:solidFill>
                <a:latin typeface="Calibri"/>
                <a:ea typeface="Calibri"/>
              </a:rPr>
              <a:t>The wheel cut in half. Temperature as structure rather than hue.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see them in CSS  →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editor.html?example=css-styling/color-schemes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seven palettes, inline styles only</a:t>
            </a:r>
          </a:p>
        </p:txBody>
      </p:sp>
      <p:sp>
        <p:nvSpPr>
          <p:cNvPr id="9" name="Rounded Rectangle 8"/>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Every scheme is a geometric rule for picking points on the same wheel.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1 · Monochromatic</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2178649" cy="841248"/>
          </a:xfrm>
          <a:prstGeom prst="rect">
            <a:avLst/>
          </a:prstGeom>
          <a:solidFill>
            <a:srgbClr val="05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#05255C</a:t>
            </a:r>
          </a:p>
        </p:txBody>
      </p:sp>
      <p:sp>
        <p:nvSpPr>
          <p:cNvPr id="7" name="Rectangle 6"/>
          <p:cNvSpPr/>
          <p:nvPr/>
        </p:nvSpPr>
        <p:spPr>
          <a:xfrm>
            <a:off x="2777581" y="987552"/>
            <a:ext cx="2178649" cy="841248"/>
          </a:xfrm>
          <a:prstGeom prst="rect">
            <a:avLst/>
          </a:prstGeom>
          <a:solidFill>
            <a:srgbClr val="0F3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77581"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#0F3880</a:t>
            </a:r>
          </a:p>
        </p:txBody>
      </p:sp>
      <p:sp>
        <p:nvSpPr>
          <p:cNvPr id="9" name="Rectangle 8"/>
          <p:cNvSpPr/>
          <p:nvPr/>
        </p:nvSpPr>
        <p:spPr>
          <a:xfrm>
            <a:off x="5006522" y="987552"/>
            <a:ext cx="2178649" cy="841248"/>
          </a:xfrm>
          <a:prstGeom prst="rect">
            <a:avLst/>
          </a:prstGeom>
          <a:solidFill>
            <a:srgbClr val="225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6522"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#2253A8</a:t>
            </a:r>
          </a:p>
        </p:txBody>
      </p:sp>
      <p:sp>
        <p:nvSpPr>
          <p:cNvPr id="11" name="Rectangle 10"/>
          <p:cNvSpPr/>
          <p:nvPr/>
        </p:nvSpPr>
        <p:spPr>
          <a:xfrm>
            <a:off x="7235464" y="987552"/>
            <a:ext cx="2178649" cy="841248"/>
          </a:xfrm>
          <a:prstGeom prst="rect">
            <a:avLst/>
          </a:prstGeom>
          <a:solidFill>
            <a:srgbClr val="477A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5464"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#477AD1</a:t>
            </a:r>
          </a:p>
        </p:txBody>
      </p:sp>
      <p:sp>
        <p:nvSpPr>
          <p:cNvPr id="13" name="Rectangle 12"/>
          <p:cNvSpPr/>
          <p:nvPr/>
        </p:nvSpPr>
        <p:spPr>
          <a:xfrm>
            <a:off x="9464405" y="987552"/>
            <a:ext cx="2178649" cy="841248"/>
          </a:xfrm>
          <a:prstGeom prst="rect">
            <a:avLst/>
          </a:prstGeom>
          <a:solidFill>
            <a:srgbClr val="8DB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405"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#8DB2F2</a:t>
            </a:r>
          </a:p>
        </p:txBody>
      </p:sp>
      <p:sp>
        <p:nvSpPr>
          <p:cNvPr id="15" name="TextBox 14"/>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One hue at five points between the darkest shade and the lightest tint.</a:t>
            </a:r>
          </a:p>
        </p:txBody>
      </p:sp>
      <p:sp>
        <p:nvSpPr>
          <p:cNvPr id="16" name="TextBox 15"/>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One hue, varied by </a:t>
            </a:r>
            <a:r>
              <a:rPr sz="1650" b="1" i="0">
                <a:solidFill>
                  <a:srgbClr val="B8860B"/>
                </a:solidFill>
                <a:latin typeface="Consolas"/>
                <a:ea typeface="Consolas"/>
              </a:rPr>
              <a:t>value</a:t>
            </a:r>
            <a:br/>
            <a:r>
              <a:rPr sz="1400" b="0" i="0">
                <a:solidFill>
                  <a:srgbClr val="4A5568"/>
                </a:solidFill>
                <a:latin typeface="Calibri"/>
                <a:ea typeface="Calibri"/>
              </a:rPr>
              <a:t>Lightness and saturation change; the hue never does.</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Coherent by construction</a:t>
            </a:r>
            <a:br/>
            <a:r>
              <a:rPr sz="1400" b="0" i="0">
                <a:solidFill>
                  <a:srgbClr val="4A5568"/>
                </a:solidFill>
                <a:latin typeface="Calibri"/>
                <a:ea typeface="Calibri"/>
              </a:rPr>
              <a:t>Nothing can clash, which makes it the safest place to start.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Contrast is the hard part</a:t>
            </a:r>
            <a:br/>
            <a:r>
              <a:rPr sz="1400" b="0" i="0">
                <a:solidFill>
                  <a:srgbClr val="4A5568"/>
                </a:solidFill>
                <a:latin typeface="Calibri"/>
                <a:ea typeface="Calibri"/>
              </a:rPr>
              <a:t>With one hue, contrast has to come from </a:t>
            </a:r>
            <a:r>
              <a:rPr sz="1400" b="0" i="0">
                <a:solidFill>
                  <a:srgbClr val="B8860B"/>
                </a:solidFill>
                <a:latin typeface="Consolas"/>
                <a:ea typeface="Consolas"/>
              </a:rPr>
              <a:t>value</a:t>
            </a:r>
            <a:r>
              <a:rPr sz="1400" b="0" i="0">
                <a:solidFill>
                  <a:srgbClr val="4A5568"/>
                </a:solidFill>
                <a:latin typeface="Calibri"/>
                <a:ea typeface="Calibri"/>
              </a:rPr>
              <a:t> — check it rather than assume.</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You want a restrained, editorial or corporate feel.</a:t>
            </a:r>
          </a:p>
        </p:txBody>
      </p:sp>
      <p:pic>
        <p:nvPicPr>
          <p:cNvPr id="17" name="Picture 16" descr="img_ct_sch_mono.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2 · Complementary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5522061" cy="841248"/>
          </a:xfrm>
          <a:prstGeom prst="rect">
            <a:avLst/>
          </a:prstGeom>
          <a:solidFill>
            <a:srgbClr val="2665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5522061"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#2665D1</a:t>
            </a:r>
          </a:p>
        </p:txBody>
      </p:sp>
      <p:sp>
        <p:nvSpPr>
          <p:cNvPr id="7" name="Rectangle 6"/>
          <p:cNvSpPr/>
          <p:nvPr/>
        </p:nvSpPr>
        <p:spPr>
          <a:xfrm>
            <a:off x="6120993" y="987552"/>
            <a:ext cx="5522061" cy="841248"/>
          </a:xfrm>
          <a:prstGeom prst="rect">
            <a:avLst/>
          </a:prstGeom>
          <a:solidFill>
            <a:srgbClr val="F0A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0993" y="987552"/>
            <a:ext cx="5522061"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#F0A422</a:t>
            </a:r>
          </a:p>
        </p:txBody>
      </p:sp>
      <p:sp>
        <p:nvSpPr>
          <p:cNvPr id="9" name="TextBox 8"/>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Two hues 180° apart on the wheel.</a:t>
            </a:r>
          </a:p>
        </p:txBody>
      </p:sp>
      <p:sp>
        <p:nvSpPr>
          <p:cNvPr id="10" name="TextBox 9"/>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Opposite sides of the wheel</a:t>
            </a:r>
            <a:br/>
            <a:r>
              <a:rPr sz="1400" b="0" i="0">
                <a:solidFill>
                  <a:srgbClr val="4A5568"/>
                </a:solidFill>
                <a:latin typeface="Calibri"/>
                <a:ea typeface="Calibri"/>
              </a:rPr>
              <a:t>The pair sits 180° apart.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Maximum contrast</a:t>
            </a:r>
            <a:br/>
            <a:r>
              <a:rPr sz="1400" b="0" i="0">
                <a:solidFill>
                  <a:srgbClr val="4A5568"/>
                </a:solidFill>
                <a:latin typeface="Calibri"/>
                <a:ea typeface="Calibri"/>
              </a:rPr>
              <a:t>Each colour makes the other look brighter and more prominent.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Let one dominate</a:t>
            </a:r>
            <a:br/>
            <a:r>
              <a:rPr sz="1400" b="0" i="0">
                <a:solidFill>
                  <a:srgbClr val="4A5568"/>
                </a:solidFill>
                <a:latin typeface="Calibri"/>
                <a:ea typeface="Calibri"/>
              </a:rPr>
              <a:t>Two full-strength complements compete and fatigue the eye — keep one for accents.</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A call to </a:t>
            </a:r>
            <a:r>
              <a:rPr sz="1400" b="0" i="0">
                <a:solidFill>
                  <a:srgbClr val="B8860B"/>
                </a:solidFill>
                <a:latin typeface="Consolas"/>
                <a:ea typeface="Consolas"/>
              </a:rPr>
              <a:t>action</a:t>
            </a:r>
            <a:r>
              <a:rPr sz="1400" b="0" i="0">
                <a:solidFill>
                  <a:srgbClr val="4A5568"/>
                </a:solidFill>
                <a:latin typeface="Calibri"/>
                <a:ea typeface="Calibri"/>
              </a:rPr>
              <a:t> has to jump off the page.</a:t>
            </a:r>
          </a:p>
        </p:txBody>
      </p:sp>
      <p:pic>
        <p:nvPicPr>
          <p:cNvPr id="11" name="Picture 10" descr="img_ct_sch_comp.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3 · Analogous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2178649" cy="841248"/>
          </a:xfrm>
          <a:prstGeom prst="rect">
            <a:avLst/>
          </a:prstGeom>
          <a:solidFill>
            <a:srgbClr val="2FC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#2FC0D6</a:t>
            </a:r>
          </a:p>
        </p:txBody>
      </p:sp>
      <p:sp>
        <p:nvSpPr>
          <p:cNvPr id="7" name="Rectangle 6"/>
          <p:cNvSpPr/>
          <p:nvPr/>
        </p:nvSpPr>
        <p:spPr>
          <a:xfrm>
            <a:off x="2777581" y="987552"/>
            <a:ext cx="2178649" cy="841248"/>
          </a:xfrm>
          <a:prstGeom prst="rect">
            <a:avLst/>
          </a:prstGeom>
          <a:solidFill>
            <a:srgbClr val="2F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77581"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#2F96D6</a:t>
            </a:r>
          </a:p>
        </p:txBody>
      </p:sp>
      <p:sp>
        <p:nvSpPr>
          <p:cNvPr id="9" name="Rectangle 8"/>
          <p:cNvSpPr/>
          <p:nvPr/>
        </p:nvSpPr>
        <p:spPr>
          <a:xfrm>
            <a:off x="5006522" y="987552"/>
            <a:ext cx="2178649" cy="841248"/>
          </a:xfrm>
          <a:prstGeom prst="rect">
            <a:avLst/>
          </a:prstGeom>
          <a:solidFill>
            <a:srgbClr val="2F6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06522"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#2F6CD6</a:t>
            </a:r>
          </a:p>
        </p:txBody>
      </p:sp>
      <p:sp>
        <p:nvSpPr>
          <p:cNvPr id="11" name="Rectangle 10"/>
          <p:cNvSpPr/>
          <p:nvPr/>
        </p:nvSpPr>
        <p:spPr>
          <a:xfrm>
            <a:off x="7235464" y="987552"/>
            <a:ext cx="2178649" cy="841248"/>
          </a:xfrm>
          <a:prstGeom prst="rect">
            <a:avLst/>
          </a:prstGeom>
          <a:solidFill>
            <a:srgbClr val="2F4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5464"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#2F43D6</a:t>
            </a:r>
          </a:p>
        </p:txBody>
      </p:sp>
      <p:sp>
        <p:nvSpPr>
          <p:cNvPr id="13" name="Rectangle 12"/>
          <p:cNvSpPr/>
          <p:nvPr/>
        </p:nvSpPr>
        <p:spPr>
          <a:xfrm>
            <a:off x="9464405" y="987552"/>
            <a:ext cx="2178649" cy="841248"/>
          </a:xfrm>
          <a:prstGeom prst="rect">
            <a:avLst/>
          </a:prstGeom>
          <a:solidFill>
            <a:srgbClr val="452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64405" y="987552"/>
            <a:ext cx="2178649"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#452FD6</a:t>
            </a:r>
          </a:p>
        </p:txBody>
      </p:sp>
      <p:sp>
        <p:nvSpPr>
          <p:cNvPr id="15" name="TextBox 14"/>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Three hues that sit side by side on the wheel.</a:t>
            </a:r>
          </a:p>
        </p:txBody>
      </p:sp>
      <p:sp>
        <p:nvSpPr>
          <p:cNvPr id="16" name="TextBox 15"/>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Neighbours on the wheel</a:t>
            </a:r>
            <a:br/>
            <a:r>
              <a:rPr sz="1400" b="0" i="0">
                <a:solidFill>
                  <a:srgbClr val="4A5568"/>
                </a:solidFill>
                <a:latin typeface="Calibri"/>
                <a:ea typeface="Calibri"/>
              </a:rPr>
              <a:t>Typically three hues within about 30° of each other.</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Harmonious and natural</a:t>
            </a:r>
            <a:br/>
            <a:r>
              <a:rPr sz="1400" b="0" i="0">
                <a:solidFill>
                  <a:srgbClr val="4A5568"/>
                </a:solidFill>
                <a:latin typeface="Calibri"/>
                <a:ea typeface="Calibri"/>
              </a:rPr>
              <a:t>Reads as a family — which is why it turns up in landscape photography.</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It can go flat</a:t>
            </a:r>
            <a:br/>
            <a:r>
              <a:rPr sz="1400" b="0" i="0">
                <a:solidFill>
                  <a:srgbClr val="4A5568"/>
                </a:solidFill>
                <a:latin typeface="Calibri"/>
                <a:ea typeface="Calibri"/>
              </a:rPr>
              <a:t>With so little hue contrast, choose one dominant and use the others as accents.</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You want calm and cohesion without the flatness of a single hue.</a:t>
            </a:r>
          </a:p>
        </p:txBody>
      </p:sp>
      <p:pic>
        <p:nvPicPr>
          <p:cNvPr id="17" name="Picture 16" descr="img_ct_sch_analogous.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4 · Triadic</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3664610" cy="841248"/>
          </a:xfrm>
          <a:prstGeom prst="rect">
            <a:avLst/>
          </a:prstGeom>
          <a:solidFill>
            <a:srgbClr val="2769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3664610"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#2769DB</a:t>
            </a:r>
          </a:p>
        </p:txBody>
      </p:sp>
      <p:sp>
        <p:nvSpPr>
          <p:cNvPr id="7" name="Rectangle 6"/>
          <p:cNvSpPr/>
          <p:nvPr/>
        </p:nvSpPr>
        <p:spPr>
          <a:xfrm>
            <a:off x="4263542" y="987552"/>
            <a:ext cx="3664610" cy="841248"/>
          </a:xfrm>
          <a:prstGeom prst="rect">
            <a:avLst/>
          </a:prstGeom>
          <a:solidFill>
            <a:srgbClr val="DB27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63542" y="987552"/>
            <a:ext cx="3664610"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#DB2769</a:t>
            </a:r>
          </a:p>
        </p:txBody>
      </p:sp>
      <p:sp>
        <p:nvSpPr>
          <p:cNvPr id="9" name="Rectangle 8"/>
          <p:cNvSpPr/>
          <p:nvPr/>
        </p:nvSpPr>
        <p:spPr>
          <a:xfrm>
            <a:off x="7978444" y="987552"/>
            <a:ext cx="3664610" cy="841248"/>
          </a:xfrm>
          <a:prstGeom prst="rect">
            <a:avLst/>
          </a:prstGeom>
          <a:solidFill>
            <a:srgbClr val="69D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8444" y="987552"/>
            <a:ext cx="3664610"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#69DB27</a:t>
            </a:r>
          </a:p>
        </p:txBody>
      </p:sp>
      <p:sp>
        <p:nvSpPr>
          <p:cNvPr id="11" name="TextBox 10"/>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Three hues, evenly spaced 120° apart.</a:t>
            </a:r>
          </a:p>
        </p:txBody>
      </p:sp>
      <p:sp>
        <p:nvSpPr>
          <p:cNvPr id="12" name="TextBox 11"/>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Evenly spaced</a:t>
            </a:r>
            <a:br/>
            <a:r>
              <a:rPr sz="1400" b="0" i="0">
                <a:solidFill>
                  <a:srgbClr val="4A5568"/>
                </a:solidFill>
                <a:latin typeface="Calibri"/>
                <a:ea typeface="Calibri"/>
              </a:rPr>
              <a:t>120° between each pair, so no hue wins on symmetry.</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Bold but balanced</a:t>
            </a:r>
            <a:br/>
            <a:r>
              <a:rPr sz="1400" b="0" i="0">
                <a:solidFill>
                  <a:srgbClr val="4A5568"/>
                </a:solidFill>
                <a:latin typeface="Calibri"/>
                <a:ea typeface="Calibri"/>
              </a:rPr>
              <a:t>Less aggressive than complementary, and more versatile.</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One dominant, two accents</a:t>
            </a:r>
            <a:br/>
            <a:r>
              <a:rPr sz="1400" b="0" i="0">
                <a:solidFill>
                  <a:srgbClr val="4A5568"/>
                </a:solidFill>
                <a:latin typeface="Calibri"/>
                <a:ea typeface="Calibri"/>
              </a:rPr>
              <a:t>Used equally, all three fight — the eye has nowhere to land.</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You want vivid and playful, and you have a clear hierarchy.</a:t>
            </a:r>
          </a:p>
        </p:txBody>
      </p:sp>
      <p:pic>
        <p:nvPicPr>
          <p:cNvPr id="13" name="Picture 12" descr="img_ct_sch_triadic.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5 · Split-Complementary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3664610" cy="841248"/>
          </a:xfrm>
          <a:prstGeom prst="rect">
            <a:avLst/>
          </a:prstGeom>
          <a:solidFill>
            <a:srgbClr val="2C6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3664610"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#2C6CDB</a:t>
            </a:r>
          </a:p>
        </p:txBody>
      </p:sp>
      <p:sp>
        <p:nvSpPr>
          <p:cNvPr id="7" name="Rectangle 6"/>
          <p:cNvSpPr/>
          <p:nvPr/>
        </p:nvSpPr>
        <p:spPr>
          <a:xfrm>
            <a:off x="4263542" y="987552"/>
            <a:ext cx="3664610" cy="841248"/>
          </a:xfrm>
          <a:prstGeom prst="rect">
            <a:avLst/>
          </a:prstGeom>
          <a:solidFill>
            <a:srgbClr val="DB4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63542" y="987552"/>
            <a:ext cx="3664610"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#DB432C</a:t>
            </a:r>
          </a:p>
        </p:txBody>
      </p:sp>
      <p:sp>
        <p:nvSpPr>
          <p:cNvPr id="9" name="Rectangle 8"/>
          <p:cNvSpPr/>
          <p:nvPr/>
        </p:nvSpPr>
        <p:spPr>
          <a:xfrm>
            <a:off x="7978444" y="987552"/>
            <a:ext cx="3664610" cy="841248"/>
          </a:xfrm>
          <a:prstGeom prst="rect">
            <a:avLst/>
          </a:prstGeom>
          <a:solidFill>
            <a:srgbClr val="C4DB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8444" y="987552"/>
            <a:ext cx="3664610"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#C4DB2C</a:t>
            </a:r>
          </a:p>
        </p:txBody>
      </p:sp>
      <p:sp>
        <p:nvSpPr>
          <p:cNvPr id="11" name="TextBox 10"/>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One base hue plus the two hues either side of its opposite.</a:t>
            </a:r>
          </a:p>
        </p:txBody>
      </p:sp>
      <p:sp>
        <p:nvSpPr>
          <p:cNvPr id="12" name="TextBox 11"/>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Not a straight opposite</a:t>
            </a:r>
            <a:br/>
            <a:r>
              <a:rPr sz="1400" b="0" i="0">
                <a:solidFill>
                  <a:srgbClr val="4A5568"/>
                </a:solidFill>
                <a:latin typeface="Calibri"/>
                <a:ea typeface="Calibri"/>
              </a:rPr>
              <a:t>Take one base colour and the two neighbours of its complement.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Strong, but softer</a:t>
            </a:r>
            <a:br/>
            <a:r>
              <a:rPr sz="1400" b="0" i="0">
                <a:solidFill>
                  <a:srgbClr val="4A5568"/>
                </a:solidFill>
                <a:latin typeface="Calibri"/>
                <a:ea typeface="Calibri"/>
              </a:rPr>
              <a:t>Most of the contrast of a complementary pair, with less visual vibration.</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Easier to balance</a:t>
            </a:r>
            <a:br/>
            <a:r>
              <a:rPr sz="1400" b="0" i="0">
                <a:solidFill>
                  <a:srgbClr val="4A5568"/>
                </a:solidFill>
                <a:latin typeface="Calibri"/>
                <a:ea typeface="Calibri"/>
              </a:rPr>
              <a:t>Three hues give you room for a dominant colour and an accent.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Complementary feels too aggressive but you still want punch.</a:t>
            </a:r>
          </a:p>
        </p:txBody>
      </p:sp>
      <p:pic>
        <p:nvPicPr>
          <p:cNvPr id="13" name="Picture 12" descr="img_ct_sch_split.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6 · Tetradic</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2735884" cy="841248"/>
          </a:xfrm>
          <a:prstGeom prst="rect">
            <a:avLst/>
          </a:prstGeom>
          <a:solidFill>
            <a:srgbClr val="306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2735884"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#306FDB</a:t>
            </a:r>
          </a:p>
        </p:txBody>
      </p:sp>
      <p:sp>
        <p:nvSpPr>
          <p:cNvPr id="7" name="Rectangle 6"/>
          <p:cNvSpPr/>
          <p:nvPr/>
        </p:nvSpPr>
        <p:spPr>
          <a:xfrm>
            <a:off x="3334816" y="987552"/>
            <a:ext cx="2735884" cy="841248"/>
          </a:xfrm>
          <a:prstGeom prst="rect">
            <a:avLst/>
          </a:prstGeom>
          <a:solidFill>
            <a:srgbClr val="9D30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4816" y="987552"/>
            <a:ext cx="2735884"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#9D30DB</a:t>
            </a:r>
          </a:p>
        </p:txBody>
      </p:sp>
      <p:sp>
        <p:nvSpPr>
          <p:cNvPr id="9" name="Rectangle 8"/>
          <p:cNvSpPr/>
          <p:nvPr/>
        </p:nvSpPr>
        <p:spPr>
          <a:xfrm>
            <a:off x="6120993" y="987552"/>
            <a:ext cx="2735884" cy="841248"/>
          </a:xfrm>
          <a:prstGeom prst="rect">
            <a:avLst/>
          </a:prstGeom>
          <a:solidFill>
            <a:srgbClr val="DB9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993" y="987552"/>
            <a:ext cx="2735884"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#DB9D30</a:t>
            </a:r>
          </a:p>
        </p:txBody>
      </p:sp>
      <p:sp>
        <p:nvSpPr>
          <p:cNvPr id="11" name="Rectangle 10"/>
          <p:cNvSpPr/>
          <p:nvPr/>
        </p:nvSpPr>
        <p:spPr>
          <a:xfrm>
            <a:off x="8907170" y="987552"/>
            <a:ext cx="2735884" cy="841248"/>
          </a:xfrm>
          <a:prstGeom prst="rect">
            <a:avLst/>
          </a:prstGeom>
          <a:solidFill>
            <a:srgbClr val="6FD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07170" y="987552"/>
            <a:ext cx="2735884"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#6FDB30</a:t>
            </a:r>
          </a:p>
        </p:txBody>
      </p:sp>
      <p:sp>
        <p:nvSpPr>
          <p:cNvPr id="13" name="TextBox 12"/>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Two complementary pairs — a rectangle on the wheel.</a:t>
            </a:r>
          </a:p>
        </p:txBody>
      </p:sp>
      <p:sp>
        <p:nvSpPr>
          <p:cNvPr id="14" name="TextBox 13"/>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Four hues, two opposite pairs</a:t>
            </a:r>
            <a:br/>
            <a:r>
              <a:rPr sz="1400" b="0" i="0">
                <a:solidFill>
                  <a:srgbClr val="4A5568"/>
                </a:solidFill>
                <a:latin typeface="Calibri"/>
                <a:ea typeface="Calibri"/>
              </a:rPr>
              <a:t>A rectangle on the wheel, each pair 180° apart.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Rich, and hard</a:t>
            </a:r>
            <a:br/>
            <a:r>
              <a:rPr sz="1400" b="0" i="0">
                <a:solidFill>
                  <a:srgbClr val="4A5568"/>
                </a:solidFill>
                <a:latin typeface="Calibri"/>
                <a:ea typeface="Calibri"/>
              </a:rPr>
              <a:t>The more hues in a palette, the harder the balance — four is genuinely difficult.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Hierarchy is not optional</a:t>
            </a:r>
            <a:br/>
            <a:r>
              <a:rPr sz="1400" b="0" i="0">
                <a:solidFill>
                  <a:srgbClr val="4A5568"/>
                </a:solidFill>
                <a:latin typeface="Calibri"/>
                <a:ea typeface="Calibri"/>
              </a:rPr>
              <a:t>Without one clearly dominant colour this reads as noise.</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An illustration or a playful brand can carry four colours.</a:t>
            </a:r>
          </a:p>
        </p:txBody>
      </p:sp>
      <p:pic>
        <p:nvPicPr>
          <p:cNvPr id="15" name="Picture 14" descr="img_ct_sch_tetradic.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Scheme 7 · Warm and Cool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87552"/>
            <a:ext cx="1342796" cy="841248"/>
          </a:xfrm>
          <a:prstGeom prst="rect">
            <a:avLst/>
          </a:prstGeom>
          <a:solidFill>
            <a:srgbClr val="E6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#E61C2C</a:t>
            </a:r>
          </a:p>
        </p:txBody>
      </p:sp>
      <p:sp>
        <p:nvSpPr>
          <p:cNvPr id="7" name="Rectangle 6"/>
          <p:cNvSpPr/>
          <p:nvPr/>
        </p:nvSpPr>
        <p:spPr>
          <a:xfrm>
            <a:off x="1941728" y="987552"/>
            <a:ext cx="1342796" cy="841248"/>
          </a:xfrm>
          <a:prstGeom prst="rect">
            <a:avLst/>
          </a:prstGeom>
          <a:solidFill>
            <a:srgbClr val="E65F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41728"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#E65F1C</a:t>
            </a:r>
          </a:p>
        </p:txBody>
      </p:sp>
      <p:sp>
        <p:nvSpPr>
          <p:cNvPr id="9" name="Rectangle 8"/>
          <p:cNvSpPr/>
          <p:nvPr/>
        </p:nvSpPr>
        <p:spPr>
          <a:xfrm>
            <a:off x="3334816" y="987552"/>
            <a:ext cx="1342796" cy="841248"/>
          </a:xfrm>
          <a:prstGeom prst="rect">
            <a:avLst/>
          </a:prstGeom>
          <a:solidFill>
            <a:srgbClr val="E6A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4816"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#E6A21C</a:t>
            </a:r>
          </a:p>
        </p:txBody>
      </p:sp>
      <p:sp>
        <p:nvSpPr>
          <p:cNvPr id="11" name="Rectangle 10"/>
          <p:cNvSpPr/>
          <p:nvPr/>
        </p:nvSpPr>
        <p:spPr>
          <a:xfrm>
            <a:off x="4727905" y="987552"/>
            <a:ext cx="1342796" cy="841248"/>
          </a:xfrm>
          <a:prstGeom prst="rect">
            <a:avLst/>
          </a:prstGeom>
          <a:solidFill>
            <a:srgbClr val="E6CB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905"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#E6CB1C</a:t>
            </a:r>
          </a:p>
        </p:txBody>
      </p:sp>
      <p:sp>
        <p:nvSpPr>
          <p:cNvPr id="13" name="Rectangle 12"/>
          <p:cNvSpPr/>
          <p:nvPr/>
        </p:nvSpPr>
        <p:spPr>
          <a:xfrm>
            <a:off x="6120993" y="987552"/>
            <a:ext cx="1342796" cy="841248"/>
          </a:xfrm>
          <a:prstGeom prst="rect">
            <a:avLst/>
          </a:prstGeom>
          <a:solidFill>
            <a:srgbClr val="2CC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0993"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1A2230"/>
                </a:solidFill>
                <a:latin typeface="Consolas"/>
                <a:ea typeface="Consolas"/>
              </a:rPr>
              <a:t>#2CCDDB</a:t>
            </a:r>
          </a:p>
        </p:txBody>
      </p:sp>
      <p:sp>
        <p:nvSpPr>
          <p:cNvPr id="15" name="Rectangle 14"/>
          <p:cNvSpPr/>
          <p:nvPr/>
        </p:nvSpPr>
        <p:spPr>
          <a:xfrm>
            <a:off x="7514082" y="987552"/>
            <a:ext cx="1342796" cy="841248"/>
          </a:xfrm>
          <a:prstGeom prst="rect">
            <a:avLst/>
          </a:prstGeom>
          <a:solidFill>
            <a:srgbClr val="2C84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14082"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#2C84DB</a:t>
            </a:r>
          </a:p>
        </p:txBody>
      </p:sp>
      <p:sp>
        <p:nvSpPr>
          <p:cNvPr id="17" name="Rectangle 16"/>
          <p:cNvSpPr/>
          <p:nvPr/>
        </p:nvSpPr>
        <p:spPr>
          <a:xfrm>
            <a:off x="8907170" y="987552"/>
            <a:ext cx="1342796" cy="841248"/>
          </a:xfrm>
          <a:prstGeom prst="rect">
            <a:avLst/>
          </a:prstGeom>
          <a:solidFill>
            <a:srgbClr val="2C2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07170"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#2C2CDB</a:t>
            </a:r>
          </a:p>
        </p:txBody>
      </p:sp>
      <p:sp>
        <p:nvSpPr>
          <p:cNvPr id="19" name="Rectangle 18"/>
          <p:cNvSpPr/>
          <p:nvPr/>
        </p:nvSpPr>
        <p:spPr>
          <a:xfrm>
            <a:off x="10300258" y="987552"/>
            <a:ext cx="1342796" cy="841248"/>
          </a:xfrm>
          <a:prstGeom prst="rect">
            <a:avLst/>
          </a:prstGeom>
          <a:solidFill>
            <a:srgbClr val="752C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00258" y="987552"/>
            <a:ext cx="1342796" cy="841248"/>
          </a:xfrm>
          <a:prstGeom prst="rect">
            <a:avLst/>
          </a:prstGeom>
          <a:noFill/>
        </p:spPr>
        <p:txBody>
          <a:bodyPr wrap="square" anchor="ctr" lIns="0" rIns="0" tIns="0" bIns="0">
            <a:spAutoFit/>
          </a:bodyPr>
          <a:lstStyle/>
          <a:p>
            <a:pPr algn="ctr">
              <a:lnSpc>
                <a:spcPct val="110000"/>
              </a:lnSpc>
              <a:spcAft>
                <a:spcPts val="400"/>
              </a:spcAft>
            </a:pPr>
            <a:r>
              <a:rPr sz="1150" b="1" i="0">
                <a:solidFill>
                  <a:srgbClr val="FFFFFF"/>
                </a:solidFill>
                <a:latin typeface="Consolas"/>
                <a:ea typeface="Consolas"/>
              </a:rPr>
              <a:t>#752CDB</a:t>
            </a:r>
          </a:p>
        </p:txBody>
      </p:sp>
      <p:sp>
        <p:nvSpPr>
          <p:cNvPr id="21" name="TextBox 20"/>
          <p:cNvSpPr txBox="1"/>
          <p:nvPr/>
        </p:nvSpPr>
        <p:spPr>
          <a:xfrm>
            <a:off x="548640" y="1920240"/>
            <a:ext cx="11094415" cy="274320"/>
          </a:xfrm>
          <a:prstGeom prst="rect">
            <a:avLst/>
          </a:prstGeom>
          <a:noFill/>
        </p:spPr>
        <p:txBody>
          <a:bodyPr wrap="square" anchor="t" lIns="0" rIns="0" tIns="0" bIns="0">
            <a:spAutoFit/>
          </a:bodyPr>
          <a:lstStyle/>
          <a:p>
            <a:pPr algn="ctr">
              <a:lnSpc>
                <a:spcPct val="110000"/>
              </a:lnSpc>
              <a:spcAft>
                <a:spcPts val="400"/>
              </a:spcAft>
            </a:pPr>
            <a:r>
              <a:rPr sz="1350" b="0" i="0">
                <a:solidFill>
                  <a:srgbClr val="4A5568"/>
                </a:solidFill>
                <a:latin typeface="Calibri"/>
                <a:ea typeface="Calibri"/>
              </a:rPr>
              <a:t>The wheel cut in half: warm runs red to yellow, cool runs green to violet.</a:t>
            </a:r>
          </a:p>
        </p:txBody>
      </p:sp>
      <p:sp>
        <p:nvSpPr>
          <p:cNvPr id="22" name="TextBox 21"/>
          <p:cNvSpPr txBox="1"/>
          <p:nvPr/>
        </p:nvSpPr>
        <p:spPr>
          <a:xfrm>
            <a:off x="3858768" y="2395728"/>
            <a:ext cx="7784287" cy="3968496"/>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The wheel in two halves</a:t>
            </a:r>
            <a:br/>
            <a:r>
              <a:rPr sz="1400" b="0" i="0">
                <a:solidFill>
                  <a:srgbClr val="4A5568"/>
                </a:solidFill>
                <a:latin typeface="Calibri"/>
                <a:ea typeface="Calibri"/>
              </a:rPr>
              <a:t>Warm runs red through to yellow; cool runs green through to violet.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Warm advances, cool recedes</a:t>
            </a:r>
            <a:br/>
            <a:r>
              <a:rPr sz="1400" b="0" i="0">
                <a:solidFill>
                  <a:srgbClr val="4A5568"/>
                </a:solidFill>
                <a:latin typeface="Calibri"/>
                <a:ea typeface="Calibri"/>
              </a:rPr>
              <a:t>Warm elements feel nearer and more active; cool ones settle back.</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Temperature is structure</a:t>
            </a:r>
            <a:br/>
            <a:r>
              <a:rPr sz="1400" b="0" i="0">
                <a:solidFill>
                  <a:srgbClr val="4A5568"/>
                </a:solidFill>
                <a:latin typeface="Calibri"/>
                <a:ea typeface="Calibri"/>
              </a:rPr>
              <a:t>A cool background with a warm accent builds hierarchy without changing hue count.</a:t>
            </a:r>
          </a:p>
          <a:p>
            <a:pPr marL="274320" indent="-237744">
              <a:lnSpc>
                <a:spcPct val="112000"/>
              </a:lnSpc>
              <a:spcAft>
                <a:spcPts val="900"/>
              </a:spcAft>
              <a:buClr>
                <a:srgbClr val="1E4FA8"/>
              </a:buClr>
              <a:buSzPct val="90000"/>
              <a:buFont typeface="Arial"/>
              <a:buChar char="▪"/>
            </a:pPr>
            <a:r>
              <a:rPr sz="1650" b="1" i="0">
                <a:solidFill>
                  <a:srgbClr val="1A2230"/>
                </a:solidFill>
                <a:latin typeface="Calibri"/>
                <a:ea typeface="Calibri"/>
              </a:rPr>
              <a:t>Reach for it when</a:t>
            </a:r>
            <a:br/>
            <a:r>
              <a:rPr sz="1400" b="0" i="0">
                <a:solidFill>
                  <a:srgbClr val="4A5568"/>
                </a:solidFill>
                <a:latin typeface="Calibri"/>
                <a:ea typeface="Calibri"/>
              </a:rPr>
              <a:t>You want depth and mood more than contrast.</a:t>
            </a:r>
          </a:p>
        </p:txBody>
      </p:sp>
      <p:pic>
        <p:nvPicPr>
          <p:cNvPr id="23" name="Picture 22" descr="img_ct_sch_warmcool.png"/>
          <p:cNvPicPr>
            <a:picLocks noChangeAspect="1"/>
          </p:cNvPicPr>
          <p:nvPr/>
        </p:nvPicPr>
        <p:blipFill>
          <a:blip r:embed="rId2"/>
          <a:stretch>
            <a:fillRect/>
          </a:stretch>
        </p:blipFill>
        <p:spPr>
          <a:xfrm>
            <a:off x="548640" y="3069601"/>
            <a:ext cx="2926080" cy="2620749"/>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Seven Schemes at a Glance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32688"/>
            <a:ext cx="210364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774456"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Scheme</a:t>
            </a:r>
          </a:p>
        </p:txBody>
      </p:sp>
      <p:sp>
        <p:nvSpPr>
          <p:cNvPr id="7" name="Rectangle 6"/>
          <p:cNvSpPr/>
          <p:nvPr/>
        </p:nvSpPr>
        <p:spPr>
          <a:xfrm>
            <a:off x="2652280" y="932688"/>
            <a:ext cx="237802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16872" y="932688"/>
            <a:ext cx="2048843"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Shape on the wheel</a:t>
            </a:r>
          </a:p>
        </p:txBody>
      </p:sp>
      <p:sp>
        <p:nvSpPr>
          <p:cNvPr id="9" name="Rectangle 8"/>
          <p:cNvSpPr/>
          <p:nvPr/>
        </p:nvSpPr>
        <p:spPr>
          <a:xfrm>
            <a:off x="5030308" y="932688"/>
            <a:ext cx="256095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94900" y="932688"/>
            <a:ext cx="2231769"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Character</a:t>
            </a:r>
          </a:p>
        </p:txBody>
      </p:sp>
      <p:sp>
        <p:nvSpPr>
          <p:cNvPr id="11" name="Rectangle 10"/>
          <p:cNvSpPr/>
          <p:nvPr/>
        </p:nvSpPr>
        <p:spPr>
          <a:xfrm>
            <a:off x="7591261" y="932688"/>
            <a:ext cx="405179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55853" y="932688"/>
            <a:ext cx="3722609"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Reach for it when</a:t>
            </a:r>
          </a:p>
        </p:txBody>
      </p:sp>
      <p:sp>
        <p:nvSpPr>
          <p:cNvPr id="13" name="Rectangle 12"/>
          <p:cNvSpPr/>
          <p:nvPr/>
        </p:nvSpPr>
        <p:spPr>
          <a:xfrm>
            <a:off x="548640" y="1444752"/>
            <a:ext cx="21036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44752"/>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Monochromatic</a:t>
            </a:r>
          </a:p>
        </p:txBody>
      </p:sp>
      <p:sp>
        <p:nvSpPr>
          <p:cNvPr id="15" name="Rectangle 14"/>
          <p:cNvSpPr/>
          <p:nvPr/>
        </p:nvSpPr>
        <p:spPr>
          <a:xfrm>
            <a:off x="2652280" y="1444752"/>
            <a:ext cx="23780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16872" y="1444752"/>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One point, varied</a:t>
            </a:r>
          </a:p>
        </p:txBody>
      </p:sp>
      <p:sp>
        <p:nvSpPr>
          <p:cNvPr id="17" name="Rectangle 16"/>
          <p:cNvSpPr/>
          <p:nvPr/>
        </p:nvSpPr>
        <p:spPr>
          <a:xfrm>
            <a:off x="5030308" y="1444752"/>
            <a:ext cx="256095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94900" y="1444752"/>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Calm, coherent</a:t>
            </a:r>
          </a:p>
        </p:txBody>
      </p:sp>
      <p:sp>
        <p:nvSpPr>
          <p:cNvPr id="19" name="Rectangle 18"/>
          <p:cNvSpPr/>
          <p:nvPr/>
        </p:nvSpPr>
        <p:spPr>
          <a:xfrm>
            <a:off x="7591261" y="1444752"/>
            <a:ext cx="405179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55853" y="1444752"/>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Restrained or corporate look</a:t>
            </a:r>
          </a:p>
        </p:txBody>
      </p:sp>
      <p:sp>
        <p:nvSpPr>
          <p:cNvPr id="21" name="Rectangle 20"/>
          <p:cNvSpPr/>
          <p:nvPr/>
        </p:nvSpPr>
        <p:spPr>
          <a:xfrm>
            <a:off x="548640" y="2011680"/>
            <a:ext cx="210364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011680"/>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Complementary</a:t>
            </a:r>
          </a:p>
        </p:txBody>
      </p:sp>
      <p:sp>
        <p:nvSpPr>
          <p:cNvPr id="23" name="Rectangle 22"/>
          <p:cNvSpPr/>
          <p:nvPr/>
        </p:nvSpPr>
        <p:spPr>
          <a:xfrm>
            <a:off x="2652280" y="2011680"/>
            <a:ext cx="23780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16872" y="2011680"/>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Two, 180° apart</a:t>
            </a:r>
          </a:p>
        </p:txBody>
      </p:sp>
      <p:sp>
        <p:nvSpPr>
          <p:cNvPr id="25" name="Rectangle 24"/>
          <p:cNvSpPr/>
          <p:nvPr/>
        </p:nvSpPr>
        <p:spPr>
          <a:xfrm>
            <a:off x="5030308" y="2011680"/>
            <a:ext cx="256095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94900" y="2011680"/>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Maximum contrast</a:t>
            </a:r>
          </a:p>
        </p:txBody>
      </p:sp>
      <p:sp>
        <p:nvSpPr>
          <p:cNvPr id="27" name="Rectangle 26"/>
          <p:cNvSpPr/>
          <p:nvPr/>
        </p:nvSpPr>
        <p:spPr>
          <a:xfrm>
            <a:off x="7591261" y="2011680"/>
            <a:ext cx="405179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55853" y="2011680"/>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One element must dominate</a:t>
            </a:r>
          </a:p>
        </p:txBody>
      </p:sp>
      <p:sp>
        <p:nvSpPr>
          <p:cNvPr id="29" name="Rectangle 28"/>
          <p:cNvSpPr/>
          <p:nvPr/>
        </p:nvSpPr>
        <p:spPr>
          <a:xfrm>
            <a:off x="548640" y="2578608"/>
            <a:ext cx="21036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578608"/>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Analogous</a:t>
            </a:r>
          </a:p>
        </p:txBody>
      </p:sp>
      <p:sp>
        <p:nvSpPr>
          <p:cNvPr id="31" name="Rectangle 30"/>
          <p:cNvSpPr/>
          <p:nvPr/>
        </p:nvSpPr>
        <p:spPr>
          <a:xfrm>
            <a:off x="2652280" y="2578608"/>
            <a:ext cx="23780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16872" y="2578608"/>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Neighbours</a:t>
            </a:r>
          </a:p>
        </p:txBody>
      </p:sp>
      <p:sp>
        <p:nvSpPr>
          <p:cNvPr id="33" name="Rectangle 32"/>
          <p:cNvSpPr/>
          <p:nvPr/>
        </p:nvSpPr>
        <p:spPr>
          <a:xfrm>
            <a:off x="5030308" y="2578608"/>
            <a:ext cx="256095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4900" y="2578608"/>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Harmonious, natural</a:t>
            </a:r>
          </a:p>
        </p:txBody>
      </p:sp>
      <p:sp>
        <p:nvSpPr>
          <p:cNvPr id="35" name="Rectangle 34"/>
          <p:cNvSpPr/>
          <p:nvPr/>
        </p:nvSpPr>
        <p:spPr>
          <a:xfrm>
            <a:off x="7591261" y="2578608"/>
            <a:ext cx="405179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55853" y="2578608"/>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Calm cohesion, low risk</a:t>
            </a:r>
          </a:p>
        </p:txBody>
      </p:sp>
      <p:sp>
        <p:nvSpPr>
          <p:cNvPr id="37" name="Rectangle 36"/>
          <p:cNvSpPr/>
          <p:nvPr/>
        </p:nvSpPr>
        <p:spPr>
          <a:xfrm>
            <a:off x="548640" y="3145536"/>
            <a:ext cx="210364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3145536"/>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Triadic</a:t>
            </a:r>
          </a:p>
        </p:txBody>
      </p:sp>
      <p:sp>
        <p:nvSpPr>
          <p:cNvPr id="39" name="Rectangle 38"/>
          <p:cNvSpPr/>
          <p:nvPr/>
        </p:nvSpPr>
        <p:spPr>
          <a:xfrm>
            <a:off x="2652280" y="3145536"/>
            <a:ext cx="23780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16872" y="3145536"/>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Three at 120°</a:t>
            </a:r>
          </a:p>
        </p:txBody>
      </p:sp>
      <p:sp>
        <p:nvSpPr>
          <p:cNvPr id="41" name="Rectangle 40"/>
          <p:cNvSpPr/>
          <p:nvPr/>
        </p:nvSpPr>
        <p:spPr>
          <a:xfrm>
            <a:off x="5030308" y="3145536"/>
            <a:ext cx="256095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900" y="3145536"/>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Bold, balanced</a:t>
            </a:r>
          </a:p>
        </p:txBody>
      </p:sp>
      <p:sp>
        <p:nvSpPr>
          <p:cNvPr id="43" name="Rectangle 42"/>
          <p:cNvSpPr/>
          <p:nvPr/>
        </p:nvSpPr>
        <p:spPr>
          <a:xfrm>
            <a:off x="7591261" y="3145536"/>
            <a:ext cx="405179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55853" y="3145536"/>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Vivid and playful</a:t>
            </a:r>
          </a:p>
        </p:txBody>
      </p:sp>
      <p:sp>
        <p:nvSpPr>
          <p:cNvPr id="45" name="Rectangle 44"/>
          <p:cNvSpPr/>
          <p:nvPr/>
        </p:nvSpPr>
        <p:spPr>
          <a:xfrm>
            <a:off x="548640" y="3712464"/>
            <a:ext cx="21036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3712464"/>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Split-complementary</a:t>
            </a:r>
          </a:p>
        </p:txBody>
      </p:sp>
      <p:sp>
        <p:nvSpPr>
          <p:cNvPr id="47" name="Rectangle 46"/>
          <p:cNvSpPr/>
          <p:nvPr/>
        </p:nvSpPr>
        <p:spPr>
          <a:xfrm>
            <a:off x="2652280" y="3712464"/>
            <a:ext cx="23780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16872" y="3712464"/>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One + two flanking</a:t>
            </a:r>
          </a:p>
        </p:txBody>
      </p:sp>
      <p:sp>
        <p:nvSpPr>
          <p:cNvPr id="49" name="Rectangle 48"/>
          <p:cNvSpPr/>
          <p:nvPr/>
        </p:nvSpPr>
        <p:spPr>
          <a:xfrm>
            <a:off x="5030308" y="3712464"/>
            <a:ext cx="256095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94900" y="3712464"/>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Strong but softer</a:t>
            </a:r>
          </a:p>
        </p:txBody>
      </p:sp>
      <p:sp>
        <p:nvSpPr>
          <p:cNvPr id="51" name="Rectangle 50"/>
          <p:cNvSpPr/>
          <p:nvPr/>
        </p:nvSpPr>
        <p:spPr>
          <a:xfrm>
            <a:off x="7591261" y="3712464"/>
            <a:ext cx="405179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55853" y="3712464"/>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Punch without the clash</a:t>
            </a:r>
          </a:p>
        </p:txBody>
      </p:sp>
      <p:sp>
        <p:nvSpPr>
          <p:cNvPr id="53" name="Rectangle 52"/>
          <p:cNvSpPr/>
          <p:nvPr/>
        </p:nvSpPr>
        <p:spPr>
          <a:xfrm>
            <a:off x="548640" y="4279392"/>
            <a:ext cx="210364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3232" y="4279392"/>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Tetradic</a:t>
            </a:r>
          </a:p>
        </p:txBody>
      </p:sp>
      <p:sp>
        <p:nvSpPr>
          <p:cNvPr id="55" name="Rectangle 54"/>
          <p:cNvSpPr/>
          <p:nvPr/>
        </p:nvSpPr>
        <p:spPr>
          <a:xfrm>
            <a:off x="2652280" y="4279392"/>
            <a:ext cx="237802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16872" y="4279392"/>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Rectangle</a:t>
            </a:r>
          </a:p>
        </p:txBody>
      </p:sp>
      <p:sp>
        <p:nvSpPr>
          <p:cNvPr id="57" name="Rectangle 56"/>
          <p:cNvSpPr/>
          <p:nvPr/>
        </p:nvSpPr>
        <p:spPr>
          <a:xfrm>
            <a:off x="5030308" y="4279392"/>
            <a:ext cx="256095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94900" y="4279392"/>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Rich, difficult</a:t>
            </a:r>
          </a:p>
        </p:txBody>
      </p:sp>
      <p:sp>
        <p:nvSpPr>
          <p:cNvPr id="59" name="Rectangle 58"/>
          <p:cNvSpPr/>
          <p:nvPr/>
        </p:nvSpPr>
        <p:spPr>
          <a:xfrm>
            <a:off x="7591261" y="4279392"/>
            <a:ext cx="405179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755853" y="4279392"/>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Illustration or playful brand</a:t>
            </a:r>
          </a:p>
        </p:txBody>
      </p:sp>
      <p:sp>
        <p:nvSpPr>
          <p:cNvPr id="61" name="Rectangle 60"/>
          <p:cNvSpPr/>
          <p:nvPr/>
        </p:nvSpPr>
        <p:spPr>
          <a:xfrm>
            <a:off x="548640" y="4846320"/>
            <a:ext cx="21036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3232" y="4846320"/>
            <a:ext cx="177445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Warm / Cool</a:t>
            </a:r>
          </a:p>
        </p:txBody>
      </p:sp>
      <p:sp>
        <p:nvSpPr>
          <p:cNvPr id="63" name="Rectangle 62"/>
          <p:cNvSpPr/>
          <p:nvPr/>
        </p:nvSpPr>
        <p:spPr>
          <a:xfrm>
            <a:off x="2652280" y="4846320"/>
            <a:ext cx="237802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16872" y="4846320"/>
            <a:ext cx="204884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Half the wheel</a:t>
            </a:r>
          </a:p>
        </p:txBody>
      </p:sp>
      <p:sp>
        <p:nvSpPr>
          <p:cNvPr id="65" name="Rectangle 64"/>
          <p:cNvSpPr/>
          <p:nvPr/>
        </p:nvSpPr>
        <p:spPr>
          <a:xfrm>
            <a:off x="5030308" y="4846320"/>
            <a:ext cx="256095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94900" y="4846320"/>
            <a:ext cx="223176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Depth and mood</a:t>
            </a:r>
          </a:p>
        </p:txBody>
      </p:sp>
      <p:sp>
        <p:nvSpPr>
          <p:cNvPr id="67" name="Rectangle 66"/>
          <p:cNvSpPr/>
          <p:nvPr/>
        </p:nvSpPr>
        <p:spPr>
          <a:xfrm>
            <a:off x="7591261" y="4846320"/>
            <a:ext cx="405179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55853" y="4846320"/>
            <a:ext cx="3722609"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Structure from temperature</a:t>
            </a:r>
          </a:p>
        </p:txBody>
      </p:sp>
      <p:sp>
        <p:nvSpPr>
          <p:cNvPr id="69" name="Rounded Rectangle 68"/>
          <p:cNvSpPr/>
          <p:nvPr/>
        </p:nvSpPr>
        <p:spPr>
          <a:xfrm>
            <a:off x="548640" y="5596128"/>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68680" y="5687568"/>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None of these is a rule — they are starting points you then adjust.</a:t>
            </a:r>
          </a:p>
        </p:txBody>
      </p:sp>
      <p:sp>
        <p:nvSpPr>
          <p:cNvPr id="71" name="TextBox 70"/>
          <p:cNvSpPr txBox="1"/>
          <p:nvPr/>
        </p:nvSpPr>
        <p:spPr>
          <a:xfrm>
            <a:off x="868680" y="6071616"/>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all seven in CSS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editor.html?example=css-styling/color-schemes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05</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Using Colour Well</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Contrast is a number, not an opinion</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Why colour alone is never enough</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mistakes that cost you marks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Contrast — a Number, Not an Opinion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4370832" cy="4599432"/>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700" b="1" i="0">
                <a:solidFill>
                  <a:srgbClr val="B8860B"/>
                </a:solidFill>
                <a:latin typeface="Calibri"/>
                <a:ea typeface="Calibri"/>
              </a:rPr>
              <a:t>What the ratio measures</a:t>
            </a:r>
            <a:br/>
            <a:r>
              <a:rPr sz="1350" b="0" i="0">
                <a:solidFill>
                  <a:srgbClr val="4A5568"/>
                </a:solidFill>
                <a:latin typeface="Calibri"/>
                <a:ea typeface="Calibri"/>
              </a:rPr>
              <a:t>Relative luminance of the lighter colour divided by the darker one — a computed number, not a judgement.</a:t>
            </a:r>
          </a:p>
          <a:p>
            <a:pPr marL="256032" indent="-237744">
              <a:lnSpc>
                <a:spcPct val="112000"/>
              </a:lnSpc>
              <a:spcAft>
                <a:spcPts val="1000"/>
              </a:spcAft>
              <a:buClr>
                <a:srgbClr val="1E4FA8"/>
              </a:buClr>
              <a:buSzPct val="90000"/>
              <a:buFont typeface="Arial"/>
              <a:buChar char="▪"/>
            </a:pPr>
            <a:r>
              <a:rPr sz="1700" b="1" i="0">
                <a:solidFill>
                  <a:srgbClr val="B8860B"/>
                </a:solidFill>
                <a:latin typeface="Calibri"/>
                <a:ea typeface="Calibri"/>
              </a:rPr>
              <a:t>The formula</a:t>
            </a:r>
            <a:br/>
            <a:r>
              <a:rPr sz="1350" b="0" i="0">
                <a:solidFill>
                  <a:srgbClr val="4A5568"/>
                </a:solidFill>
                <a:latin typeface="Calibri"/>
                <a:ea typeface="Calibri"/>
              </a:rPr>
              <a:t>(L1 + 0.05) / (L2 + 0.05), where L runs from 0 for black to 1 for white, and the +0.05 keeps the dark end finite.</a:t>
            </a:r>
          </a:p>
          <a:p>
            <a:pPr marL="256032" indent="-237744">
              <a:lnSpc>
                <a:spcPct val="112000"/>
              </a:lnSpc>
              <a:spcAft>
                <a:spcPts val="1000"/>
              </a:spcAft>
              <a:buClr>
                <a:srgbClr val="1E4FA8"/>
              </a:buClr>
              <a:buSzPct val="90000"/>
              <a:buFont typeface="Arial"/>
              <a:buChar char="▪"/>
            </a:pPr>
            <a:r>
              <a:rPr sz="1700" b="1" i="0">
                <a:solidFill>
                  <a:srgbClr val="B8860B"/>
                </a:solidFill>
                <a:latin typeface="Calibri"/>
                <a:ea typeface="Calibri"/>
              </a:rPr>
              <a:t>The two ends</a:t>
            </a:r>
            <a:br/>
            <a:r>
              <a:rPr sz="1350" b="0" i="0">
                <a:solidFill>
                  <a:srgbClr val="4A5568"/>
                </a:solidFill>
                <a:latin typeface="Calibri"/>
                <a:ea typeface="Calibri"/>
              </a:rPr>
              <a:t>1:1 is a colour against itself: no contrast at all. 21:1 is pure black on pure white, the most the scale allows.</a:t>
            </a:r>
          </a:p>
          <a:p>
            <a:pPr marL="256032" indent="-237744">
              <a:lnSpc>
                <a:spcPct val="112000"/>
              </a:lnSpc>
              <a:spcAft>
                <a:spcPts val="1000"/>
              </a:spcAft>
              <a:buClr>
                <a:srgbClr val="1E4FA8"/>
              </a:buClr>
              <a:buSzPct val="90000"/>
              <a:buFont typeface="Arial"/>
              <a:buChar char="▪"/>
            </a:pPr>
            <a:r>
              <a:rPr sz="1700" b="1" i="0">
                <a:solidFill>
                  <a:srgbClr val="B8860B"/>
                </a:solidFill>
                <a:latin typeface="Calibri"/>
                <a:ea typeface="Calibri"/>
              </a:rPr>
              <a:t>Even our own greys fail</a:t>
            </a:r>
            <a:br/>
            <a:r>
              <a:rPr sz="1350" b="0" i="0">
                <a:solidFill>
                  <a:srgbClr val="4A5568"/>
                </a:solidFill>
                <a:latin typeface="Calibri"/>
                <a:ea typeface="Calibri"/>
              </a:rPr>
              <a:t>The footer grey measures 2.96:1 on white — below every level on the scale, including large text.</a:t>
            </a:r>
          </a:p>
          <a:p>
            <a:pPr marL="256032" indent="-237744">
              <a:lnSpc>
                <a:spcPct val="112000"/>
              </a:lnSpc>
              <a:spcAft>
                <a:spcPts val="1000"/>
              </a:spcAft>
              <a:buClr>
                <a:srgbClr val="1E4FA8"/>
              </a:buClr>
              <a:buSzPct val="90000"/>
              <a:buFont typeface="Arial"/>
              <a:buChar char="▪"/>
            </a:pPr>
            <a:r>
              <a:rPr sz="1700" b="1" i="0">
                <a:solidFill>
                  <a:srgbClr val="B8860B"/>
                </a:solidFill>
                <a:latin typeface="Calibri"/>
                <a:ea typeface="Calibri"/>
              </a:rPr>
              <a:t>Check it, never guess</a:t>
            </a:r>
            <a:br/>
            <a:r>
              <a:rPr sz="1350" b="0" i="0">
                <a:solidFill>
                  <a:srgbClr val="4A5568"/>
                </a:solidFill>
                <a:latin typeface="Calibri"/>
                <a:ea typeface="Calibri"/>
              </a:rPr>
              <a:t>DevTools prints the ratio on any colour swatch and flags a failure.</a:t>
            </a:r>
          </a:p>
        </p:txBody>
      </p:sp>
      <p:sp>
        <p:nvSpPr>
          <p:cNvPr id="6" name="Rounded Rectangle 5"/>
          <p:cNvSpPr/>
          <p:nvPr/>
        </p:nvSpPr>
        <p:spPr>
          <a:xfrm>
            <a:off x="5394960" y="932688"/>
            <a:ext cx="624809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05856" y="1115568"/>
            <a:ext cx="5626303" cy="274320"/>
          </a:xfrm>
          <a:prstGeom prst="rect">
            <a:avLst/>
          </a:prstGeom>
          <a:noFill/>
        </p:spPr>
        <p:txBody>
          <a:bodyPr wrap="square" anchor="t" lIns="0" rIns="0" tIns="0" bIns="0">
            <a:spAutoFit/>
          </a:bodyPr>
          <a:lstStyle/>
          <a:p>
            <a:pPr algn="l">
              <a:lnSpc>
                <a:spcPct val="110000"/>
              </a:lnSpc>
              <a:spcAft>
                <a:spcPts val="400"/>
              </a:spcAft>
            </a:pPr>
            <a:r>
              <a:rPr sz="1150" b="1" i="0">
                <a:solidFill>
                  <a:srgbClr val="1E4FA8"/>
                </a:solidFill>
                <a:latin typeface="Calibri"/>
                <a:ea typeface="Calibri"/>
              </a:rPr>
              <a:t>THE SCALE  </a:t>
            </a:r>
            <a:r>
              <a:rPr sz="1100" b="0" i="0">
                <a:solidFill>
                  <a:srgbClr val="4A5568"/>
                </a:solidFill>
                <a:latin typeface="Calibri"/>
                <a:ea typeface="Calibri"/>
              </a:rPr>
              <a:t>— our own colour pairs, placed by measured ratio</a:t>
            </a:r>
          </a:p>
        </p:txBody>
      </p:sp>
      <p:sp>
        <p:nvSpPr>
          <p:cNvPr id="8" name="Rectangle 7"/>
          <p:cNvSpPr/>
          <p:nvPr/>
        </p:nvSpPr>
        <p:spPr>
          <a:xfrm>
            <a:off x="5724144"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05856" y="1700784"/>
            <a:ext cx="5626303" cy="809244"/>
          </a:xfrm>
          <a:prstGeom prst="roundRect">
            <a:avLst>
              <a:gd name="adj" fmla="val 1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70448" y="1895093"/>
            <a:ext cx="1170432" cy="420624"/>
          </a:xfrm>
          <a:prstGeom prst="roundRect">
            <a:avLst>
              <a:gd name="adj" fmla="val 24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70448" y="1700784"/>
            <a:ext cx="1170432" cy="809244"/>
          </a:xfrm>
          <a:prstGeom prst="rect">
            <a:avLst/>
          </a:prstGeom>
          <a:noFill/>
        </p:spPr>
        <p:txBody>
          <a:bodyPr wrap="square" anchor="ctr" lIns="0" rIns="0" tIns="0" bIns="0">
            <a:spAutoFit/>
          </a:bodyPr>
          <a:lstStyle/>
          <a:p>
            <a:pPr algn="ctr">
              <a:lnSpc>
                <a:spcPct val="110000"/>
              </a:lnSpc>
              <a:spcAft>
                <a:spcPts val="0"/>
              </a:spcAft>
            </a:pPr>
            <a:r>
              <a:rPr sz="1150" b="1" i="0">
                <a:solidFill>
                  <a:srgbClr val="0E3F8C"/>
                </a:solidFill>
                <a:latin typeface="Consolas"/>
                <a:ea typeface="Consolas"/>
              </a:rPr>
              <a:t>7:1 – 21:1</a:t>
            </a:r>
          </a:p>
        </p:txBody>
      </p:sp>
      <p:sp>
        <p:nvSpPr>
          <p:cNvPr id="12" name="TextBox 11"/>
          <p:cNvSpPr txBox="1"/>
          <p:nvPr/>
        </p:nvSpPr>
        <p:spPr>
          <a:xfrm>
            <a:off x="7187184" y="1700784"/>
            <a:ext cx="1591056" cy="809244"/>
          </a:xfrm>
          <a:prstGeom prst="rect">
            <a:avLst/>
          </a:prstGeom>
          <a:noFill/>
        </p:spPr>
        <p:txBody>
          <a:bodyPr wrap="square" anchor="ctr" lIns="0" rIns="0" tIns="0" bIns="0">
            <a:spAutoFit/>
          </a:bodyPr>
          <a:lstStyle/>
          <a:p>
            <a:pPr algn="l">
              <a:lnSpc>
                <a:spcPct val="100000"/>
              </a:lnSpc>
              <a:spcAft>
                <a:spcPts val="100"/>
              </a:spcAft>
            </a:pPr>
            <a:r>
              <a:rPr sz="1200" b="1" i="0">
                <a:solidFill>
                  <a:srgbClr val="0E3F8C"/>
                </a:solidFill>
                <a:latin typeface="Calibri"/>
                <a:ea typeface="Calibri"/>
              </a:rPr>
              <a:t>AAA</a:t>
            </a:r>
          </a:p>
          <a:p>
            <a:pPr algn="l">
              <a:lnSpc>
                <a:spcPct val="100000"/>
              </a:lnSpc>
              <a:spcAft>
                <a:spcPts val="100"/>
              </a:spcAft>
            </a:pPr>
            <a:r>
              <a:rPr sz="1000" b="0" i="0">
                <a:solidFill>
                  <a:srgbClr val="4A5568"/>
                </a:solidFill>
                <a:latin typeface="Calibri"/>
                <a:ea typeface="Calibri"/>
              </a:rPr>
              <a:t>enhanced contrast</a:t>
            </a:r>
          </a:p>
        </p:txBody>
      </p:sp>
      <p:sp>
        <p:nvSpPr>
          <p:cNvPr id="13" name="Rounded Rectangle 12"/>
          <p:cNvSpPr/>
          <p:nvPr/>
        </p:nvSpPr>
        <p:spPr>
          <a:xfrm>
            <a:off x="8951976" y="1831086"/>
            <a:ext cx="1097280" cy="548640"/>
          </a:xfrm>
          <a:prstGeom prst="roundRect">
            <a:avLst>
              <a:gd name="adj" fmla="val 14000"/>
            </a:avLst>
          </a:prstGeom>
          <a:solidFill>
            <a:srgbClr val="0E3F8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51976" y="1831086"/>
            <a:ext cx="1097280" cy="548640"/>
          </a:xfrm>
          <a:prstGeom prst="rect">
            <a:avLst/>
          </a:prstGeom>
          <a:noFill/>
        </p:spPr>
        <p:txBody>
          <a:bodyPr wrap="square" anchor="ctr" lIns="0" rIns="0" tIns="0" bIns="0">
            <a:spAutoFit/>
          </a:bodyPr>
          <a:lstStyle/>
          <a:p>
            <a:pPr algn="ctr">
              <a:lnSpc>
                <a:spcPct val="100000"/>
              </a:lnSpc>
              <a:spcAft>
                <a:spcPts val="0"/>
              </a:spcAft>
            </a:pPr>
            <a:r>
              <a:rPr sz="1300" b="1" i="0">
                <a:solidFill>
                  <a:srgbClr val="FFFFFF"/>
                </a:solidFill>
                <a:latin typeface="Calibri"/>
                <a:ea typeface="Calibri"/>
              </a:rPr>
              <a:t>Aa</a:t>
            </a:r>
          </a:p>
          <a:p>
            <a:pPr algn="ctr">
              <a:lnSpc>
                <a:spcPct val="100000"/>
              </a:lnSpc>
              <a:spcAft>
                <a:spcPts val="0"/>
              </a:spcAft>
            </a:pPr>
            <a:r>
              <a:rPr sz="950" b="0" i="0">
                <a:solidFill>
                  <a:srgbClr val="FFFFFF"/>
                </a:solidFill>
                <a:latin typeface="Calibri"/>
                <a:ea typeface="Calibri"/>
              </a:rPr>
              <a:t>9.96:1</a:t>
            </a:r>
          </a:p>
        </p:txBody>
      </p:sp>
      <p:sp>
        <p:nvSpPr>
          <p:cNvPr id="15" name="Rounded Rectangle 14"/>
          <p:cNvSpPr/>
          <p:nvPr/>
        </p:nvSpPr>
        <p:spPr>
          <a:xfrm>
            <a:off x="10168128" y="1831086"/>
            <a:ext cx="1097280" cy="548640"/>
          </a:xfrm>
          <a:prstGeom prst="roundRect">
            <a:avLst>
              <a:gd name="adj" fmla="val 14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68128" y="1831086"/>
            <a:ext cx="1097280" cy="548640"/>
          </a:xfrm>
          <a:prstGeom prst="rect">
            <a:avLst/>
          </a:prstGeom>
          <a:noFill/>
        </p:spPr>
        <p:txBody>
          <a:bodyPr wrap="square" anchor="ctr" lIns="0" rIns="0" tIns="0" bIns="0">
            <a:spAutoFit/>
          </a:bodyPr>
          <a:lstStyle/>
          <a:p>
            <a:pPr algn="ctr">
              <a:lnSpc>
                <a:spcPct val="100000"/>
              </a:lnSpc>
              <a:spcAft>
                <a:spcPts val="0"/>
              </a:spcAft>
            </a:pPr>
            <a:r>
              <a:rPr sz="1300" b="1" i="0">
                <a:solidFill>
                  <a:srgbClr val="1E4FA8"/>
                </a:solidFill>
                <a:latin typeface="Calibri"/>
                <a:ea typeface="Calibri"/>
              </a:rPr>
              <a:t>Aa</a:t>
            </a:r>
          </a:p>
          <a:p>
            <a:pPr algn="ctr">
              <a:lnSpc>
                <a:spcPct val="100000"/>
              </a:lnSpc>
              <a:spcAft>
                <a:spcPts val="0"/>
              </a:spcAft>
            </a:pPr>
            <a:r>
              <a:rPr sz="950" b="0" i="0">
                <a:solidFill>
                  <a:srgbClr val="1E4FA8"/>
                </a:solidFill>
                <a:latin typeface="Calibri"/>
                <a:ea typeface="Calibri"/>
              </a:rPr>
              <a:t>7.67:1</a:t>
            </a:r>
          </a:p>
        </p:txBody>
      </p:sp>
      <p:sp>
        <p:nvSpPr>
          <p:cNvPr id="17" name="Rounded Rectangle 16"/>
          <p:cNvSpPr/>
          <p:nvPr/>
        </p:nvSpPr>
        <p:spPr>
          <a:xfrm>
            <a:off x="5705856" y="2647187"/>
            <a:ext cx="5626303" cy="809244"/>
          </a:xfrm>
          <a:prstGeom prst="roundRect">
            <a:avLst>
              <a:gd name="adj" fmla="val 1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70448" y="2841497"/>
            <a:ext cx="1170432" cy="420624"/>
          </a:xfrm>
          <a:prstGeom prst="roundRect">
            <a:avLst>
              <a:gd name="adj" fmla="val 24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70448" y="2647187"/>
            <a:ext cx="1170432" cy="809244"/>
          </a:xfrm>
          <a:prstGeom prst="rect">
            <a:avLst/>
          </a:prstGeom>
          <a:noFill/>
        </p:spPr>
        <p:txBody>
          <a:bodyPr wrap="square" anchor="ctr" lIns="0" rIns="0" tIns="0" bIns="0">
            <a:spAutoFit/>
          </a:bodyPr>
          <a:lstStyle/>
          <a:p>
            <a:pPr algn="ctr">
              <a:lnSpc>
                <a:spcPct val="110000"/>
              </a:lnSpc>
              <a:spcAft>
                <a:spcPts val="0"/>
              </a:spcAft>
            </a:pPr>
            <a:r>
              <a:rPr sz="1150" b="1" i="0">
                <a:solidFill>
                  <a:srgbClr val="0E3F8C"/>
                </a:solidFill>
                <a:latin typeface="Consolas"/>
                <a:ea typeface="Consolas"/>
              </a:rPr>
              <a:t>4.5:1 – 7:1</a:t>
            </a:r>
          </a:p>
        </p:txBody>
      </p:sp>
      <p:sp>
        <p:nvSpPr>
          <p:cNvPr id="20" name="TextBox 19"/>
          <p:cNvSpPr txBox="1"/>
          <p:nvPr/>
        </p:nvSpPr>
        <p:spPr>
          <a:xfrm>
            <a:off x="7187184" y="2647187"/>
            <a:ext cx="1591056" cy="809244"/>
          </a:xfrm>
          <a:prstGeom prst="rect">
            <a:avLst/>
          </a:prstGeom>
          <a:noFill/>
        </p:spPr>
        <p:txBody>
          <a:bodyPr wrap="square" anchor="ctr" lIns="0" rIns="0" tIns="0" bIns="0">
            <a:spAutoFit/>
          </a:bodyPr>
          <a:lstStyle/>
          <a:p>
            <a:pPr algn="l">
              <a:lnSpc>
                <a:spcPct val="100000"/>
              </a:lnSpc>
              <a:spcAft>
                <a:spcPts val="100"/>
              </a:spcAft>
            </a:pPr>
            <a:r>
              <a:rPr sz="1200" b="1" i="0">
                <a:solidFill>
                  <a:srgbClr val="0E3F8C"/>
                </a:solidFill>
                <a:latin typeface="Calibri"/>
                <a:ea typeface="Calibri"/>
              </a:rPr>
              <a:t>AA</a:t>
            </a:r>
          </a:p>
          <a:p>
            <a:pPr algn="l">
              <a:lnSpc>
                <a:spcPct val="100000"/>
              </a:lnSpc>
              <a:spcAft>
                <a:spcPts val="100"/>
              </a:spcAft>
            </a:pPr>
            <a:r>
              <a:rPr sz="1000" b="0" i="0">
                <a:solidFill>
                  <a:srgbClr val="4A5568"/>
                </a:solidFill>
                <a:latin typeface="Calibri"/>
                <a:ea typeface="Calibri"/>
              </a:rPr>
              <a:t>normal body text</a:t>
            </a:r>
          </a:p>
        </p:txBody>
      </p:sp>
      <p:sp>
        <p:nvSpPr>
          <p:cNvPr id="21" name="Rounded Rectangle 20"/>
          <p:cNvSpPr/>
          <p:nvPr/>
        </p:nvSpPr>
        <p:spPr>
          <a:xfrm>
            <a:off x="5705856" y="3593591"/>
            <a:ext cx="5626303" cy="809244"/>
          </a:xfrm>
          <a:prstGeom prst="roundRect">
            <a:avLst>
              <a:gd name="adj" fmla="val 1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870448" y="3787902"/>
            <a:ext cx="1170432" cy="420624"/>
          </a:xfrm>
          <a:prstGeom prst="roundRect">
            <a:avLst>
              <a:gd name="adj" fmla="val 24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70448" y="3593591"/>
            <a:ext cx="1170432" cy="809244"/>
          </a:xfrm>
          <a:prstGeom prst="rect">
            <a:avLst/>
          </a:prstGeom>
          <a:noFill/>
        </p:spPr>
        <p:txBody>
          <a:bodyPr wrap="square" anchor="ctr" lIns="0" rIns="0" tIns="0" bIns="0">
            <a:spAutoFit/>
          </a:bodyPr>
          <a:lstStyle/>
          <a:p>
            <a:pPr algn="ctr">
              <a:lnSpc>
                <a:spcPct val="110000"/>
              </a:lnSpc>
              <a:spcAft>
                <a:spcPts val="0"/>
              </a:spcAft>
            </a:pPr>
            <a:r>
              <a:rPr sz="1150" b="1" i="0">
                <a:solidFill>
                  <a:srgbClr val="0E3F8C"/>
                </a:solidFill>
                <a:latin typeface="Consolas"/>
                <a:ea typeface="Consolas"/>
              </a:rPr>
              <a:t>3:1 – 4.5:1</a:t>
            </a:r>
          </a:p>
        </p:txBody>
      </p:sp>
      <p:sp>
        <p:nvSpPr>
          <p:cNvPr id="24" name="TextBox 23"/>
          <p:cNvSpPr txBox="1"/>
          <p:nvPr/>
        </p:nvSpPr>
        <p:spPr>
          <a:xfrm>
            <a:off x="7187184" y="3593591"/>
            <a:ext cx="1591056" cy="809244"/>
          </a:xfrm>
          <a:prstGeom prst="rect">
            <a:avLst/>
          </a:prstGeom>
          <a:noFill/>
        </p:spPr>
        <p:txBody>
          <a:bodyPr wrap="square" anchor="ctr" lIns="0" rIns="0" tIns="0" bIns="0">
            <a:spAutoFit/>
          </a:bodyPr>
          <a:lstStyle/>
          <a:p>
            <a:pPr algn="l">
              <a:lnSpc>
                <a:spcPct val="100000"/>
              </a:lnSpc>
              <a:spcAft>
                <a:spcPts val="100"/>
              </a:spcAft>
            </a:pPr>
            <a:r>
              <a:rPr sz="1200" b="1" i="0">
                <a:solidFill>
                  <a:srgbClr val="0E3F8C"/>
                </a:solidFill>
                <a:latin typeface="Calibri"/>
                <a:ea typeface="Calibri"/>
              </a:rPr>
              <a:t>AA</a:t>
            </a:r>
          </a:p>
          <a:p>
            <a:pPr algn="l">
              <a:lnSpc>
                <a:spcPct val="100000"/>
              </a:lnSpc>
              <a:spcAft>
                <a:spcPts val="100"/>
              </a:spcAft>
            </a:pPr>
            <a:r>
              <a:rPr sz="1000" b="0" i="0">
                <a:solidFill>
                  <a:srgbClr val="4A5568"/>
                </a:solidFill>
                <a:latin typeface="Calibri"/>
                <a:ea typeface="Calibri"/>
              </a:rPr>
              <a:t>large text and UI parts</a:t>
            </a:r>
          </a:p>
        </p:txBody>
      </p:sp>
      <p:sp>
        <p:nvSpPr>
          <p:cNvPr id="25" name="Rounded Rectangle 24"/>
          <p:cNvSpPr/>
          <p:nvPr/>
        </p:nvSpPr>
        <p:spPr>
          <a:xfrm>
            <a:off x="8951976" y="3723894"/>
            <a:ext cx="1097280" cy="548640"/>
          </a:xfrm>
          <a:prstGeom prst="roundRect">
            <a:avLst>
              <a:gd name="adj" fmla="val 14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51976" y="3723894"/>
            <a:ext cx="1097280" cy="548640"/>
          </a:xfrm>
          <a:prstGeom prst="rect">
            <a:avLst/>
          </a:prstGeom>
          <a:noFill/>
        </p:spPr>
        <p:txBody>
          <a:bodyPr wrap="square" anchor="ctr" lIns="0" rIns="0" tIns="0" bIns="0">
            <a:spAutoFit/>
          </a:bodyPr>
          <a:lstStyle/>
          <a:p>
            <a:pPr algn="ctr">
              <a:lnSpc>
                <a:spcPct val="100000"/>
              </a:lnSpc>
              <a:spcAft>
                <a:spcPts val="0"/>
              </a:spcAft>
            </a:pPr>
            <a:r>
              <a:rPr sz="1300" b="1" i="0">
                <a:solidFill>
                  <a:srgbClr val="3D7BD9"/>
                </a:solidFill>
                <a:latin typeface="Calibri"/>
                <a:ea typeface="Calibri"/>
              </a:rPr>
              <a:t>Aa</a:t>
            </a:r>
          </a:p>
          <a:p>
            <a:pPr algn="ctr">
              <a:lnSpc>
                <a:spcPct val="100000"/>
              </a:lnSpc>
              <a:spcAft>
                <a:spcPts val="0"/>
              </a:spcAft>
            </a:pPr>
            <a:r>
              <a:rPr sz="950" b="0" i="0">
                <a:solidFill>
                  <a:srgbClr val="3D7BD9"/>
                </a:solidFill>
                <a:latin typeface="Calibri"/>
                <a:ea typeface="Calibri"/>
              </a:rPr>
              <a:t>4.17:1</a:t>
            </a:r>
          </a:p>
        </p:txBody>
      </p:sp>
      <p:sp>
        <p:nvSpPr>
          <p:cNvPr id="27" name="Rounded Rectangle 26"/>
          <p:cNvSpPr/>
          <p:nvPr/>
        </p:nvSpPr>
        <p:spPr>
          <a:xfrm>
            <a:off x="5705856" y="4539996"/>
            <a:ext cx="5626303" cy="809244"/>
          </a:xfrm>
          <a:prstGeom prst="roundRect">
            <a:avLst>
              <a:gd name="adj" fmla="val 1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70448" y="4734306"/>
            <a:ext cx="1170432" cy="420624"/>
          </a:xfrm>
          <a:prstGeom prst="roundRect">
            <a:avLst>
              <a:gd name="adj" fmla="val 24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70448" y="4539996"/>
            <a:ext cx="1170432" cy="809244"/>
          </a:xfrm>
          <a:prstGeom prst="rect">
            <a:avLst/>
          </a:prstGeom>
          <a:noFill/>
        </p:spPr>
        <p:txBody>
          <a:bodyPr wrap="square" anchor="ctr" lIns="0" rIns="0" tIns="0" bIns="0">
            <a:spAutoFit/>
          </a:bodyPr>
          <a:lstStyle/>
          <a:p>
            <a:pPr algn="ctr">
              <a:lnSpc>
                <a:spcPct val="110000"/>
              </a:lnSpc>
              <a:spcAft>
                <a:spcPts val="0"/>
              </a:spcAft>
            </a:pPr>
            <a:r>
              <a:rPr sz="1150" b="1" i="0">
                <a:solidFill>
                  <a:srgbClr val="0E3F8C"/>
                </a:solidFill>
                <a:latin typeface="Consolas"/>
                <a:ea typeface="Consolas"/>
              </a:rPr>
              <a:t>1:1 – 3:1</a:t>
            </a:r>
          </a:p>
        </p:txBody>
      </p:sp>
      <p:sp>
        <p:nvSpPr>
          <p:cNvPr id="30" name="TextBox 29"/>
          <p:cNvSpPr txBox="1"/>
          <p:nvPr/>
        </p:nvSpPr>
        <p:spPr>
          <a:xfrm>
            <a:off x="7187184" y="4539996"/>
            <a:ext cx="1591056" cy="809244"/>
          </a:xfrm>
          <a:prstGeom prst="rect">
            <a:avLst/>
          </a:prstGeom>
          <a:noFill/>
        </p:spPr>
        <p:txBody>
          <a:bodyPr wrap="square" anchor="ctr" lIns="0" rIns="0" tIns="0" bIns="0">
            <a:spAutoFit/>
          </a:bodyPr>
          <a:lstStyle/>
          <a:p>
            <a:pPr algn="l">
              <a:lnSpc>
                <a:spcPct val="100000"/>
              </a:lnSpc>
              <a:spcAft>
                <a:spcPts val="100"/>
              </a:spcAft>
            </a:pPr>
            <a:r>
              <a:rPr sz="1200" b="1" i="0">
                <a:solidFill>
                  <a:srgbClr val="0E3F8C"/>
                </a:solidFill>
                <a:latin typeface="Calibri"/>
                <a:ea typeface="Calibri"/>
              </a:rPr>
              <a:t>—</a:t>
            </a:r>
          </a:p>
          <a:p>
            <a:pPr algn="l">
              <a:lnSpc>
                <a:spcPct val="100000"/>
              </a:lnSpc>
              <a:spcAft>
                <a:spcPts val="100"/>
              </a:spcAft>
            </a:pPr>
            <a:r>
              <a:rPr sz="1000" b="0" i="0">
                <a:solidFill>
                  <a:srgbClr val="4A5568"/>
                </a:solidFill>
                <a:latin typeface="Calibri"/>
                <a:ea typeface="Calibri"/>
              </a:rPr>
              <a:t>below every level</a:t>
            </a:r>
          </a:p>
        </p:txBody>
      </p:sp>
      <p:sp>
        <p:nvSpPr>
          <p:cNvPr id="31" name="Rounded Rectangle 30"/>
          <p:cNvSpPr/>
          <p:nvPr/>
        </p:nvSpPr>
        <p:spPr>
          <a:xfrm>
            <a:off x="8951976" y="4670298"/>
            <a:ext cx="1097280" cy="548640"/>
          </a:xfrm>
          <a:prstGeom prst="roundRect">
            <a:avLst>
              <a:gd name="adj" fmla="val 14000"/>
            </a:avLst>
          </a:prstGeom>
          <a:solidFill>
            <a:srgbClr val="8B97A8"/>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51976" y="4670298"/>
            <a:ext cx="1097280" cy="548640"/>
          </a:xfrm>
          <a:prstGeom prst="rect">
            <a:avLst/>
          </a:prstGeom>
          <a:noFill/>
        </p:spPr>
        <p:txBody>
          <a:bodyPr wrap="square" anchor="ctr" lIns="0" rIns="0" tIns="0" bIns="0">
            <a:spAutoFit/>
          </a:bodyPr>
          <a:lstStyle/>
          <a:p>
            <a:pPr algn="ctr">
              <a:lnSpc>
                <a:spcPct val="100000"/>
              </a:lnSpc>
              <a:spcAft>
                <a:spcPts val="0"/>
              </a:spcAft>
            </a:pPr>
            <a:r>
              <a:rPr sz="1300" b="1" i="0">
                <a:solidFill>
                  <a:srgbClr val="FFFFFF"/>
                </a:solidFill>
                <a:latin typeface="Calibri"/>
                <a:ea typeface="Calibri"/>
              </a:rPr>
              <a:t>Aa</a:t>
            </a:r>
          </a:p>
          <a:p>
            <a:pPr algn="ctr">
              <a:lnSpc>
                <a:spcPct val="100000"/>
              </a:lnSpc>
              <a:spcAft>
                <a:spcPts val="0"/>
              </a:spcAft>
            </a:pPr>
            <a:r>
              <a:rPr sz="950" b="0" i="0">
                <a:solidFill>
                  <a:srgbClr val="FFFFFF"/>
                </a:solidFill>
                <a:latin typeface="Calibri"/>
                <a:ea typeface="Calibri"/>
              </a:rPr>
              <a:t>2.96:1</a:t>
            </a:r>
          </a:p>
        </p:txBody>
      </p:sp>
      <p:sp>
        <p:nvSpPr>
          <p:cNvPr id="33" name="Rounded Rectangle 32"/>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definition  →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atmos.style/glossary/contrast-ratio</a:t>
            </a:r>
          </a:p>
        </p:txBody>
      </p:sp>
      <p:sp>
        <p:nvSpPr>
          <p:cNvPr id="35" name="TextBox 34"/>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SC 1.4.3 Contrast (Minimum)   ·   SC 1.4.11 Non-text Contrast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Contrast Thresholds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ectangle 4"/>
          <p:cNvSpPr/>
          <p:nvPr/>
        </p:nvSpPr>
        <p:spPr>
          <a:xfrm>
            <a:off x="548640" y="932688"/>
            <a:ext cx="1371939"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042755"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Ratio</a:t>
            </a:r>
          </a:p>
        </p:txBody>
      </p:sp>
      <p:sp>
        <p:nvSpPr>
          <p:cNvPr id="7" name="Rectangle 6"/>
          <p:cNvSpPr/>
          <p:nvPr/>
        </p:nvSpPr>
        <p:spPr>
          <a:xfrm>
            <a:off x="1920579" y="932688"/>
            <a:ext cx="301826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5171" y="932688"/>
            <a:ext cx="2689082"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Level</a:t>
            </a:r>
          </a:p>
        </p:txBody>
      </p:sp>
      <p:sp>
        <p:nvSpPr>
          <p:cNvPr id="9" name="Rectangle 8"/>
          <p:cNvSpPr/>
          <p:nvPr/>
        </p:nvSpPr>
        <p:spPr>
          <a:xfrm>
            <a:off x="4938845" y="932688"/>
            <a:ext cx="6704209"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3437" y="932688"/>
            <a:ext cx="6375025"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Where it applies</a:t>
            </a:r>
          </a:p>
        </p:txBody>
      </p:sp>
      <p:sp>
        <p:nvSpPr>
          <p:cNvPr id="11" name="Rectangle 10"/>
          <p:cNvSpPr/>
          <p:nvPr/>
        </p:nvSpPr>
        <p:spPr>
          <a:xfrm>
            <a:off x="548640" y="1444752"/>
            <a:ext cx="137193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1042755"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1:1</a:t>
            </a:r>
          </a:p>
        </p:txBody>
      </p:sp>
      <p:sp>
        <p:nvSpPr>
          <p:cNvPr id="13" name="Rectangle 12"/>
          <p:cNvSpPr/>
          <p:nvPr/>
        </p:nvSpPr>
        <p:spPr>
          <a:xfrm>
            <a:off x="1920579" y="1444752"/>
            <a:ext cx="30182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85171" y="1444752"/>
            <a:ext cx="268908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t>
            </a:r>
          </a:p>
        </p:txBody>
      </p:sp>
      <p:sp>
        <p:nvSpPr>
          <p:cNvPr id="15" name="Rectangle 14"/>
          <p:cNvSpPr/>
          <p:nvPr/>
        </p:nvSpPr>
        <p:spPr>
          <a:xfrm>
            <a:off x="4938845" y="1444752"/>
            <a:ext cx="670420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3437" y="1444752"/>
            <a:ext cx="63750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colour against itself: no contrast at all — the floor of the scale.</a:t>
            </a:r>
          </a:p>
        </p:txBody>
      </p:sp>
      <p:sp>
        <p:nvSpPr>
          <p:cNvPr id="17" name="Rectangle 16"/>
          <p:cNvSpPr/>
          <p:nvPr/>
        </p:nvSpPr>
        <p:spPr>
          <a:xfrm>
            <a:off x="548640" y="2011680"/>
            <a:ext cx="137193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042755"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3:1</a:t>
            </a:r>
          </a:p>
        </p:txBody>
      </p:sp>
      <p:sp>
        <p:nvSpPr>
          <p:cNvPr id="19" name="Rectangle 18"/>
          <p:cNvSpPr/>
          <p:nvPr/>
        </p:nvSpPr>
        <p:spPr>
          <a:xfrm>
            <a:off x="1920579" y="2011680"/>
            <a:ext cx="30182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85171" y="2011680"/>
            <a:ext cx="268908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AA · large text and UI</a:t>
            </a:r>
          </a:p>
        </p:txBody>
      </p:sp>
      <p:sp>
        <p:nvSpPr>
          <p:cNvPr id="21" name="Rectangle 20"/>
          <p:cNvSpPr/>
          <p:nvPr/>
        </p:nvSpPr>
        <p:spPr>
          <a:xfrm>
            <a:off x="4938845" y="2011680"/>
            <a:ext cx="670420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3437" y="2011680"/>
            <a:ext cx="63750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18 pt or 14 pt bold; and UI parts you must see — buttons, icons, borders (SC 1.4.11).</a:t>
            </a:r>
          </a:p>
        </p:txBody>
      </p:sp>
      <p:sp>
        <p:nvSpPr>
          <p:cNvPr id="23" name="Rectangle 22"/>
          <p:cNvSpPr/>
          <p:nvPr/>
        </p:nvSpPr>
        <p:spPr>
          <a:xfrm>
            <a:off x="548640" y="2578608"/>
            <a:ext cx="137193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1042755"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4.5:1</a:t>
            </a:r>
          </a:p>
        </p:txBody>
      </p:sp>
      <p:sp>
        <p:nvSpPr>
          <p:cNvPr id="25" name="Rectangle 24"/>
          <p:cNvSpPr/>
          <p:nvPr/>
        </p:nvSpPr>
        <p:spPr>
          <a:xfrm>
            <a:off x="1920579" y="2578608"/>
            <a:ext cx="30182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85171" y="2578608"/>
            <a:ext cx="268908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AA · normal text</a:t>
            </a:r>
          </a:p>
        </p:txBody>
      </p:sp>
      <p:sp>
        <p:nvSpPr>
          <p:cNvPr id="27" name="Rectangle 26"/>
          <p:cNvSpPr/>
          <p:nvPr/>
        </p:nvSpPr>
        <p:spPr>
          <a:xfrm>
            <a:off x="4938845" y="2578608"/>
            <a:ext cx="670420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03437" y="2578608"/>
            <a:ext cx="63750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everyday requirement for body copy — and the AAA level for large text.</a:t>
            </a:r>
          </a:p>
        </p:txBody>
      </p:sp>
      <p:sp>
        <p:nvSpPr>
          <p:cNvPr id="29" name="Rectangle 28"/>
          <p:cNvSpPr/>
          <p:nvPr/>
        </p:nvSpPr>
        <p:spPr>
          <a:xfrm>
            <a:off x="548640" y="3145536"/>
            <a:ext cx="137193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1042755"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7:1</a:t>
            </a:r>
          </a:p>
        </p:txBody>
      </p:sp>
      <p:sp>
        <p:nvSpPr>
          <p:cNvPr id="31" name="Rectangle 30"/>
          <p:cNvSpPr/>
          <p:nvPr/>
        </p:nvSpPr>
        <p:spPr>
          <a:xfrm>
            <a:off x="1920579" y="3145536"/>
            <a:ext cx="30182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85171" y="3145536"/>
            <a:ext cx="268908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AAA · normal text</a:t>
            </a:r>
          </a:p>
        </p:txBody>
      </p:sp>
      <p:sp>
        <p:nvSpPr>
          <p:cNvPr id="33" name="Rectangle 32"/>
          <p:cNvSpPr/>
          <p:nvPr/>
        </p:nvSpPr>
        <p:spPr>
          <a:xfrm>
            <a:off x="4938845" y="3145536"/>
            <a:ext cx="670420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3437" y="3145536"/>
            <a:ext cx="63750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Enhanced contrast; worth aiming for in long passages of body copy.</a:t>
            </a:r>
          </a:p>
        </p:txBody>
      </p:sp>
      <p:sp>
        <p:nvSpPr>
          <p:cNvPr id="35" name="Rectangle 34"/>
          <p:cNvSpPr/>
          <p:nvPr/>
        </p:nvSpPr>
        <p:spPr>
          <a:xfrm>
            <a:off x="548640" y="3712464"/>
            <a:ext cx="137193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1042755"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21:1</a:t>
            </a:r>
          </a:p>
        </p:txBody>
      </p:sp>
      <p:sp>
        <p:nvSpPr>
          <p:cNvPr id="37" name="Rectangle 36"/>
          <p:cNvSpPr/>
          <p:nvPr/>
        </p:nvSpPr>
        <p:spPr>
          <a:xfrm>
            <a:off x="1920579" y="3712464"/>
            <a:ext cx="30182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85171" y="3712464"/>
            <a:ext cx="2689082"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t>
            </a:r>
          </a:p>
        </p:txBody>
      </p:sp>
      <p:sp>
        <p:nvSpPr>
          <p:cNvPr id="39" name="Rectangle 38"/>
          <p:cNvSpPr/>
          <p:nvPr/>
        </p:nvSpPr>
        <p:spPr>
          <a:xfrm>
            <a:off x="4938845" y="3712464"/>
            <a:ext cx="670420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3437" y="3712464"/>
            <a:ext cx="63750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Pure black on pure white — the highest the scale allows.</a:t>
            </a:r>
          </a:p>
        </p:txBody>
      </p:sp>
      <p:sp>
        <p:nvSpPr>
          <p:cNvPr id="41" name="Rounded Rectangle 40"/>
          <p:cNvSpPr/>
          <p:nvPr/>
        </p:nvSpPr>
        <p:spPr>
          <a:xfrm>
            <a:off x="548640" y="4462272"/>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Our own mid blue measures 4.17:1 on white — fine for a large heading, below AA for body text.</a:t>
            </a:r>
          </a:p>
        </p:txBody>
      </p:sp>
      <p:sp>
        <p:nvSpPr>
          <p:cNvPr id="43" name="TextBox 42"/>
          <p:cNvSpPr txBox="1"/>
          <p:nvPr/>
        </p:nvSpPr>
        <p:spPr>
          <a:xfrm>
            <a:off x="868680" y="4937760"/>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the specification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w3.org/WAI/standards-guidelines/wcag/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Colour Alone Is Never Enough</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48640" y="932688"/>
            <a:ext cx="10820095" cy="482803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WCAG 1.4.1</a:t>
            </a:r>
            <a:br/>
            <a:r>
              <a:rPr sz="1500" b="0" i="0">
                <a:solidFill>
                  <a:srgbClr val="4A5568"/>
                </a:solidFill>
                <a:latin typeface="Calibri"/>
                <a:ea typeface="Calibri"/>
              </a:rPr>
              <a:t>Colour must not be the only way you convey information. If red means an error, add an icon and a word.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Colour vision deficiency</a:t>
            </a:r>
            <a:br/>
            <a:r>
              <a:rPr sz="1500" b="0" i="0">
                <a:solidFill>
                  <a:srgbClr val="4A5568"/>
                </a:solidFill>
                <a:latin typeface="Calibri"/>
                <a:ea typeface="Calibri"/>
              </a:rPr>
              <a:t>Around one in twelve men and one in two hundred women see some colours differently. Red and green are the usual casualties.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Check in greyscale</a:t>
            </a:r>
            <a:br/>
            <a:r>
              <a:rPr sz="1500" b="0" i="0">
                <a:solidFill>
                  <a:srgbClr val="4A5568"/>
                </a:solidFill>
                <a:latin typeface="Calibri"/>
                <a:ea typeface="Calibri"/>
              </a:rPr>
              <a:t>Desaturate the page. If a chart, a status or a button stops carrying meaning, the colour was doing too much work.</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Warm on cool, not red on grey</a:t>
            </a:r>
            <a:br/>
            <a:r>
              <a:rPr sz="1500" b="0" i="0">
                <a:solidFill>
                  <a:srgbClr val="4A5568"/>
                </a:solidFill>
                <a:latin typeface="Calibri"/>
                <a:ea typeface="Calibri"/>
              </a:rPr>
              <a:t>Temperature contrast survives desaturation better than hue contrast does.</a:t>
            </a:r>
          </a:p>
        </p:txBody>
      </p:sp>
      <p:sp>
        <p:nvSpPr>
          <p:cNvPr id="6" name="Rounded Rectangle 5"/>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Accessibility is not a constraint on the design — it is the design being legible.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Designing with a Palette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The 60 / 30 / 10 rule</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60% dominant</a:t>
            </a:r>
            <a:br/>
            <a:r>
              <a:rPr sz="1400" b="0" i="0">
                <a:solidFill>
                  <a:srgbClr val="4A5568"/>
                </a:solidFill>
                <a:latin typeface="Calibri"/>
                <a:ea typeface="Calibri"/>
              </a:rPr>
              <a:t>Background and large surfaces. Usually the most restrained colour.</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30% secondary</a:t>
            </a:r>
            <a:br/>
            <a:r>
              <a:rPr sz="1400" b="0" i="0">
                <a:solidFill>
                  <a:srgbClr val="4A5568"/>
                </a:solidFill>
                <a:latin typeface="Calibri"/>
                <a:ea typeface="Calibri"/>
              </a:rPr>
              <a:t>Supporting panels, cards, headings — a related hue.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10% accent</a:t>
            </a:r>
            <a:br/>
            <a:r>
              <a:rPr sz="1400" b="0" i="0">
                <a:solidFill>
                  <a:srgbClr val="4A5568"/>
                </a:solidFill>
                <a:latin typeface="Calibri"/>
                <a:ea typeface="Calibri"/>
              </a:rPr>
              <a:t>Buttons, links, the single thing you want noticed.</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Not a law</a:t>
            </a:r>
            <a:br/>
            <a:r>
              <a:rPr sz="1400" b="0" i="0">
                <a:solidFill>
                  <a:srgbClr val="4A5568"/>
                </a:solidFill>
                <a:latin typeface="Calibri"/>
                <a:ea typeface="Calibri"/>
              </a:rPr>
              <a:t>A rule of thumb for proportions, not a formula. What matters is that the proportions are deliberate.</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Mistakes that cost marks</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Too many colours</a:t>
            </a:r>
            <a:br/>
            <a:r>
              <a:rPr sz="1400" b="0" i="0">
                <a:solidFill>
                  <a:srgbClr val="4A5568"/>
                </a:solidFill>
                <a:latin typeface="Calibri"/>
                <a:ea typeface="Calibri"/>
              </a:rPr>
              <a:t>Five equally weighted hues read as noise. Most good pages use two or three.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Pure black and pure white</a:t>
            </a:r>
            <a:br/>
            <a:r>
              <a:rPr sz="1400" b="0" i="0">
                <a:solidFill>
                  <a:srgbClr val="4A5568"/>
                </a:solidFill>
                <a:latin typeface="Calibri"/>
                <a:ea typeface="Calibri"/>
              </a:rPr>
              <a:t>#000 on #fff is 21:1 — harsh. A very dark grey on off-white is easier to read.</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Colour as the only signal</a:t>
            </a:r>
            <a:br/>
            <a:r>
              <a:rPr sz="1400" b="0" i="0">
                <a:solidFill>
                  <a:srgbClr val="4A5568"/>
                </a:solidFill>
                <a:latin typeface="Calibri"/>
                <a:ea typeface="Calibri"/>
              </a:rPr>
              <a:t>A red border and nothing else fails WCAG 1.4.1 at the lowest level.</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Inconsistent greys</a:t>
            </a:r>
            <a:br/>
            <a:r>
              <a:rPr sz="1400" b="0" i="0">
                <a:solidFill>
                  <a:srgbClr val="4A5568"/>
                </a:solidFill>
                <a:latin typeface="Calibri"/>
                <a:ea typeface="Calibri"/>
              </a:rPr>
              <a:t>Six slightly different greys look like a mistake. Pick two and reuse them.</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Decide the proportions before you decide the colours.   </a:t>
            </a:r>
            <a:r>
              <a:rPr sz="1300" b="1" i="0">
                <a:solidFill>
                  <a:srgbClr val="B9CDEE"/>
                </a:solidFill>
                <a:latin typeface="Calibri"/>
                <a:ea typeface="Calibri"/>
              </a:rPr>
              <a:t>inline-style colour work →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editor.html?example=css-styling/colors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Where to Go Next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TUTORIAL 01</a:t>
            </a:r>
          </a:p>
        </p:txBody>
      </p:sp>
      <p:sp>
        <p:nvSpPr>
          <p:cNvPr id="5" name="TextBox 4"/>
          <p:cNvSpPr txBox="1"/>
          <p:nvPr/>
        </p:nvSpPr>
        <p:spPr>
          <a:xfrm>
            <a:off x="594360" y="1042416"/>
            <a:ext cx="11002975" cy="2560320"/>
          </a:xfrm>
          <a:prstGeom prst="rect">
            <a:avLst/>
          </a:prstGeom>
          <a:noFill/>
        </p:spPr>
        <p:txBody>
          <a:bodyPr wrap="square" lIns="0" rIns="0" tIns="0" bIns="0">
            <a:spAutoFit/>
          </a:bodyPr>
          <a:lstStyle/>
          <a:p>
            <a:pPr marL="274320" indent="-237744">
              <a:lnSpc>
                <a:spcPct val="115000"/>
              </a:lnSpc>
              <a:spcAft>
                <a:spcPts val="1400"/>
              </a:spcAft>
              <a:buClr>
                <a:srgbClr val="1E4FA8"/>
              </a:buClr>
              <a:buSzPct val="90000"/>
              <a:buFont typeface="Arial"/>
              <a:buChar char="▪"/>
            </a:pPr>
            <a:r>
              <a:rPr sz="1800" b="1" i="1">
                <a:solidFill>
                  <a:srgbClr val="1A2230"/>
                </a:solidFill>
                <a:latin typeface="Calibri"/>
                <a:ea typeface="Calibri"/>
              </a:rPr>
              <a:t>Adobe Color</a:t>
            </a:r>
            <a:r>
              <a:rPr sz="1550" b="0" i="0">
                <a:solidFill>
                  <a:srgbClr val="4A5568"/>
                </a:solidFill>
                <a:latin typeface="Calibri"/>
                <a:ea typeface="Calibri"/>
              </a:rPr>
              <a:t>  —  build a wheel or a scheme and read off the hex values</a:t>
            </a:r>
            <a:b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   ↗ color.adobe.com</a:t>
            </a:r>
          </a:p>
          <a:p>
            <a:pPr marL="274320" indent="-237744">
              <a:lnSpc>
                <a:spcPct val="115000"/>
              </a:lnSpc>
              <a:spcAft>
                <a:spcPts val="1400"/>
              </a:spcAft>
              <a:buClr>
                <a:srgbClr val="1E4FA8"/>
              </a:buClr>
              <a:buSzPct val="90000"/>
              <a:buFont typeface="Arial"/>
              <a:buChar char="▪"/>
            </a:pPr>
            <a:r>
              <a:rPr sz="1800" b="1" i="1">
                <a:solidFill>
                  <a:srgbClr val="1A2230"/>
                </a:solidFill>
                <a:latin typeface="Calibri"/>
                <a:ea typeface="Calibri"/>
              </a:rPr>
              <a:t>Coolors</a:t>
            </a:r>
            <a:r>
              <a:rPr sz="1550" b="0" i="0">
                <a:solidFill>
                  <a:srgbClr val="4A5568"/>
                </a:solidFill>
                <a:latin typeface="Calibri"/>
                <a:ea typeface="Calibri"/>
              </a:rPr>
              <a:t>  —  generate and lock palettes until one sticks</a:t>
            </a:r>
            <a:br/>
            <a:r>
              <a:rPr sz="1300" b="0" i="0">
                <a:solidFill>
                  <a:srgbClr val="3D7BD9"/>
                </a:solidFill>
                <a:latin typeface="Consolas"/>
                <a:ea typeface="Consolas"/>
                <a:hlinkClick r:id="rId3"/>
                <a:extLst>
                  <a:ext uri="{A12FA001-AC4F-418D-AE19-62706E023703}">
                    <ahyp:hlinkClr xmlns:ahyp="http://schemas.microsoft.com/office/drawing/2018/hyperlinkcolor" val="tx"/>
                  </a:ext>
                </a:extLst>
              </a:rPr>
              <a:t>   ↗ coolors.co</a:t>
            </a:r>
          </a:p>
          <a:p>
            <a:pPr marL="274320" indent="-237744">
              <a:lnSpc>
                <a:spcPct val="115000"/>
              </a:lnSpc>
              <a:spcAft>
                <a:spcPts val="1400"/>
              </a:spcAft>
              <a:buClr>
                <a:srgbClr val="1E4FA8"/>
              </a:buClr>
              <a:buSzPct val="90000"/>
              <a:buFont typeface="Arial"/>
              <a:buChar char="▪"/>
            </a:pPr>
            <a:r>
              <a:rPr sz="1800" b="1" i="1">
                <a:solidFill>
                  <a:srgbClr val="1A2230"/>
                </a:solidFill>
                <a:latin typeface="Calibri"/>
                <a:ea typeface="Calibri"/>
              </a:rPr>
              <a:t>DevTools colour picker</a:t>
            </a:r>
            <a:r>
              <a:rPr sz="1550" b="0" i="0">
                <a:solidFill>
                  <a:srgbClr val="4A5568"/>
                </a:solidFill>
                <a:latin typeface="Calibri"/>
                <a:ea typeface="Calibri"/>
              </a:rPr>
              <a:t>  —  contrast ratio on any colour, plus an eyedropper</a:t>
            </a:r>
            <a:br/>
            <a:r>
              <a:rPr sz="1300" b="0" i="0">
                <a:solidFill>
                  <a:srgbClr val="3D7BD9"/>
                </a:solidFill>
                <a:latin typeface="Consolas"/>
                <a:ea typeface="Consolas"/>
                <a:hlinkClick r:id="rId4"/>
                <a:extLst>
                  <a:ext uri="{A12FA001-AC4F-418D-AE19-62706E023703}">
                    <ahyp:hlinkClr xmlns:ahyp="http://schemas.microsoft.com/office/drawing/2018/hyperlinkcolor" val="tx"/>
                  </a:ext>
                </a:extLst>
              </a:rPr>
              <a:t>   ↗ developer.chrome.com/docs/devtools/css/color</a:t>
            </a:r>
          </a:p>
          <a:p>
            <a:pPr marL="274320" indent="-237744">
              <a:lnSpc>
                <a:spcPct val="115000"/>
              </a:lnSpc>
              <a:spcAft>
                <a:spcPts val="1400"/>
              </a:spcAft>
              <a:buClr>
                <a:srgbClr val="1E4FA8"/>
              </a:buClr>
              <a:buSzPct val="90000"/>
              <a:buFont typeface="Arial"/>
              <a:buChar char="▪"/>
            </a:pPr>
            <a:r>
              <a:rPr sz="1800" b="1" i="1">
                <a:solidFill>
                  <a:srgbClr val="1A2230"/>
                </a:solidFill>
                <a:latin typeface="Calibri"/>
                <a:ea typeface="Calibri"/>
              </a:rPr>
              <a:t>WebAIM Contrast Checker</a:t>
            </a:r>
            <a:r>
              <a:rPr sz="1550" b="0" i="0">
                <a:solidFill>
                  <a:srgbClr val="4A5568"/>
                </a:solidFill>
                <a:latin typeface="Calibri"/>
                <a:ea typeface="Calibri"/>
              </a:rPr>
              <a:t>  —  paste two colours, get the ratio and the pass/fail</a:t>
            </a:r>
            <a:br/>
            <a:r>
              <a:rPr sz="1300" b="0" i="0">
                <a:solidFill>
                  <a:srgbClr val="3D7BD9"/>
                </a:solidFill>
                <a:latin typeface="Consolas"/>
                <a:ea typeface="Consolas"/>
                <a:hlinkClick r:id="rId5"/>
                <a:extLst>
                  <a:ext uri="{A12FA001-AC4F-418D-AE19-62706E023703}">
                    <ahyp:hlinkClr xmlns:ahyp="http://schemas.microsoft.com/office/drawing/2018/hyperlinkcolor" val="tx"/>
                  </a:ext>
                </a:extLst>
              </a:rPr>
              <a:t>   ↗ webaim.org/resources/contrastchecker</a:t>
            </a:r>
          </a:p>
        </p:txBody>
      </p:sp>
      <p:sp>
        <p:nvSpPr>
          <p:cNvPr id="6" name="Rounded Rectangle 5"/>
          <p:cNvSpPr/>
          <p:nvPr/>
        </p:nvSpPr>
        <p:spPr>
          <a:xfrm>
            <a:off x="548640" y="4041648"/>
            <a:ext cx="11094415" cy="233172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24528"/>
            <a:ext cx="10454335" cy="365760"/>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LEARNING PRINCIPLE</a:t>
            </a:r>
          </a:p>
        </p:txBody>
      </p:sp>
      <p:sp>
        <p:nvSpPr>
          <p:cNvPr id="8" name="TextBox 7"/>
          <p:cNvSpPr txBox="1"/>
          <p:nvPr/>
        </p:nvSpPr>
        <p:spPr>
          <a:xfrm>
            <a:off x="868680" y="4553712"/>
            <a:ext cx="10454335" cy="804671"/>
          </a:xfrm>
          <a:prstGeom prst="rect">
            <a:avLst/>
          </a:prstGeom>
          <a:noFill/>
        </p:spPr>
        <p:txBody>
          <a:bodyPr wrap="square" anchor="t" lIns="0" rIns="0" tIns="0" bIns="0">
            <a:spAutoFit/>
          </a:bodyPr>
          <a:lstStyle/>
          <a:p>
            <a:pPr algn="l">
              <a:lnSpc>
                <a:spcPct val="128000"/>
              </a:lnSpc>
              <a:spcAft>
                <a:spcPts val="400"/>
              </a:spcAft>
            </a:pPr>
            <a:r>
              <a:rPr sz="1400" b="0" i="0">
                <a:solidFill>
                  <a:srgbClr val="1A2230"/>
                </a:solidFill>
                <a:latin typeface="Calibri"/>
                <a:ea typeface="Calibri"/>
              </a:rPr>
              <a:t>You do not need a tool to start. Pick a hue, then pick its complement, then vary value until the page reads. The tools are for checking, not for replacing a decision.</a:t>
            </a:r>
          </a:p>
        </p:txBody>
      </p:sp>
      <p:sp>
        <p:nvSpPr>
          <p:cNvPr id="9" name="TextBox 8"/>
          <p:cNvSpPr txBox="1"/>
          <p:nvPr/>
        </p:nvSpPr>
        <p:spPr>
          <a:xfrm>
            <a:off x="868680" y="5550407"/>
            <a:ext cx="10454335" cy="365760"/>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alibri"/>
                <a:ea typeface="Calibri"/>
              </a:rPr>
              <a:t>Pick a hue. Vary the value. Check the contrast.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966960" cy="365760"/>
          </a:xfrm>
          <a:prstGeom prst="rect">
            <a:avLst/>
          </a:prstGeom>
          <a:noFill/>
        </p:spPr>
        <p:txBody>
          <a:bodyPr wrap="square" anchor="t" lIns="0" rIns="0" tIns="0" bIns="0">
            <a:spAutoFit/>
          </a:bodyPr>
          <a:lstStyle/>
          <a:p>
            <a:pPr algn="ctr">
              <a:lnSpc>
                <a:spcPct val="110000"/>
              </a:lnSpc>
              <a:spcAft>
                <a:spcPts val="400"/>
              </a:spcAft>
            </a:pPr>
            <a:r>
              <a:rPr sz="1400" b="1" i="0">
                <a:solidFill>
                  <a:srgbClr val="B9CDEE"/>
                </a:solidFill>
                <a:latin typeface="Calibri"/>
                <a:ea typeface="Calibri"/>
              </a:rPr>
              <a:t>COMP3421 · TUTORIAL 01</a:t>
            </a:r>
          </a:p>
        </p:txBody>
      </p:sp>
      <p:sp>
        <p:nvSpPr>
          <p:cNvPr id="4" name="TextBox 3"/>
          <p:cNvSpPr txBox="1"/>
          <p:nvPr/>
        </p:nvSpPr>
        <p:spPr>
          <a:xfrm>
            <a:off x="1097280" y="2103120"/>
            <a:ext cx="9966960" cy="1005840"/>
          </a:xfrm>
          <a:prstGeom prst="rect">
            <a:avLst/>
          </a:prstGeom>
          <a:noFill/>
        </p:spPr>
        <p:txBody>
          <a:bodyPr wrap="square" anchor="t" lIns="0" rIns="0" tIns="0" bIns="0">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8527" y="3913632"/>
            <a:ext cx="2834640" cy="347472"/>
          </a:xfrm>
          <a:prstGeom prst="rect">
            <a:avLst/>
          </a:prstGeom>
          <a:noFill/>
        </p:spPr>
        <p:txBody>
          <a:bodyPr wrap="square" anchor="t" lIns="0" rIns="0" tIns="0" bIns="0">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Next: Lab 2 — put a palette to work on your poster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